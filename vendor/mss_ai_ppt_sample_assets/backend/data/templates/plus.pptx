
<file path=[Content_Types].xml><?xml version="1.0" encoding="utf-8"?>
<Types xmlns="http://schemas.openxmlformats.org/package/2006/content-types">
  <Default Extension="xlsx" ContentType="application/vnd.openxmlformats-officedocument.spreadsheetml.sheet"/>
  <Default Extension="png" ContentType="image/png"/>
  <Default Extension="emf" ContentType="image/x-e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6.svg" ContentType="image/svg+xml"/>
  <Override PartName="/ppt/media/image20.svg" ContentType="image/svg+xml"/>
  <Override PartName="/ppt/media/image23.svg" ContentType="image/svg+xml"/>
  <Override PartName="/ppt/media/image25.svg" ContentType="image/svg+xml"/>
  <Override PartName="/ppt/media/image27.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63" r:id="rId4"/>
    <p:sldMasterId id="2147483665" r:id="rId5"/>
  </p:sldMasterIdLst>
  <p:notesMasterIdLst>
    <p:notesMasterId r:id="rId7"/>
  </p:notesMasterIdLst>
  <p:handoutMasterIdLst>
    <p:handoutMasterId r:id="rId47"/>
  </p:handoutMasterIdLst>
  <p:sldIdLst>
    <p:sldId id="391" r:id="rId6"/>
    <p:sldId id="421" r:id="rId8"/>
    <p:sldId id="393" r:id="rId9"/>
    <p:sldId id="394" r:id="rId10"/>
    <p:sldId id="422" r:id="rId11"/>
    <p:sldId id="432" r:id="rId12"/>
    <p:sldId id="396" r:id="rId13"/>
    <p:sldId id="433" r:id="rId14"/>
    <p:sldId id="459" r:id="rId15"/>
    <p:sldId id="428" r:id="rId16"/>
    <p:sldId id="429" r:id="rId17"/>
    <p:sldId id="483" r:id="rId18"/>
    <p:sldId id="430" r:id="rId19"/>
    <p:sldId id="434" r:id="rId20"/>
    <p:sldId id="484" r:id="rId21"/>
    <p:sldId id="401" r:id="rId22"/>
    <p:sldId id="485" r:id="rId23"/>
    <p:sldId id="431" r:id="rId24"/>
    <p:sldId id="402" r:id="rId25"/>
    <p:sldId id="404" r:id="rId26"/>
    <p:sldId id="405" r:id="rId27"/>
    <p:sldId id="406" r:id="rId28"/>
    <p:sldId id="407" r:id="rId29"/>
    <p:sldId id="487" r:id="rId30"/>
    <p:sldId id="488" r:id="rId31"/>
    <p:sldId id="408" r:id="rId32"/>
    <p:sldId id="424" r:id="rId33"/>
    <p:sldId id="425" r:id="rId34"/>
    <p:sldId id="426" r:id="rId35"/>
    <p:sldId id="436" r:id="rId36"/>
    <p:sldId id="427" r:id="rId37"/>
    <p:sldId id="489" r:id="rId38"/>
    <p:sldId id="435" r:id="rId39"/>
    <p:sldId id="412" r:id="rId40"/>
    <p:sldId id="415" r:id="rId41"/>
    <p:sldId id="414" r:id="rId42"/>
    <p:sldId id="490" r:id="rId43"/>
    <p:sldId id="491" r:id="rId44"/>
    <p:sldId id="416" r:id="rId45"/>
    <p:sldId id="492" r:id="rId46"/>
  </p:sldIdLst>
  <p:sldSz cx="12192000" cy="6858000"/>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帆" initials="WF" lastIdx="1" clrIdx="0"/>
  <p:cmAuthor id="1" name="Microsoft Office User" initials="MOU" lastIdx="5" clrIdx="0"/>
  <p:cmAuthor id="2" name="wangpq" initials="w" lastIdx="1" clrIdx="1"/>
  <p:cmAuthor id="3" name="yerunguo" initials="yerunguo" lastIdx="1" clrIdx="2"/>
  <p:cmAuthor id="4" name="KPMG Cyber" initials="WA(" lastIdx="1" clrIdx="3"/>
  <p:cmAuthor id="5" name="Wang, Autumn" initials="WA(" lastIdx="2" clrIdx="4"/>
  <p:cmAuthor id="312" name="000823681" initials="0" lastIdx="1" clrIdx="311"/>
  <p:cmAuthor id="6" name="chenyang" initials="c" lastIdx="1" clrIdx="5"/>
  <p:cmAuthor id="7" name="98802" initials="9" lastIdx="5" clrIdx="6"/>
  <p:cmAuthor id="8" name="AndyLee" initials="A" lastIdx="5" clrIdx="8"/>
  <p:cmAuthor id="9" name="duan" initials="d" lastIdx="3" clrIdx="8"/>
  <p:cmAuthor id="10" name="wei.xin" initials="w" lastIdx="2" clrIdx="9"/>
  <p:cmAuthor id="11" name="未知用户2" initials="未知用户2" lastIdx="1" clrIdx="5"/>
  <p:cmAuthor id="12" name="未知用户3" initials="未知用户3" lastIdx="1" clrIdx="6"/>
  <p:cmAuthor id="381437688" name="谢学斌" initials="谢" lastIdx="0" clrIdx="0"/>
  <p:cmAuthor id="13" name="吕品" initials="吕品" lastIdx="1" clrIdx="11"/>
  <p:cmAuthor id="15" name="wulifang" initials="wlf" lastIdx="1" clrIdx="14"/>
  <p:cmAuthor id="16" name="彭润" initials="彭" lastIdx="1" clrIdx="15"/>
  <p:cmAuthor id="17" name="未知用户4" initials="未知用户4" lastIdx="1" clrIdx="7"/>
  <p:cmAuthor id="18" name="gt" initials="g" lastIdx="10" clrIdx="17"/>
  <p:cmAuthor id="19" name="未知用户5" initials="未知用户5" lastIdx="1" clrIdx="8"/>
  <p:cmAuthor id="20" name="Jie" initials="J" lastIdx="5" clrIdx="19"/>
  <p:cmAuthor id="21" name="SXF-Admin" initials="S" lastIdx="1" clrIdx="20"/>
  <p:cmAuthor id="22" name="蔡建楠" initials="caijianna" lastIdx="15" clrIdx="17"/>
  <p:cmAuthor id="338605058" name="J I N G " initials="J" lastIdx="1" clrIdx="217"/>
  <p:cmAuthor id="23" name="Sangfor" initials="S" lastIdx="3" clrIdx="22"/>
  <p:cmAuthor id="24" name="李蕾00009994" initials="李" lastIdx="6" clrIdx="17"/>
  <p:cmAuthor id="25" name="wyz" initials="w" lastIdx="1" clrIdx="24"/>
  <p:cmAuthor id="26" name="10270945" initials="1" lastIdx="2" clrIdx="25"/>
  <p:cmAuthor id="27" name="杨艳霞" initials="杨" lastIdx="34" clrIdx="1"/>
  <p:cmAuthor id="28" name="Hou Yingfeng" initials="H" lastIdx="10" clrIdx="23"/>
  <p:cmAuthor id="29" name="吴军" initials="吴" lastIdx="1" clrIdx="0"/>
  <p:cmAuthor id="30" name="sangfor" initials="s" lastIdx="1" clrIdx="29"/>
  <p:cmAuthor id="31" name="Author" initials="A" lastIdx="0" clrIdx="30"/>
  <p:cmAuthor id="287643681" name="殷格非" initials="殷" lastIdx="2" clrIdx="0"/>
  <p:cmAuthor id="32" name="李楠10047711" initials="李楠10047711" lastIdx="2" clrIdx="31"/>
  <p:cmAuthor id="287643682" name="z r" initials="zr" lastIdx="5" clrIdx="12"/>
  <p:cmAuthor id="33" name="610007" initials="6" lastIdx="0" clrIdx="32"/>
  <p:cmAuthor id="287643683" name="lc xue" initials="lx" lastIdx="1" clrIdx="22"/>
  <p:cmAuthor id="34" name="未知用户6" initials="未知用户6" lastIdx="1" clrIdx="9"/>
  <p:cmAuthor id="287643684" name="孟芳芳（借调）" initials="V" lastIdx="1" clrIdx="37"/>
  <p:cmAuthor id="35" name="XUWEI" initials="X" lastIdx="1" clrIdx="10"/>
  <p:cmAuthor id="287643685" name="zhuxiangyi" initials="z" lastIdx="1" clrIdx="38"/>
  <p:cmAuthor id="36" name="俊贤" initials="俊贤" lastIdx="2" clrIdx="21"/>
  <p:cmAuthor id="37" name="Hu. Jimmy" initials="HJ" lastIdx="2" clrIdx="23"/>
  <p:cmAuthor id="38" name="hzq" initials="h" lastIdx="1" clrIdx="37"/>
  <p:cmAuthor id="39" name="Hdd" initials="Hdd" lastIdx="1" clrIdx="38"/>
  <p:cmAuthor id="40" name="张立鑫" initials="张" lastIdx="1" clrIdx="23"/>
  <p:cmAuthor id="41" name="吴铭锐" initials="吴" lastIdx="2" clrIdx="0"/>
  <p:cmAuthor id="42" name="未知用户77" initials="未知用户77" lastIdx="1" clrIdx="0"/>
  <p:cmAuthor id="43" name="YuQing" initials="Y" lastIdx="9" clrIdx="0"/>
  <p:cmAuthor id="44" name="Youwen Sun" initials="Y" lastIdx="3" clrIdx="1"/>
  <p:cmAuthor id="45" name="番茄花园" initials="番" lastIdx="1" clrIdx="0"/>
  <p:cmAuthor id="46" name="meng_" initials="m" lastIdx="7" clrIdx="45"/>
  <p:cmAuthor id="47" name="未知" initials="未" lastIdx="1" clrIdx="0"/>
  <p:cmAuthor id="48" name="周满红" initials="周" lastIdx="24" clrIdx="0"/>
  <p:cmAuthor id="49" name="taojiang" initials="t" lastIdx="2" clrIdx="48"/>
  <p:cmAuthor id="50" name="未知用户8" initials="未" lastIdx="2" clrIdx="4"/>
  <p:cmAuthor id="51" name="未知用户9" initials="未" lastIdx="3" clrIdx="5"/>
  <p:cmAuthor id="191251535" name="沈霄雷" initials="沈" lastIdx="833089" clrIdx="0"/>
  <p:cmAuthor id="52" name="未知用户10" initials="未" lastIdx="9" clrIdx="0"/>
  <p:cmAuthor id="191251536" name="SF" initials="S" lastIdx="6" clrIdx="11"/>
  <p:cmAuthor id="53" name="未知用户11" initials="未" lastIdx="1" clrIdx="0"/>
  <p:cmAuthor id="191251537" name="sammi" initials="s" lastIdx="0" clrIdx="12"/>
  <p:cmAuthor id="54" name="刘思蜀" initials="刘" lastIdx="1" clrIdx="0"/>
  <p:cmAuthor id="191251538" name="zhangmh@httz.cc" initials="z" lastIdx="3" clrIdx="13"/>
  <p:cmAuthor id="55" name="未知用户20" initials="未" lastIdx="1" clrIdx="0"/>
  <p:cmAuthor id="191251539" name="wang" initials="wang" lastIdx="1" clrIdx="14"/>
  <p:cmAuthor id="56" name="未知用户19" initials="未" lastIdx="1" clrIdx="0"/>
  <p:cmAuthor id="57" name="未知用户21" initials="未" lastIdx="1" clrIdx="0"/>
  <p:cmAuthor id="210492765" name="施普希（菜菜）" initials="施" lastIdx="0" clrIdx="0"/>
  <p:cmAuthor id="191251541" name="sjzx" initials="s" lastIdx="1" clrIdx="25"/>
  <p:cmAuthor id="210492766" name="AGK" initials="AGK" lastIdx="4" clrIdx="7"/>
  <p:cmAuthor id="58" name="未知用户14" initials="未" lastIdx="1" clrIdx="0"/>
  <p:cmAuthor id="191251542" name="yang.yuan" initials="y" lastIdx="0" clrIdx="17"/>
  <p:cmAuthor id="210492767" name="书佳 王" initials="书王" lastIdx="3" clrIdx="287"/>
  <p:cmAuthor id="59" name="未知用户15" initials="未" lastIdx="1" clrIdx="0"/>
  <p:cmAuthor id="60" name="未知用户16" initials="未" lastIdx="4" clrIdx="0"/>
  <p:cmAuthor id="210492768" name="zhang" initials="z" lastIdx="2" clrIdx="35"/>
  <p:cmAuthor id="61" name="郝崇" initials="郝" lastIdx="4" clrIdx="1"/>
  <p:cmAuthor id="1483810881" name="WPS_1679281038" initials="W" lastIdx="1" clrIdx="2"/>
  <p:cmAuthor id="62" name="吴杰" initials="吴" lastIdx="1" clrIdx="0"/>
  <p:cmAuthor id="63" name="刘丽仙" initials="刘" lastIdx="4" clrIdx="33"/>
  <p:cmAuthor id="64" name="陶川" initials="陶" lastIdx="1" clrIdx="0"/>
  <p:cmAuthor id="65" name="未知用户44" initials="未知用户44" lastIdx="1" clrIdx="0"/>
  <p:cmAuthor id="66" name="andres.x.gomez" initials="a" lastIdx="4" clrIdx="0"/>
  <p:cmAuthor id="67" name="user" initials="u" lastIdx="502" clrIdx="0"/>
  <p:cmAuthor id="68" name="未知用户45" initials="未知用户45" lastIdx="1" clrIdx="0"/>
  <p:cmAuthor id="69" name="贾清山" initials="贾" lastIdx="1" clrIdx="0"/>
  <p:cmAuthor id="70" name="丁芙蓉" initials="丁" lastIdx="4" clrIdx="1"/>
  <p:cmAuthor id="71" name="gtmc" initials="g" lastIdx="0" clrIdx="0"/>
  <p:cmAuthor id="72" name="王小忠" initials="王" lastIdx="2" clrIdx="2"/>
  <p:cmAuthor id="73" name="未知用户7" initials="未" lastIdx="2" clrIdx="2"/>
  <p:cmAuthor id="74" name="张 彬" initials="张" lastIdx="1" clrIdx="34"/>
  <p:cmAuthor id="75" name="作者" initials="A" lastIdx="0" clrIdx="24"/>
  <p:cmAuthor id="76" name="立峰 陈" initials="立陈" lastIdx="1" clrIdx="35"/>
  <p:cmAuthor id="77" name="未知用户27" initials="未" lastIdx="1" clrIdx="0"/>
  <p:cmAuthor id="78" name="未知用户28" initials="未" lastIdx="1" clrIdx="0"/>
  <p:cmAuthor id="79" name="未知用户29" initials="未" lastIdx="1" clrIdx="0"/>
  <p:cmAuthor id="80" name="未知用户30" initials="未" lastIdx="4" clrIdx="0"/>
  <p:cmAuthor id="81" name="yangkun" initials="y" lastIdx="0" clrIdx="0"/>
  <p:cmAuthor id="82" name="Lenovo User" initials="L" lastIdx="1" clrIdx="0"/>
  <p:cmAuthor id="83" name="hys2" initials="h" lastIdx="1" clrIdx="0"/>
  <p:cmAuthor id="84" name="朱绍春" initials="朱" lastIdx="13" clrIdx="0"/>
  <p:cmAuthor id="85" name="邹洋" initials="邹" lastIdx="2" clrIdx="0"/>
  <p:cmAuthor id="86" name="孟祥超" initials="孟" lastIdx="2" clrIdx="1"/>
  <p:cmAuthor id="87" name="贡鑫" initials="贡" lastIdx="2" clrIdx="0"/>
  <p:cmAuthor id="88" name="administrator1" initials="a" lastIdx="16" clrIdx="2"/>
  <p:cmAuthor id="89" name="杜雪梅" initials="杜" lastIdx="1" clrIdx="0"/>
  <p:cmAuthor id="90" name="仝德志" initials="仝" lastIdx="1" clrIdx="0"/>
  <p:cmAuthor id="91" name="马静" initials="马" lastIdx="0" clrIdx="0"/>
  <p:cmAuthor id="92" name="Qingyunli" initials="Q" lastIdx="24" clrIdx="0"/>
  <p:cmAuthor id="1455558931" name="王军领" initials="王" lastIdx="1" clrIdx="31"/>
  <p:cmAuthor id="93" name="dell" initials="d" lastIdx="1" clrIdx="4"/>
  <p:cmAuthor id="94" name="叶得会" initials="叶" lastIdx="8" clrIdx="0"/>
  <p:cmAuthor id="95" name="未知用户39" initials="未" lastIdx="1" clrIdx="0"/>
  <p:cmAuthor id="96" name="未知用户17" initials="未" lastIdx="1" clrIdx="1"/>
  <p:cmAuthor id="97" name="未知用户18" initials="未" lastIdx="1" clrIdx="0"/>
  <p:cmAuthor id="98" name="liying" initials="l" lastIdx="11" clrIdx="0"/>
  <p:cmAuthor id="99" name="lp" initials="l" lastIdx="1" clrIdx="0"/>
  <p:cmAuthor id="100" name="马海燕" initials="马" lastIdx="1" clrIdx="18"/>
  <p:cmAuthor id="101" name="张钦" initials="张" lastIdx="4" clrIdx="4"/>
  <p:cmAuthor id="102" name="桓蕾" initials="桓" lastIdx="1" clrIdx="101"/>
  <p:cmAuthor id="103" name="lenovo" initials="l" lastIdx="2" clrIdx="45"/>
  <p:cmAuthor id="104" name="鲍华明" initials="鲍" lastIdx="1" clrIdx="0"/>
  <p:cmAuthor id="105" name="刘广艳" initials="刘" lastIdx="10" clrIdx="1"/>
  <p:cmAuthor id="106" name="邹积逊" initials="邹" lastIdx="1" clrIdx="0"/>
  <p:cmAuthor id="107" name="yangyanxia" initials="y" lastIdx="1" clrIdx="0"/>
  <p:cmAuthor id="108" name="刘春辉" initials="刘" lastIdx="4" clrIdx="28"/>
  <p:cmAuthor id="109" name="赵兰玉" initials="赵" lastIdx="1" clrIdx="0"/>
  <p:cmAuthor id="110" name="杜娇龙" initials="杜" lastIdx="2" clrIdx="1"/>
  <p:cmAuthor id="111" name="libin1204@163.com" initials="l" lastIdx="1" clrIdx="102"/>
  <p:cmAuthor id="112" name="未知用户67" initials="未知用户67" lastIdx="1" clrIdx="0"/>
  <p:cmAuthor id="113" name="未知用户73" initials="未" lastIdx="4" clrIdx="0"/>
  <p:cmAuthor id="404272449" name="青山" initials="青" lastIdx="1" clrIdx="37"/>
  <p:cmAuthor id="114" name="魏永生" initials="魏" lastIdx="4" clrIdx="17"/>
  <p:cmAuthor id="115" name="未知用户69" initials="未知用户69" lastIdx="9" clrIdx="0"/>
  <p:cmAuthor id="116" name="未知用户70" initials="未知用户70" lastIdx="3" clrIdx="6"/>
  <p:cmAuthor id="117" name="许弘扬" initials="许" lastIdx="1" clrIdx="0"/>
  <p:cmAuthor id="118" name="新萝卜家园" initials="新" lastIdx="0" clrIdx="0"/>
  <p:cmAuthor id="119" name="未知用户71" initials="未知用户71" lastIdx="1" clrIdx="11"/>
  <p:cmAuthor id="120" name="未知用户80" initials="未" lastIdx="4" clrIdx="1"/>
  <p:cmAuthor id="121" name="未知用户81" initials="未" lastIdx="1" clrIdx="0"/>
  <p:cmAuthor id="122" name="未知用户82" initials="未" lastIdx="1" clrIdx="1"/>
  <p:cmAuthor id="123" name="未知用户83" initials="未" lastIdx="1" clrIdx="0"/>
  <p:cmAuthor id="124" name="未知用户84" initials="未" lastIdx="1" clrIdx="0"/>
  <p:cmAuthor id="125" name="未知用户31" initials="未" lastIdx="23" clrIdx="0"/>
  <p:cmAuthor id="126" name="未知用户62" initials="未" lastIdx="33" clrIdx="0"/>
  <p:cmAuthor id="127" name="Lzy" initials="L" lastIdx="1" clrIdx="0"/>
  <p:cmAuthor id="128" name="陈尚文" initials="陈" lastIdx="1" clrIdx="1"/>
  <p:cmAuthor id="129" name="邢志林" initials="邢" lastIdx="1" clrIdx="0"/>
  <p:cmAuthor id="130" name="张 开阔" initials="张" lastIdx="1" clrIdx="104"/>
  <p:cmAuthor id="131" name="原鹏" initials="y" lastIdx="1" clrIdx="105"/>
  <p:cmAuthor id="132" name="王怀璋" initials="王" lastIdx="1" clrIdx="0"/>
  <p:cmAuthor id="133" name="YANQING BAO" initials="Y" lastIdx="3" clrIdx="0"/>
  <p:cmAuthor id="134" name="Tracy Chen" initials="T" lastIdx="1" clrIdx="0"/>
  <p:cmAuthor id="135" name="dongwc0205" initials="d" lastIdx="1" clrIdx="15"/>
  <p:cmAuthor id="136" name="yuancc04" initials="y" lastIdx="3" clrIdx="0"/>
  <p:cmAuthor id="137" name="Xinyi" initials="X" lastIdx="1" clrIdx="136"/>
  <p:cmAuthor id="138" name="shwyq2008@163.com" initials="s" lastIdx="1" clrIdx="34"/>
  <p:cmAuthor id="139" name="未知用户13" initials="未" lastIdx="11" clrIdx="0"/>
  <p:cmAuthor id="140" name="levy" initials="l" lastIdx="2" clrIdx="0"/>
  <p:cmAuthor id="142" name="User" initials="U" lastIdx="12" clrIdx="0"/>
  <p:cmAuthor id="143" name="毕军(0212009)" initials="毕" lastIdx="10" clrIdx="0"/>
  <p:cmAuthor id="2972517" name="韩佳楠" initials="韩" lastIdx="1488322" clrIdx="0"/>
  <p:cmAuthor id="144" name="dadi" initials="d" lastIdx="2" clrIdx="1"/>
  <p:cmAuthor id="145" name="未知用户43" initials="未" lastIdx="4" clrIdx="1"/>
  <p:cmAuthor id="146" name="zhuqy3" initials="z" lastIdx="1" clrIdx="0"/>
  <p:cmAuthor id="147" name="njlife" initials="n" lastIdx="2" clrIdx="0"/>
  <p:cmAuthor id="148" name="未知用户46" initials="未" lastIdx="1" clrIdx="0"/>
  <p:cmAuthor id="149" name="未知用户47" initials="未" lastIdx="1" clrIdx="3"/>
  <p:cmAuthor id="150" name="未知用户48" initials="未" lastIdx="2" clrIdx="0"/>
  <p:cmAuthor id="151" name="未知用户49" initials="未" lastIdx="1" clrIdx="0"/>
  <p:cmAuthor id="152" name="未知用户50" initials="未" lastIdx="5" clrIdx="2"/>
  <p:cmAuthor id="153" name="未知用户133" initials="未" lastIdx="21" clrIdx="4"/>
  <p:cmAuthor id="154" name="未知用户134" initials="未" lastIdx="1" clrIdx="1"/>
  <p:cmAuthor id="155" name="未知用户135" initials="未" lastIdx="1" clrIdx="0"/>
  <p:cmAuthor id="156" name="未知用户54" initials="未" lastIdx="18" clrIdx="0"/>
  <p:cmAuthor id="157" name="未知用户55" initials="未" lastIdx="2" clrIdx="0"/>
  <p:cmAuthor id="158" name="未知用户56" initials="未" lastIdx="1" clrIdx="22"/>
  <p:cmAuthor id="2000" name="Teresa" initials="authorId_31822446" lastIdx="1024853" clrIdx="0"/>
  <p:cmAuthor id="159" name="未知用户57" initials="未" lastIdx="24" clrIdx="0"/>
  <p:cmAuthor id="2001" name="骆倩怡_Znauj26B" initials="authorId_382814100" lastIdx="0" clrIdx="0"/>
  <p:cmAuthor id="160" name="未知用户58" initials="未" lastIdx="0" clrIdx="0"/>
  <p:cmAuthor id="2002" name="demolong wang" initials="dw" lastIdx="1" clrIdx="38"/>
  <p:cmAuthor id="161" name="未知用户136" initials="未" lastIdx="1" clrIdx="0"/>
  <p:cmAuthor id="2003" name="杜晶晶-投资者关系部_vM3mnymA" initials="authorId_1323951053" lastIdx="1649699480" clrIdx="0"/>
  <p:cmAuthor id="162" name="未知用户137" initials="未" lastIdx="1" clrIdx="0"/>
  <p:cmAuthor id="2004" name="沈思铭" initials="沈思铭" lastIdx="19" clrIdx="34"/>
  <p:cmAuthor id="163" name="未知用户146" initials="未" lastIdx="1" clrIdx="0"/>
  <p:cmAuthor id="164" name="未知用户138" initials="未" lastIdx="1" clrIdx="0"/>
  <p:cmAuthor id="165" name="未知用户139" initials="未" lastIdx="4" clrIdx="0"/>
  <p:cmAuthor id="166" name="未知用户140" initials="未" lastIdx="13" clrIdx="0"/>
  <p:cmAuthor id="691587970" name="小延魔法师" initials="小" lastIdx="1126286" clrIdx="0"/>
  <p:cmAuthor id="167" name="未知用户141" initials="未" lastIdx="2" clrIdx="0"/>
  <p:cmAuthor id="168" name="未知用户142" initials="未" lastIdx="2" clrIdx="1"/>
  <p:cmAuthor id="169" name="未知用户143" initials="未" lastIdx="16" clrIdx="2"/>
  <p:cmAuthor id="170" name="未知用户144" initials="未" lastIdx="0" clrIdx="0"/>
  <p:cmAuthor id="171" name="王志刚" initials="王" lastIdx="1" clrIdx="0"/>
  <p:cmAuthor id="172" name="徐光宇" initials="徐" lastIdx="1" clrIdx="0"/>
  <p:cmAuthor id="173" name="mac" initials="m" lastIdx="1" clrIdx="0"/>
  <p:cmAuthor id="174" name="Liu, Leo (MBSHR cs)" initials="L" lastIdx="2" clrIdx="0"/>
  <p:cmAuthor id="175" name="刘豹" initials="刘" lastIdx="0" clrIdx="0"/>
  <p:cmAuthor id="176" name="张艳芳" initials="张" lastIdx="3" clrIdx="0"/>
  <p:cmAuthor id="177" name="超乎想象" initials="超" lastIdx="1" clrIdx="176"/>
  <p:cmAuthor id="178" name="志斌 杜" initials="志" lastIdx="5" clrIdx="103"/>
  <p:cmAuthor id="180" name="未知用户88" initials="未" lastIdx="3" clrIdx="0"/>
  <p:cmAuthor id="8535702" name="曾蓓/贝贝" initials="曾" lastIdx="0" clrIdx="0"/>
  <p:cmAuthor id="181" name="未知用户89" initials="未" lastIdx="21" clrIdx="4"/>
  <p:cmAuthor id="182" name="未知用户90" initials="未" lastIdx="1" clrIdx="1"/>
  <p:cmAuthor id="183" name="未知用户91" initials="未" lastIdx="1" clrIdx="0"/>
  <p:cmAuthor id="184" name="未知用户92" initials="未" lastIdx="1" clrIdx="0"/>
  <p:cmAuthor id="185" name="未知用户93" initials="未" lastIdx="1" clrIdx="0"/>
  <p:cmAuthor id="186" name="未知用户94" initials="未" lastIdx="1" clrIdx="0"/>
  <p:cmAuthor id="187" name="未知用户95" initials="未" lastIdx="4" clrIdx="0"/>
  <p:cmAuthor id="188" name="未知用户96" initials="未" lastIdx="13" clrIdx="0"/>
  <p:cmAuthor id="189" name="未知用户97" initials="未" lastIdx="2" clrIdx="0"/>
  <p:cmAuthor id="190" name="未知用户98" initials="未" lastIdx="2" clrIdx="1"/>
  <p:cmAuthor id="191" name="未知用户99" initials="未" lastIdx="16" clrIdx="2"/>
  <p:cmAuthor id="192" name="未知用户100" initials="未" lastIdx="0" clrIdx="0"/>
  <p:cmAuthor id="193" name="未知用户101" initials="未" lastIdx="3" clrIdx="0"/>
  <p:cmAuthor id="194" name="Temp" initials="T" lastIdx="0" clrIdx="0"/>
  <p:cmAuthor id="195" name="未知用户72" initials="未" lastIdx="2" clrIdx="1"/>
  <p:cmAuthor id="196" name="雍中婧" initials="雍" lastIdx="26" clrIdx="0"/>
  <p:cmAuthor id="197" name="未知用户74" initials="未" lastIdx="0" clrIdx="0"/>
  <p:cmAuthor id="198" name="未知用户75" initials="未" lastIdx="3" clrIdx="0"/>
  <p:cmAuthor id="199" name="未知用户76" initials="未" lastIdx="21" clrIdx="4"/>
  <p:cmAuthor id="200" name="lin lin" initials="l" lastIdx="1" clrIdx="0"/>
  <p:cmAuthor id="201" name="未知用户78" initials="未" lastIdx="1" clrIdx="0"/>
  <p:cmAuthor id="202" name="未知用户79" initials="未" lastIdx="2" clrIdx="0"/>
  <p:cmAuthor id="203" name="未知用户12" initials="未知用户12" lastIdx="4" clrIdx="0"/>
  <p:cmAuthor id="204" name="李明强" initials="李" lastIdx="1" clrIdx="203"/>
  <p:cmAuthor id="205" name="wang_cf" initials="w" lastIdx="8" clrIdx="204"/>
  <p:cmAuthor id="206" name="itw_chenfy01" initials="i" lastIdx="1" clrIdx="205"/>
  <p:cmAuthor id="207" name="wangll132" initials="w" lastIdx="1" clrIdx="206"/>
  <p:cmAuthor id="208" name="未知用户85" initials="未" lastIdx="2" clrIdx="1"/>
  <p:cmAuthor id="209" name="未知用户86" initials="未" lastIdx="16" clrIdx="2"/>
  <p:cmAuthor id="210" name="李刚" initials="李" lastIdx="3" clrIdx="0"/>
  <p:cmAuthor id="211" name="侯 林" initials="侯" lastIdx="2" clrIdx="35"/>
  <p:cmAuthor id="212" name="徐仕超" initials="徐" lastIdx="1" clrIdx="3"/>
  <p:cmAuthor id="213" name="Pei" initials="P" lastIdx="0" clrIdx="1"/>
  <p:cmAuthor id="214" name="Ying Li" initials="Y" lastIdx="1" clrIdx="2"/>
  <p:cmAuthor id="394525608" name="仇怿俊" initials="仇" lastIdx="0" clrIdx="0"/>
  <p:cmAuthor id="215" name="lou cynthia" initials="l" lastIdx="1" clrIdx="0"/>
  <p:cmAuthor id="394525609" name="mei shuo" initials="mei shuo" lastIdx="1" clrIdx="24"/>
  <p:cmAuthor id="216" name="未知的使用者197" initials="未" lastIdx="8" clrIdx="0"/>
  <p:cmAuthor id="394525610" name="dengwanting" initials="d" lastIdx="1" clrIdx="50"/>
  <p:cmAuthor id="217" name="马红" initials="马" lastIdx="7" clrIdx="0"/>
  <p:cmAuthor id="394525611" name="mouse zz" initials="mz" lastIdx="1" clrIdx="54"/>
  <p:cmAuthor id="218" name="Shi Xiao" initials="SX" lastIdx="1" clrIdx="106"/>
  <p:cmAuthor id="219" name="卢 米薇" initials="卢" lastIdx="1" clrIdx="107"/>
  <p:cmAuthor id="220" name="未知的使用者165" initials="未" lastIdx="1" clrIdx="0"/>
  <p:cmAuthor id="221" name="未知的使用者158" initials="未" lastIdx="1" clrIdx="0"/>
  <p:cmAuthor id="49837067" name="刘浩" initials="刘" lastIdx="180431" clrIdx="0"/>
  <p:cmAuthor id="222" name="LJ" initials="L" lastIdx="1" clrIdx="221"/>
  <p:cmAuthor id="223" name="未知的使用者149" initials="未" lastIdx="10" clrIdx="0"/>
  <p:cmAuthor id="49837068" name="Vivian Liu" initials="VL" lastIdx="1" clrIdx="1"/>
  <p:cmAuthor id="224" name="未知的使用者150" initials="未" lastIdx="1" clrIdx="0"/>
  <p:cmAuthor id="49837069" name="he zhirui" initials="hz" lastIdx="1" clrIdx="82"/>
  <p:cmAuthor id="225" name="未知的使用者166" initials="未" lastIdx="8" clrIdx="0"/>
  <p:cmAuthor id="49837070" name="伟哥" initials="伟哥" lastIdx="1" clrIdx="138"/>
  <p:cmAuthor id="226" name="未知的使用者167" initials="未" lastIdx="0" clrIdx="1"/>
  <p:cmAuthor id="227" name="未知的使用者159" initials="未" lastIdx="1" clrIdx="1"/>
  <p:cmAuthor id="228" name="Chris Kou" initials="C" lastIdx="1" clrIdx="0"/>
  <p:cmAuthor id="229" name="未知的使用者168" initials="未" lastIdx="1" clrIdx="0"/>
  <p:cmAuthor id="230" name="未知的使用者169" initials="未" lastIdx="1" clrIdx="0"/>
  <p:cmAuthor id="231" name="未知的使用者117" initials="未" lastIdx="1" clrIdx="0"/>
  <p:cmAuthor id="232" name="樊佳佳" initials="樊" lastIdx="59" clrIdx="5"/>
  <p:cmAuthor id="233" name="未知的使用者119" initials="未" lastIdx="1" clrIdx="2"/>
  <p:cmAuthor id="234" name="云峰 贾" initials="云" lastIdx="2" clrIdx="0"/>
  <p:cmAuthor id="237" name="杨彦伟" initials="杨" lastIdx="3" clrIdx="0"/>
  <p:cmAuthor id="238" name="Azfar Mir" initials="A" lastIdx="130" clrIdx="0"/>
  <p:cmAuthor id="239" name="张金玉" initials="张" lastIdx="1" clrIdx="0"/>
  <p:cmAuthor id="475196944" name="姚琳" initials="姚" lastIdx="1133934" clrIdx="0"/>
  <p:cmAuthor id="240" name="周平" initials="周" lastIdx="0" clrIdx="0"/>
  <p:cmAuthor id="475196945" name="chen" initials="c" lastIdx="1" clrIdx="2"/>
  <p:cmAuthor id="241" name="董 人美" initials="董" lastIdx="4" clrIdx="108"/>
  <p:cmAuthor id="1411827" name="黄晓平" initials="黄" lastIdx="0" clrIdx="0"/>
  <p:cmAuthor id="475196946" name="王 成岩" initials="王" lastIdx="1" clrIdx="23"/>
  <p:cmAuthor id="242" name="顾 Filizia" initials="顾" lastIdx="3" clrIdx="222"/>
  <p:cmAuthor id="475196947" name="陶夏溦" initials="陶夏溦" lastIdx="1" clrIdx="46"/>
  <p:cmAuthor id="243" name="未知的使用者183" initials="未" lastIdx="2" clrIdx="0"/>
  <p:cmAuthor id="475196948" name="uo G" initials="uG" lastIdx="1" clrIdx="223"/>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03790539" name="k" initials="k" lastIdx="4" clrIdx="36"/>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5" name="Admin" initials="A" lastIdx="1" clrIdx="2"/>
  <p:cmAuthor id="626391093" name="KQ" initials="K" lastIdx="1" clrIdx="214"/>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1" name="未知用户36" initials="未" lastIdx="1" clrIdx="0"/>
  <p:cmAuthor id="277" name="未知用户32" initials="未" lastIdx="1" clrIdx="0"/>
  <p:cmAuthor id="278" name="未知用户33" initials="未" lastIdx="1" clrIdx="0"/>
  <p:cmAuthor id="279" name="未知用户34" initials="未" lastIdx="2" clrIdx="0"/>
  <p:cmAuthor id="280" name="huang gerrard" initials="h" lastIdx="1" clrIdx="0"/>
  <p:cmAuthor id="281" name="xuanyuanxuanyi dad" initials="xd" lastIdx="1" clrIdx="50"/>
  <p:cmAuthor id="282" name="kingdee" initials="k" lastIdx="5" clrIdx="51"/>
  <p:cmAuthor id="284" name="LLM" initials="L" lastIdx="2" clrIdx="283"/>
  <p:cmAuthor id="285" name="hongmudan" initials="h" lastIdx="2" clrIdx="284"/>
  <p:cmAuthor id="287" name="kongtao" initials="k" lastIdx="8" clrIdx="286"/>
  <p:cmAuthor id="708433798" name="jialuo" initials="j" lastIdx="0" clrIdx="0"/>
  <p:cmAuthor id="708433799" name="清泺 戴" initials="清戴" lastIdx="25" clrIdx="36"/>
  <p:cmAuthor id="353158055" name="韩雨" initials="韩" lastIdx="0" clrIdx="0"/>
  <p:cmAuthor id="302" name="kfzx-lind" initials="k" lastIdx="1" clrIdx="301"/>
  <p:cmAuthor id="1034815950" name="刘威" initials="刘" lastIdx="2" clrIdx="1"/>
  <p:cmAuthor id="326" name="Lee, Arthur" initials="LA" lastIdx="0" clrIdx="325"/>
  <p:cmAuthor id="327" name="朱 宇轩" initials="朱" lastIdx="0" clrIdx="326"/>
  <p:cmAuthor id="328" name="先生 桑" initials="先" lastIdx="0" clrIdx="327"/>
  <p:cmAuthor id="329" name="吕 德" initials="吕" lastIdx="0" clrIdx="328"/>
  <p:cmAuthor id="330" name="李 武发" initials="李" lastIdx="0" clrIdx="329"/>
  <p:cmAuthor id="331" name="Administrator" initials="A" lastIdx="0" clrIdx="330"/>
  <p:cmAuthor id="332" name="xiaotaiyang" initials="x" lastIdx="0" clrIdx="331"/>
  <p:cmAuthor id="333" name="kangqingchun" initials="k" lastIdx="0" clrIdx="332"/>
  <p:cmAuthor id="334" name="幸全" initials="幸全" lastIdx="0" clrIdx="333"/>
  <p:cmAuthor id="335" name="琰 晞" initials="琰" lastIdx="0" clrIdx="334"/>
  <p:cmAuthor id="336" name="未知用户1" initials="未知用户1" lastIdx="0" clrIdx="335"/>
  <p:cmAuthor id="337" name="慕安 王" initials="慕王" lastIdx="0" clrIdx="336"/>
  <p:cmAuthor id="338" name="Dongbin" initials="S" lastIdx="0" clrIdx="337"/>
  <p:cmAuthor id="339" name="范作霖" initials="范" lastIdx="0" clrIdx="338"/>
  <p:cmAuthor id="340" name="叶 锦龙" initials="叶" lastIdx="0" clrIdx="339"/>
  <p:cmAuthor id="341" name="林夕" initials="林夕" lastIdx="0" clrIdx="340"/>
  <p:cmAuthor id="342" name="tommy tang" initials="tt" lastIdx="0" clrIdx="341"/>
  <p:cmAuthor id="343" name="丁大鹏" initials="ddp" lastIdx="0" clrIdx="342"/>
  <p:cmAuthor id="344" name="yeziapp" initials="y" lastIdx="0" clrIdx="343"/>
  <p:cmAuthor id="345" name="韦 体东" initials="韦" lastIdx="0" clrIdx="344"/>
  <p:cmAuthor id="346" name="WPS" initials="W" lastIdx="0" clrIdx="345"/>
  <p:cmAuthor id="347" name="Qiao" initials="authorId_196572682" lastIdx="0" clrIdx="346"/>
  <p:cmAuthor id="348" name="未知用户348" initials="未" lastIdx="0" clrIdx="347"/>
  <p:cmAuthor id="349" name="未知用户148" initials="未" lastIdx="0" clrIdx="348"/>
  <p:cmAuthor id="350" name="未知用户195" initials="未" lastIdx="0" clrIdx="349"/>
  <p:cmAuthor id="351" name="未知用户207" initials="未" lastIdx="0" clrIdx="350"/>
  <p:cmAuthor id="352" name="未知用户208" initials="未" lastIdx="0" clrIdx="351"/>
  <p:cmAuthor id="353" name="未知用户198" initials="未" lastIdx="0" clrIdx="352"/>
  <p:cmAuthor id="354" name="未知用户209" initials="未" lastIdx="0" clrIdx="353"/>
  <p:cmAuthor id="355" name="未知用户289" initials="未" lastIdx="0" clrIdx="354"/>
  <p:cmAuthor id="356" name="未知用户206" initials="未" lastIdx="0" clrIdx="355"/>
  <p:cmAuthor id="357" name="未知的使用者207" initials="未" lastIdx="0" clrIdx="356"/>
  <p:cmAuthor id="358" name="未知的使用者208" initials="未" lastIdx="0" clrIdx="357"/>
  <p:cmAuthor id="359" name="未知的使用者188" initials="未" lastIdx="0" clrIdx="358"/>
  <p:cmAuthor id="360" name="未知的使用者189" initials="未" lastIdx="0" clrIdx="359"/>
  <p:cmAuthor id="361" name="未知的使用者190" initials="未" lastIdx="0" clrIdx="360"/>
  <p:cmAuthor id="362" name="未知的使用者191" initials="未" lastIdx="0" clrIdx="361"/>
  <p:cmAuthor id="363" name="未知的使用者192" initials="未" lastIdx="0" clrIdx="362"/>
  <p:cmAuthor id="364" name="未知的使用者193" initials="未" lastIdx="0" clrIdx="363"/>
  <p:cmAuthor id="365" name="未知的使用者209" initials="未" lastIdx="0" clrIdx="364"/>
  <p:cmAuthor id="366" name="未知用户118" initials="未" lastIdx="0" clrIdx="365"/>
  <p:cmAuthor id="367" name="未知用户147" initials="未" lastIdx="0" clrIdx="366"/>
  <p:cmAuthor id="368" name="未知的使用者96" initials="未" lastIdx="0" clrIdx="367"/>
  <p:cmAuthor id="369" name="未知用户255" initials="未" lastIdx="0" clrIdx="368"/>
  <p:cmAuthor id="370" name="未知的使用者153" initials="未" lastIdx="0" clrIdx="369"/>
  <p:cmAuthor id="371" name="未知的使用者154" initials="未" lastIdx="0" clrIdx="370"/>
  <p:cmAuthor id="372" name="未知的使用者156" initials="未" lastIdx="0" clrIdx="371"/>
  <p:cmAuthor id="373" name="未知的使用者157" initials="未" lastIdx="0" clrIdx="372"/>
  <p:cmAuthor id="374" name="未知用户246" initials="未" lastIdx="0" clrIdx="373"/>
  <p:cmAuthor id="375" name="未知的使用者129" initials="未" lastIdx="0" clrIdx="374"/>
  <p:cmAuthor id="376" name="未知用户257" initials="未" lastIdx="0" clrIdx="375"/>
  <p:cmAuthor id="377" name="未知的使用者164" initials="未" lastIdx="0" clrIdx="376"/>
  <p:cmAuthor id="378" name="未知的使用者172" initials="未" lastIdx="0" clrIdx="377"/>
  <p:cmAuthor id="379" name="未知的使用者174" initials="未" lastIdx="0" clrIdx="378"/>
  <p:cmAuthor id="380" name="未知用户261" initials="未" lastIdx="0" clrIdx="379"/>
  <p:cmAuthor id="381" name="未知的使用者247" initials="未" lastIdx="0" clrIdx="380"/>
  <p:cmAuthor id="382" name="未知的使用者249" initials="未" lastIdx="0" clrIdx="381"/>
  <p:cmAuthor id="383" name="未知的使用者250" initials="未" lastIdx="0" clrIdx="382"/>
  <p:cmAuthor id="384" name="未知的使用者251" initials="未" lastIdx="0" clrIdx="383"/>
  <p:cmAuthor id="385" name="未知的使用者246" initials="未" lastIdx="0" clrIdx="384"/>
  <p:cmAuthor id="386" name="未知的使用者252" initials="未" lastIdx="0" clrIdx="385"/>
  <p:cmAuthor id="387" name="未知的使用者253" initials="未" lastIdx="0" clrIdx="386"/>
  <p:cmAuthor id="388" name="未知的使用者254" initials="未" lastIdx="0" clrIdx="387"/>
  <p:cmAuthor id="389" name="未知的使用者255" initials="未" lastIdx="0" clrIdx="388"/>
  <p:cmAuthor id="390" name="未知用户268" initials="未" lastIdx="0" clrIdx="389"/>
  <p:cmAuthor id="391" name="群智集" initials="群" lastIdx="0" clrIdx="390"/>
  <p:cmAuthor id="392" name="未知用户269" initials="未" lastIdx="0" clrIdx="391"/>
  <p:cmAuthor id="393" name="未知的使用者270" initials="未" lastIdx="0" clrIdx="392"/>
  <p:cmAuthor id="394" name="郏 鹏" initials="郏" lastIdx="0" clrIdx="393"/>
  <p:cmAuthor id="395" name="未知用户250" initials="未" lastIdx="0" clrIdx="394"/>
  <p:cmAuthor id="396" name="郏鹏" initials="郏" lastIdx="0" clrIdx="395"/>
  <p:cmAuthor id="397" name="未知用户272" initials="未" lastIdx="0" clrIdx="396"/>
  <p:cmAuthor id="398" name="石晓利" initials="石" lastIdx="0" clrIdx="397"/>
  <p:cmAuthor id="399" name="未知的使用者256" initials="未" lastIdx="0" clrIdx="398"/>
  <p:cmAuthor id="400" name="罗志军" initials="罗" lastIdx="0" clrIdx="399"/>
  <p:cmAuthor id="401" name="夜尽迟渊_UrQfrmQZ" initials="夜" lastIdx="0" clrIdx="400"/>
  <p:cmAuthor id="402" name="lvz" initials="l" lastIdx="0" clrIdx="401"/>
  <p:cmAuthor id="403" name="未知的使用者200" initials="未" lastIdx="0" clrIdx="402"/>
  <p:cmAuthor id="404" name="CMCC" initials="C" lastIdx="0" clrIdx="403"/>
  <p:cmAuthor id="405" name="王丰_aE3uARfm" initials="王" lastIdx="0" clrIdx="404"/>
  <p:cmAuthor id="406" name="Tianchi Yao" initials="TY" lastIdx="0" clrIdx="405"/>
  <p:cmAuthor id="407" name="未知的使用者257" initials="未" lastIdx="0" clrIdx="406"/>
  <p:cmAuthor id="408" name="方少_UbQfrimU" initials="方" lastIdx="0" clrIdx="407"/>
  <p:cmAuthor id="409" name="贾云雁" initials="贾" lastIdx="0" clrIdx="408"/>
  <p:cmAuthor id="410" name="叶盛_Q3A3IfEf" initials="叶" lastIdx="0" clrIdx="409"/>
  <p:cmAuthor id="411" name="Harley._bEJrUJ7r" initials="H" lastIdx="0" clrIdx="410"/>
  <p:cmAuthor id="412" name="罗平_VB7vJb2E" initials="罗" lastIdx="0" clrIdx="411"/>
  <p:cmAuthor id="413" name="未知的使用者240" initials="未" lastIdx="0" clrIdx="412"/>
  <p:cmAuthor id="414" name="xixi_nUjqe22E" initials="x" lastIdx="0" clrIdx="413"/>
  <p:cmAuthor id="415" name="未知的使用者241" initials="未" lastIdx="0" clrIdx="414"/>
  <p:cmAuthor id="416" name="安安_zm6nYnYZ" initials="安" lastIdx="0" clrIdx="415"/>
  <p:cmAuthor id="417" name="未知的使用者242" initials="未" lastIdx="0" clrIdx="416"/>
  <p:cmAuthor id="418" name="未知的使用者243" initials="未" lastIdx="0" clrIdx="417"/>
  <p:cmAuthor id="419" name="未知的使用者258" initials="未" lastIdx="0" clrIdx="418"/>
  <p:cmAuthor id="420" name="周君_MfIffYra" initials="周" lastIdx="0" clrIdx="419"/>
  <p:cmAuthor id="421" name="未知的使用者259" initials="未" lastIdx="0" clrIdx="420"/>
  <p:cmAuthor id="422" name="未知的使用者260" initials="未" lastIdx="0" clrIdx="421"/>
  <p:cmAuthor id="423" name="未知的使用者261" initials="未" lastIdx="0" clrIdx="422"/>
  <p:cmAuthor id="424" name="未知的使用者262" initials="未" lastIdx="0" clrIdx="423"/>
  <p:cmAuthor id="425" name="未知的使用者263" initials="未" lastIdx="0" clrIdx="424"/>
  <p:cmAuthor id="426" name="未知的使用者264" initials="未" lastIdx="0" clrIdx="425"/>
  <p:cmAuthor id="427" name="未知的使用者265" initials="未" lastIdx="0" clrIdx="426"/>
  <p:cmAuthor id="428" name="未知的使用者266" initials="未" lastIdx="0" clrIdx="427"/>
  <p:cmAuthor id="429" name="未知的使用者267" initials="未" lastIdx="0" clrIdx="428"/>
  <p:cmAuthor id="430" name="未知的使用者268" initials="未" lastIdx="0" clrIdx="429"/>
  <p:cmAuthor id="431" name="未知的使用者269" initials="未" lastIdx="0" clrIdx="430"/>
  <p:cmAuthor id="432" name="刘晖" initials="刘" lastIdx="0" clrIdx="431"/>
  <p:cmAuthor id="433" name="lillian" initials="l" lastIdx="0" clrIdx="432"/>
  <p:cmAuthor id="434" name="未知用户197" initials="未" lastIdx="0" clrIdx="433"/>
  <p:cmAuthor id="435" name="admin7" initials="a" lastIdx="0" clrIdx="434"/>
  <p:cmAuthor id="436" name="dd" initials="d" lastIdx="0" clrIdx="435"/>
  <p:cmAuthor id="437" name="未知用户240" initials="未" lastIdx="0" clrIdx="436"/>
  <p:cmAuthor id="438" name="未知的使用者67" initials="未" lastIdx="0" clrIdx="437"/>
  <p:cmAuthor id="439" name="未知的使用者46" initials="未" lastIdx="0" clrIdx="438"/>
  <p:cmAuthor id="440" name="未知用户106" initials="未" lastIdx="0" clrIdx="439"/>
  <p:cmAuthor id="441" name="未知的使用者8" initials="未" lastIdx="0" clrIdx="440"/>
  <p:cmAuthor id="442" name="不明使用者56" initials="不" lastIdx="0" clrIdx="441"/>
  <p:cmAuthor id="443" name="P00035_jeremy" initials="P" lastIdx="0" clrIdx="442"/>
  <p:cmAuthor id="444" name="Unknown User7" initials="U" lastIdx="0" clrIdx="443"/>
  <p:cmAuthor id="445" name="muzi wei" initials="m" lastIdx="0" clrIdx="444"/>
  <p:cmAuthor id="446" name="不明使用者21" initials="不" lastIdx="0" clrIdx="445"/>
  <p:cmAuthor id="447" name="goulei" initials="g" lastIdx="0" clrIdx="446"/>
  <p:cmAuthor id="448" name="未知用户109" initials="未" lastIdx="0" clrIdx="447"/>
  <p:cmAuthor id="449" name="thomas" initials="t" lastIdx="0" clrIdx="448"/>
  <p:cmAuthor id="450" name="未知的使用者3" initials="未" lastIdx="0" clrIdx="449"/>
  <p:cmAuthor id="451" name="Unknown User65" initials="U" lastIdx="0" clrIdx="450"/>
  <p:cmAuthor id="452" name="Unknown User67" initials="U" lastIdx="0" clrIdx="451"/>
  <p:cmAuthor id="453" name="未知用户61" initials="未" lastIdx="0" clrIdx="452"/>
  <p:cmAuthor id="454" name="張秀娟" initials="張" lastIdx="0" clrIdx="453"/>
  <p:cmAuthor id="455" name="Jason Wang" initials="J" lastIdx="0" clrIdx="454"/>
  <p:cmAuthor id="456" name="不明使用者18" initials="不" lastIdx="0" clrIdx="455"/>
  <p:cmAuthor id="457" name="未知的使用者72" initials="未" lastIdx="0" clrIdx="456"/>
  <p:cmAuthor id="458" name="未知的使用者48" initials="未" lastIdx="0" clrIdx="457"/>
  <p:cmAuthor id="459" name="Damon" initials="D" lastIdx="0" clrIdx="458"/>
  <p:cmAuthor id="460" name="未知用户60" initials="未" lastIdx="0" clrIdx="459"/>
  <p:cmAuthor id="461" name="Shawna Strickland" initials="S" lastIdx="0" clrIdx="460"/>
  <p:cmAuthor id="462" name="未知的使用者36" initials="未" lastIdx="0" clrIdx="461"/>
  <p:cmAuthor id="463" name="Daniel Wuu" initials="D" lastIdx="0" clrIdx="462"/>
  <p:cmAuthor id="464" name="未知的使用者14" initials="未" lastIdx="0" clrIdx="463"/>
  <p:cmAuthor id="465" name="Ashley Eberenz" initials="A" lastIdx="0" clrIdx="464"/>
  <p:cmAuthor id="466" name="不明使用者19" initials="不" lastIdx="0" clrIdx="465"/>
  <p:cmAuthor id="467" name="未知的使用者74" initials="未" lastIdx="0" clrIdx="466"/>
  <p:cmAuthor id="468" name="未知的使用者23" initials="未" lastIdx="0" clrIdx="467"/>
  <p:cmAuthor id="469" name="未知的使用者1" initials="未" lastIdx="0" clrIdx="468"/>
  <p:cmAuthor id="470" name="116304" initials="1" lastIdx="0" clrIdx="469"/>
  <p:cmAuthor id="471" name="R affer" initials="R" lastIdx="0" clrIdx="470"/>
  <p:cmAuthor id="472" name="qihua-DCMS" initials="q" lastIdx="0" clrIdx="471"/>
  <p:cmAuthor id="473" name="未知的使用者95" initials="未" lastIdx="0" clrIdx="472"/>
  <p:cmAuthor id="474" name="未知的使用者32" initials="未" lastIdx="0" clrIdx="473"/>
  <p:cmAuthor id="475" name="未知的使用者49" initials="未" lastIdx="0" clrIdx="474"/>
  <p:cmAuthor id="476" name="Unknown User26" initials="U" lastIdx="0" clrIdx="475"/>
  <p:cmAuthor id="477" name="yuexuejun" initials="y" lastIdx="0" clrIdx="476"/>
  <p:cmAuthor id="478" name="未知的使用者71" initials="未" lastIdx="0" clrIdx="477"/>
  <p:cmAuthor id="479" name="未知的使用者105" initials="未" lastIdx="0" clrIdx="478"/>
  <p:cmAuthor id="480" name="Unknown User70" initials="U" lastIdx="0" clrIdx="479"/>
  <p:cmAuthor id="481" name="clinchen" initials="c" lastIdx="0" clrIdx="480"/>
  <p:cmAuthor id="482" name="未知用户23" initials="未" lastIdx="0" clrIdx="481"/>
  <p:cmAuthor id="483" name="hanjuncompany" initials="h" lastIdx="0" clrIdx="482"/>
  <p:cmAuthor id="484" name="kathy chen" initials="k" lastIdx="0" clrIdx="483"/>
  <p:cmAuthor id="485" name="未知的使用者63" initials="未" lastIdx="0" clrIdx="484"/>
  <p:cmAuthor id="486" name="毕邺" initials="党委办公室" lastIdx="0" clrIdx="485"/>
  <p:cmAuthor id="487" name="未知的使用者47" initials="未" lastIdx="0" clrIdx="486"/>
  <p:cmAuthor id="488" name="未知的使用者60" initials="未" lastIdx="0" clrIdx="487"/>
  <p:cmAuthor id="489" name="未知的使用者59" initials="未" lastIdx="0" clrIdx="488"/>
  <p:cmAuthor id="490" name="未知的使用者54" initials="未" lastIdx="0" clrIdx="489"/>
  <p:cmAuthor id="491" name="未知的使用者106" initials="未" lastIdx="0" clrIdx="490"/>
  <p:cmAuthor id="492" name="未知的使用者107" initials="未" lastIdx="0" clrIdx="491"/>
  <p:cmAuthor id="493" name="未知的使用者108" initials="未" lastIdx="0" clrIdx="492"/>
  <p:cmAuthor id="494" name="未知的使用者86" initials="未" lastIdx="0" clrIdx="493"/>
  <p:cmAuthor id="495" name="未知的使用者116" initials="未" lastIdx="0" clrIdx="494"/>
  <p:cmAuthor id="496" name="未知的使用者44" initials="未" lastIdx="0" clrIdx="495"/>
  <p:cmAuthor id="497" name="未知的使用者37" initials="未" lastIdx="0" clrIdx="496"/>
  <p:cmAuthor id="498" name="未知的使用者126" initials="未" lastIdx="0" clrIdx="497"/>
  <p:cmAuthor id="499" name="未知的使用者127" initials="未" lastIdx="0" clrIdx="498"/>
  <p:cmAuthor id="500" name="未知的使用者128" initials="未" lastIdx="0" clrIdx="499"/>
  <p:cmAuthor id="501" name="未知的使用者124" initials="未" lastIdx="0" clrIdx="500"/>
  <p:cmAuthor id="502" name="未知的使用者125" initials="未" lastIdx="0" clrIdx="501"/>
  <p:cmAuthor id="503" name="Sara Chen" initials="S" lastIdx="0" clrIdx="502"/>
  <p:cmAuthor id="504" name="未知用户170" initials="未" lastIdx="0" clrIdx="503"/>
  <p:cmAuthor id="505" name="未知用户171" initials="未" lastIdx="0" clrIdx="504"/>
  <p:cmAuthor id="506" name="未知用户172" initials="未" lastIdx="0" clrIdx="505"/>
  <p:cmAuthor id="507" name="未知用户173" initials="未" lastIdx="0" clrIdx="506"/>
  <p:cmAuthor id="508" name="未知用户149" initials="未" lastIdx="0" clrIdx="507"/>
  <p:cmAuthor id="509" name="未知用户150" initials="未" lastIdx="0" clrIdx="508"/>
  <p:cmAuthor id="510" name="未知用户151" initials="未" lastIdx="0" clrIdx="509"/>
  <p:cmAuthor id="511" name="未知用户152" initials="未" lastIdx="0" clrIdx="510"/>
  <p:cmAuthor id="512" name="未知用户153" initials="未" lastIdx="0" clrIdx="511"/>
  <p:cmAuthor id="513" name="未知用户154" initials="未" lastIdx="0" clrIdx="512"/>
  <p:cmAuthor id="514" name="未知用户155" initials="未" lastIdx="0" clrIdx="513"/>
  <p:cmAuthor id="515" name="未知用户41" initials="未" lastIdx="0" clrIdx="514"/>
  <p:cmAuthor id="516" name="未知用户156" initials="未" lastIdx="0" clrIdx="515"/>
  <p:cmAuthor id="517" name="未知用户64" initials="未" lastIdx="0" clrIdx="516"/>
  <p:cmAuthor id="518" name="未知用户65" initials="未" lastIdx="0" clrIdx="517"/>
  <p:cmAuthor id="519" name="未知用户68" initials="未" lastIdx="0" clrIdx="518"/>
  <p:cmAuthor id="520" name="wangxiaoxuan@ha.cmcc" initials="w" lastIdx="0" clrIdx="519"/>
  <p:cmAuthor id="521" name="罗 罗" initials="罗" lastIdx="0" clrIdx="520"/>
  <p:cmAuthor id="522" name="86157" initials="8" lastIdx="0" clrIdx="521"/>
  <p:cmAuthor id="523" name="未知用户52" initials="未" lastIdx="0" clrIdx="522"/>
  <p:cmAuthor id="524" name="MA15" initials="M" lastIdx="0" clrIdx="523"/>
  <p:cmAuthor id="525" name="未知用户53" initials="未" lastIdx="0" clrIdx="524"/>
  <p:cmAuthor id="526" name="未知用户40" initials="未" lastIdx="0" clrIdx="525"/>
  <p:cmAuthor id="527" name="Mr.Wu" initials="M" lastIdx="0" clrIdx="526"/>
  <p:cmAuthor id="528" name="张静_Anua7Nne" initials="authorId_935319063" lastIdx="0" clrIdx="527"/>
  <p:cmAuthor id="529" name="未知用户26" initials="未" lastIdx="0" clrIdx="528"/>
  <p:cmAuthor id="530" name="tonghailan" initials="t" lastIdx="0" clrIdx="529"/>
  <p:cmAuthor id="531" name="未知用户42" initials="未" lastIdx="0" clrIdx="530"/>
  <p:cmAuthor id="532" name="未知的使用者109" initials="未" lastIdx="0" clrIdx="531"/>
  <p:cmAuthor id="533" name="未知的使用者122" initials="未" lastIdx="0" clrIdx="532"/>
  <p:cmAuthor id="534" name="未知的使用者123" initials="未" lastIdx="0" clrIdx="533"/>
  <p:cmAuthor id="535" name="Harry xu" initials="H" lastIdx="0" clrIdx="534"/>
  <p:cmAuthor id="536" name="未知用户35" initials="未" lastIdx="0" clrIdx="535"/>
  <p:cmAuthor id="537" name="未知用户111" initials="未" lastIdx="0" clrIdx="536"/>
  <p:cmAuthor id="538" name="alpha" initials="a" lastIdx="0" clrIdx="537"/>
  <p:cmAuthor id="539" name="Unknown User22" initials="U" lastIdx="0" clrIdx="538"/>
  <p:cmAuthor id="540" name="Unknown User23" initials="U" lastIdx="0" clrIdx="539"/>
  <p:cmAuthor id="541" name="未知的使用者75" initials="未" lastIdx="0" clrIdx="540"/>
  <p:cmAuthor id="542" name="未知的使用者77" initials="未" lastIdx="0" clrIdx="541"/>
  <p:cmAuthor id="543" name="未知的使用者78" initials="未" lastIdx="0" clrIdx="542"/>
  <p:cmAuthor id="544" name="程云静_Y3Azuy2A" initials="程" lastIdx="0" clrIdx="543"/>
  <p:cmAuthor id="545" name="未知的使用者80" initials="未" lastIdx="0" clrIdx="544"/>
  <p:cmAuthor id="546" name="方绍波|fangshaobo" initials="方" lastIdx="0" clrIdx="545"/>
  <p:cmAuthor id="547" name="未知的使用者82" initials="未" lastIdx="0" clrIdx="546"/>
  <p:cmAuthor id="548" name="15719214165@163.com" initials="1" lastIdx="0" clrIdx="547"/>
  <p:cmAuthor id="549" name="未知的使用者83" initials="未" lastIdx="0" clrIdx="548"/>
  <p:cmAuthor id="550" name="张 曦" initials="张" lastIdx="0" clrIdx="549"/>
  <p:cmAuthor id="551" name="未知的使用者84" initials="未" lastIdx="0" clrIdx="550"/>
  <p:cmAuthor id="552" name="zhangxiaodong@ha.cmcc" initials="z" lastIdx="0" clrIdx="551"/>
  <p:cmAuthor id="553" name="未知的使用者87" initials="未" lastIdx="0" clrIdx="552"/>
  <p:cmAuthor id="554" name="未知的使用者90" initials="未" lastIdx="0" clrIdx="553"/>
  <p:cmAuthor id="555" name="未知的使用者91" initials="未" lastIdx="0" clrIdx="554"/>
  <p:cmAuthor id="556" name="CHRISYU" initials="C" lastIdx="0" clrIdx="555"/>
  <p:cmAuthor id="557" name="胡益铭" initials="胡" lastIdx="0" clrIdx="556"/>
  <p:cmAuthor id="558" name="张璐" initials="张" lastIdx="0" clrIdx="557"/>
  <p:cmAuthor id="559" name="未知的使用者102" initials="未" lastIdx="0" clrIdx="558"/>
  <p:cmAuthor id="560" name="未知的使用者61" initials="未" lastIdx="0" clrIdx="559"/>
  <p:cmAuthor id="561" name="未知用户178" initials="未" lastIdx="0" clrIdx="560"/>
  <p:cmAuthor id="562" name="未知用户186" initials="未" lastIdx="0" clrIdx="561"/>
  <p:cmAuthor id="563" name="未知的使用者182" initials="未" lastIdx="0" clrIdx="562"/>
  <p:cmAuthor id="564" name="未知的使用者161" initials="未" lastIdx="0" clrIdx="563"/>
  <p:cmAuthor id="565" name="未知的使用者151" initials="未" lastIdx="0" clrIdx="564"/>
  <p:cmAuthor id="566" name="未知的使用者162" initials="未" lastIdx="0" clrIdx="565"/>
  <p:cmAuthor id="567" name="未知的使用者152" initials="未" lastIdx="0" clrIdx="566"/>
  <p:cmAuthor id="568" name="未知的使用者176" initials="未" lastIdx="0" clrIdx="567"/>
  <p:cmAuthor id="569" name="未知的使用者178" initials="未" lastIdx="0" clrIdx="568"/>
  <p:cmAuthor id="570" name="未知的使用者179" initials="未" lastIdx="0" clrIdx="569"/>
  <p:cmAuthor id="571" name="未知的使用者180" initials="未" lastIdx="0" clrIdx="570"/>
  <p:cmAuthor id="572" name="未知的使用者181" initials="未" lastIdx="0" clrIdx="571"/>
  <p:cmAuthor id="573" name="未知的使用者170" initials="未" lastIdx="0" clrIdx="572"/>
  <p:cmAuthor id="574" name="未知的使用者141" initials="未" lastIdx="0" clrIdx="573"/>
  <p:cmAuthor id="575" name="未知的使用者142" initials="未" lastIdx="0" clrIdx="574"/>
  <p:cmAuthor id="576" name="未知的使用者143" initials="未" lastIdx="0" clrIdx="575"/>
  <p:cmAuthor id="577" name="未知的使用者144" initials="未" lastIdx="0" clrIdx="576"/>
  <p:cmAuthor id="578" name="未知的使用者145" initials="未" lastIdx="0" clrIdx="577"/>
  <p:cmAuthor id="579" name="未知的使用者146" initials="未" lastIdx="0" clrIdx="578"/>
  <p:cmAuthor id="580" name="未知的使用者147" initials="未" lastIdx="0" clrIdx="579"/>
  <p:cmAuthor id="581" name="未知的使用者148" initials="未" lastIdx="0" clrIdx="580"/>
  <p:cmAuthor id="582" name="未知用户130" initials="未" lastIdx="0" clrIdx="581"/>
  <p:cmAuthor id="583" name="未知用户131" initials="未" lastIdx="0" clrIdx="582"/>
  <p:cmAuthor id="584" name="未知用户132" initials="未" lastIdx="0" clrIdx="583"/>
  <p:cmAuthor id="585" name="俊呈 賴" initials="俊" lastIdx="0" clrIdx="584"/>
  <p:cmAuthor id="586" name="Yoyo Wu" initials="Y" lastIdx="0" clrIdx="585"/>
  <p:cmAuthor id="587" name="超" initials="超" lastIdx="0" clrIdx="586"/>
  <p:cmAuthor id="588" name="zhangbin" initials="z" lastIdx="0" clrIdx="587"/>
  <p:cmAuthor id="589" name="haha" initials="h" lastIdx="0" clrIdx="588"/>
  <p:cmAuthor id="590" name="Arno.Du(杜明星)" initials="A" lastIdx="0" clrIdx="589"/>
  <p:cmAuthor id="591" name="未知用户174" initials="未" lastIdx="0" clrIdx="590"/>
  <p:cmAuthor id="592" name="Unknown User27" initials="U" lastIdx="0" clrIdx="591"/>
  <p:cmAuthor id="593" name="未知的使用者221" initials="未" lastIdx="0" clrIdx="592"/>
  <p:cmAuthor id="594" name="未知的使用者222" initials="未" lastIdx="0" clrIdx="593"/>
  <p:cmAuthor id="595" name="未知的使用者223" initials="未" lastIdx="0" clrIdx="594"/>
  <p:cmAuthor id="596" name="未知的使用者224" initials="未" lastIdx="0" clrIdx="595"/>
  <p:cmAuthor id="597" name="未知的使用者225" initials="未" lastIdx="0" clrIdx="596"/>
  <p:cmAuthor id="598" name="未知的使用者226" initials="未" lastIdx="0" clrIdx="597"/>
  <p:cmAuthor id="599" name="未知的使用者227" initials="未" lastIdx="0" clrIdx="598"/>
  <p:cmAuthor id="600" name="未知的使用者217" initials="未" lastIdx="0" clrIdx="599"/>
  <p:cmAuthor id="601" name="未知的使用者218" initials="未" lastIdx="0" clrIdx="600"/>
  <p:cmAuthor id="602" name="未知的使用者219" initials="未" lastIdx="0" clrIdx="601"/>
  <p:cmAuthor id="603" name="未知的使用者220" initials="未" lastIdx="0" clrIdx="602"/>
  <p:cmAuthor id="604" name="未知的使用者228" initials="未" lastIdx="0" clrIdx="603"/>
  <p:cmAuthor id="605" name="未知的使用者229" initials="未" lastIdx="0" clrIdx="604"/>
  <p:cmAuthor id="606" name="未知的使用者230" initials="未" lastIdx="0" clrIdx="605"/>
  <p:cmAuthor id="607" name="未知的使用者231" initials="未" lastIdx="0" clrIdx="606"/>
  <p:cmAuthor id="608" name="未知的使用者232" initials="未" lastIdx="0" clrIdx="607"/>
  <p:cmAuthor id="609" name="未知的使用者233" initials="未" lastIdx="0" clrIdx="608"/>
  <p:cmAuthor id="610" name="未知的使用者234" initials="未" lastIdx="0" clrIdx="609"/>
  <p:cmAuthor id="611" name="未知的使用者130" initials="未" lastIdx="0" clrIdx="610"/>
  <p:cmAuthor id="612" name="未知的使用者131" initials="未" lastIdx="0" clrIdx="611"/>
  <p:cmAuthor id="613" name="未知的使用者132" initials="未" lastIdx="0" clrIdx="612"/>
  <p:cmAuthor id="614" name="未知的使用者235" initials="未" lastIdx="0" clrIdx="613"/>
  <p:cmAuthor id="615" name="未知的使用者236" initials="未" lastIdx="0" clrIdx="614"/>
  <p:cmAuthor id="616" name="未知的使用者237" initials="未" lastIdx="0" clrIdx="615"/>
  <p:cmAuthor id="617" name="未知的使用者238" initials="未" lastIdx="0" clrIdx="616"/>
  <p:cmAuthor id="618" name="未知的使用者239" initials="未" lastIdx="0" clrIdx="617"/>
  <p:cmAuthor id="619" name="未知的使用者136" initials="未" lastIdx="0" clrIdx="618"/>
  <p:cmAuthor id="620" name="未知的使用者134" initials="未" lastIdx="0" clrIdx="619"/>
  <p:cmAuthor id="621" name="未知的使用者206" initials="未" lastIdx="0" clrIdx="620"/>
  <p:cmAuthor id="622" name="Kent" initials="K" lastIdx="0" clrIdx="621"/>
  <p:cmAuthor id="623" name="梅芬 吳" initials="梅" lastIdx="0" clrIdx="622"/>
  <p:cmAuthor id="624" name="王嘉偉" initials="王" lastIdx="0" clrIdx="623"/>
  <p:cmAuthor id="625" name="未知的使用者210" initials="未" lastIdx="0" clrIdx="624"/>
  <p:cmAuthor id="626" name="未知的使用者211" initials="未" lastIdx="0" clrIdx="625"/>
  <p:cmAuthor id="627" name="未知的使用者212" initials="未" lastIdx="0" clrIdx="626"/>
  <p:cmAuthor id="628" name="未知的使用者213" initials="未" lastIdx="0" clrIdx="627"/>
  <p:cmAuthor id="629" name="未知的使用者214" initials="未" lastIdx="0" clrIdx="628"/>
  <p:cmAuthor id="630" name="未知的使用者215" initials="未" lastIdx="0" clrIdx="629"/>
  <p:cmAuthor id="631" name="未知的使用者216" initials="未" lastIdx="0" clrIdx="630"/>
  <p:cmAuthor id="632" name="王丽君" initials="王" lastIdx="0" clrIdx="631"/>
  <p:cmAuthor id="633" name="Xia Ting" initials="X" lastIdx="0" clrIdx="632"/>
  <p:cmAuthor id="634" name="未知用户163" initials="未" lastIdx="0" clrIdx="633"/>
  <p:cmAuthor id="635" name="未知用户164" initials="未" lastIdx="0" clrIdx="634"/>
  <p:cmAuthor id="636" name="未知用户191" initials="未" lastIdx="0" clrIdx="635"/>
  <p:cmAuthor id="637" name="未知用户167" initials="未" lastIdx="0" clrIdx="636"/>
  <p:cmAuthor id="638" name="未知的使用者163" initials="未" lastIdx="0" clrIdx="637"/>
  <p:cmAuthor id="639" name="未知的使用者88" initials="未" lastIdx="0" clrIdx="638"/>
  <p:cmAuthor id="640" name="jerrychou" initials="j" lastIdx="0" clrIdx="639"/>
  <p:cmAuthor id="641" name="不明使用者12" initials="不" lastIdx="0" clrIdx="640"/>
  <p:cmAuthor id="642" name="不明使用者1" initials="不" lastIdx="0" clrIdx="641"/>
  <p:cmAuthor id="643" name="未知的使用者160" initials="未" lastIdx="0" clrIdx="642"/>
  <p:cmAuthor id="644" name="不明使用者7" initials="不" lastIdx="0" clrIdx="643"/>
  <p:cmAuthor id="645" name="未知用户120" initials="未" lastIdx="0" clrIdx="644"/>
  <p:cmAuthor id="646" name="未知用户122" initials="未" lastIdx="0" clrIdx="645"/>
  <p:cmAuthor id="647" name="不明使用者11" initials="不" lastIdx="0" clrIdx="646"/>
  <p:cmAuthor id="648" name="Unknown User24" initials="U" lastIdx="0" clrIdx="647"/>
  <p:cmAuthor id="649" name="未知用户145" initials="未" lastIdx="0" clrIdx="648"/>
  <p:cmAuthor id="650" name="未知用户119" initials="未" lastIdx="0" clrIdx="649"/>
  <p:cmAuthor id="651" name="丁生" initials="丁" lastIdx="0" clrIdx="650"/>
  <p:cmAuthor id="652" name="谢海英" initials="谢海英" lastIdx="0" clrIdx="651"/>
  <p:cmAuthor id="653" name="燕儿" initials="燕" lastIdx="0" clrIdx="652"/>
  <p:cmAuthor id="654" name="梁明珠" initials="梁明珠" lastIdx="0" clrIdx="653"/>
  <p:cmAuthor id="655" name="武智璇" initials="武" lastIdx="0" clrIdx="654"/>
  <p:cmAuthor id="656" name="liang ma" initials="l" lastIdx="0" clrIdx="655"/>
  <p:cmAuthor id="657" name="jinyaoguo" initials="j" lastIdx="0" clrIdx="656"/>
  <p:cmAuthor id="658" name="郭 里芬" initials="郭" lastIdx="0" clrIdx="657"/>
  <p:cmAuthor id="659" name="qsl" initials="q" lastIdx="0" clrIdx="658"/>
  <p:cmAuthor id="660" name="chw" initials="c" lastIdx="0" clrIdx="659"/>
  <p:cmAuthor id="661" name="张亚磊" initials="张" lastIdx="0" clrIdx="660"/>
  <p:cmAuthor id="662" name="刘小猛" initials="刘" lastIdx="0" clrIdx="661"/>
  <p:cmAuthor id="663" name="李博轩" initials="李" lastIdx="0" clrIdx="662"/>
  <p:cmAuthor id="664" name="Icey Z" initials="IZ" lastIdx="0" clrIdx="663"/>
  <p:cmAuthor id="665" name="xiongbaiqiang" initials="x" lastIdx="0" clrIdx="664"/>
  <p:cmAuthor id="666" name="chengzhou wei" initials="cw" lastIdx="0" clrIdx="665"/>
  <p:cmAuthor id="667" name="我就是余某人" initials="我" lastIdx="0" clrIdx="666"/>
  <p:cmAuthor id="668" name="未知的使用者121" initials="未" lastIdx="0" clrIdx="667"/>
  <p:cmAuthor id="669" name="yuanzheng" initials="y" lastIdx="0" clrIdx="668"/>
  <p:cmAuthor id="670" name="wanwen" initials="w" lastIdx="0" clrIdx="669"/>
  <p:cmAuthor id="671" name="蔚勇军" initials="蔚" lastIdx="0" clrIdx="670"/>
  <p:cmAuthor id="672" name="王军" initials="王" lastIdx="0" clrIdx="671"/>
  <p:cmAuthor id="673" name="刘桢儿" initials="刘" lastIdx="0" clrIdx="672"/>
  <p:cmAuthor id="674" name="寂落" initials="寂" lastIdx="0" clrIdx="673"/>
  <p:cmAuthor id="675" name="zhangjie" initials="z" lastIdx="0" clrIdx="674"/>
  <p:cmAuthor id="676" name="Pun Kaiho" initials="PK" lastIdx="0" clrIdx="675"/>
  <p:cmAuthor id="677" name="wincoln" initials="w" lastIdx="0" clrIdx="676"/>
  <p:cmAuthor id="678" name="Xinyi XY Xu (CN - ADVS)" initials="XXX(-A" lastIdx="0" clrIdx="677"/>
  <p:cmAuthor id="679" name="包 诚" initials="包" lastIdx="0" clrIdx="678"/>
  <p:cmAuthor id="680" name="Mia Vida Villanueva" initials="MVV" lastIdx="0" clrIdx="679"/>
  <p:cmAuthor id="681" name="1206988966@qq.com" initials="1" lastIdx="0" clrIdx="680"/>
  <p:cmAuthor id="682" name="姜伟光" initials="姜" lastIdx="0" clrIdx="681"/>
  <p:cmAuthor id="683" name="刘 宏皓" initials="刘" lastIdx="0" clrIdx="682"/>
  <p:cmAuthor id="684" name="李萍" initials="v" lastIdx="0" clrIdx="683"/>
  <p:cmAuthor id="685" name="Qiyang Li" initials="QL" lastIdx="0" clrIdx="684"/>
  <p:cmAuthor id="686" name="davaneen@outlook.com" initials="d" lastIdx="0" clrIdx="685"/>
  <p:cmAuthor id="687" name="郭 思麟" initials="郭" lastIdx="0" clrIdx="686"/>
  <p:cmAuthor id="688" name="PC-CSP" initials="P" lastIdx="0" clrIdx="687"/>
  <p:cmAuthor id="689" name="邢 广博" initials="邢" lastIdx="0" clrIdx="688"/>
  <p:cmAuthor id="690" name="吕 美军" initials="吕" lastIdx="0" clrIdx="689"/>
  <p:cmAuthor id="691" name="华为" initials="华" lastIdx="0" clrIdx="690"/>
  <p:cmAuthor id="692" name="吴胜天10004945" initials="吴胜天10004945" lastIdx="0" clrIdx="691"/>
  <p:cmAuthor id="693" name="Windows 用户" initials="W用" lastIdx="0" clrIdx="692"/>
  <p:cmAuthor id="694" name="杨尚阳" initials="杨" lastIdx="0" clrIdx="693"/>
  <p:cmAuthor id="695" name="00065088" initials="0" lastIdx="0" clrIdx="694"/>
  <p:cmAuthor id="696" name="10086807" initials="1" lastIdx="0" clrIdx="695"/>
  <p:cmAuthor id="697" name="赵诚荣10027092" initials="赵" lastIdx="0" clrIdx="696"/>
  <p:cmAuthor id="698" name="Zhang Mr" initials="ZM" lastIdx="0" clrIdx="697"/>
  <p:cmAuthor id="699" name="侯 冀隆" initials="侯" lastIdx="0" clrIdx="698"/>
  <p:cmAuthor id="700" name="李豫然" initials="LYR" lastIdx="0" clrIdx="699"/>
  <p:cmAuthor id="701" name="KPMG" initials="K" lastIdx="0" clrIdx="700"/>
  <p:cmAuthor id="702" name="10295142" initials="1" lastIdx="0" clrIdx="701"/>
  <p:cmAuthor id="703" name="DXM" initials="D" lastIdx="0" clrIdx="702"/>
  <p:cmAuthor id="704" name="Microsoft" initials="M" lastIdx="0" clrIdx="703"/>
  <p:cmAuthor id="705" name="dfhong_.宏" initials="d" lastIdx="0" clrIdx="704"/>
  <p:cmAuthor id="706" name="ASUS" initials="A" lastIdx="0" clrIdx="705"/>
  <p:cmAuthor id="707" name="ming" initials="m" lastIdx="0" clrIdx="706"/>
  <p:cmAuthor id="708" name="邓巍" initials="邓" lastIdx="0" clrIdx="707"/>
  <p:cmAuthor id="709" name="cat" initials="c" lastIdx="0" clrIdx="708"/>
  <p:cmAuthor id="710" name="Microsoft Office 用户" initials="MO用" lastIdx="0" clrIdx="709"/>
  <p:cmAuthor id="711" name="ming qiu" initials="m" lastIdx="0" clrIdx="710"/>
  <p:cmAuthor id="712" name="祖港 张" initials="祖港" lastIdx="0" clrIdx="711"/>
  <p:cmAuthor id="713" name="s x" initials="s" lastIdx="0" clrIdx="712"/>
  <p:cmAuthor id="714" name="Andrew Liu" initials="AL" lastIdx="0" clrIdx="713"/>
  <p:cmAuthor id="715" name="baiwei" initials="b" lastIdx="0" clrIdx="714"/>
  <p:cmAuthor id="716" name="马小跳" initials="马" lastIdx="0" clrIdx="715"/>
  <p:cmAuthor id="717" name="admin" initials="a" lastIdx="0" clrIdx="716"/>
  <p:cmAuthor id="718" name="zhangjianqiong 04724 (TS)" initials="z04724" lastIdx="0" clrIdx="717"/>
  <p:cmAuthor id="719" name=" " initials="" lastIdx="0" clrIdx="718"/>
  <p:cmAuthor id="720" name="zte" initials="z" lastIdx="0" clrIdx="719"/>
  <p:cmAuthor id="721" name="00006891" initials="0" lastIdx="0" clrIdx="720"/>
  <p:cmAuthor id="722" name="liwenhuang" initials="l" lastIdx="0" clrIdx="721"/>
  <p:cmAuthor id="723" name="QI" initials="Q" lastIdx="0" clrIdx="722"/>
  <p:cmAuthor id="724" name="HHH_e2IjRrUr" initials="authorId_900800093" lastIdx="0" clrIdx="723"/>
  <p:cmAuthor id="725" name="未知用户157" initials="未" lastIdx="0" clrIdx="724"/>
  <p:cmAuthor id="726" name="未知用户158" initials="未" lastIdx="0" clrIdx="725"/>
  <p:cmAuthor id="727" name="未知用户159" initials="未" lastIdx="0" clrIdx="726"/>
  <p:cmAuthor id="728" name="未知用户160" initials="未" lastIdx="0" clrIdx="727"/>
  <p:cmAuthor id="729" name="未知用户168" initials="未" lastIdx="0" clrIdx="728"/>
  <p:cmAuthor id="730" name="順天" initials="順" lastIdx="0" clrIdx="729"/>
  <p:cmAuthor id="731" name="未知用户293" initials="未" lastIdx="0" clrIdx="730"/>
  <p:cmAuthor id="732" name="guanhh" initials="g" lastIdx="0" clrIdx="731"/>
  <p:cmAuthor id="733" name="yudi lin" initials="y" lastIdx="0" clrIdx="732"/>
  <p:cmAuthor id="734" name="liuzga" initials="l" lastIdx="0" clrIdx="733"/>
  <p:cmAuthor id="735" name="49554261@qq.com" initials="4" lastIdx="0" clrIdx="734"/>
  <p:cmAuthor id="736" name="王林10186938" initials="王林10186938" lastIdx="0" clrIdx="735"/>
  <p:cmAuthor id="737" name="王薇（政企）" initials="u" lastIdx="0" clrIdx="736"/>
  <p:cmAuthor id="738" name="健华 李" initials="健华" lastIdx="0" clrIdx="737"/>
  <p:cmAuthor id="739" name="Lei Xiaochuan-QQ884025" initials="LXQ" lastIdx="0" clrIdx="738"/>
  <p:cmAuthor id="740" name="沙" initials="沙" lastIdx="0" clrIdx="739"/>
  <p:cmAuthor id="741" name="陈晓红" initials="陈" lastIdx="0" clrIdx="740"/>
  <p:cmAuthor id="742" name="光启" initials="光" lastIdx="0" clrIdx="741"/>
  <p:cmAuthor id="743" name="吕鑫明" initials="吕" lastIdx="0" clrIdx="742"/>
  <p:cmAuthor id="744" name="Lenovo PC" initials="L" lastIdx="0" clrIdx="743"/>
  <p:cmAuthor id="745" name="Bella.bai" initials="B" lastIdx="0" clrIdx="744"/>
  <p:cmAuthor id="746" name="Miranda.huang" initials="M" lastIdx="0" clrIdx="745"/>
  <p:cmAuthor id="747" name="未知的使用者50" initials="未" lastIdx="0" clrIdx="746"/>
  <p:cmAuthor id="748" name="li.yingzhi" initials="l" lastIdx="0" clrIdx="747"/>
  <p:cmAuthor id="749" name="Vicky" initials="V" lastIdx="0" clrIdx="748"/>
  <p:cmAuthor id="750" name="chen.yu38" initials="c" lastIdx="0" clrIdx="749"/>
  <p:cmAuthor id="751" name="sharon" initials="s" lastIdx="0" clrIdx="750"/>
  <p:cmAuthor id="752" name="未知的使用者81" initials="未" lastIdx="0" clrIdx="751"/>
  <p:cmAuthor id="753" name="罗丽均" initials="罗" lastIdx="0" clrIdx="752"/>
  <p:cmAuthor id="754" name="wei.fang5" initials="w" lastIdx="0" clrIdx="753"/>
  <p:cmAuthor id="755" name="未知用户124" initials="未" lastIdx="0" clrIdx="754"/>
  <p:cmAuthor id="756" name="未知的使用者79" initials="未" lastIdx="0" clrIdx="755"/>
  <p:cmAuthor id="757" name="未知的使用者85" initials="未" lastIdx="0" clrIdx="756"/>
  <p:cmAuthor id="758" name="liucunri" initials="l" lastIdx="0" clrIdx="757"/>
  <p:cmAuthor id="759" name="黄达" initials="黄" lastIdx="0" clrIdx="758"/>
  <p:cmAuthor id="760" name="Unknown User52" initials="U" lastIdx="0" clrIdx="759"/>
  <p:cmAuthor id="761" name="未知用户63" initials="未知用户63" lastIdx="0" clrIdx="760"/>
  <p:cmAuthor id="762" name="zhuxuan1" initials="z" lastIdx="0" clrIdx="761"/>
  <p:cmAuthor id="763" name="李丽" initials="李" lastIdx="0" clrIdx="762"/>
  <p:cmAuthor id="764" name="li.dan32" initials="l" lastIdx="0" clrIdx="763"/>
  <p:cmAuthor id="765" name="未知用户162" initials="未知用户162" lastIdx="0" clrIdx="764"/>
  <p:cmAuthor id="766" name="針對所選的門市進行小範圍實驗，捕捉驅動績效的關鍵影響因子" initials="針" lastIdx="0" clrIdx="765"/>
  <p:cmAuthor id="767" name="James" initials="J" lastIdx="0" clrIdx="766"/>
  <p:cmAuthor id="768" name="未知的使用者114" initials="未" lastIdx="0" clrIdx="767"/>
  <p:cmAuthor id="769" name="未知用户113" initials="未" lastIdx="0" clrIdx="768"/>
  <p:cmAuthor id="770" name="未知用户165" initials="未知用户165" lastIdx="0" clrIdx="769"/>
  <p:cmAuthor id="771" name="未知用户169" initials="未知用户169" lastIdx="0" clrIdx="770"/>
  <p:cmAuthor id="772" name="未知用户202" initials="未" lastIdx="0" clrIdx="771"/>
  <p:cmAuthor id="773" name="未知用户123" initials="未" lastIdx="0" clrIdx="772"/>
  <p:cmAuthor id="774" name="raymond luan" initials="r" lastIdx="0" clrIdx="773"/>
  <p:cmAuthor id="775" name="韩晓宇00207529" initials="韩晓宇00207529" lastIdx="0" clrIdx="774"/>
  <p:cmAuthor id="776" name="未知用户175" initials="未知用户175" lastIdx="0" clrIdx="775"/>
  <p:cmAuthor id="777" name="未知用户211" initials="未" lastIdx="0" clrIdx="776"/>
  <p:cmAuthor id="778" name="Unknown User112" initials="U" lastIdx="0" clrIdx="777"/>
  <p:cmAuthor id="779" name="Unknown User59" initials="U" lastIdx="0" clrIdx="778"/>
  <p:cmAuthor id="780" name="未知用户176" initials="未知用户176" lastIdx="0" clrIdx="779"/>
  <p:cmAuthor id="781" name="未知用户161" initials="未" lastIdx="0" clrIdx="780"/>
  <p:cmAuthor id="782" name="zhang.xin110" initials="z" lastIdx="0" clrIdx="781"/>
  <p:cmAuthor id="783" name="未知用户117" initials="未" lastIdx="0" clrIdx="782"/>
  <p:cmAuthor id="784" name="kuang.yanning" initials="k" lastIdx="0" clrIdx="783"/>
  <p:cmAuthor id="785" name="WANGZF" initials="W" lastIdx="0" clrIdx="784"/>
  <p:cmAuthor id="786" name="zeng.xiangwen1" initials="z" lastIdx="0" clrIdx="785"/>
  <p:cmAuthor id="787" name="li.hongzhen" initials="l" lastIdx="0" clrIdx="786"/>
  <p:cmAuthor id="788" name="Unknown User50" initials="U" lastIdx="0" clrIdx="787"/>
  <p:cmAuthor id="789" name="qu.xuan" initials="q" lastIdx="0" clrIdx="788"/>
  <p:cmAuthor id="790" name="杨鑫" initials="杨" lastIdx="0" clrIdx="789"/>
  <p:cmAuthor id="791" name="zou.deyu" initials="z" lastIdx="0" clrIdx="790"/>
  <p:cmAuthor id="792" name="nancy" initials="n" lastIdx="0" clrIdx="791"/>
  <p:cmAuthor id="793" name="zhao.xiayan" initials="z" lastIdx="0" clrIdx="792"/>
  <p:cmAuthor id="794" name="cheng.qian7" initials="c" lastIdx="0" clrIdx="793"/>
  <p:cmAuthor id="795" name="未知的使用者89" initials="未" lastIdx="0" clrIdx="794"/>
  <p:cmAuthor id="796" name="庆芳 许" initials="庆" lastIdx="0" clrIdx="795"/>
  <p:cmAuthor id="797" name="不明使用者2" initials="不" lastIdx="0" clrIdx="796"/>
  <p:cmAuthor id="798" name="不明使用者3" initials="不" lastIdx="0" clrIdx="797"/>
  <p:cmAuthor id="799" name="不明使用者4" initials="不" lastIdx="0" clrIdx="798"/>
  <p:cmAuthor id="800" name="不明使用者6" initials="不" lastIdx="0" clrIdx="799"/>
  <p:cmAuthor id="801" name="未知用户166" initials="未知用户166" lastIdx="0" clrIdx="800"/>
  <p:cmAuthor id="802" name="不明使用者8" initials="不" lastIdx="0" clrIdx="801"/>
  <p:cmAuthor id="803" name="不明使用者9" initials="不" lastIdx="0" clrIdx="802"/>
  <p:cmAuthor id="804" name="不明使用者10" initials="不" lastIdx="0" clrIdx="803"/>
  <p:cmAuthor id="805" name="BOBOSTART" initials="B" lastIdx="0" clrIdx="804"/>
  <p:cmAuthor id="806" name="好久不见" initials="好" lastIdx="0" clrIdx="805"/>
  <p:cmAuthor id="807" name="jiangyi (W)" initials="j(" lastIdx="0" clrIdx="806"/>
  <p:cmAuthor id="808" name="liuqi (AO)" initials="l(" lastIdx="0" clrIdx="807"/>
  <p:cmAuthor id="809" name="曹阳阳_RNB3MJNB" initials="authorId_837346" lastIdx="0" clrIdx="808"/>
  <p:cmAuthor id="810" name="肖鹏" initials="肖" lastIdx="0" clrIdx="809"/>
  <p:cmAuthor id="811" name="Veena Pureswaran" initials="VP" lastIdx="0" clrIdx="810"/>
  <p:cmAuthor id="812" name="Wangzhi gang" initials="Wg" lastIdx="0" clrIdx="811"/>
  <p:cmAuthor id="813" name="宋洁然" initials="宋" lastIdx="0" clrIdx="812"/>
  <p:cmAuthor id="814" name="pc" initials="p" lastIdx="0" clrIdx="813"/>
  <p:cmAuthor id="815" name="李媛翯" initials="李" lastIdx="0" clrIdx="814"/>
  <p:cmAuthor id="816" name="韩帅" initials="韩帅" lastIdx="0" clrIdx="815"/>
  <p:cmAuthor id="817" name="胡星" initials="h" lastIdx="0" clrIdx="816"/>
  <p:cmAuthor id="818" name="shan" initials="s" lastIdx="0" clrIdx="817"/>
  <p:cmAuthor id="819" name="zll" initials="z" lastIdx="0" clrIdx="818"/>
  <p:cmAuthor id="820" name="了不起的渉川" initials="了" lastIdx="0" clrIdx="819"/>
  <p:cmAuthor id="821" name="榕树天" initials="authorId_478530911" lastIdx="0" clrIdx="820"/>
  <p:cmAuthor id="822" name="PJ Landwehrle" initials="P" lastIdx="0" clrIdx="821"/>
  <p:cmAuthor id="823" name="baiy" initials="b" lastIdx="0" clrIdx="822"/>
  <p:cmAuthor id="824" name="XPH" initials="X" lastIdx="0" clrIdx="823"/>
  <p:cmAuthor id="825" name="未知用户25" initials="未" lastIdx="0" clrIdx="824"/>
  <p:cmAuthor id="826" name="Lam" initials="L" lastIdx="0" clrIdx="825"/>
  <p:cmAuthor id="827" name="williamwhu@163.com" initials="w" lastIdx="0" clrIdx="826"/>
  <p:cmAuthor id="828" name="未知的使用者110" initials="未" lastIdx="0" clrIdx="827"/>
  <p:cmAuthor id="829" name="孙婉" initials="孙婉" lastIdx="0" clrIdx="828"/>
  <p:cmAuthor id="830" name="MP" initials="M" lastIdx="0" clrIdx="829"/>
  <p:cmAuthor id="831" name="信息化专属" initials="信" lastIdx="0" clrIdx="830"/>
  <p:cmAuthor id="832" name="joy" initials="j" lastIdx="0" clrIdx="831"/>
  <p:cmAuthor id="833" name="Hongen XU" initials="HX" lastIdx="0" clrIdx="832"/>
  <p:cmAuthor id="834" name="kangle (CHN)" initials="k(" lastIdx="0" clrIdx="833"/>
  <p:cmAuthor id="835" name="张东方" initials="6" lastIdx="0" clrIdx="834"/>
  <p:cmAuthor id="836" name="王彬" initials="a" lastIdx="0" clrIdx="835"/>
  <p:cmAuthor id="837" name="pangchunyu" initials="p" lastIdx="0" clrIdx="836"/>
  <p:cmAuthor id="838" name="kzy" initials="k" lastIdx="0" clrIdx="837"/>
  <p:cmAuthor id="839" name="1025650193@qq.com" initials="1" lastIdx="0" clrIdx="838"/>
  <p:cmAuthor id="840" name="ray" initials="r" lastIdx="0" clrIdx="839"/>
  <p:cmAuthor id="841" name="李 里" initials="李" lastIdx="0" clrIdx="840"/>
  <p:cmAuthor id="842" name="zhangdazhao" initials="z" lastIdx="0" clrIdx="841"/>
  <p:cmAuthor id="843" name="王 绍东" initials="王" lastIdx="0" clrIdx="842"/>
  <p:cmAuthor id="844" name="zhou chengwei" initials="z" lastIdx="0" clrIdx="843"/>
  <p:cmAuthor id="845" name="fxq" initials="f" lastIdx="0" clrIdx="844"/>
  <p:cmAuthor id="846" name="鹰 雏" initials="鹰雏" lastIdx="0" clrIdx="845"/>
  <p:cmAuthor id="847" name="littlefish" initials="l" lastIdx="0" clrIdx="846"/>
  <p:cmAuthor id="848" name="延" initials="延" lastIdx="0" clrIdx="847"/>
  <p:cmAuthor id="849" name="系海" initials="系海" lastIdx="0" clrIdx="848"/>
  <p:cmAuthor id="850" name="雷 小勇" initials="雷" lastIdx="0" clrIdx="849"/>
  <p:cmAuthor id="851" name="l09481" initials="l" lastIdx="0" clrIdx="850"/>
  <p:cmAuthor id="852" name="cue dafen" initials="cd" lastIdx="0" clrIdx="851"/>
  <p:cmAuthor id="853" name="Think Think" initials="TT" lastIdx="0" clrIdx="852"/>
  <p:cmAuthor id="854" name="Kwok Johnny" initials="" lastIdx="0" clrIdx="853"/>
  <p:cmAuthor id="855" name="兰" initials="兰" lastIdx="0" clrIdx="854"/>
  <p:cmAuthor id="856" name="孜然" initials="孜" lastIdx="0" clrIdx="855"/>
  <p:cmAuthor id="857" name="MrWan" initials="M" lastIdx="0" clrIdx="856"/>
  <p:cmAuthor id="858" name="Happy" initials="H" lastIdx="0" clrIdx="857"/>
  <p:cmAuthor id="859" name="ziyangz@outlook.com" initials="z" lastIdx="0" clrIdx="858"/>
  <p:cmAuthor id="860" name="pi242" initials="p" lastIdx="0" clrIdx="859"/>
  <p:cmAuthor id="861" name="张宏婧" initials="张" lastIdx="0" clrIdx="860"/>
  <p:cmAuthor id="862" name="011915056" initials="" lastIdx="0" clrIdx="861"/>
  <p:cmAuthor id="863" name="znzhong" initials="z" lastIdx="0" clrIdx="862"/>
  <p:cmAuthor id="864" name="huangyuting" initials="h" lastIdx="0" clrIdx="863"/>
  <p:cmAuthor id="865" name="于佳鳌" initials="于" lastIdx="0" clrIdx="864"/>
  <p:cmAuthor id="866" name="zsh" initials="z" lastIdx="0" clrIdx="865"/>
  <p:cmAuthor id="867" name="李宇翔" initials="" lastIdx="0" clrIdx="866"/>
  <p:cmAuthor id="868" name="zhangtao" initials="z" lastIdx="0" clrIdx="867"/>
  <p:cmAuthor id="869" name="微软用户" initials="微" lastIdx="0" clrIdx="868"/>
  <p:cmAuthor id="870" name="WangYi" initials="W" lastIdx="0" clrIdx="869"/>
  <p:cmAuthor id="871" name="PC" initials="P" lastIdx="0" clrIdx="870"/>
  <p:cmAuthor id="872" name="范颖捷" initials="Fanyj" lastIdx="0" clrIdx="871"/>
  <p:cmAuthor id="873" name="熊 聪" initials="熊" lastIdx="0" clrIdx="872"/>
  <p:cmAuthor id="874" name="洪增荣" initials="H" lastIdx="0" clrIdx="873"/>
  <p:cmAuthor id="875" name="李志全" initials="李志全" lastIdx="0" clrIdx="874"/>
  <p:cmAuthor id="876" name="Unknown User2" initials="Unknown User2" lastIdx="0" clrIdx="875"/>
  <p:cmAuthor id="877" name="Han Jiang" initials="H" lastIdx="0" clrIdx="876"/>
  <p:cmAuthor id="878" name="姜珊" initials="姜" lastIdx="0" clrIdx="877"/>
  <p:cmAuthor id="879" name="gawei" initials="g" lastIdx="0" clrIdx="878"/>
  <p:cmAuthor id="880" name="meixin hu" initials="m" lastIdx="0" clrIdx="879"/>
  <p:cmAuthor id="881" name="孙三山" initials="孙" lastIdx="0" clrIdx="880"/>
  <p:cmAuthor id="882" name="Coran" initials="C" lastIdx="0" clrIdx="881"/>
  <p:cmAuthor id="883" name="许艳松" initials="许" lastIdx="0" clrIdx="882"/>
  <p:cmAuthor id="884" name="何 静" initials="何" lastIdx="0" clrIdx="883"/>
  <p:cmAuthor id="885" name="zxl" initials="z" lastIdx="0" clrIdx="884"/>
  <p:cmAuthor id="886" name="唐思源" initials="唐" lastIdx="0" clrIdx="885"/>
  <p:cmAuthor id="887" name="杨 云" initials="杨" lastIdx="0" clrIdx="886"/>
  <p:cmAuthor id="888" name="卢曦" initials="卢" lastIdx="0" clrIdx="887"/>
  <p:cmAuthor id="889" name="Xin Wang (IB)" initials="X" lastIdx="0" clrIdx="888"/>
  <p:cmAuthor id="890" name="djz" initials="d" lastIdx="0" clrIdx="889"/>
  <p:cmAuthor id="891" name="周明" initials="周" lastIdx="0" clrIdx="890"/>
  <p:cmAuthor id="892" name="konglu2012@126.com" initials="k" lastIdx="0" clrIdx="891"/>
  <p:cmAuthor id="893" name="ADMINIBM" initials="A" lastIdx="0" clrIdx="892"/>
  <p:cmAuthor id="894" name="Danling Li" initials="D" lastIdx="0" clrIdx="893"/>
  <p:cmAuthor id="895" name="Saunter" initials="S" lastIdx="0" clrIdx="894"/>
  <p:cmAuthor id="896" name="王瑶" initials="王" lastIdx="0" clrIdx="895"/>
  <p:cmAuthor id="897" name="Bo Yu" initials="B" lastIdx="0" clrIdx="896"/>
  <p:cmAuthor id="898" name="Maoye Ran" initials="M" lastIdx="0" clrIdx="897"/>
  <p:cmAuthor id="899" name="Zhi Peng Li" initials="ZPL" lastIdx="0" clrIdx="898"/>
  <p:cmAuthor id="900" name="ha9cu1" initials="h" lastIdx="0" clrIdx="899"/>
  <p:cmAuthor id="901" name="86185" initials="8" lastIdx="0" clrIdx="900"/>
  <p:cmAuthor id="902" name="wum20" initials="w" lastIdx="0" clrIdx="901"/>
  <p:cmAuthor id="903" name="武敏" initials="武" lastIdx="0" clrIdx="902"/>
  <p:cmAuthor id="904" name="ZYSR-XY" initials="Z" lastIdx="0" clrIdx="903"/>
  <p:cmAuthor id="905" name="刘颖" initials="刘" lastIdx="0" clrIdx="904"/>
  <p:cmAuthor id="906" name="Chen, Naikang A." initials="C" lastIdx="0" clrIdx="905"/>
  <p:cmAuthor id="907" name="song song" initials="s" lastIdx="0" clrIdx="906"/>
  <p:cmAuthor id="908" name="博 张" initials="博张" lastIdx="0" clrIdx="907"/>
  <p:cmAuthor id="909" name="曾阿婷" initials="曾" lastIdx="0" clrIdx="908"/>
  <p:cmAuthor id="910" name="yubaoquan" initials="y" lastIdx="0" clrIdx="909"/>
  <p:cmAuthor id="911" name="ting yue" initials="t" lastIdx="0" clrIdx="910"/>
  <p:cmAuthor id="912" name="david bin" initials="d" lastIdx="0" clrIdx="911"/>
  <p:cmAuthor id="913" name="MLOONG" initials="M" lastIdx="0" clrIdx="912"/>
  <p:cmAuthor id="914" name="於宝泉" initials="於" lastIdx="0" clrIdx="913"/>
  <p:cmAuthor id="915" name="李霞" initials="李" lastIdx="0" clrIdx="914"/>
  <p:cmAuthor id="916" name="宋琛哲" initials="宋" lastIdx="0" clrIdx="915"/>
  <p:cmAuthor id="917" name="Liu Dong" initials="L" lastIdx="0" clrIdx="916"/>
  <p:cmAuthor id="918" name="Zhao Jing" initials="Z" lastIdx="0" clrIdx="917"/>
  <p:cmAuthor id="919" name="刘天玉" initials="刘" lastIdx="0" clrIdx="918"/>
  <p:cmAuthor id="920" name="杨志宇" initials="王" lastIdx="0" clrIdx="919"/>
  <p:cmAuthor id="921" name="Roet-Reinking, Nathalie" initials="R" lastIdx="0" clrIdx="920"/>
  <p:cmAuthor id="922" name="张金龙" initials="张" lastIdx="0" clrIdx="921"/>
  <p:cmAuthor id="923" name="祝惠蓉" initials="祝" lastIdx="0" clrIdx="922"/>
  <p:cmAuthor id="924" name="王 颖琪" initials="王" lastIdx="0" clrIdx="923"/>
  <p:cmAuthor id="925" name="side by side" initials="s" lastIdx="0" clrIdx="924"/>
  <p:cmAuthor id="926" name="Ku, Jie" initials="KJ" lastIdx="0" clrIdx="925"/>
  <p:cmAuthor id="927" name="Lee Alwin" initials="L" lastIdx="0" clrIdx="926"/>
  <p:cmAuthor id="928" name="gaodaquan" initials="gaodaquan" lastIdx="0" clrIdx="927"/>
  <p:cmAuthor id="929" name="yang" initials="y" lastIdx="0" clrIdx="928"/>
  <p:cmAuthor id="930" name="李 满" initials="" lastIdx="0" clrIdx="929"/>
  <p:cmAuthor id="931" name="weiqy@cfbgc.com" initials="w" lastIdx="0" clrIdx="930"/>
  <p:cmAuthor id="932" name="z cs" initials="zc" lastIdx="0" clrIdx="931"/>
  <p:cmAuthor id="933" name="ZB" initials="Z" lastIdx="0" clrIdx="932"/>
  <p:cmAuthor id="934" name="Estelle Wang" initials="EW" lastIdx="0" clrIdx="933"/>
  <p:cmAuthor id="935" name="郑毅/工程数字技术应用中心/工程技术公司/海油发展" initials="郑" lastIdx="0" clrIdx="934"/>
  <p:cmAuthor id="936" name="sun hongling" initials="s" lastIdx="0" clrIdx="935"/>
  <p:cmAuthor id="937" name="Lenovo" initials="L" lastIdx="0" clrIdx="936"/>
  <p:cmAuthor id="938" name="熊先奎10009191" initials="熊" lastIdx="0" clrIdx="937"/>
  <p:cmAuthor id="939" name="10107538" initials="1" lastIdx="0" clrIdx="938"/>
  <p:cmAuthor id="940" name="10118178" initials="1" lastIdx="0" clrIdx="939"/>
  <p:cmAuthor id="941" name="zhouwd" initials="z" lastIdx="0" clrIdx="940"/>
  <p:cmAuthor id="942" name="马云飞10014438" initials="马" lastIdx="0" clrIdx="941"/>
  <p:cmAuthor id="943" name="John" initials="J" lastIdx="0" clrIdx="942"/>
  <p:cmAuthor id="944" name="10025093" initials="1" lastIdx="0" clrIdx="943"/>
  <p:cmAuthor id="945" name="10078380" initials="1" lastIdx="0" clrIdx="944"/>
  <p:cmAuthor id="946" name="00035181" initials="0" lastIdx="0" clrIdx="945"/>
  <p:cmAuthor id="947" name="张燕" initials="张" lastIdx="0" clrIdx="946"/>
  <p:cmAuthor id="948" name="Saku Uchikawa" initials="S" lastIdx="0" clrIdx="947"/>
  <p:cmAuthor id="949" name="10066351" initials="1" lastIdx="0" clrIdx="948"/>
  <p:cmAuthor id="950" name="ThinkPad" initials="T" lastIdx="0" clrIdx="949"/>
  <p:cmAuthor id="951" name="余 敏文" initials="余" lastIdx="0" clrIdx="950"/>
  <p:cmAuthor id="952" name="wangyufei 10437 (TS)" initials="w" lastIdx="0" clrIdx="951"/>
  <p:cmAuthor id="953" name="杨 易欣" initials="杨" lastIdx="0" clrIdx="95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C61E7"/>
    <a:srgbClr val="204090"/>
    <a:srgbClr val="DAE3F3"/>
    <a:srgbClr val="F0F9F4"/>
    <a:srgbClr val="403080"/>
    <a:srgbClr val="FCFCFB"/>
    <a:srgbClr val="00C2C7"/>
    <a:srgbClr val="EAEEF1"/>
    <a:srgbClr val="0098D5"/>
    <a:srgbClr val="67B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126E9F6-41A6-44B7-8387-491034A24550}" styleName="表样式 1 25">
    <a:wholeTbl>
      <a:tcTxStyle>
        <a:fontRef idx="none">
          <a:srgbClr val="000000"/>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w="9525" cmpd="sng">
              <a:solidFill>
                <a:srgbClr val="4A62C7">
                  <a:lumMod val="40000"/>
                  <a:lumOff val="60000"/>
                </a:srgbClr>
              </a:solidFill>
              <a:prstDash val="solid"/>
            </a:ln>
          </a:insideV>
        </a:tcBdr>
        <a:fill>
          <a:solidFill>
            <a:srgbClr val="FFFFFF"/>
          </a:solidFill>
        </a:fill>
      </a:tcStyle>
    </a:wholeTbl>
    <a:band2H>
      <a:tcStyle>
        <a:tcBdr/>
        <a:fill>
          <a:solidFill>
            <a:srgbClr val="4A62C7">
              <a:lumMod val="10000"/>
              <a:lumOff val="90000"/>
            </a:srgbClr>
          </a:solidFill>
        </a:fill>
      </a:tcStyle>
    </a:band2H>
    <a:band1V>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w="9525" cmpd="sng">
              <a:solidFill>
                <a:srgbClr val="4A62C7">
                  <a:lumMod val="40000"/>
                  <a:lumOff val="60000"/>
                </a:srgbClr>
              </a:solidFill>
              <a:prstDash val="solid"/>
            </a:ln>
          </a:insideV>
        </a:tcBdr>
        <a:fill>
          <a:solidFill>
            <a:srgbClr val="4A62C7">
              <a:lumMod val="10000"/>
              <a:lumOff val="90000"/>
            </a:srgbClr>
          </a:solidFill>
        </a:fill>
      </a:tcStyle>
    </a:band1V>
    <a:band2V>
      <a:tcStyle>
        <a:tcBdr>
          <a:left>
            <a:ln w="9525" cmpd="sng">
              <a:solidFill>
                <a:srgbClr val="4A62C7">
                  <a:lumMod val="40000"/>
                  <a:lumOff val="60000"/>
                </a:srgbClr>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tcStyle>
    </a:band2V>
    <a:lastCol>
      <a:tcTxStyle b="on">
        <a:fontRef idx="none">
          <a:srgbClr val="FFFFFF"/>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fill>
          <a:solidFill>
            <a:srgbClr val="4A62C7"/>
          </a:solidFill>
        </a:fill>
      </a:tcStyle>
    </a:lastCol>
    <a:firstCol>
      <a:tcTxStyle b="on">
        <a:fontRef idx="none">
          <a:schemeClr val="tx1"/>
        </a:fontRef>
      </a:tcTxStyle>
      <a:tcStyle>
        <a:tcBdr>
          <a:left>
            <a:ln w="9525" cmpd="sng">
              <a:solidFill>
                <a:srgbClr val="4A62C7"/>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fill>
          <a:solidFill>
            <a:srgbClr val="4A62C7">
              <a:lumMod val="20000"/>
              <a:lumOff val="80000"/>
            </a:srgbClr>
          </a:solidFill>
        </a:fill>
      </a:tcStyle>
    </a:firstCol>
    <a:lastRow>
      <a:tcTxStyle b="on">
        <a:fontRef idx="none">
          <a:srgbClr val="4A62C7"/>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w="9525" cmpd="sng">
              <a:solidFill>
                <a:srgbClr val="4A62C7">
                  <a:lumMod val="40000"/>
                  <a:lumOff val="60000"/>
                </a:srgbClr>
              </a:solidFill>
              <a:prstDash val="solid"/>
            </a:ln>
          </a:insideV>
        </a:tcBdr>
      </a:tcStyle>
    </a:lastRow>
    <a:seCell>
      <a:tcStyle>
        <a:tcBdr>
          <a:left>
            <a:ln w="9525" cmpd="sng">
              <a:solidFill>
                <a:srgbClr val="4A62C7">
                  <a:lumMod val="40000"/>
                  <a:lumOff val="60000"/>
                </a:srgbClr>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a:noFill/>
            </a:ln>
          </a:insideV>
        </a:tcBdr>
        <a:fill>
          <a:solidFill>
            <a:srgbClr val="FFFFFF"/>
          </a:solidFill>
        </a:fill>
      </a:tcStyle>
    </a:seCell>
    <a:swCell>
      <a:tcTxStyle b="on">
        <a:fontRef idx="none">
          <a:srgbClr val="4A62C7"/>
        </a:fontRef>
      </a:tcTxStyle>
      <a:tcStyle>
        <a:tcBdr>
          <a:left>
            <a:ln w="9525" cmpd="sng">
              <a:solidFill>
                <a:srgbClr val="4A62C7"/>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w="9525" cmpd="sng">
              <a:solidFill>
                <a:srgbClr val="4A62C7">
                  <a:lumMod val="40000"/>
                  <a:lumOff val="60000"/>
                </a:srgbClr>
              </a:solidFill>
              <a:prstDash val="solid"/>
            </a:ln>
          </a:insideV>
        </a:tcBdr>
        <a:fill>
          <a:solidFill>
            <a:srgbClr val="4A62C7"/>
          </a:solidFill>
        </a:fill>
      </a:tcStyle>
    </a:firstRow>
    <a:neCell>
      <a:tcStyle>
        <a:tcBdr>
          <a:left>
            <a:ln w="9525" cmpd="sng">
              <a:solidFill>
                <a:srgbClr val="4A62C7">
                  <a:lumMod val="40000"/>
                  <a:lumOff val="60000"/>
                </a:srgbClr>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lumMod val="40000"/>
                  <a:lumOff val="60000"/>
                </a:srgbClr>
              </a:solidFill>
              <a:prstDash val="solid"/>
            </a:ln>
          </a:bottom>
          <a:insideH>
            <a:ln>
              <a:noFill/>
            </a:ln>
          </a:insideH>
          <a:insideV>
            <a:ln>
              <a:noFill/>
            </a:ln>
          </a:insideV>
        </a:tcBdr>
      </a:tcStyle>
    </a:neCell>
  </a:tblStyle>
  <a:tblStyle styleId="{BB45DE53-469D-4D13-8DD3-590A0C94434D}" styleName="表样式 1 25">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7B133EC-C43E-4B86-9A22-AE00D15C5094}" styleName="表样式 1 25">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tblStyle>
  <a:tblStyle styleId="{32D04DA5-687A-43D4-BF8B-19D63E96F52B}" styleName="表样式 1 25">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2" Type="http://schemas.openxmlformats.org/officeDocument/2006/relationships/tags" Target="tags/tag334.xml"/><Relationship Id="rId51" Type="http://schemas.openxmlformats.org/officeDocument/2006/relationships/commentAuthors" Target="commentAuthors.xml"/><Relationship Id="rId50" Type="http://schemas.openxmlformats.org/officeDocument/2006/relationships/tableStyles" Target="tableStyles.xml"/><Relationship Id="rId5" Type="http://schemas.openxmlformats.org/officeDocument/2006/relationships/slideMaster" Target="slideMasters/slideMaster4.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2.xml"/><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package" Target="../embeddings/Workbook5.xlsx"/></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package" Target="../embeddings/Workbook6.xlsx"/></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package" Target="../embeddings/Workbook7.xlsx"/></Relationships>
</file>

<file path=ppt/charts/_rels/chart8.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 TargetMode="External"/></Relationships>
</file>

<file path=ppt/charts/_rels/chart10.xml.rels><?xml version="1.0" encoding="UTF-8" standalone="yes"?>
<Relationships xmlns="http://schemas.openxmlformats.org/package/2006/relationships"><Relationship Id="rId4" Type="http://schemas.microsoft.com/office/2011/relationships/chartColorStyle" Target="colors8.xml"/><Relationship Id="rId3" Type="http://schemas.microsoft.com/office/2011/relationships/chartStyle" Target="style8.xml"/><Relationship Id="rId2" Type="http://schemas.openxmlformats.org/officeDocument/2006/relationships/themeOverride" Target="../theme/themeOverride3.xml"/><Relationship Id="rId1" Type="http://schemas.openxmlformats.org/officeDocument/2006/relationships/package" Target="../embeddings/Workbook8.xlsx"/></Relationships>
</file>

<file path=ppt/charts/_rels/chart11.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package" Target="../embeddings/Workbook9.xlsx"/></Relationships>
</file>

<file path=ppt/charts/_rels/chart12.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package" Target="../embeddings/Workbook10.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a:solidFill>
              <a:schemeClr val="accent1">
                <a:alpha val="85000"/>
              </a:schemeClr>
            </a:solidFill>
          </c:spPr>
          <c:explosion val="0"/>
          <c:dPt>
            <c:idx val="0"/>
            <c:bubble3D val="0"/>
            <c:spPr>
              <a:solidFill>
                <a:schemeClr val="accent1">
                  <a:alpha val="85000"/>
                </a:schemeClr>
              </a:solidFill>
              <a:ln w="19050">
                <a:solidFill>
                  <a:schemeClr val="lt1"/>
                </a:solidFill>
              </a:ln>
              <a:effectLst/>
            </c:spPr>
          </c:dPt>
          <c:dPt>
            <c:idx val="1"/>
            <c:bubble3D val="0"/>
            <c:spPr>
              <a:solidFill>
                <a:schemeClr val="accent2">
                  <a:alpha val="85000"/>
                </a:schemeClr>
              </a:solidFill>
              <a:ln w="19050">
                <a:solidFill>
                  <a:schemeClr val="lt1"/>
                </a:solidFill>
              </a:ln>
              <a:effectLst/>
            </c:spPr>
          </c:dPt>
          <c:dPt>
            <c:idx val="2"/>
            <c:bubble3D val="0"/>
            <c:spPr>
              <a:solidFill>
                <a:schemeClr val="accent3">
                  <a:alpha val="85000"/>
                </a:schemeClr>
              </a:solidFill>
              <a:ln w="19050">
                <a:solidFill>
                  <a:schemeClr val="lt1"/>
                </a:solidFill>
              </a:ln>
              <a:effectLst/>
            </c:spPr>
          </c:dPt>
          <c:dPt>
            <c:idx val="3"/>
            <c:bubble3D val="0"/>
            <c:spPr>
              <a:solidFill>
                <a:schemeClr val="accent4">
                  <a:alpha val="85000"/>
                </a:schemeClr>
              </a:solidFill>
              <a:ln w="19050">
                <a:solidFill>
                  <a:schemeClr val="lt1"/>
                </a:solidFill>
              </a:ln>
              <a:effectLst/>
            </c:spPr>
          </c:dPt>
          <c:dPt>
            <c:idx val="4"/>
            <c:bubble3D val="0"/>
            <c:spPr>
              <a:solidFill>
                <a:schemeClr val="accent5">
                  <a:alpha val="85000"/>
                </a:schemeClr>
              </a:solidFill>
              <a:ln w="19050">
                <a:solidFill>
                  <a:schemeClr val="lt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Sheet1!$A$2:$A$6</c:f>
              <c:strCache>
                <c:ptCount val="5"/>
                <c:pt idx="0">
                  <c:v>挖矿</c:v>
                </c:pt>
                <c:pt idx="1" c:formatCode="mmm\-yy">
                  <c:v>僵尸网络</c:v>
                </c:pt>
                <c:pt idx="2" c:formatCode="mmm\-yy">
                  <c:v>木马</c:v>
                </c:pt>
                <c:pt idx="3" c:formatCode="mmm\-yy">
                  <c:v>账号爆破</c:v>
                </c:pt>
                <c:pt idx="4" c:formatCode="mmm\-yy">
                  <c:v>代理工具</c:v>
                </c:pt>
              </c:strCache>
            </c:strRef>
          </c:cat>
          <c:val>
            <c:numRef>
              <c:f>Sheet1!$B$2:$B$6</c:f>
              <c:numCache>
                <c:formatCode>General</c:formatCode>
                <c:ptCount val="5"/>
                <c:pt idx="0">
                  <c:v>76</c:v>
                </c:pt>
                <c:pt idx="1">
                  <c:v>39</c:v>
                </c:pt>
                <c:pt idx="2">
                  <c:v>31</c:v>
                </c:pt>
                <c:pt idx="3">
                  <c:v>26</c:v>
                </c:pt>
                <c:pt idx="4">
                  <c:v>11</c:v>
                </c:pt>
              </c:numCache>
            </c:numRef>
          </c:val>
        </c:ser>
        <c:dLbls>
          <c:showLegendKey val="0"/>
          <c:showVal val="1"/>
          <c:showCatName val="0"/>
          <c:showSerName val="0"/>
          <c:showPercent val="0"/>
          <c:showBubbleSize val="0"/>
          <c:showLeaderLines val="0"/>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3644622860765"/>
          <c:y val="0.229474852071006"/>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chart>
  <c:spPr>
    <a:noFill/>
    <a:ln w="6350" cap="flat" cmpd="sng" algn="ctr">
      <a:noFill/>
      <a:round/>
    </a:ln>
    <a:effectLst/>
  </c:spPr>
  <c:txPr>
    <a:bodyPr/>
    <a:lstStyle/>
    <a:p>
      <a:pPr>
        <a:defRPr lang="zh-CN">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14410134600158"/>
          <c:y val="0.197183098591549"/>
          <c:w val="0.909527579836368"/>
          <c:h val="0.643213828425096"/>
        </c:manualLayout>
      </c:layout>
      <c:barChart>
        <c:barDir val="col"/>
        <c:grouping val="clustered"/>
        <c:varyColors val="0"/>
        <c:ser>
          <c:idx val="0"/>
          <c:order val="0"/>
          <c:tx>
            <c:strRef>
              <c:f>Sheet1!$B$1</c:f>
              <c:strCache>
                <c:ptCount val="1"/>
                <c:pt idx="0">
                  <c:v>平均处置时间（分钟）</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识别</c:v>
                </c:pt>
                <c:pt idx="1">
                  <c:v>响应</c:v>
                </c:pt>
                <c:pt idx="2">
                  <c:v>处置</c:v>
                </c:pt>
                <c:pt idx="3">
                  <c:v>闭环</c:v>
                </c:pt>
              </c:strCache>
            </c:strRef>
          </c:cat>
          <c:val>
            <c:numRef>
              <c:f>Sheet1!$B$2:$B$5</c:f>
              <c:numCache>
                <c:formatCode>0.00_ </c:formatCode>
                <c:ptCount val="4"/>
                <c:pt idx="0">
                  <c:v>6.41666666666667</c:v>
                </c:pt>
                <c:pt idx="1">
                  <c:v>25.4666666666667</c:v>
                </c:pt>
                <c:pt idx="2">
                  <c:v>572.016666666667</c:v>
                </c:pt>
                <c:pt idx="3">
                  <c:v>625.383333333333</c:v>
                </c:pt>
              </c:numCache>
            </c:numRef>
          </c:val>
        </c:ser>
        <c:dLbls>
          <c:showLegendKey val="0"/>
          <c:showVal val="1"/>
          <c:showCatName val="0"/>
          <c:showSerName val="0"/>
          <c:showPercent val="0"/>
          <c:showBubbleSize val="0"/>
        </c:dLbls>
        <c:gapWidth val="246"/>
        <c:overlap val="-28"/>
        <c:axId val="590885613"/>
        <c:axId val="82692506"/>
      </c:barChart>
      <c:catAx>
        <c:axId val="59088561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82692506"/>
        <c:crosses val="autoZero"/>
        <c:auto val="1"/>
        <c:lblAlgn val="ctr"/>
        <c:lblOffset val="100"/>
        <c:noMultiLvlLbl val="0"/>
      </c:catAx>
      <c:valAx>
        <c:axId val="82692506"/>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590885613"/>
        <c:crosses val="autoZero"/>
        <c:crossBetween val="between"/>
      </c:valAx>
      <c:spPr>
        <a:noFill/>
        <a:ln>
          <a:noFill/>
        </a:ln>
        <a:effectLst/>
      </c:spPr>
    </c:plotArea>
    <c:plotVisOnly val="1"/>
    <c:dispBlanksAs val="gap"/>
    <c:showDLblsOverMax val="0"/>
  </c:chart>
  <c:spPr>
    <a:noFill/>
    <a:ln w="9525" cap="flat" cmpd="sng" algn="ctr">
      <a:noFill/>
      <a:prstDash val="solid"/>
      <a:round/>
    </a:ln>
    <a:effectLst/>
  </c:spPr>
  <c:txPr>
    <a:bodyPr/>
    <a:lstStyle/>
    <a:p>
      <a:pPr>
        <a:defRPr lang="zh-CN">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平均响应时长</c:v>
                </c:pt>
              </c:strCache>
            </c:strRef>
          </c:tx>
          <c:spPr>
            <a:ln w="28575" cap="rnd">
              <a:solidFill>
                <a:schemeClr val="accent1"/>
              </a:solidFill>
              <a:round/>
            </a:ln>
            <a:effectLst/>
          </c:spPr>
          <c:marker>
            <c:symbol val="none"/>
          </c:marker>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2025-03</c:v>
                </c:pt>
                <c:pt idx="1" c:formatCode="yyyy/m/d">
                  <c:v>2025-04</c:v>
                </c:pt>
                <c:pt idx="2" c:formatCode="yyyy/m/d">
                  <c:v>2025-05</c:v>
                </c:pt>
                <c:pt idx="3" c:formatCode="yyyy/m/d">
                  <c:v>2025-06</c:v>
                </c:pt>
                <c:pt idx="4" c:formatCode="yyyy/m/d">
                  <c:v>2025-07</c:v>
                </c:pt>
                <c:pt idx="5" c:formatCode="yyyy/m/d">
                  <c:v>2025-08</c:v>
                </c:pt>
                <c:pt idx="6" c:formatCode="yyyy/m/d">
                  <c:v>2025-09</c:v>
                </c:pt>
                <c:pt idx="7" c:formatCode="yyyy/m/d">
                  <c:v>2025-10</c:v>
                </c:pt>
                <c:pt idx="8" c:formatCode="yyyy/m/d">
                  <c:v>2025-11</c:v>
                </c:pt>
              </c:strCache>
            </c:strRef>
          </c:cat>
          <c:val>
            <c:numRef>
              <c:f>Sheet1!$B$2:$B$10</c:f>
              <c:numCache>
                <c:formatCode>0.00_ </c:formatCode>
                <c:ptCount val="9"/>
                <c:pt idx="0">
                  <c:v>26.6</c:v>
                </c:pt>
                <c:pt idx="1">
                  <c:v>15.25</c:v>
                </c:pt>
                <c:pt idx="2">
                  <c:v>0</c:v>
                </c:pt>
                <c:pt idx="3">
                  <c:v>18</c:v>
                </c:pt>
                <c:pt idx="4">
                  <c:v>10.6666666666667</c:v>
                </c:pt>
                <c:pt idx="5">
                  <c:v>0</c:v>
                </c:pt>
                <c:pt idx="6">
                  <c:v>0</c:v>
                </c:pt>
                <c:pt idx="7">
                  <c:v>0</c:v>
                </c:pt>
                <c:pt idx="8">
                  <c:v>0</c:v>
                </c:pt>
              </c:numCache>
            </c:numRef>
          </c:val>
          <c:smooth val="0"/>
        </c:ser>
        <c:dLbls>
          <c:showLegendKey val="0"/>
          <c:showVal val="1"/>
          <c:showCatName val="0"/>
          <c:showSerName val="0"/>
          <c:showPercent val="0"/>
          <c:showBubbleSize val="0"/>
        </c:dLbls>
        <c:marker val="0"/>
        <c:smooth val="0"/>
        <c:axId val="926048702"/>
        <c:axId val="51301949"/>
      </c:lineChart>
      <c:catAx>
        <c:axId val="92604870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51301949"/>
        <c:crosses val="autoZero"/>
        <c:auto val="1"/>
        <c:lblAlgn val="ctr"/>
        <c:lblOffset val="100"/>
        <c:noMultiLvlLbl val="0"/>
      </c:catAx>
      <c:valAx>
        <c:axId val="51301949"/>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926048702"/>
        <c:crosses val="autoZero"/>
        <c:crossBetween val="between"/>
      </c:valAx>
      <c:spPr>
        <a:noFill/>
        <a:ln>
          <a:noFill/>
        </a:ln>
        <a:effectLst/>
      </c:spPr>
    </c:plotArea>
    <c:plotVisOnly val="1"/>
    <c:dispBlanksAs val="gap"/>
    <c:showDLblsOverMax val="0"/>
  </c:chart>
  <c:spPr>
    <a:noFill/>
    <a:ln w="9525" cap="flat" cmpd="sng" algn="ctr">
      <a:noFill/>
      <a:prstDash val="solid"/>
      <a:round/>
    </a:ln>
    <a:effectLst/>
  </c:spPr>
  <c:txPr>
    <a:bodyPr/>
    <a:lstStyle/>
    <a:p>
      <a:pPr>
        <a:defRPr lang="zh-CN" b="0">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外部攻击数</c:v>
                </c:pt>
              </c:strCache>
            </c:strRef>
          </c:tx>
          <c:spPr>
            <a:ln w="28575" cap="rnd">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Sheet1!$A$2:$A$13</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Sheet1!$B$2:$B$13</c:f>
              <c:numCache>
                <c:formatCode>0\.0,"万"</c:formatCode>
                <c:ptCount val="12"/>
                <c:pt idx="0">
                  <c:v>64198</c:v>
                </c:pt>
                <c:pt idx="1">
                  <c:v>35890</c:v>
                </c:pt>
                <c:pt idx="2">
                  <c:v>12478</c:v>
                </c:pt>
                <c:pt idx="3">
                  <c:v>5613</c:v>
                </c:pt>
                <c:pt idx="4">
                  <c:v>704</c:v>
                </c:pt>
                <c:pt idx="5">
                  <c:v>902</c:v>
                </c:pt>
                <c:pt idx="6">
                  <c:v>2412</c:v>
                </c:pt>
                <c:pt idx="7">
                  <c:v>1362</c:v>
                </c:pt>
                <c:pt idx="8">
                  <c:v>5696</c:v>
                </c:pt>
                <c:pt idx="9">
                  <c:v>9140</c:v>
                </c:pt>
                <c:pt idx="10">
                  <c:v>4126</c:v>
                </c:pt>
                <c:pt idx="11">
                  <c:v>4675</c:v>
                </c:pt>
              </c:numCache>
            </c:numRef>
          </c:val>
          <c:smooth val="0"/>
        </c:ser>
        <c:ser>
          <c:idx val="1"/>
          <c:order val="1"/>
          <c:tx>
            <c:strRef>
              <c:f>Sheet1!$C$1</c:f>
              <c:strCache>
                <c:ptCount val="1"/>
                <c:pt idx="0">
                  <c:v>恶意外联数</c:v>
                </c:pt>
              </c:strCache>
            </c:strRef>
          </c:tx>
          <c:spPr>
            <a:ln w="28575" cap="rnd">
              <a:solidFill>
                <a:schemeClr val="accent5"/>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Sheet1!$A$2:$A$13</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Sheet1!$C$2:$C$13</c:f>
              <c:numCache>
                <c:formatCode>0\.0,"万"</c:formatCode>
                <c:ptCount val="12"/>
                <c:pt idx="0">
                  <c:v>770729</c:v>
                </c:pt>
                <c:pt idx="1">
                  <c:v>665038</c:v>
                </c:pt>
                <c:pt idx="2">
                  <c:v>1739364</c:v>
                </c:pt>
                <c:pt idx="3">
                  <c:v>616425</c:v>
                </c:pt>
                <c:pt idx="4">
                  <c:v>394727</c:v>
                </c:pt>
                <c:pt idx="5">
                  <c:v>333492</c:v>
                </c:pt>
                <c:pt idx="6">
                  <c:v>194377</c:v>
                </c:pt>
                <c:pt idx="7">
                  <c:v>82013</c:v>
                </c:pt>
                <c:pt idx="8">
                  <c:v>141130</c:v>
                </c:pt>
                <c:pt idx="9">
                  <c:v>197098</c:v>
                </c:pt>
                <c:pt idx="10">
                  <c:v>186542</c:v>
                </c:pt>
                <c:pt idx="11">
                  <c:v>240504</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617127009"/>
        <c:crosses val="autoZero"/>
        <c:auto val="1"/>
        <c:lblOffset val="100"/>
        <c:baseTimeUnit val="months"/>
      </c:dateAx>
      <c:valAx>
        <c:axId val="617127009"/>
        <c:scaling>
          <c:orientation val="minMax"/>
        </c:scaling>
        <c:delete val="1"/>
        <c:axPos val="l"/>
        <c:numFmt formatCode="0\.0,&quot;万&quot;" sourceLinked="1"/>
        <c:majorTickMark val="none"/>
        <c:minorTickMark val="none"/>
        <c:tickLblPos val="nextTo"/>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egendEntry>
        <c:idx val="1"/>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
    <c:plotVisOnly val="1"/>
    <c:dispBlanksAs val="gap"/>
    <c:showDLblsOverMax val="0"/>
  </c:chart>
  <c:spPr>
    <a:noFill/>
    <a:ln w="9525" cap="flat" cmpd="sng" algn="ctr">
      <a:noFill/>
      <a:round/>
    </a:ln>
    <a:effectLst/>
  </c:spPr>
  <c:txPr>
    <a:bodyPr/>
    <a:lstStyle/>
    <a:p>
      <a:pPr>
        <a:defRPr lang="zh-CN" sz="600"/>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被攻击次数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400" b="0" i="0" u="none" strike="noStrike" kern="1200" baseline="0">
                    <a:solidFill>
                      <a:schemeClr val="tx1">
                        <a:lumMod val="95000"/>
                        <a:lumOff val="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192.168.4.217
(武汉金贵应用服务器)</c:v>
                </c:pt>
                <c:pt idx="1">
                  <c:v>192.168.4.203
(应用服务器主)</c:v>
                </c:pt>
                <c:pt idx="2">
                  <c:v>172.16.5.31
(泛微oa系统-应用服务器)</c:v>
                </c:pt>
                <c:pt idx="3">
                  <c:v>172.16.1.4
(上海)</c:v>
                </c:pt>
                <c:pt idx="4">
                  <c:v>192.168.22.54
(应用服务器)</c:v>
                </c:pt>
              </c:strCache>
            </c:strRef>
          </c:cat>
          <c:val>
            <c:numRef>
              <c:f>Sheet1!$B$2:$B$6</c:f>
              <c:numCache>
                <c:formatCode>General</c:formatCode>
                <c:ptCount val="5"/>
                <c:pt idx="0">
                  <c:v>6766</c:v>
                </c:pt>
                <c:pt idx="1">
                  <c:v>4958</c:v>
                </c:pt>
                <c:pt idx="2">
                  <c:v>4817</c:v>
                </c:pt>
                <c:pt idx="3">
                  <c:v>4143</c:v>
                </c:pt>
                <c:pt idx="4">
                  <c:v>2507</c:v>
                </c:pt>
              </c:numCache>
            </c:numRef>
          </c:val>
        </c:ser>
        <c:dLbls>
          <c:showLegendKey val="0"/>
          <c:showVal val="1"/>
          <c:showCatName val="0"/>
          <c:showSerName val="0"/>
          <c:showPercent val="0"/>
          <c:showBubbleSize val="0"/>
        </c:dLbls>
        <c:gapWidth val="150"/>
        <c:overlap val="-25"/>
        <c:axId val="170593429"/>
        <c:axId val="280355219"/>
      </c:barChart>
      <c:catAx>
        <c:axId val="17059342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280355219"/>
        <c:crosses val="autoZero"/>
        <c:auto val="1"/>
        <c:lblAlgn val="ctr"/>
        <c:lblOffset val="100"/>
        <c:noMultiLvlLbl val="0"/>
      </c:catAx>
      <c:valAx>
        <c:axId val="28035521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170593429"/>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chart>
  <c:spPr>
    <a:noFill/>
    <a:ln w="9525" cap="flat" cmpd="sng" algn="ctr">
      <a:noFill/>
      <a:round/>
    </a:ln>
    <a:effectLst/>
  </c:spPr>
  <c:txPr>
    <a:bodyPr/>
    <a:lstStyle/>
    <a:p>
      <a:pPr>
        <a:defRPr lang="zh-CN" sz="400">
          <a:solidFill>
            <a:schemeClr val="tx1">
              <a:lumMod val="95000"/>
              <a:lumOff val="5000"/>
            </a:schemeClr>
          </a:solidFill>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bg2">
                        <a:lumMod val="10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俄罗斯 莫斯科</c:v>
                </c:pt>
                <c:pt idx="1">
                  <c:v>中国 上海市</c:v>
                </c:pt>
                <c:pt idx="2">
                  <c:v>中国 北京市</c:v>
                </c:pt>
                <c:pt idx="3">
                  <c:v>中国 江苏省</c:v>
                </c:pt>
                <c:pt idx="4">
                  <c:v>中国 四川省</c:v>
                </c:pt>
              </c:strCache>
            </c:strRef>
          </c:cat>
          <c:val>
            <c:numRef>
              <c:f>Sheet1!$B$2:$B$6</c:f>
              <c:numCache>
                <c:formatCode>General</c:formatCode>
                <c:ptCount val="5"/>
                <c:pt idx="0">
                  <c:v>28234</c:v>
                </c:pt>
                <c:pt idx="1">
                  <c:v>10152</c:v>
                </c:pt>
                <c:pt idx="2">
                  <c:v>4883</c:v>
                </c:pt>
                <c:pt idx="3">
                  <c:v>2347</c:v>
                </c:pt>
                <c:pt idx="4">
                  <c:v>1588</c:v>
                </c:pt>
              </c:numCache>
            </c:numRef>
          </c:val>
        </c:ser>
        <c:dLbls>
          <c:showLegendKey val="0"/>
          <c:showVal val="1"/>
          <c:showCatName val="0"/>
          <c:showSerName val="0"/>
          <c:showPercent val="0"/>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manualLayout>
          <c:xMode val="edge"/>
          <c:yMode val="edge"/>
          <c:x val="0.6888720666162"/>
          <c:y val="0.311075355323143"/>
        </c:manualLayout>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97798927809734"/>
          <c:y val="0.130366847436346"/>
          <c:w val="0.558263056720128"/>
          <c:h val="0.739266305127308"/>
        </c:manualLayout>
      </c:layout>
      <c:pieChart>
        <c:varyColors val="1"/>
        <c:ser>
          <c:idx val="0"/>
          <c:order val="0"/>
          <c:tx>
            <c:strRef>
              <c:f>Sheet1!$B$1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tx1">
                        <a:lumMod val="95000"/>
                        <a:lumOff val="5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Sheet1!$A$2:$A$6</c:f>
              <c:strCache>
                <c:ptCount val="5"/>
                <c:pt idx="0">
                  <c:v>弱口令</c:v>
                </c:pt>
                <c:pt idx="1">
                  <c:v>远控行为</c:v>
                </c:pt>
                <c:pt idx="2">
                  <c:v>端口转发</c:v>
                </c:pt>
                <c:pt idx="3">
                  <c:v>代码注入</c:v>
                </c:pt>
                <c:pt idx="4">
                  <c:v>账号爆破</c:v>
                </c:pt>
              </c:strCache>
            </c:strRef>
          </c:cat>
          <c:val>
            <c:numRef>
              <c:f>Sheet1!$B$2:$B$6</c:f>
              <c:numCache>
                <c:formatCode>General</c:formatCode>
                <c:ptCount val="5"/>
                <c:pt idx="0">
                  <c:v>27410</c:v>
                </c:pt>
                <c:pt idx="1">
                  <c:v>6138</c:v>
                </c:pt>
                <c:pt idx="2">
                  <c:v>5734</c:v>
                </c:pt>
                <c:pt idx="3">
                  <c:v>3751</c:v>
                </c:pt>
                <c:pt idx="4">
                  <c:v>2444</c:v>
                </c:pt>
              </c:numCache>
            </c:numRef>
          </c:val>
        </c:ser>
        <c:dLbls>
          <c:showLegendKey val="0"/>
          <c:showVal val="0"/>
          <c:showCatName val="0"/>
          <c:showSerName val="0"/>
          <c:showPercent val="1"/>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chart>
  <c:spPr>
    <a:noFill/>
    <a:ln w="9525" cap="flat" cmpd="sng" algn="ctr">
      <a:noFill/>
      <a:round/>
    </a:ln>
    <a:effectLst/>
  </c:spPr>
  <c:txPr>
    <a:bodyPr/>
    <a:lstStyle/>
    <a:p>
      <a:pPr>
        <a:defRPr lang="zh-CN" sz="500">
          <a:solidFill>
            <a:schemeClr val="tx1">
              <a:lumMod val="95000"/>
              <a:lumOff val="5000"/>
            </a:schemeClr>
          </a:solidFill>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封禁次数</c:f>
              <c:strCache>
                <c:ptCount val="1"/>
                <c:pt idx="0">
                  <c:v>封禁次数</c:v>
                </c:pt>
              </c:strCache>
            </c:strRef>
          </c:tx>
          <c:spPr>
            <a:ln w="25400" cap="rnd" cmpd="sng" algn="ctr">
              <a:solidFill>
                <a:srgbClr val="2E6BE6"/>
              </a:solidFill>
              <a:prstDash val="solid"/>
              <a:round/>
            </a:ln>
          </c:spPr>
          <c:marker>
            <c:symbol val="circle"/>
            <c:size val="4"/>
            <c:spPr>
              <a:solidFill>
                <a:srgbClr val="2E6BE6"/>
              </a:solidFill>
              <a:ln w="25400" cap="flat" cmpd="sng" algn="ctr">
                <a:solidFill>
                  <a:srgbClr val="2E6BE6"/>
                </a:solidFill>
                <a:prstDash val="solid"/>
                <a:round/>
              </a:ln>
            </c:spPr>
          </c:marker>
          <c:dLbls>
            <c:delete val="1"/>
          </c:dLbls>
          <c:cat>
            <c:strRef>
              <c:f>{"01W01","01W03","01W05","02W02","02W04","03W01","03W03","03W05"}</c:f>
              <c:strCache>
                <c:ptCount val="8"/>
                <c:pt idx="0">
                  <c:v>01W01</c:v>
                </c:pt>
                <c:pt idx="1">
                  <c:v>01W03</c:v>
                </c:pt>
                <c:pt idx="2">
                  <c:v>01W05</c:v>
                </c:pt>
                <c:pt idx="3">
                  <c:v>02W02</c:v>
                </c:pt>
                <c:pt idx="4">
                  <c:v>02W04</c:v>
                </c:pt>
                <c:pt idx="5">
                  <c:v>03W01</c:v>
                </c:pt>
                <c:pt idx="6">
                  <c:v>03W03</c:v>
                </c:pt>
                <c:pt idx="7">
                  <c:v>03W05</c:v>
                </c:pt>
              </c:strCache>
            </c:strRef>
          </c:cat>
          <c:val>
            <c:numRef>
              <c:f>{8,17,23,7,33,30,38,18}</c:f>
              <c:numCache>
                <c:formatCode>General</c:formatCode>
                <c:ptCount val="8"/>
                <c:pt idx="0">
                  <c:v>8</c:v>
                </c:pt>
                <c:pt idx="1">
                  <c:v>17</c:v>
                </c:pt>
                <c:pt idx="2">
                  <c:v>23</c:v>
                </c:pt>
                <c:pt idx="3">
                  <c:v>7</c:v>
                </c:pt>
                <c:pt idx="4">
                  <c:v>33</c:v>
                </c:pt>
                <c:pt idx="5">
                  <c:v>30</c:v>
                </c:pt>
                <c:pt idx="6">
                  <c:v>38</c:v>
                </c:pt>
                <c:pt idx="7">
                  <c:v>18</c:v>
                </c:pt>
              </c:numCache>
            </c:numRef>
          </c:val>
          <c:smooth val="0"/>
        </c:ser>
        <c:dLbls>
          <c:showLegendKey val="0"/>
          <c:showVal val="0"/>
          <c:showCatName val="0"/>
          <c:showSerName val="0"/>
          <c:showPercent val="0"/>
          <c:showBubbleSize val="0"/>
        </c:dLbls>
        <c:marker val="1"/>
        <c:smooth val="0"/>
        <c:axId val="1"/>
        <c:axId val="2"/>
      </c:lineChart>
      <c:catAx>
        <c:axId val="1"/>
        <c:scaling>
          <c:orientation val="minMax"/>
        </c:scaling>
        <c:delete val="0"/>
        <c:axPos val="b"/>
        <c:majorGridlines>
          <c:spPr>
            <a:ln w="6350" cap="flat" cmpd="sng" algn="ctr">
              <a:noFill/>
              <a:prstDash val="solid"/>
              <a:round/>
            </a:ln>
          </c:spPr>
        </c:majorGridlines>
        <c:numFmt formatCode="General" sourceLinked="1"/>
        <c:majorTickMark val="out"/>
        <c:minorTickMark val="none"/>
        <c:tickLblPos val="low"/>
        <c:spPr>
          <a:ln w="12700" cap="flat" cmpd="sng" algn="ctr">
            <a:solidFill>
              <a:srgbClr val="EDF0F5"/>
            </a:solidFill>
            <a:prstDash val="solid"/>
            <a:round/>
          </a:ln>
        </c:spPr>
        <c:txPr>
          <a:bodyPr rot="-60000000" spcFirstLastPara="0" vertOverflow="ellipsis" vert="horz" wrap="square" anchor="ctr" anchorCtr="1"/>
          <a:lstStyle/>
          <a:p>
            <a:pPr>
              <a:defRPr lang="zh-CN" sz="800" b="0" i="0" u="none" strike="noStrike" kern="1200" baseline="0" noProof="1">
                <a:solidFill>
                  <a:schemeClr val="tx1"/>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2"/>
        <c:crosses val="autoZero"/>
        <c:auto val="1"/>
        <c:lblAlgn val="ctr"/>
        <c:lblOffset val="100"/>
        <c:noMultiLvlLbl val="1"/>
      </c:catAx>
      <c:valAx>
        <c:axId val="2"/>
        <c:scaling>
          <c:orientation val="minMax"/>
          <c:max val="40"/>
          <c:min val="0"/>
        </c:scaling>
        <c:delete val="0"/>
        <c:axPos val="l"/>
        <c:majorGridlines>
          <c:spPr>
            <a:ln w="12700" cap="flat" cmpd="sng" algn="ctr">
              <a:solidFill>
                <a:srgbClr val="EDF0F5"/>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黑体-简" panose="02000000000000000000" charset="-122"/>
                    <a:ea typeface="黑体-简" panose="02000000000000000000" charset="-122"/>
                    <a:cs typeface="黑体-简" panose="02000000000000000000" charset="-122"/>
                    <a:sym typeface="黑体-简" panose="02000000000000000000" charset="-122"/>
                  </a:defRPr>
                </a:pPr>
                <a:r>
                  <a:rPr lang="en-US" sz="1200" noProof="1">
                    <a:latin typeface="黑体-简" panose="02000000000000000000" charset="-122"/>
                    <a:ea typeface="黑体-简" panose="02000000000000000000" charset="-122"/>
                    <a:cs typeface="黑体-简" panose="02000000000000000000" charset="-122"/>
                    <a:sym typeface="黑体-简" panose="02000000000000000000" charset="-122"/>
                  </a:rPr>
                  <a:t>个</a:t>
                </a:r>
                <a:endParaRPr lang="en-US" sz="1200" noProof="1">
                  <a:latin typeface="黑体-简" panose="02000000000000000000" charset="-122"/>
                  <a:ea typeface="黑体-简" panose="02000000000000000000" charset="-122"/>
                  <a:cs typeface="黑体-简" panose="02000000000000000000" charset="-122"/>
                  <a:sym typeface="黑体-简" panose="02000000000000000000" charset="-122"/>
                </a:endParaRPr>
              </a:p>
            </c:rich>
          </c:tx>
          <c:layout>
            <c:manualLayout>
              <c:xMode val="edge"/>
              <c:yMode val="edge"/>
              <c:x val="0.02"/>
              <c:y val="0.44"/>
            </c:manualLayout>
          </c:layout>
          <c:overlay val="0"/>
        </c:title>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800" b="0" i="0" u="none" strike="noStrike" kern="1200" baseline="0" noProof="1">
                <a:solidFill>
                  <a:schemeClr val="tx1"/>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1"/>
        <c:crosses val="autoZero"/>
        <c:crossBetween val="between"/>
      </c:valAx>
      <c:spPr>
        <a:noFill/>
        <a:ln>
          <a:noFill/>
        </a:ln>
      </c:spPr>
    </c:plotArea>
    <c:legend>
      <c:legendPos val="t"/>
      <c:legendEntry>
        <c:idx val="0"/>
        <c:txPr>
          <a:bodyPr rot="0" spcFirstLastPara="0" vertOverflow="ellipsis" vert="horz" wrap="square" anchor="ctr" anchorCtr="1"/>
          <a:lstStyle/>
          <a:p>
            <a:pPr>
              <a:defRPr lang="zh-CN" sz="800" b="0" i="0" u="none" strike="noStrike" kern="1200" baseline="0" noProof="1">
                <a:solidFill>
                  <a:schemeClr val="tx1"/>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ayout/>
      <c:overlay val="0"/>
      <c:txPr>
        <a:bodyPr rot="0" spcFirstLastPara="0" vertOverflow="ellipsis" vert="horz" wrap="square" anchor="ctr" anchorCtr="1"/>
        <a:lstStyle/>
        <a:p>
          <a:pPr>
            <a:defRPr lang="zh-CN" sz="800" b="0" i="0" u="none" strike="noStrike" kern="1200" baseline="0" noProof="1">
              <a:solidFill>
                <a:schemeClr val="tx1"/>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
    <c:plotVisOnly val="1"/>
    <c:dispBlanksAs val="gap"/>
    <c:showDLblsOverMax val="0"/>
  </c:chart>
  <c:spPr>
    <a:noFill/>
    <a:ln>
      <a:noFill/>
    </a:ln>
  </c:spPr>
  <c:txPr>
    <a:bodyPr/>
    <a:lstStyle/>
    <a:p>
      <a:pPr>
        <a:defRPr lang="zh-CN">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封禁次数</c:f>
              <c:strCache>
                <c:ptCount val="1"/>
                <c:pt idx="0">
                  <c:v>封禁次数</c:v>
                </c:pt>
              </c:strCache>
            </c:strRef>
          </c:tx>
          <c:spPr>
            <a:ln w="25400" cap="rnd" cmpd="sng" algn="ctr">
              <a:solidFill>
                <a:srgbClr val="2E6BE6"/>
              </a:solidFill>
              <a:prstDash val="solid"/>
              <a:round/>
            </a:ln>
          </c:spPr>
          <c:marker>
            <c:symbol val="circle"/>
            <c:size val="4"/>
            <c:spPr>
              <a:solidFill>
                <a:srgbClr val="2E6BE6"/>
              </a:solidFill>
              <a:ln w="25400" cap="flat" cmpd="sng" algn="ctr">
                <a:solidFill>
                  <a:srgbClr val="2E6BE6"/>
                </a:solidFill>
                <a:prstDash val="solid"/>
                <a:round/>
              </a:ln>
            </c:spPr>
          </c:marker>
          <c:dLbls>
            <c:delete val="1"/>
          </c:dLbls>
          <c:cat>
            <c:strRef>
              <c:f>{"01W01","01W03","01W05","02W02","02W04","03W01","03W03","03W05"}</c:f>
              <c:strCache>
                <c:ptCount val="8"/>
                <c:pt idx="0">
                  <c:v>01W01</c:v>
                </c:pt>
                <c:pt idx="1">
                  <c:v>01W03</c:v>
                </c:pt>
                <c:pt idx="2">
                  <c:v>01W05</c:v>
                </c:pt>
                <c:pt idx="3">
                  <c:v>02W02</c:v>
                </c:pt>
                <c:pt idx="4">
                  <c:v>02W04</c:v>
                </c:pt>
                <c:pt idx="5">
                  <c:v>03W01</c:v>
                </c:pt>
                <c:pt idx="6">
                  <c:v>03W03</c:v>
                </c:pt>
                <c:pt idx="7">
                  <c:v>03W05</c:v>
                </c:pt>
              </c:strCache>
            </c:strRef>
          </c:cat>
          <c:val>
            <c:numRef>
              <c:f>{8,17,23,7,33,30,38,18}</c:f>
              <c:numCache>
                <c:formatCode>General</c:formatCode>
                <c:ptCount val="8"/>
                <c:pt idx="0">
                  <c:v>8</c:v>
                </c:pt>
                <c:pt idx="1">
                  <c:v>17</c:v>
                </c:pt>
                <c:pt idx="2">
                  <c:v>23</c:v>
                </c:pt>
                <c:pt idx="3">
                  <c:v>7</c:v>
                </c:pt>
                <c:pt idx="4">
                  <c:v>33</c:v>
                </c:pt>
                <c:pt idx="5">
                  <c:v>30</c:v>
                </c:pt>
                <c:pt idx="6">
                  <c:v>38</c:v>
                </c:pt>
                <c:pt idx="7">
                  <c:v>18</c:v>
                </c:pt>
              </c:numCache>
            </c:numRef>
          </c:val>
          <c:smooth val="0"/>
        </c:ser>
        <c:dLbls>
          <c:showLegendKey val="0"/>
          <c:showVal val="0"/>
          <c:showCatName val="0"/>
          <c:showSerName val="0"/>
          <c:showPercent val="0"/>
          <c:showBubbleSize val="0"/>
        </c:dLbls>
        <c:marker val="1"/>
        <c:smooth val="0"/>
        <c:axId val="1"/>
        <c:axId val="2"/>
      </c:lineChart>
      <c:catAx>
        <c:axId val="1"/>
        <c:scaling>
          <c:orientation val="minMax"/>
        </c:scaling>
        <c:delete val="0"/>
        <c:axPos val="b"/>
        <c:majorGridlines>
          <c:spPr>
            <a:ln w="6350" cap="flat" cmpd="sng" algn="ctr">
              <a:noFill/>
              <a:prstDash val="solid"/>
              <a:round/>
            </a:ln>
          </c:spPr>
        </c:majorGridlines>
        <c:numFmt formatCode="General" sourceLinked="1"/>
        <c:majorTickMark val="out"/>
        <c:minorTickMark val="none"/>
        <c:tickLblPos val="low"/>
        <c:spPr>
          <a:ln w="12700" cap="flat" cmpd="sng" algn="ctr">
            <a:solidFill>
              <a:srgbClr val="EDF0F5"/>
            </a:solidFill>
            <a:prstDash val="solid"/>
            <a:round/>
          </a:ln>
        </c:spPr>
        <c:txPr>
          <a:bodyPr rot="-60000000" spcFirstLastPara="0" vertOverflow="ellipsis" vert="horz" wrap="square" anchor="ctr" anchorCtr="1"/>
          <a:lstStyle/>
          <a:p>
            <a:pPr>
              <a:defRPr lang="zh-CN" sz="800" b="0" i="0" u="none" strike="noStrike" kern="1200" baseline="0" noProof="1">
                <a:solidFill>
                  <a:schemeClr val="tx1"/>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2"/>
        <c:crosses val="autoZero"/>
        <c:auto val="1"/>
        <c:lblAlgn val="ctr"/>
        <c:lblOffset val="100"/>
        <c:noMultiLvlLbl val="1"/>
      </c:catAx>
      <c:valAx>
        <c:axId val="2"/>
        <c:scaling>
          <c:orientation val="minMax"/>
          <c:max val="40"/>
          <c:min val="0"/>
        </c:scaling>
        <c:delete val="0"/>
        <c:axPos val="l"/>
        <c:majorGridlines>
          <c:spPr>
            <a:ln w="12700" cap="flat" cmpd="sng" algn="ctr">
              <a:solidFill>
                <a:srgbClr val="EDF0F5"/>
              </a:solidFill>
              <a:prstDash val="solid"/>
              <a:round/>
            </a:ln>
          </c:spPr>
        </c:majorGridlines>
        <c:title>
          <c:tx>
            <c:rich>
              <a:bodyPr rot="-5400000" spcFirstLastPara="0" vertOverflow="ellipsis" vert="horz" wrap="square" anchor="ctr" anchorCtr="1"/>
              <a:lstStyle/>
              <a:p>
                <a:pPr>
                  <a:defRPr lang="zh-CN" sz="1000" b="1" i="0" u="none" strike="noStrike" kern="1200" baseline="0">
                    <a:solidFill>
                      <a:schemeClr val="tx1"/>
                    </a:solidFill>
                    <a:latin typeface="黑体-简" panose="02000000000000000000" charset="-122"/>
                    <a:ea typeface="黑体-简" panose="02000000000000000000" charset="-122"/>
                    <a:cs typeface="黑体-简" panose="02000000000000000000" charset="-122"/>
                    <a:sym typeface="黑体-简" panose="02000000000000000000" charset="-122"/>
                  </a:defRPr>
                </a:pPr>
                <a:r>
                  <a:rPr lang="en-US" sz="1200" noProof="1">
                    <a:latin typeface="黑体-简" panose="02000000000000000000" charset="-122"/>
                    <a:ea typeface="黑体-简" panose="02000000000000000000" charset="-122"/>
                    <a:cs typeface="黑体-简" panose="02000000000000000000" charset="-122"/>
                    <a:sym typeface="黑体-简" panose="02000000000000000000" charset="-122"/>
                  </a:rPr>
                  <a:t>个</a:t>
                </a:r>
                <a:endParaRPr lang="en-US" sz="1200" noProof="1">
                  <a:latin typeface="黑体-简" panose="02000000000000000000" charset="-122"/>
                  <a:ea typeface="黑体-简" panose="02000000000000000000" charset="-122"/>
                  <a:cs typeface="黑体-简" panose="02000000000000000000" charset="-122"/>
                  <a:sym typeface="黑体-简" panose="02000000000000000000" charset="-122"/>
                </a:endParaRPr>
              </a:p>
            </c:rich>
          </c:tx>
          <c:layout>
            <c:manualLayout>
              <c:xMode val="edge"/>
              <c:yMode val="edge"/>
              <c:x val="0.02"/>
              <c:y val="0.44"/>
            </c:manualLayout>
          </c:layout>
          <c:overlay val="0"/>
        </c:title>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800" b="0" i="0" u="none" strike="noStrike" kern="1200" baseline="0" noProof="1">
                <a:solidFill>
                  <a:schemeClr val="tx1"/>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1"/>
        <c:crosses val="autoZero"/>
        <c:crossBetween val="between"/>
      </c:valAx>
      <c:spPr>
        <a:noFill/>
        <a:ln>
          <a:noFill/>
        </a:ln>
      </c:spPr>
    </c:plotArea>
    <c:legend>
      <c:legendPos val="t"/>
      <c:legendEntry>
        <c:idx val="0"/>
        <c:txPr>
          <a:bodyPr rot="0" spcFirstLastPara="0" vertOverflow="ellipsis" vert="horz" wrap="square" anchor="ctr" anchorCtr="1"/>
          <a:lstStyle/>
          <a:p>
            <a:pPr>
              <a:defRPr lang="zh-CN" sz="800" b="0" i="0" u="none" strike="noStrike" kern="1200" baseline="0" noProof="1">
                <a:solidFill>
                  <a:schemeClr val="tx1"/>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ayout/>
      <c:overlay val="0"/>
      <c:txPr>
        <a:bodyPr rot="0" spcFirstLastPara="0" vertOverflow="ellipsis" vert="horz" wrap="square" anchor="ctr" anchorCtr="1"/>
        <a:lstStyle/>
        <a:p>
          <a:pPr>
            <a:defRPr lang="zh-CN" sz="800" b="0" i="0" u="none" strike="noStrike" kern="1200" baseline="0" noProof="1">
              <a:solidFill>
                <a:schemeClr val="tx1"/>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
    <c:plotVisOnly val="1"/>
    <c:dispBlanksAs val="gap"/>
    <c:showDLblsOverMax val="0"/>
  </c:chart>
  <c:spPr>
    <a:noFill/>
    <a:ln>
      <a:noFill/>
    </a:ln>
  </c:spPr>
  <c:txPr>
    <a:bodyPr/>
    <a:lstStyle/>
    <a:p>
      <a:pPr>
        <a:defRPr lang="zh-CN">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rgbClr val="70AD47"/>
              </a:solidFill>
              <a:ln>
                <a:solidFill>
                  <a:srgbClr val="FFFFFF"/>
                </a:solidFill>
              </a:ln>
              <a:effectLst/>
            </c:spPr>
          </c:dPt>
          <c:dPt>
            <c:idx val="1"/>
            <c:bubble3D val="0"/>
            <c:spPr>
              <a:solidFill>
                <a:srgbClr val="5B9BD5"/>
              </a:solidFill>
              <a:ln>
                <a:solidFill>
                  <a:srgbClr val="FFFFFF"/>
                </a:solidFill>
              </a:ln>
              <a:effectLst/>
            </c:spPr>
          </c:dPt>
          <c:dPt>
            <c:idx val="2"/>
            <c:bubble3D val="0"/>
            <c:spPr>
              <a:solidFill>
                <a:srgbClr val="FFC000"/>
              </a:solidFill>
              <a:ln>
                <a:solidFill>
                  <a:srgbClr val="FFFFFF"/>
                </a:solidFill>
              </a:ln>
              <a:effectLst/>
            </c:spPr>
          </c:dPt>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rgbClr val="000000">
                          <a:lumMod val="35000"/>
                          <a:lumOff val="65000"/>
                        </a:srgbClr>
                      </a:solidFill>
                      <a:round/>
                    </a:ln>
                    <a:effectLst/>
                  </c:spPr>
                </c15:leaderLines>
              </c:ext>
            </c:extLst>
          </c:dLbls>
          <c:cat>
            <c:strRef>
              <c:f>Sheet1!$A$2:$A$4</c:f>
              <c:strCache>
                <c:ptCount val="3"/>
                <c:pt idx="0">
                  <c:v>高危漏洞</c:v>
                </c:pt>
                <c:pt idx="1">
                  <c:v>中危漏洞</c:v>
                </c:pt>
                <c:pt idx="2">
                  <c:v>低危漏洞</c:v>
                </c:pt>
              </c:strCache>
            </c:strRef>
          </c:cat>
          <c:val>
            <c:numRef>
              <c:f>Sheet1!$B$2:$B$4</c:f>
              <c:numCache>
                <c:formatCode>General</c:formatCode>
                <c:ptCount val="3"/>
                <c:pt idx="0">
                  <c:v>2537</c:v>
                </c:pt>
                <c:pt idx="1">
                  <c:v>3633</c:v>
                </c:pt>
                <c:pt idx="2">
                  <c:v>3284</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egendEntry>
        <c:idx val="0"/>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1"/>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2"/>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ayout/>
      <c:overlay val="0"/>
      <c:spPr>
        <a:noFill/>
        <a:ln>
          <a:noFill/>
        </a:ln>
        <a:effectLst/>
      </c:spPr>
      <c:txPr>
        <a:bodyPr rot="0" spcFirstLastPara="0" vertOverflow="ellipsis" vert="horz" wrap="square" anchor="ctr" anchorCtr="1" forceAA="0"/>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
    <c:plotVisOnly val="1"/>
    <c:dispBlanksAs val="gap"/>
    <c:showDLblsOverMax val="0"/>
  </c:chart>
  <c:spPr>
    <a:solidFill>
      <a:srgbClr val="4472C4">
        <a:lumMod val="20000"/>
        <a:lumOff val="80000"/>
      </a:srgbClr>
    </a:solidFill>
    <a:ln w="6350" cap="flat" cmpd="sng" algn="ctr">
      <a:noFill/>
      <a:round/>
    </a:ln>
    <a:effectLst/>
  </c:spPr>
  <c:txPr>
    <a:bodyPr/>
    <a:lstStyle/>
    <a:p>
      <a:pPr>
        <a:defRPr lang="zh-CN" sz="80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剩余漏洞数量</c:v>
                </c:pt>
              </c:strCache>
            </c:strRef>
          </c:tx>
          <c:spPr>
            <a:ln w="28575" cap="rnd">
              <a:solidFill>
                <a:schemeClr val="accent1"/>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2025-08</c:v>
                </c:pt>
                <c:pt idx="1" c:formatCode="yyyy/m/d">
                  <c:v>2025-09</c:v>
                </c:pt>
                <c:pt idx="2" c:formatCode="yyyy/m/d">
                  <c:v>2025-10</c:v>
                </c:pt>
                <c:pt idx="3" c:formatCode="yyyy/m/d">
                  <c:v>2025-11</c:v>
                </c:pt>
                <c:pt idx="4" c:formatCode="yyyy/m/d">
                  <c:v>2025-12</c:v>
                </c:pt>
                <c:pt idx="5" c:formatCode="yyyy/m/d">
                  <c:v>2026-01</c:v>
                </c:pt>
                <c:pt idx="6" c:formatCode="yyyy/m/d">
                  <c:v>2026-02</c:v>
                </c:pt>
                <c:pt idx="7" c:formatCode="yyyy/m/d">
                  <c:v>2026-03</c:v>
                </c:pt>
                <c:pt idx="8" c:formatCode="yyyy/m/d">
                  <c:v>2026-04</c:v>
                </c:pt>
                <c:pt idx="9" c:formatCode="yyyy/m/d">
                  <c:v>2026-05</c:v>
                </c:pt>
                <c:pt idx="10" c:formatCode="yyyy/m/d">
                  <c:v>2026-06</c:v>
                </c:pt>
                <c:pt idx="11" c:formatCode="yyyy/m/d">
                  <c:v>2026-07</c:v>
                </c:pt>
              </c:strCache>
            </c:strRef>
          </c:cat>
          <c:val>
            <c:numRef>
              <c:f>Sheet1!$B$2:$B$13</c:f>
              <c:numCache>
                <c:formatCode>General</c:formatCode>
                <c:ptCount val="12"/>
                <c:pt idx="0">
                  <c:v>0</c:v>
                </c:pt>
                <c:pt idx="1">
                  <c:v>0</c:v>
                </c:pt>
                <c:pt idx="2">
                  <c:v>0</c:v>
                </c:pt>
                <c:pt idx="3">
                  <c:v>0</c:v>
                </c:pt>
                <c:pt idx="4">
                  <c:v>8</c:v>
                </c:pt>
                <c:pt idx="5">
                  <c:v>0</c:v>
                </c:pt>
                <c:pt idx="6">
                  <c:v>0</c:v>
                </c:pt>
                <c:pt idx="7">
                  <c:v>0</c:v>
                </c:pt>
                <c:pt idx="8">
                  <c:v>0</c:v>
                </c:pt>
                <c:pt idx="9">
                  <c:v>0</c:v>
                </c:pt>
                <c:pt idx="10">
                  <c:v>0</c:v>
                </c:pt>
                <c:pt idx="11">
                  <c:v>0</c:v>
                </c:pt>
              </c:numCache>
            </c:numRef>
          </c:val>
          <c:smooth val="0"/>
        </c:ser>
        <c:ser>
          <c:idx val="1"/>
          <c:order val="1"/>
          <c:tx>
            <c:strRef>
              <c:f>Sheet1!$C$1</c:f>
              <c:strCache>
                <c:ptCount val="1"/>
                <c:pt idx="0">
                  <c:v>已闭环漏洞数</c:v>
                </c:pt>
              </c:strCache>
            </c:strRef>
          </c:tx>
          <c:spPr>
            <a:ln w="28575" cap="rnd">
              <a:solidFill>
                <a:schemeClr val="accent2"/>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2025-08</c:v>
                </c:pt>
                <c:pt idx="1" c:formatCode="yyyy/m/d">
                  <c:v>2025-09</c:v>
                </c:pt>
                <c:pt idx="2" c:formatCode="yyyy/m/d">
                  <c:v>2025-10</c:v>
                </c:pt>
                <c:pt idx="3" c:formatCode="yyyy/m/d">
                  <c:v>2025-11</c:v>
                </c:pt>
                <c:pt idx="4" c:formatCode="yyyy/m/d">
                  <c:v>2025-12</c:v>
                </c:pt>
                <c:pt idx="5" c:formatCode="yyyy/m/d">
                  <c:v>2026-01</c:v>
                </c:pt>
                <c:pt idx="6" c:formatCode="yyyy/m/d">
                  <c:v>2026-02</c:v>
                </c:pt>
                <c:pt idx="7" c:formatCode="yyyy/m/d">
                  <c:v>2026-03</c:v>
                </c:pt>
                <c:pt idx="8" c:formatCode="yyyy/m/d">
                  <c:v>2026-04</c:v>
                </c:pt>
                <c:pt idx="9" c:formatCode="yyyy/m/d">
                  <c:v>2026-05</c:v>
                </c:pt>
                <c:pt idx="10" c:formatCode="yyyy/m/d">
                  <c:v>2026-06</c:v>
                </c:pt>
                <c:pt idx="11" c:formatCode="yyyy/m/d">
                  <c:v>2026-07</c:v>
                </c:pt>
              </c:strCache>
            </c:strRef>
          </c:cat>
          <c:val>
            <c:numRef>
              <c:f>Sheet1!$C$2:$C$13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617127009"/>
        <c:crosses val="autoZero"/>
        <c:auto val="1"/>
        <c:lblAlgn val="ctr"/>
        <c:lblOffset val="100"/>
        <c:baseTimeUnit val="days"/>
      </c:dateAx>
      <c:valAx>
        <c:axId val="61712700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
    <c:plotVisOnly val="1"/>
    <c:dispBlanksAs val="gap"/>
    <c:showDLblsOverMax val="0"/>
  </c:chart>
  <c:spPr>
    <a:solidFill>
      <a:schemeClr val="accent6">
        <a:lumMod val="20000"/>
        <a:lumOff val="80000"/>
      </a:schemeClr>
    </a:solidFill>
    <a:ln w="9525" cap="flat" cmpd="sng" algn="ctr">
      <a:noFill/>
      <a:round/>
    </a:ln>
    <a:effectLst/>
  </c:spPr>
  <c:txPr>
    <a:bodyPr/>
    <a:lstStyle/>
    <a:p>
      <a:pPr>
        <a:defRPr lang="zh-CN">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日均攻击数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500" b="0" i="0" u="none" strike="noStrike" kern="1200" baseline="0">
                    <a:solidFill>
                      <a:schemeClr val="bg2">
                        <a:lumMod val="10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中秋（24/9/15-9/17）</c:v>
                </c:pt>
                <c:pt idx="1">
                  <c:v>国庆（24/10/1-10/7）</c:v>
                </c:pt>
                <c:pt idx="2">
                  <c:v>元旦（25/1/1）</c:v>
                </c:pt>
                <c:pt idx="3">
                  <c:v>春节（25/1/23-2/5）</c:v>
                </c:pt>
                <c:pt idx="4">
                  <c:v>清明（25/4/4-4/6）</c:v>
                </c:pt>
                <c:pt idx="5">
                  <c:v>五一（25/5/1-5/5）</c:v>
                </c:pt>
                <c:pt idx="6">
                  <c:v>端午（25/5/31-6/2）</c:v>
                </c:pt>
              </c:strCache>
            </c:strRef>
          </c:cat>
          <c:val>
            <c:numRef>
              <c:f>Sheet1!$B$2:$B$8</c:f>
              <c:numCache>
                <c:formatCode>General</c:formatCode>
                <c:ptCount val="7"/>
                <c:pt idx="0">
                  <c:v>9623</c:v>
                </c:pt>
                <c:pt idx="1">
                  <c:v>28655</c:v>
                </c:pt>
                <c:pt idx="2">
                  <c:v>3461</c:v>
                </c:pt>
                <c:pt idx="3">
                  <c:v>16440</c:v>
                </c:pt>
                <c:pt idx="4">
                  <c:v>2238</c:v>
                </c:pt>
                <c:pt idx="5">
                  <c:v>7218</c:v>
                </c:pt>
                <c:pt idx="6">
                  <c:v>5570</c:v>
                </c:pt>
              </c:numCache>
            </c:numRef>
          </c:val>
        </c:ser>
        <c:dLbls>
          <c:showLegendKey val="0"/>
          <c:showVal val="0"/>
          <c:showCatName val="0"/>
          <c:showSerName val="0"/>
          <c:showPercent val="0"/>
          <c:showBubbleSize val="0"/>
        </c:dLbls>
        <c:gapWidth val="219"/>
        <c:overlap val="-27"/>
        <c:axId val="452361593"/>
        <c:axId val="478519395"/>
      </c:barChart>
      <c:lineChart>
        <c:grouping val="standard"/>
        <c:varyColors val="0"/>
        <c:ser>
          <c:idx val="1"/>
          <c:order val="1"/>
          <c:tx>
            <c:strRef>
              <c:f>Sheet1!$C$1</c:f>
              <c:strCache>
                <c:ptCount val="1"/>
                <c:pt idx="0">
                  <c:v>防御率</c:v>
                </c:pt>
              </c:strCache>
            </c:strRef>
          </c:tx>
          <c:spPr>
            <a:ln w="28575" cap="rnd">
              <a:solidFill>
                <a:srgbClr val="00D860"/>
              </a:solidFill>
              <a:round/>
            </a:ln>
            <a:effectLst/>
          </c:spPr>
          <c:marker>
            <c:symbol val="none"/>
          </c:marker>
          <c:dLbls>
            <c:delete val="1"/>
          </c:dLbls>
          <c:cat>
            <c:strRef>
              <c:f>Sheet1!$A$2:$A$8</c:f>
              <c:strCache>
                <c:ptCount val="7"/>
                <c:pt idx="0">
                  <c:v>中秋（24/9/15-9/17）</c:v>
                </c:pt>
                <c:pt idx="1">
                  <c:v>国庆（24/10/1-10/7）</c:v>
                </c:pt>
                <c:pt idx="2">
                  <c:v>元旦（25/1/1）</c:v>
                </c:pt>
                <c:pt idx="3">
                  <c:v>春节（25/1/23-2/5）</c:v>
                </c:pt>
                <c:pt idx="4">
                  <c:v>清明（25/4/4-4/6）</c:v>
                </c:pt>
                <c:pt idx="5">
                  <c:v>五一（25/5/1-5/5）</c:v>
                </c:pt>
                <c:pt idx="6">
                  <c:v>端午（25/5/31-6/2）</c:v>
                </c:pt>
              </c:strCache>
            </c:strRef>
          </c:cat>
          <c:val>
            <c:numRef>
              <c:f>Sheet1!$C$2:$C$8</c:f>
              <c:numCache>
                <c:formatCode>0%</c:formatCode>
                <c:ptCount val="7"/>
                <c:pt idx="0">
                  <c:v>1</c:v>
                </c:pt>
                <c:pt idx="1">
                  <c:v>1</c:v>
                </c:pt>
                <c:pt idx="2">
                  <c:v>1</c:v>
                </c:pt>
                <c:pt idx="3">
                  <c:v>1</c:v>
                </c:pt>
                <c:pt idx="4">
                  <c:v>1</c:v>
                </c:pt>
                <c:pt idx="5">
                  <c:v>1</c:v>
                </c:pt>
                <c:pt idx="6">
                  <c:v>1</c:v>
                </c:pt>
              </c:numCache>
            </c:numRef>
          </c:val>
          <c:smooth val="0"/>
        </c:ser>
        <c:dLbls>
          <c:showLegendKey val="0"/>
          <c:showVal val="0"/>
          <c:showCatName val="0"/>
          <c:showSerName val="0"/>
          <c:showPercent val="0"/>
          <c:showBubbleSize val="0"/>
        </c:dLbls>
        <c:marker val="0"/>
        <c:smooth val="0"/>
        <c:axId val="725296953"/>
        <c:axId val="406196429"/>
      </c:lineChart>
      <c:catAx>
        <c:axId val="45236159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78519395"/>
        <c:crosses val="autoZero"/>
        <c:auto val="1"/>
        <c:lblAlgn val="ctr"/>
        <c:lblOffset val="100"/>
        <c:noMultiLvlLbl val="0"/>
      </c:catAx>
      <c:valAx>
        <c:axId val="478519395"/>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52361593"/>
        <c:crosses val="autoZero"/>
        <c:crossBetween val="between"/>
      </c:valAx>
      <c:catAx>
        <c:axId val="725296953"/>
        <c:scaling>
          <c:orientation val="minMax"/>
        </c:scaling>
        <c:delete val="1"/>
        <c:axPos val="b"/>
        <c:majorTickMark val="out"/>
        <c:minorTickMark val="none"/>
        <c:tickLblPos val="nextTo"/>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06196429"/>
        <c:crosses val="autoZero"/>
        <c:auto val="1"/>
        <c:lblAlgn val="ctr"/>
        <c:lblOffset val="100"/>
        <c:noMultiLvlLbl val="0"/>
      </c:catAx>
      <c:valAx>
        <c:axId val="406196429"/>
        <c:scaling>
          <c:orientation val="minMax"/>
        </c:scaling>
        <c:delete val="0"/>
        <c:axPos val="r"/>
        <c:numFmt formatCode="0%" sourceLinked="1"/>
        <c:majorTickMark val="out"/>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725296953"/>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
    <c:plotVisOnly val="1"/>
    <c:dispBlanksAs val="gap"/>
    <c:showDLblsOverMax val="0"/>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10109">
  <cs:axisTitle>
    <cs:lnRef idx="0"/>
    <cs:fillRef idx="0"/>
    <cs:effectRef idx="0"/>
    <cs:fontRef idx="minor">
      <a:srgbClr val="000000">
        <a:lumMod val="65000"/>
        <a:lumOff val="35000"/>
      </a:srgbClr>
    </cs:fontRef>
    <cs:defRPr sz="1000" kern="1200"/>
  </cs:axisTitle>
  <cs:categoryAxis>
    <cs:lnRef idx="0"/>
    <cs:fillRef idx="0"/>
    <cs:effectRef idx="0"/>
    <cs:fontRef idx="minor">
      <a:srgbClr val="000000">
        <a:lumMod val="65000"/>
        <a:lumOff val="35000"/>
      </a:srgbClr>
    </cs:fontRef>
    <cs:spPr>
      <a:ln w="9525" cap="flat" cmpd="sng" algn="ctr">
        <a:solidFill>
          <a:srgbClr val="000000">
            <a:lumMod val="15000"/>
            <a:lumOff val="85000"/>
          </a:srgbClr>
        </a:solidFill>
        <a:round/>
      </a:ln>
    </cs:spPr>
    <cs:defRPr sz="900" kern="1200"/>
  </cs:categoryAxis>
  <cs:chartArea mods="allowNoFillOverride allowNoLineOverride">
    <cs:lnRef idx="0"/>
    <cs:fillRef idx="0"/>
    <cs:effectRef idx="0"/>
    <cs:fontRef idx="minor">
      <a:srgbClr val="000000"/>
    </cs:fontRef>
    <cs:spPr>
      <a:solidFill>
        <a:srgbClr val="FFFFFF"/>
      </a:solidFill>
      <a:ln w="9525" cap="flat" cmpd="sng" algn="ctr">
        <a:solidFill>
          <a:srgbClr val="000000">
            <a:lumMod val="15000"/>
            <a:lumOff val="85000"/>
          </a:srgbClr>
        </a:solidFill>
        <a:round/>
      </a:ln>
    </cs:spPr>
    <cs:defRPr sz="900" kern="1200"/>
  </cs:chartArea>
  <cs:dataLabel>
    <cs:lnRef idx="0"/>
    <cs:fillRef idx="0"/>
    <cs:effectRef idx="0"/>
    <cs:fontRef idx="minor">
      <a:srgbClr val="000000">
        <a:lumMod val="75000"/>
        <a:lumOff val="25000"/>
      </a:srgbClr>
    </cs:fontRef>
    <cs:defRPr sz="1000" kern="1200"/>
  </cs:dataLabel>
  <cs:dataLabelCallout>
    <cs:lnRef idx="0"/>
    <cs:fillRef idx="0"/>
    <cs:effectRef idx="0"/>
    <cs:fontRef idx="minor">
      <a:srgbClr val="000000">
        <a:lumMod val="65000"/>
        <a:lumOff val="35000"/>
      </a:srgbClr>
    </cs:fontRef>
    <cs:spPr>
      <a:solidFill>
        <a:srgbClr val="FFFFFF"/>
      </a:solidFill>
      <a:ln>
        <a:solidFill>
          <a:srgbClr val="000000">
            <a:lumMod val="25000"/>
            <a:lumOff val="75000"/>
          </a:srgb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rgbClr val="000000"/>
    </cs:fontRef>
    <cs:spPr>
      <a:ln>
        <a:solidFill>
          <a:srgbClr val="FFFFFF"/>
        </a:solidFill>
      </a:ln>
      <a:effectLst/>
    </cs:spPr>
  </cs:dataPoint>
  <cs:dataPoint3D>
    <cs:lnRef idx="0"/>
    <cs:fillRef idx="1">
      <cs:styleClr val="auto"/>
    </cs:fillRef>
    <cs:effectRef idx="0"/>
    <cs:fontRef idx="minor">
      <a:srgbClr val="000000"/>
    </cs:fontRef>
    <cs:spPr>
      <a:ln w="25400">
        <a:solidFill>
          <a:srgbClr val="FFFFFF"/>
        </a:solidFill>
      </a:ln>
    </cs:spPr>
  </cs:dataPoint3D>
  <cs:dataPointLine>
    <cs:lnRef idx="0">
      <cs:styleClr val="auto"/>
    </cs:lnRef>
    <cs:fillRef idx="0"/>
    <cs:effectRef idx="0"/>
    <cs:fontRef idx="minor">
      <a:srgbClr val="000000"/>
    </cs:fontRef>
    <cs:spPr>
      <a:ln w="28575" cap="rnd">
        <a:solidFill>
          <a:srgbClr val="FFFFFF"/>
        </a:solidFill>
        <a:round/>
      </a:ln>
    </cs:spPr>
  </cs:dataPointLine>
  <cs:dataPointMarker>
    <cs:lnRef idx="0">
      <cs:styleClr val="auto"/>
    </cs:lnRef>
    <cs:fillRef idx="1">
      <cs:styleClr val="auto"/>
    </cs:fillRef>
    <cs:effectRef idx="0"/>
    <cs:fontRef idx="minor">
      <a:srgbClr val="000000"/>
    </cs:fontRef>
    <cs:spPr>
      <a:ln w="9525">
        <a:solidFill>
          <a:srgbClr val="FFFFFF"/>
        </a:solidFill>
      </a:ln>
    </cs:spPr>
  </cs:dataPointMarker>
  <cs:dataPointMarkerLayout symbol="circle" size="5"/>
  <cs:dataPointWireframe>
    <cs:lnRef idx="0">
      <cs:styleClr val="auto"/>
    </cs:lnRef>
    <cs:fillRef idx="0"/>
    <cs:effectRef idx="0"/>
    <cs:fontRef idx="minor">
      <a:srgbClr val="000000"/>
    </cs:fontRef>
    <cs:spPr>
      <a:ln w="9525" cap="rnd">
        <a:solidFill>
          <a:srgbClr val="FFFFFF"/>
        </a:solidFill>
        <a:round/>
      </a:ln>
    </cs:spPr>
  </cs:dataPointWireframe>
  <cs:dataTable>
    <cs:lnRef idx="0"/>
    <cs:fillRef idx="0"/>
    <cs:effectRef idx="0"/>
    <cs:fontRef idx="minor">
      <a:srgbClr val="000000">
        <a:lumMod val="65000"/>
        <a:lumOff val="35000"/>
      </a:srgbClr>
    </cs:fontRef>
    <cs:spPr>
      <a:noFill/>
      <a:ln w="9525" cap="flat" cmpd="sng" algn="ctr">
        <a:solidFill>
          <a:srgbClr val="000000">
            <a:lumMod val="15000"/>
            <a:lumOff val="85000"/>
          </a:srgbClr>
        </a:solidFill>
        <a:round/>
      </a:ln>
    </cs:spPr>
    <cs:defRPr sz="900" kern="1200"/>
  </cs:dataTable>
  <cs:downBar>
    <cs:lnRef idx="0"/>
    <cs:fillRef idx="0"/>
    <cs:effectRef idx="0"/>
    <cs:fontRef idx="minor">
      <a:srgbClr val="000000"/>
    </cs:fontRef>
    <cs:spPr>
      <a:solidFill>
        <a:srgbClr val="000000">
          <a:lumMod val="75000"/>
          <a:lumOff val="25000"/>
        </a:srgbClr>
      </a:solidFill>
      <a:ln w="9525" cap="flat" cmpd="sng" algn="ctr">
        <a:solidFill>
          <a:srgbClr val="000000">
            <a:lumMod val="65000"/>
            <a:lumOff val="35000"/>
          </a:srgbClr>
        </a:solidFill>
        <a:round/>
      </a:ln>
    </cs:spPr>
  </cs:downBar>
  <cs:dropLine>
    <cs:lnRef idx="0"/>
    <cs:fillRef idx="0"/>
    <cs:effectRef idx="0"/>
    <cs:fontRef idx="minor">
      <a:srgbClr val="000000"/>
    </cs:fontRef>
    <cs:spPr>
      <a:ln w="9525" cap="flat" cmpd="sng" algn="ctr">
        <a:solidFill>
          <a:srgbClr val="000000">
            <a:lumMod val="35000"/>
            <a:lumOff val="65000"/>
          </a:srgbClr>
        </a:solidFill>
        <a:round/>
      </a:ln>
    </cs:spPr>
  </cs:dropLine>
  <cs:errorBar>
    <cs:lnRef idx="0"/>
    <cs:fillRef idx="0"/>
    <cs:effectRef idx="0"/>
    <cs:fontRef idx="minor">
      <a:srgbClr val="000000"/>
    </cs:fontRef>
    <cs:spPr>
      <a:ln w="9525" cap="flat" cmpd="sng" algn="ctr">
        <a:solidFill>
          <a:srgbClr val="000000">
            <a:lumMod val="65000"/>
            <a:lumOff val="35000"/>
          </a:srgbClr>
        </a:solidFill>
        <a:round/>
      </a:ln>
    </cs:spPr>
  </cs:errorBar>
  <cs:floor>
    <cs:lnRef idx="0"/>
    <cs:fillRef idx="0"/>
    <cs:effectRef idx="0"/>
    <cs:fontRef idx="minor">
      <a:srgbClr val="000000"/>
    </cs:fontRef>
    <cs:spPr>
      <a:noFill/>
      <a:ln>
        <a:noFill/>
      </a:ln>
    </cs:spPr>
  </cs:floor>
  <cs:gridlineMajor>
    <cs:lnRef idx="0"/>
    <cs:fillRef idx="0"/>
    <cs:effectRef idx="0"/>
    <cs:fontRef idx="minor">
      <a:srgbClr val="000000"/>
    </cs:fontRef>
    <cs:spPr>
      <a:ln w="9525" cap="flat" cmpd="sng" algn="ctr">
        <a:solidFill>
          <a:srgbClr val="FFFFFF">
            <a:lumMod val="90200"/>
          </a:srgbClr>
        </a:solidFill>
        <a:round/>
      </a:ln>
    </cs:spPr>
  </cs:gridlineMajor>
  <cs:gridlineMinor>
    <cs:lnRef idx="0"/>
    <cs:fillRef idx="0"/>
    <cs:effectRef idx="0"/>
    <cs:fontRef idx="minor">
      <a:srgbClr val="000000"/>
    </cs:fontRef>
    <cs:spPr>
      <a:ln w="9525" cap="flat" cmpd="sng" algn="ctr">
        <a:solidFill>
          <a:srgbClr val="000000">
            <a:lumMod val="5000"/>
            <a:lumOff val="95000"/>
          </a:srgbClr>
        </a:solidFill>
        <a:round/>
      </a:ln>
    </cs:spPr>
  </cs:gridlineMinor>
  <cs:hiLoLine>
    <cs:lnRef idx="0"/>
    <cs:fillRef idx="0"/>
    <cs:effectRef idx="0"/>
    <cs:fontRef idx="minor">
      <a:srgbClr val="000000"/>
    </cs:fontRef>
    <cs:spPr>
      <a:ln w="9525" cap="flat" cmpd="sng" algn="ctr">
        <a:solidFill>
          <a:srgbClr val="000000">
            <a:lumMod val="50000"/>
            <a:lumOff val="50000"/>
          </a:srgbClr>
        </a:solidFill>
        <a:round/>
      </a:ln>
    </cs:spPr>
  </cs:hiLoLine>
  <cs:leaderLine>
    <cs:lnRef idx="0"/>
    <cs:fillRef idx="0"/>
    <cs:effectRef idx="0"/>
    <cs:fontRef idx="minor">
      <a:srgbClr val="000000"/>
    </cs:fontRef>
    <cs:spPr>
      <a:ln w="9525" cap="flat" cmpd="sng" algn="ctr">
        <a:solidFill>
          <a:srgbClr val="000000">
            <a:lumMod val="35000"/>
            <a:lumOff val="65000"/>
          </a:srgbClr>
        </a:solidFill>
        <a:round/>
      </a:ln>
    </cs:spPr>
  </cs:leaderLine>
  <cs:legend>
    <cs:lnRef idx="0"/>
    <cs:fillRef idx="0"/>
    <cs:effectRef idx="0"/>
    <cs:fontRef idx="minor">
      <a:srgbClr val="000000">
        <a:lumMod val="65000"/>
        <a:lumOff val="35000"/>
      </a:srgbClr>
    </cs:fontRef>
    <cs:defRPr sz="900" kern="1200"/>
  </cs:legend>
  <cs:plotArea mods="allowNoFillOverride allowNoLineOverride">
    <cs:lnRef idx="0"/>
    <cs:fillRef idx="0"/>
    <cs:effectRef idx="0"/>
    <cs:fontRef idx="minor">
      <a:srgbClr val="000000"/>
    </cs:fontRef>
  </cs:plotArea>
  <cs:plotArea3D mods="allowNoFillOverride allowNoLineOverride">
    <cs:lnRef idx="0"/>
    <cs:fillRef idx="0"/>
    <cs:effectRef idx="0"/>
    <cs:fontRef idx="minor">
      <a:srgbClr val="000000"/>
    </cs:fontRef>
  </cs:plotArea3D>
  <cs:seriesAxis>
    <cs:lnRef idx="0"/>
    <cs:fillRef idx="0"/>
    <cs:effectRef idx="0"/>
    <cs:fontRef idx="minor">
      <a:srgbClr val="000000">
        <a:lumMod val="65000"/>
        <a:lumOff val="35000"/>
      </a:srgbClr>
    </cs:fontRef>
    <cs:defRPr sz="900" kern="1200"/>
  </cs:seriesAxis>
  <cs:seriesLine>
    <cs:lnRef idx="0"/>
    <cs:fillRef idx="0"/>
    <cs:effectRef idx="0"/>
    <cs:fontRef idx="minor">
      <a:srgbClr val="000000"/>
    </cs:fontRef>
    <cs:spPr>
      <a:ln w="9525" cap="flat" cmpd="sng" algn="ctr">
        <a:solidFill>
          <a:srgbClr val="000000">
            <a:lumMod val="35000"/>
            <a:lumOff val="65000"/>
          </a:srgbClr>
        </a:solidFill>
        <a:round/>
      </a:ln>
    </cs:spPr>
  </cs:seriesLine>
  <cs:title>
    <cs:lnRef idx="0"/>
    <cs:fillRef idx="0"/>
    <cs:effectRef idx="0"/>
    <cs:fontRef idx="minor">
      <a:srgbClr val="000000">
        <a:lumMod val="75000"/>
        <a:lumOff val="25000"/>
      </a:srgbClr>
    </cs:fontRef>
    <cs:defRPr sz="1400" b="1" kern="1200" baseline="0"/>
  </cs:title>
  <cs:trendline>
    <cs:lnRef idx="0">
      <cs:styleClr val="auto"/>
    </cs:lnRef>
    <cs:fillRef idx="0"/>
    <cs:effectRef idx="0"/>
    <cs:fontRef idx="minor">
      <a:srgbClr val="000000"/>
    </cs:fontRef>
    <cs:spPr>
      <a:ln w="19050" cap="rnd">
        <a:solidFill>
          <a:srgbClr val="FFFFFF"/>
        </a:solidFill>
        <a:prstDash val="sysDot"/>
      </a:ln>
    </cs:spPr>
  </cs:trendline>
  <cs:trendlineLabel>
    <cs:lnRef idx="0"/>
    <cs:fillRef idx="0"/>
    <cs:effectRef idx="0"/>
    <cs:fontRef idx="minor">
      <a:srgbClr val="000000">
        <a:lumMod val="65000"/>
        <a:lumOff val="35000"/>
      </a:srgbClr>
    </cs:fontRef>
    <cs:defRPr sz="900" kern="1200"/>
  </cs:trendlineLabel>
  <cs:upBar>
    <cs:lnRef idx="0"/>
    <cs:fillRef idx="0"/>
    <cs:effectRef idx="0"/>
    <cs:fontRef idx="minor">
      <a:srgbClr val="000000"/>
    </cs:fontRef>
    <cs:spPr>
      <a:solidFill>
        <a:srgbClr val="FFFFFF"/>
      </a:solidFill>
      <a:ln w="9525" cap="flat" cmpd="sng" algn="ctr">
        <a:solidFill>
          <a:srgbClr val="000000">
            <a:lumMod val="65000"/>
            <a:lumOff val="35000"/>
          </a:srgbClr>
        </a:solidFill>
        <a:round/>
      </a:ln>
    </cs:spPr>
  </cs:upBar>
  <cs:valueAxis>
    <cs:lnRef idx="0"/>
    <cs:fillRef idx="0"/>
    <cs:effectRef idx="0"/>
    <cs:fontRef idx="minor">
      <a:srgbClr val="000000">
        <a:lumMod val="65000"/>
        <a:lumOff val="35000"/>
      </a:srgbClr>
    </cs:fontRef>
    <cs:defRPr sz="900" kern="1200"/>
  </cs:valueAxis>
  <cs:wall>
    <cs:lnRef idx="0"/>
    <cs:fillRef idx="0"/>
    <cs:effectRef idx="0"/>
    <cs:fontRef idx="minor">
      <a:srgbClr val="000000"/>
    </cs:fontRef>
    <cs:spPr>
      <a:noFill/>
      <a:ln>
        <a:noFill/>
      </a:ln>
    </cs:spPr>
  </cs:wall>
</cs:chartStyle>
</file>

<file path=ppt/charts/style9.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本节价值复盘思路：拆分清楚通告应对安全场景下的服务价值</a:t>
            </a:r>
            <a:r>
              <a:rPr lang="zh-CN" altLang="en-US"/>
              <a:t>输出</a:t>
            </a:r>
            <a:endParaRPr lang="zh-CN" altLang="en-US"/>
          </a:p>
          <a:p>
            <a:endParaRPr lang="zh-CN" altLang="en-US"/>
          </a:p>
          <a:p>
            <a:r>
              <a:rPr lang="en-US" altLang="zh-CN"/>
              <a:t>1.</a:t>
            </a:r>
            <a:r>
              <a:rPr lang="zh-CN" altLang="en-US"/>
              <a:t>从漏洞、端口、弱口令、外连、网站不良内容、敏感信息泄露所有被通告的可能场景，实际总计降低的安全风险次数预期有多少支撑前一页通告应对场景的总结的价值</a:t>
            </a:r>
            <a:r>
              <a:rPr lang="zh-CN" altLang="en-US"/>
              <a:t>可信度</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到底工作成果的变化是重点从哪个内容带来的，要明确出来；苦劳也要有，深信服比其他人为什么能做得更好？印象深刻的点，另甲方印象深刻的具体事件，可以</a:t>
            </a:r>
            <a:r>
              <a:rPr lang="zh-CN" altLang="en-US"/>
              <a:t>补充</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通过数字化运营，带来安全水位线的可视化和</a:t>
            </a:r>
            <a:r>
              <a:rPr lang="zh-CN" altLang="en-US"/>
              <a:t>提升，直接产生可量化的安全</a:t>
            </a:r>
            <a:r>
              <a:rPr lang="zh-CN" altLang="en-US"/>
              <a:t>价值</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当前方案职责范围内当前需要</a:t>
            </a:r>
            <a:r>
              <a:rPr lang="en-US" altLang="zh-CN"/>
              <a:t>buyer</a:t>
            </a:r>
            <a:r>
              <a:rPr lang="zh-CN" altLang="en-US"/>
              <a:t>决策和协调资源的；且一定要避免“出卖”</a:t>
            </a:r>
            <a:r>
              <a:rPr lang="en-US" altLang="zh-CN"/>
              <a:t>user</a:t>
            </a:r>
            <a:r>
              <a:rPr lang="zh-CN" altLang="en-US"/>
              <a:t>，尽量在</a:t>
            </a:r>
            <a:r>
              <a:rPr lang="en-US" altLang="zh-CN"/>
              <a:t>buyer</a:t>
            </a:r>
            <a:r>
              <a:rPr lang="zh-CN" altLang="en-US"/>
              <a:t>面前帮</a:t>
            </a:r>
            <a:r>
              <a:rPr lang="en-US" altLang="zh-CN"/>
              <a:t>user</a:t>
            </a:r>
            <a:r>
              <a:rPr lang="zh-CN" altLang="en-US"/>
              <a:t>“</a:t>
            </a:r>
            <a:r>
              <a:rPr lang="zh-CN" altLang="en-US"/>
              <a:t>挣面子”</a:t>
            </a:r>
            <a:endParaRPr lang="zh-CN" altLang="en-US"/>
          </a:p>
          <a:p>
            <a:r>
              <a:rPr lang="zh-CN" altLang="en-US"/>
              <a:t>方案范围外能更好提升其安全建设水平、达到行业领先的（整体解决方案</a:t>
            </a:r>
            <a:r>
              <a:rPr lang="zh-CN" altLang="en-US"/>
              <a:t>视角）</a:t>
            </a:r>
            <a:endParaRPr lang="zh-CN" altLang="en-US"/>
          </a:p>
          <a:p>
            <a:r>
              <a:rPr lang="en-US" altLang="zh-CN"/>
              <a:t>ppt</a:t>
            </a:r>
            <a:r>
              <a:rPr lang="zh-CN" altLang="en-US"/>
              <a:t>形式</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当前方案职责范围内当前需要</a:t>
            </a:r>
            <a:r>
              <a:rPr lang="en-US" altLang="zh-CN"/>
              <a:t>buyer</a:t>
            </a:r>
            <a:r>
              <a:rPr lang="zh-CN" altLang="en-US"/>
              <a:t>决策和协调资源的；且一定要避免“出卖”</a:t>
            </a:r>
            <a:r>
              <a:rPr lang="en-US" altLang="zh-CN"/>
              <a:t>user</a:t>
            </a:r>
            <a:r>
              <a:rPr lang="zh-CN" altLang="en-US"/>
              <a:t>，尽量在</a:t>
            </a:r>
            <a:r>
              <a:rPr lang="en-US" altLang="zh-CN"/>
              <a:t>buyer</a:t>
            </a:r>
            <a:r>
              <a:rPr lang="zh-CN" altLang="en-US"/>
              <a:t>面前帮</a:t>
            </a:r>
            <a:r>
              <a:rPr lang="en-US" altLang="zh-CN"/>
              <a:t>user</a:t>
            </a:r>
            <a:r>
              <a:rPr lang="zh-CN" altLang="en-US"/>
              <a:t>“</a:t>
            </a:r>
            <a:r>
              <a:rPr lang="zh-CN" altLang="en-US"/>
              <a:t>挣面子”</a:t>
            </a:r>
            <a:endParaRPr lang="zh-CN" altLang="en-US"/>
          </a:p>
          <a:p>
            <a:r>
              <a:rPr lang="zh-CN" altLang="en-US"/>
              <a:t>方案范围外能更好提升其安全建设水平、达到行业领先的（整体解决方案</a:t>
            </a:r>
            <a:r>
              <a:rPr lang="zh-CN" altLang="en-US"/>
              <a:t>视角）</a:t>
            </a:r>
            <a:endParaRPr lang="zh-CN" altLang="en-US"/>
          </a:p>
          <a:p>
            <a:r>
              <a:rPr lang="en-US" altLang="zh-CN"/>
              <a:t>ppt</a:t>
            </a:r>
            <a:r>
              <a:rPr lang="zh-CN" altLang="en-US"/>
              <a:t>形式</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9" name="文本框 8"/>
          <p:cNvSpPr txBox="1">
            <a:spLocks noChangeArrowheads="1"/>
          </p:cNvSpPr>
          <p:nvPr userDrawn="1"/>
        </p:nvSpPr>
        <p:spPr bwMode="auto">
          <a:xfrm>
            <a:off x="7356763" y="2854805"/>
            <a:ext cx="3590862" cy="200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None/>
            </a:pPr>
            <a:r>
              <a:rPr lang="zh-CN" altLang="en-US" sz="6000" b="1" spc="600">
                <a:solidFill>
                  <a:schemeClr val="bg1"/>
                </a:solidFill>
                <a:latin typeface="微软雅黑" panose="020B0503020204020204" charset="-122"/>
                <a:ea typeface="微软雅黑" panose="020B0503020204020204" charset="-122"/>
              </a:rPr>
              <a:t>谢谢聆听</a:t>
            </a:r>
            <a:endParaRPr lang="en-US" altLang="zh-CN" sz="6000" b="1" spc="600" dirty="0">
              <a:solidFill>
                <a:schemeClr val="bg1"/>
              </a:solidFill>
              <a:latin typeface="微软雅黑" panose="020B0503020204020204" charset="-122"/>
              <a:ea typeface="微软雅黑" panose="020B0503020204020204" charset="-122"/>
            </a:endParaRPr>
          </a:p>
          <a:p>
            <a:pPr eaLnBrk="1" hangingPunct="1">
              <a:lnSpc>
                <a:spcPct val="100000"/>
              </a:lnSpc>
              <a:spcBef>
                <a:spcPct val="0"/>
              </a:spcBef>
              <a:buFontTx/>
              <a:buNone/>
            </a:pPr>
            <a:endParaRPr lang="en-US" altLang="zh-CN" sz="6600" b="1" spc="600" dirty="0">
              <a:solidFill>
                <a:srgbClr val="66BC29"/>
              </a:solidFill>
              <a:latin typeface="微软雅黑" panose="020B0503020204020204" charset="-122"/>
              <a:ea typeface="微软雅黑" panose="020B0503020204020204" charset="-122"/>
            </a:endParaRPr>
          </a:p>
        </p:txBody>
      </p:sp>
      <p:sp>
        <p:nvSpPr>
          <p:cNvPr id="10" name="文本框 8"/>
          <p:cNvSpPr txBox="1">
            <a:spLocks noChangeArrowheads="1"/>
          </p:cNvSpPr>
          <p:nvPr userDrawn="1"/>
        </p:nvSpPr>
        <p:spPr bwMode="auto">
          <a:xfrm>
            <a:off x="6322065" y="3880143"/>
            <a:ext cx="450767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dist">
              <a:lnSpc>
                <a:spcPct val="100000"/>
              </a:lnSpc>
              <a:spcBef>
                <a:spcPct val="0"/>
              </a:spcBef>
              <a:buNone/>
            </a:pPr>
            <a:r>
              <a:rPr lang="zh-CN" altLang="en-US" sz="1800" b="1" i="0" kern="1200" dirty="0">
                <a:solidFill>
                  <a:schemeClr val="bg1"/>
                </a:solidFill>
                <a:effectLst/>
                <a:latin typeface="+mj-ea"/>
                <a:ea typeface="+mj-ea"/>
                <a:cs typeface="+mn-cs"/>
              </a:rPr>
              <a:t>让每个用户的数字化更简单、更安全</a:t>
            </a:r>
            <a:r>
              <a:rPr lang="en-US" altLang="zh-CN" sz="1800" b="1" i="0" kern="1200" dirty="0">
                <a:solidFill>
                  <a:schemeClr val="bg1"/>
                </a:solidFill>
                <a:effectLst/>
                <a:latin typeface="+mj-ea"/>
                <a:ea typeface="+mj-ea"/>
                <a:cs typeface="+mn-cs"/>
              </a:rPr>
              <a:t>!</a:t>
            </a:r>
            <a:endParaRPr lang="en-US" altLang="zh-CN" sz="2000" b="1" spc="600" dirty="0">
              <a:solidFill>
                <a:schemeClr val="bg1"/>
              </a:solidFill>
              <a:latin typeface="+mj-ea"/>
              <a:ea typeface="+mj-ea"/>
            </a:endParaRPr>
          </a:p>
        </p:txBody>
      </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8156" y="268011"/>
            <a:ext cx="2351905" cy="3412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35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540"/>
            </a:lvl1pPr>
            <a:lvl2pPr marL="483870" indent="0" algn="ctr">
              <a:buNone/>
              <a:defRPr sz="2120"/>
            </a:lvl2pPr>
            <a:lvl3pPr marL="967740" indent="0" algn="ctr">
              <a:buNone/>
              <a:defRPr sz="1905"/>
            </a:lvl3pPr>
            <a:lvl4pPr marL="1451610" indent="0" algn="ctr">
              <a:buNone/>
              <a:defRPr sz="1695"/>
            </a:lvl4pPr>
            <a:lvl5pPr marL="1935480" indent="0" algn="ctr">
              <a:buNone/>
              <a:defRPr sz="1695"/>
            </a:lvl5pPr>
            <a:lvl6pPr marL="2419350" indent="0" algn="ctr">
              <a:buNone/>
              <a:defRPr sz="1695"/>
            </a:lvl6pPr>
            <a:lvl7pPr marL="2903220" indent="0" algn="ctr">
              <a:buNone/>
              <a:defRPr sz="1695"/>
            </a:lvl7pPr>
            <a:lvl8pPr marL="3387090" indent="0" algn="ctr">
              <a:buNone/>
              <a:defRPr sz="1695"/>
            </a:lvl8pPr>
            <a:lvl9pPr marL="3870960" indent="0" algn="ctr">
              <a:buNone/>
              <a:defRPr sz="1695"/>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2"/>
            <a:ext cx="2743200" cy="365125"/>
          </a:xfrm>
        </p:spPr>
        <p:txBody>
          <a:bodyPr/>
          <a:lstStyle/>
          <a:p>
            <a:fld id="{6651D2DA-4D49-4791-B475-FB8E6506C035}" type="datetimeFigureOut">
              <a:rPr lang="zh-CN" altLang="en-US" smtClean="0"/>
            </a:fld>
            <a:endParaRPr lang="zh-CN" altLang="en-US"/>
          </a:p>
        </p:txBody>
      </p:sp>
      <p:sp>
        <p:nvSpPr>
          <p:cNvPr id="5" name="页脚占位符 4"/>
          <p:cNvSpPr>
            <a:spLocks noGrp="1"/>
          </p:cNvSpPr>
          <p:nvPr>
            <p:ph type="ftr" sz="quarter" idx="11"/>
          </p:nvPr>
        </p:nvSpPr>
        <p:spPr>
          <a:xfrm>
            <a:off x="4038601" y="6356352"/>
            <a:ext cx="4114801" cy="365125"/>
          </a:xfrm>
        </p:spPr>
        <p:txBody>
          <a:bodyPr/>
          <a:lstStyle/>
          <a:p>
            <a:endParaRPr lang="zh-CN" altLang="en-US"/>
          </a:p>
        </p:txBody>
      </p:sp>
      <p:sp>
        <p:nvSpPr>
          <p:cNvPr id="6" name="灯片编号占位符 5"/>
          <p:cNvSpPr>
            <a:spLocks noGrp="1"/>
          </p:cNvSpPr>
          <p:nvPr>
            <p:ph type="sldNum" sz="quarter" idx="12"/>
          </p:nvPr>
        </p:nvSpPr>
        <p:spPr>
          <a:xfrm>
            <a:off x="8610601" y="6356352"/>
            <a:ext cx="2743200" cy="365125"/>
          </a:xfrm>
        </p:spPr>
        <p:txBody>
          <a:bodyPr/>
          <a:lstStyle/>
          <a:p>
            <a:fld id="{1CFB67B4-4181-46E4-B4F3-B0465E53CD4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723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38925" y="2439035"/>
            <a:ext cx="4622800" cy="1866900"/>
          </a:xfrm>
        </p:spPr>
        <p:txBody>
          <a:bodyPr wrap="square" anchor="ctr" anchorCtr="0">
            <a:normAutofit/>
          </a:bodyPr>
          <a:lstStyle>
            <a:lvl1pPr algn="l">
              <a:defRPr sz="5400"/>
            </a:lvl1pPr>
          </a:lstStyle>
          <a:p>
            <a:r>
              <a:rPr dirty="0"/>
              <a:t>单击此处编辑母版标题样式</a:t>
            </a:r>
            <a:endParaRPr dirty="0"/>
          </a:p>
        </p:txBody>
      </p:sp>
      <p:sp>
        <p:nvSpPr>
          <p:cNvPr id="8" name="节编号 3"/>
          <p:cNvSpPr>
            <a:spLocks noGrp="1"/>
          </p:cNvSpPr>
          <p:nvPr>
            <p:ph type="body" sz="quarter" idx="13" hasCustomPrompt="1"/>
            <p:custDataLst>
              <p:tags r:id="rId3"/>
            </p:custDataLst>
          </p:nvPr>
        </p:nvSpPr>
        <p:spPr>
          <a:xfrm>
            <a:off x="1726565" y="2343785"/>
            <a:ext cx="3096895" cy="2061210"/>
          </a:xfrm>
        </p:spPr>
        <p:txBody>
          <a:bodyPr wrap="none" anchor="ctr" anchorCtr="0">
            <a:normAutofit/>
          </a:bodyPr>
          <a:lstStyle>
            <a:lvl1pPr marL="0" indent="0" algn="ctr">
              <a:buNone/>
              <a:defRPr sz="11500" b="1">
                <a:gradFill>
                  <a:gsLst>
                    <a:gs pos="0">
                      <a:schemeClr val="accent1">
                        <a:lumMod val="60000"/>
                        <a:lumOff val="40000"/>
                      </a:schemeClr>
                    </a:gs>
                    <a:gs pos="100000">
                      <a:schemeClr val="accent1"/>
                    </a:gs>
                  </a:gsLst>
                  <a:lin ang="3600000" scaled="0"/>
                </a:gradFill>
              </a:defRPr>
            </a:lvl1pPr>
          </a:lstStyle>
          <a:p>
            <a:pPr lvl="0"/>
            <a:r>
              <a:rPr lang="zh-CN" altLang="en-US" dirty="0"/>
              <a:t>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9" name="弧形 8"/>
          <p:cNvSpPr>
            <a:spLocks noChangeAspect="1"/>
          </p:cNvSpPr>
          <p:nvPr userDrawn="1">
            <p:custDataLst>
              <p:tags r:id="rId7"/>
            </p:custDataLst>
          </p:nvPr>
        </p:nvSpPr>
        <p:spPr>
          <a:xfrm rot="16200000">
            <a:off x="971196" y="1125001"/>
            <a:ext cx="4608000" cy="4608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0" name="椭圆 9"/>
          <p:cNvSpPr>
            <a:spLocks noChangeAspect="1"/>
          </p:cNvSpPr>
          <p:nvPr userDrawn="1">
            <p:custDataLst>
              <p:tags r:id="rId8"/>
            </p:custDataLst>
          </p:nvPr>
        </p:nvSpPr>
        <p:spPr>
          <a:xfrm rot="16200000">
            <a:off x="3995627" y="5533172"/>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椭圆 10"/>
          <p:cNvSpPr>
            <a:spLocks noChangeAspect="1"/>
          </p:cNvSpPr>
          <p:nvPr userDrawn="1">
            <p:custDataLst>
              <p:tags r:id="rId9"/>
            </p:custDataLst>
          </p:nvPr>
        </p:nvSpPr>
        <p:spPr>
          <a:xfrm rot="16200000">
            <a:off x="1295196" y="1449001"/>
            <a:ext cx="3960000" cy="3960000"/>
          </a:xfrm>
          <a:prstGeom prst="ellipse">
            <a:avLst/>
          </a:prstGeom>
          <a:noFill/>
          <a:ln w="19050">
            <a:solidFill>
              <a:schemeClr val="accent1">
                <a:lumMod val="40000"/>
                <a:lumOff val="6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弧形 11"/>
          <p:cNvSpPr>
            <a:spLocks noChangeAspect="1"/>
          </p:cNvSpPr>
          <p:nvPr userDrawn="1">
            <p:custDataLst>
              <p:tags r:id="rId10"/>
            </p:custDataLst>
          </p:nvPr>
        </p:nvSpPr>
        <p:spPr>
          <a:xfrm rot="16200000">
            <a:off x="683196" y="837001"/>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1"/>
            </p:custDataLst>
          </p:nvPr>
        </p:nvSpPr>
        <p:spPr>
          <a:xfrm rot="16200000">
            <a:off x="1355848" y="154432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229304" y="1656000"/>
            <a:ext cx="4866696" cy="1800000"/>
          </a:xfrm>
        </p:spPr>
        <p:txBody>
          <a:bodyPr wrap="square" anchor="b">
            <a:normAutofit/>
          </a:bodyPr>
          <a:lstStyle>
            <a:lvl1pPr algn="l">
              <a:lnSpc>
                <a:spcPct val="100000"/>
              </a:lnSpc>
              <a:defRPr sz="6000"/>
            </a:lvl1pPr>
          </a:lstStyle>
          <a:p>
            <a:r>
              <a:rPr lang="zh-CN" altLang="en-US" dirty="0"/>
              <a:t>编辑标题</a:t>
            </a:r>
            <a:endParaRPr lang="zh-CN" altLang="en-US" dirty="0"/>
          </a:p>
        </p:txBody>
      </p:sp>
      <p:sp>
        <p:nvSpPr>
          <p:cNvPr id="3" name="副标题 2"/>
          <p:cNvSpPr>
            <a:spLocks noGrp="1"/>
          </p:cNvSpPr>
          <p:nvPr>
            <p:ph type="subTitle" idx="1" hasCustomPrompt="1"/>
            <p:custDataLst>
              <p:tags r:id="rId3"/>
            </p:custDataLst>
          </p:nvPr>
        </p:nvSpPr>
        <p:spPr>
          <a:xfrm>
            <a:off x="1229302" y="3600000"/>
            <a:ext cx="4866697" cy="972000"/>
          </a:xfrm>
        </p:spPr>
        <p:txBody>
          <a:bodyPr wrap="square">
            <a:normAutofit/>
          </a:bodyPr>
          <a:lstStyle>
            <a:lvl1pPr marL="0" indent="0" algn="l">
              <a:lnSpc>
                <a:spcPct val="100000"/>
              </a:lnSpc>
              <a:buNone/>
              <a:defRPr sz="4600" b="1">
                <a:solidFill>
                  <a:schemeClr val="tx1">
                    <a:alpha val="7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编辑副标题</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p:ph type="body" sz="quarter" idx="13" hasCustomPrompt="1"/>
            <p:custDataLst>
              <p:tags r:id="rId7"/>
            </p:custDataLst>
          </p:nvPr>
        </p:nvSpPr>
        <p:spPr>
          <a:xfrm>
            <a:off x="1229360" y="504190"/>
            <a:ext cx="4868545" cy="504190"/>
          </a:xfrm>
        </p:spPr>
        <p:txBody>
          <a:bodyPr wrap="square" anchor="ctr">
            <a:normAutofit/>
          </a:bodyPr>
          <a:lstStyle>
            <a:lvl1pPr marL="0" indent="0">
              <a:lnSpc>
                <a:spcPct val="100000"/>
              </a:lnSpc>
              <a:buNone/>
              <a:defRPr sz="1600"/>
            </a:lvl1pPr>
          </a:lstStyle>
          <a:p>
            <a:pPr lvl="0"/>
            <a:r>
              <a:rPr lang="zh-CN" altLang="en-US" dirty="0"/>
              <a:t>公司</a:t>
            </a:r>
            <a:endParaRPr lang="zh-CN" altLang="en-US" dirty="0"/>
          </a:p>
        </p:txBody>
      </p:sp>
      <p:sp>
        <p:nvSpPr>
          <p:cNvPr id="24" name="署名占位符 10"/>
          <p:cNvSpPr>
            <a:spLocks noGrp="1"/>
          </p:cNvSpPr>
          <p:nvPr>
            <p:ph type="body" sz="quarter" idx="17" hasCustomPrompt="1"/>
            <p:custDataLst>
              <p:tags r:id="rId8"/>
            </p:custDataLst>
          </p:nvPr>
        </p:nvSpPr>
        <p:spPr>
          <a:xfrm>
            <a:off x="1229360" y="4902835"/>
            <a:ext cx="2880000" cy="576000"/>
          </a:xfrm>
          <a:prstGeom prst="roundRect">
            <a:avLst>
              <a:gd name="adj" fmla="val 50000"/>
            </a:avLst>
          </a:prstGeom>
          <a:gradFill>
            <a:gsLst>
              <a:gs pos="0">
                <a:schemeClr val="accent1">
                  <a:lumMod val="60000"/>
                  <a:lumOff val="40000"/>
                </a:schemeClr>
              </a:gs>
              <a:gs pos="100000">
                <a:schemeClr val="accent1"/>
              </a:gs>
            </a:gsLst>
            <a:lin ang="2700000" scaled="0"/>
          </a:gradFill>
        </p:spPr>
        <p:txBody>
          <a:bodyPr vert="horz" wrap="square" lIns="0" tIns="0" rIns="0" bIns="0" rtlCol="0" anchor="ctr">
            <a:normAutofit/>
          </a:bodyPr>
          <a:lstStyle>
            <a:lvl1pPr marL="0" marR="0" lvl="0" indent="0" algn="ctr" defTabSz="914400" rtl="0" eaLnBrk="1" fontAlgn="auto" latinLnBrk="0" hangingPunct="1">
              <a:lnSpc>
                <a:spcPct val="100000"/>
              </a:lnSpc>
              <a:spcBef>
                <a:spcPts val="1000"/>
              </a:spcBef>
              <a:buClrTx/>
              <a:buSzTx/>
              <a:buFont typeface="Arial" panose="020B0604020202020204" pitchFamily="34" charset="0"/>
              <a:buNone/>
              <a:defRPr kumimoji="0" lang="zh-CN" altLang="en-US" sz="2200" b="1" i="0" u="none" strike="noStrike" kern="1200" cap="none" spc="0" normalizeH="0" baseline="0" noProof="1" dirty="0">
                <a:solidFill>
                  <a:srgbClr val="FFFFFF"/>
                </a:solidFill>
                <a:latin typeface="+mn-lt"/>
                <a:ea typeface="+mn-ea"/>
                <a:cs typeface="+mn-cs"/>
              </a:defRPr>
            </a:lvl1pPr>
          </a:lstStyle>
          <a:p>
            <a:pPr lvl="0"/>
            <a:r>
              <a:rPr>
                <a:sym typeface="+mn-ea"/>
              </a:rPr>
              <a:t>署名</a:t>
            </a:r>
            <a:endParaRPr>
              <a:sym typeface="+mn-ea"/>
            </a:endParaRPr>
          </a:p>
        </p:txBody>
      </p:sp>
      <p:sp>
        <p:nvSpPr>
          <p:cNvPr id="12" name="弧形 11"/>
          <p:cNvSpPr>
            <a:spLocks noChangeAspect="1"/>
          </p:cNvSpPr>
          <p:nvPr userDrawn="1">
            <p:custDataLst>
              <p:tags r:id="rId9"/>
            </p:custDataLst>
          </p:nvPr>
        </p:nvSpPr>
        <p:spPr>
          <a:xfrm rot="16200000">
            <a:off x="6948696" y="1197000"/>
            <a:ext cx="4464000" cy="4464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0"/>
            </p:custDataLst>
          </p:nvPr>
        </p:nvSpPr>
        <p:spPr>
          <a:xfrm rot="16200000">
            <a:off x="9901127" y="544774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a:spLocks noChangeAspect="1"/>
          </p:cNvSpPr>
          <p:nvPr userDrawn="1">
            <p:custDataLst>
              <p:tags r:id="rId11"/>
            </p:custDataLst>
          </p:nvPr>
        </p:nvSpPr>
        <p:spPr>
          <a:xfrm rot="16200000">
            <a:off x="7398696" y="1647000"/>
            <a:ext cx="3564000" cy="3564000"/>
          </a:xfrm>
          <a:prstGeom prst="ellipse">
            <a:avLst/>
          </a:prstGeom>
          <a:noFill/>
          <a:ln w="19050">
            <a:solidFill>
              <a:schemeClr val="accent1">
                <a:lumMod val="40000"/>
                <a:lumOff val="6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弧形 15"/>
          <p:cNvSpPr>
            <a:spLocks noChangeAspect="1"/>
          </p:cNvSpPr>
          <p:nvPr userDrawn="1">
            <p:custDataLst>
              <p:tags r:id="rId12"/>
            </p:custDataLst>
          </p:nvPr>
        </p:nvSpPr>
        <p:spPr>
          <a:xfrm rot="16200000">
            <a:off x="6588696" y="837000"/>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7" name="椭圆 16"/>
          <p:cNvSpPr>
            <a:spLocks noChangeAspect="1"/>
          </p:cNvSpPr>
          <p:nvPr userDrawn="1">
            <p:custDataLst>
              <p:tags r:id="rId13"/>
            </p:custDataLst>
          </p:nvPr>
        </p:nvSpPr>
        <p:spPr>
          <a:xfrm rot="16200000">
            <a:off x="7261348" y="1544325"/>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9" name="文本框 8"/>
          <p:cNvSpPr txBox="1">
            <a:spLocks noChangeArrowheads="1"/>
          </p:cNvSpPr>
          <p:nvPr userDrawn="1"/>
        </p:nvSpPr>
        <p:spPr bwMode="auto">
          <a:xfrm>
            <a:off x="7356763" y="2854805"/>
            <a:ext cx="3590862" cy="200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None/>
            </a:pPr>
            <a:r>
              <a:rPr lang="zh-CN" altLang="en-US" sz="6000" b="1" spc="600">
                <a:solidFill>
                  <a:schemeClr val="bg1"/>
                </a:solidFill>
                <a:latin typeface="微软雅黑" panose="020B0503020204020204" charset="-122"/>
                <a:ea typeface="微软雅黑" panose="020B0503020204020204" charset="-122"/>
              </a:rPr>
              <a:t>谢谢聆听</a:t>
            </a:r>
            <a:endParaRPr lang="en-US" altLang="zh-CN" sz="6000" b="1" spc="600" dirty="0">
              <a:solidFill>
                <a:schemeClr val="bg1"/>
              </a:solidFill>
              <a:latin typeface="微软雅黑" panose="020B0503020204020204" charset="-122"/>
              <a:ea typeface="微软雅黑" panose="020B0503020204020204" charset="-122"/>
            </a:endParaRPr>
          </a:p>
          <a:p>
            <a:pPr eaLnBrk="1" hangingPunct="1">
              <a:lnSpc>
                <a:spcPct val="100000"/>
              </a:lnSpc>
              <a:spcBef>
                <a:spcPct val="0"/>
              </a:spcBef>
              <a:buFontTx/>
              <a:buNone/>
            </a:pPr>
            <a:endParaRPr lang="en-US" altLang="zh-CN" sz="6600" b="1" spc="600" dirty="0">
              <a:solidFill>
                <a:srgbClr val="66BC29"/>
              </a:solidFill>
              <a:latin typeface="微软雅黑" panose="020B0503020204020204" charset="-122"/>
              <a:ea typeface="微软雅黑" panose="020B0503020204020204" charset="-122"/>
            </a:endParaRPr>
          </a:p>
        </p:txBody>
      </p:sp>
      <p:sp>
        <p:nvSpPr>
          <p:cNvPr id="10" name="文本框 8"/>
          <p:cNvSpPr txBox="1">
            <a:spLocks noChangeArrowheads="1"/>
          </p:cNvSpPr>
          <p:nvPr userDrawn="1"/>
        </p:nvSpPr>
        <p:spPr bwMode="auto">
          <a:xfrm>
            <a:off x="6322065" y="3880143"/>
            <a:ext cx="450767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dist">
              <a:lnSpc>
                <a:spcPct val="100000"/>
              </a:lnSpc>
              <a:spcBef>
                <a:spcPct val="0"/>
              </a:spcBef>
              <a:buNone/>
            </a:pPr>
            <a:r>
              <a:rPr lang="zh-CN" altLang="en-US" sz="1800" b="1" i="0" kern="1200" dirty="0">
                <a:solidFill>
                  <a:schemeClr val="bg1"/>
                </a:solidFill>
                <a:effectLst/>
                <a:latin typeface="+mj-ea"/>
                <a:ea typeface="+mj-ea"/>
                <a:cs typeface="+mn-cs"/>
              </a:rPr>
              <a:t>让每个用户的数字化更简单、更安全</a:t>
            </a:r>
            <a:r>
              <a:rPr lang="en-US" altLang="zh-CN" sz="1800" b="1" i="0" kern="1200" dirty="0">
                <a:solidFill>
                  <a:schemeClr val="bg1"/>
                </a:solidFill>
                <a:effectLst/>
                <a:latin typeface="+mj-ea"/>
                <a:ea typeface="+mj-ea"/>
                <a:cs typeface="+mn-cs"/>
              </a:rPr>
              <a:t>!</a:t>
            </a:r>
            <a:endParaRPr lang="en-US" altLang="zh-CN" sz="2000" b="1" spc="600" dirty="0">
              <a:solidFill>
                <a:schemeClr val="bg1"/>
              </a:solidFill>
              <a:latin typeface="+mj-ea"/>
              <a:ea typeface="+mj-ea"/>
            </a:endParaRPr>
          </a:p>
        </p:txBody>
      </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8156" y="268011"/>
            <a:ext cx="2351905" cy="341209"/>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35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540"/>
            </a:lvl1pPr>
            <a:lvl2pPr marL="483870" indent="0" algn="ctr">
              <a:buNone/>
              <a:defRPr sz="2120"/>
            </a:lvl2pPr>
            <a:lvl3pPr marL="967740" indent="0" algn="ctr">
              <a:buNone/>
              <a:defRPr sz="1905"/>
            </a:lvl3pPr>
            <a:lvl4pPr marL="1451610" indent="0" algn="ctr">
              <a:buNone/>
              <a:defRPr sz="1695"/>
            </a:lvl4pPr>
            <a:lvl5pPr marL="1935480" indent="0" algn="ctr">
              <a:buNone/>
              <a:defRPr sz="1695"/>
            </a:lvl5pPr>
            <a:lvl6pPr marL="2419350" indent="0" algn="ctr">
              <a:buNone/>
              <a:defRPr sz="1695"/>
            </a:lvl6pPr>
            <a:lvl7pPr marL="2903220" indent="0" algn="ctr">
              <a:buNone/>
              <a:defRPr sz="1695"/>
            </a:lvl7pPr>
            <a:lvl8pPr marL="3387090" indent="0" algn="ctr">
              <a:buNone/>
              <a:defRPr sz="1695"/>
            </a:lvl8pPr>
            <a:lvl9pPr marL="3870960" indent="0" algn="ctr">
              <a:buNone/>
              <a:defRPr sz="1695"/>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2"/>
            <a:ext cx="2743200" cy="365125"/>
          </a:xfrm>
        </p:spPr>
        <p:txBody>
          <a:bodyPr/>
          <a:lstStyle/>
          <a:p>
            <a:fld id="{6651D2DA-4D49-4791-B475-FB8E6506C035}" type="datetimeFigureOut">
              <a:rPr lang="zh-CN" altLang="en-US" smtClean="0"/>
            </a:fld>
            <a:endParaRPr lang="zh-CN" altLang="en-US"/>
          </a:p>
        </p:txBody>
      </p:sp>
      <p:sp>
        <p:nvSpPr>
          <p:cNvPr id="5" name="页脚占位符 4"/>
          <p:cNvSpPr>
            <a:spLocks noGrp="1"/>
          </p:cNvSpPr>
          <p:nvPr>
            <p:ph type="ftr" sz="quarter" idx="11"/>
          </p:nvPr>
        </p:nvSpPr>
        <p:spPr>
          <a:xfrm>
            <a:off x="4038601" y="6356352"/>
            <a:ext cx="4114801" cy="365125"/>
          </a:xfrm>
        </p:spPr>
        <p:txBody>
          <a:bodyPr/>
          <a:lstStyle/>
          <a:p>
            <a:endParaRPr lang="zh-CN" altLang="en-US"/>
          </a:p>
        </p:txBody>
      </p:sp>
      <p:sp>
        <p:nvSpPr>
          <p:cNvPr id="6" name="灯片编号占位符 5"/>
          <p:cNvSpPr>
            <a:spLocks noGrp="1"/>
          </p:cNvSpPr>
          <p:nvPr>
            <p:ph type="sldNum" sz="quarter" idx="12"/>
          </p:nvPr>
        </p:nvSpPr>
        <p:spPr>
          <a:xfrm>
            <a:off x="8610601" y="6356352"/>
            <a:ext cx="2743200" cy="365125"/>
          </a:xfrm>
        </p:spPr>
        <p:txBody>
          <a:bodyPr/>
          <a:lstStyle/>
          <a:p>
            <a:fld id="{1CFB67B4-4181-46E4-B4F3-B0465E53CD48}"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723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mainBodyTemplat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2" Type="http://schemas.openxmlformats.org/officeDocument/2006/relationships/theme" Target="../theme/theme2.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0" Type="http://schemas.openxmlformats.org/officeDocument/2006/relationships/theme" Target="../theme/theme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1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4"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59.xml"/><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image" Target="../media/image7.png"/><Relationship Id="rId22" Type="http://schemas.openxmlformats.org/officeDocument/2006/relationships/notesSlide" Target="../notesSlides/notesSlide2.xml"/><Relationship Id="rId21" Type="http://schemas.openxmlformats.org/officeDocument/2006/relationships/slideLayout" Target="../slideLayouts/slideLayout6.xml"/><Relationship Id="rId20" Type="http://schemas.openxmlformats.org/officeDocument/2006/relationships/tags" Target="../tags/tag70.xml"/><Relationship Id="rId2" Type="http://schemas.openxmlformats.org/officeDocument/2006/relationships/image" Target="../media/image6.png"/><Relationship Id="rId19" Type="http://schemas.openxmlformats.org/officeDocument/2006/relationships/tags" Target="../tags/tag69.xml"/><Relationship Id="rId18" Type="http://schemas.openxmlformats.org/officeDocument/2006/relationships/tags" Target="../tags/tag68.xml"/><Relationship Id="rId17" Type="http://schemas.openxmlformats.org/officeDocument/2006/relationships/tags" Target="../tags/tag67.xml"/><Relationship Id="rId16" Type="http://schemas.openxmlformats.org/officeDocument/2006/relationships/tags" Target="../tags/tag66.xml"/><Relationship Id="rId15" Type="http://schemas.openxmlformats.org/officeDocument/2006/relationships/tags" Target="../tags/tag65.xml"/><Relationship Id="rId14" Type="http://schemas.openxmlformats.org/officeDocument/2006/relationships/tags" Target="../tags/tag64.xml"/><Relationship Id="rId13" Type="http://schemas.openxmlformats.org/officeDocument/2006/relationships/tags" Target="../tags/tag63.xml"/><Relationship Id="rId12" Type="http://schemas.openxmlformats.org/officeDocument/2006/relationships/tags" Target="../tags/tag62.xml"/><Relationship Id="rId11" Type="http://schemas.openxmlformats.org/officeDocument/2006/relationships/tags" Target="../tags/tag61.xml"/><Relationship Id="rId10" Type="http://schemas.openxmlformats.org/officeDocument/2006/relationships/tags" Target="../tags/tag60.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74.xml"/><Relationship Id="rId4" Type="http://schemas.openxmlformats.org/officeDocument/2006/relationships/image" Target="../media/image6.png"/><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s>
</file>

<file path=ppt/slides/_rels/slide4.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image" Target="../media/image6.png"/><Relationship Id="rId29" Type="http://schemas.openxmlformats.org/officeDocument/2006/relationships/notesSlide" Target="../notesSlides/notesSlide3.xml"/><Relationship Id="rId28" Type="http://schemas.openxmlformats.org/officeDocument/2006/relationships/slideLayout" Target="../slideLayouts/slideLayout1.xml"/><Relationship Id="rId27" Type="http://schemas.openxmlformats.org/officeDocument/2006/relationships/tags" Target="../tags/tag93.xml"/><Relationship Id="rId26" Type="http://schemas.openxmlformats.org/officeDocument/2006/relationships/tags" Target="../tags/tag92.xml"/><Relationship Id="rId25" Type="http://schemas.openxmlformats.org/officeDocument/2006/relationships/tags" Target="../tags/tag91.xml"/><Relationship Id="rId24" Type="http://schemas.openxmlformats.org/officeDocument/2006/relationships/tags" Target="../tags/tag90.xml"/><Relationship Id="rId23" Type="http://schemas.openxmlformats.org/officeDocument/2006/relationships/image" Target="../media/image14.png"/><Relationship Id="rId22" Type="http://schemas.openxmlformats.org/officeDocument/2006/relationships/tags" Target="../tags/tag89.xml"/><Relationship Id="rId21" Type="http://schemas.openxmlformats.org/officeDocument/2006/relationships/tags" Target="../tags/tag88.xml"/><Relationship Id="rId20" Type="http://schemas.openxmlformats.org/officeDocument/2006/relationships/tags" Target="../tags/tag87.xml"/><Relationship Id="rId2" Type="http://schemas.openxmlformats.org/officeDocument/2006/relationships/tags" Target="../tags/tag76.xml"/><Relationship Id="rId19" Type="http://schemas.openxmlformats.org/officeDocument/2006/relationships/image" Target="../media/image13.svg"/><Relationship Id="rId18" Type="http://schemas.openxmlformats.org/officeDocument/2006/relationships/image" Target="../media/image12.png"/><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image" Target="../media/image11.svg"/><Relationship Id="rId13" Type="http://schemas.openxmlformats.org/officeDocument/2006/relationships/image" Target="../media/image10.png"/><Relationship Id="rId12" Type="http://schemas.openxmlformats.org/officeDocument/2006/relationships/tags" Target="../tags/tag83.xml"/><Relationship Id="rId11" Type="http://schemas.openxmlformats.org/officeDocument/2006/relationships/tags" Target="../tags/tag82.xml"/><Relationship Id="rId10" Type="http://schemas.openxmlformats.org/officeDocument/2006/relationships/tags" Target="../tags/tag81.xml"/><Relationship Id="rId1" Type="http://schemas.openxmlformats.org/officeDocument/2006/relationships/tags" Target="../tags/tag75.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tags" Target="../tags/tag95.xml"/><Relationship Id="rId1" Type="http://schemas.openxmlformats.org/officeDocument/2006/relationships/tags" Target="../tags/tag94.xml"/></Relationships>
</file>

<file path=ppt/slides/_rels/slide6.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tags" Target="../tags/tag103.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tags" Target="../tags/tag98.xml"/><Relationship Id="rId20" Type="http://schemas.openxmlformats.org/officeDocument/2006/relationships/notesSlide" Target="../notesSlides/notesSlide5.xml"/><Relationship Id="rId2" Type="http://schemas.openxmlformats.org/officeDocument/2006/relationships/tags" Target="../tags/tag97.xml"/><Relationship Id="rId19" Type="http://schemas.openxmlformats.org/officeDocument/2006/relationships/slideLayout" Target="../slideLayouts/slideLayout3.xml"/><Relationship Id="rId18" Type="http://schemas.openxmlformats.org/officeDocument/2006/relationships/tags" Target="../tags/tag113.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tags" Target="../tags/tag108.xml"/><Relationship Id="rId12" Type="http://schemas.openxmlformats.org/officeDocument/2006/relationships/tags" Target="../tags/tag107.xml"/><Relationship Id="rId11" Type="http://schemas.openxmlformats.org/officeDocument/2006/relationships/tags" Target="../tags/tag106.xml"/><Relationship Id="rId10" Type="http://schemas.openxmlformats.org/officeDocument/2006/relationships/tags" Target="../tags/tag105.xml"/><Relationship Id="rId1" Type="http://schemas.openxmlformats.org/officeDocument/2006/relationships/tags" Target="../tags/tag96.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117.xml"/><Relationship Id="rId4" Type="http://schemas.openxmlformats.org/officeDocument/2006/relationships/image" Target="../media/image6.png"/><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8.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image" Target="../media/image17.png"/><Relationship Id="rId5" Type="http://schemas.openxmlformats.org/officeDocument/2006/relationships/image" Target="../media/image6.png"/><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image" Target="../media/image16.svg"/><Relationship Id="rId13" Type="http://schemas.openxmlformats.org/officeDocument/2006/relationships/notesSlide" Target="../notesSlides/notesSlide6.xml"/><Relationship Id="rId12" Type="http://schemas.openxmlformats.org/officeDocument/2006/relationships/slideLayout" Target="../slideLayouts/slideLayout12.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image" Target="../media/image6.png"/><Relationship Id="rId3" Type="http://schemas.openxmlformats.org/officeDocument/2006/relationships/tags" Target="../tags/tag126.xml"/><Relationship Id="rId2" Type="http://schemas.openxmlformats.org/officeDocument/2006/relationships/tags" Target="../tags/tag125.xml"/><Relationship Id="rId15" Type="http://schemas.openxmlformats.org/officeDocument/2006/relationships/notesSlide" Target="../notesSlides/notesSlide7.xml"/><Relationship Id="rId14" Type="http://schemas.openxmlformats.org/officeDocument/2006/relationships/slideLayout" Target="../slideLayouts/slideLayout1.xml"/><Relationship Id="rId13" Type="http://schemas.openxmlformats.org/officeDocument/2006/relationships/image" Target="../media/image20.svg"/><Relationship Id="rId12" Type="http://schemas.openxmlformats.org/officeDocument/2006/relationships/image" Target="../media/image19.png"/><Relationship Id="rId11" Type="http://schemas.openxmlformats.org/officeDocument/2006/relationships/tags" Target="../tags/tag133.xml"/><Relationship Id="rId10" Type="http://schemas.openxmlformats.org/officeDocument/2006/relationships/tags" Target="../tags/tag132.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9.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image" Target="../media/image21.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tags" Target="../tags/tag141.xml"/><Relationship Id="rId1" Type="http://schemas.openxmlformats.org/officeDocument/2006/relationships/tags" Target="../tags/tag140.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4.xml"/><Relationship Id="rId4" Type="http://schemas.openxmlformats.org/officeDocument/2006/relationships/image" Target="../media/image21.png"/><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tags" Target="../tags/tag149.xml"/><Relationship Id="rId7" Type="http://schemas.openxmlformats.org/officeDocument/2006/relationships/image" Target="../media/image23.svg"/><Relationship Id="rId6" Type="http://schemas.openxmlformats.org/officeDocument/2006/relationships/image" Target="../media/image22.png"/><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image" Target="../media/image6.png"/><Relationship Id="rId22" Type="http://schemas.openxmlformats.org/officeDocument/2006/relationships/notesSlide" Target="../notesSlides/notesSlide9.xml"/><Relationship Id="rId21" Type="http://schemas.openxmlformats.org/officeDocument/2006/relationships/slideLayout" Target="../slideLayouts/slideLayout1.xml"/><Relationship Id="rId20" Type="http://schemas.openxmlformats.org/officeDocument/2006/relationships/tags" Target="../tags/tag157.xml"/><Relationship Id="rId2" Type="http://schemas.openxmlformats.org/officeDocument/2006/relationships/tags" Target="../tags/tag146.xml"/><Relationship Id="rId19" Type="http://schemas.openxmlformats.org/officeDocument/2006/relationships/image" Target="../media/image27.svg"/><Relationship Id="rId18" Type="http://schemas.openxmlformats.org/officeDocument/2006/relationships/image" Target="../media/image26.png"/><Relationship Id="rId17" Type="http://schemas.openxmlformats.org/officeDocument/2006/relationships/tags" Target="../tags/tag156.xml"/><Relationship Id="rId16" Type="http://schemas.openxmlformats.org/officeDocument/2006/relationships/tags" Target="../tags/tag155.xml"/><Relationship Id="rId15" Type="http://schemas.openxmlformats.org/officeDocument/2006/relationships/tags" Target="../tags/tag154.xml"/><Relationship Id="rId14" Type="http://schemas.openxmlformats.org/officeDocument/2006/relationships/tags" Target="../tags/tag153.xml"/><Relationship Id="rId13" Type="http://schemas.openxmlformats.org/officeDocument/2006/relationships/tags" Target="../tags/tag152.xml"/><Relationship Id="rId12" Type="http://schemas.openxmlformats.org/officeDocument/2006/relationships/tags" Target="../tags/tag151.xml"/><Relationship Id="rId11" Type="http://schemas.openxmlformats.org/officeDocument/2006/relationships/tags" Target="../tags/tag150.xml"/><Relationship Id="rId10" Type="http://schemas.openxmlformats.org/officeDocument/2006/relationships/image" Target="../media/image25.svg"/><Relationship Id="rId1" Type="http://schemas.openxmlformats.org/officeDocument/2006/relationships/tags" Target="../tags/tag145.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s>
</file>

<file path=ppt/slides/_rels/slide16.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tags" Target="../tags/tag166.xml"/><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image" Target="../media/image28.png"/><Relationship Id="rId4" Type="http://schemas.openxmlformats.org/officeDocument/2006/relationships/tags" Target="../tags/tag163.xml"/><Relationship Id="rId3" Type="http://schemas.openxmlformats.org/officeDocument/2006/relationships/image" Target="../media/image6.png"/><Relationship Id="rId25" Type="http://schemas.openxmlformats.org/officeDocument/2006/relationships/notesSlide" Target="../notesSlides/notesSlide11.xml"/><Relationship Id="rId24" Type="http://schemas.openxmlformats.org/officeDocument/2006/relationships/slideLayout" Target="../slideLayouts/slideLayout1.xml"/><Relationship Id="rId23" Type="http://schemas.openxmlformats.org/officeDocument/2006/relationships/tags" Target="../tags/tag181.xml"/><Relationship Id="rId22" Type="http://schemas.openxmlformats.org/officeDocument/2006/relationships/tags" Target="../tags/tag180.xml"/><Relationship Id="rId21" Type="http://schemas.openxmlformats.org/officeDocument/2006/relationships/tags" Target="../tags/tag179.xml"/><Relationship Id="rId20" Type="http://schemas.openxmlformats.org/officeDocument/2006/relationships/tags" Target="../tags/tag178.xml"/><Relationship Id="rId2" Type="http://schemas.openxmlformats.org/officeDocument/2006/relationships/tags" Target="../tags/tag162.xml"/><Relationship Id="rId19" Type="http://schemas.openxmlformats.org/officeDocument/2006/relationships/tags" Target="../tags/tag177.xml"/><Relationship Id="rId18" Type="http://schemas.openxmlformats.org/officeDocument/2006/relationships/tags" Target="../tags/tag176.xml"/><Relationship Id="rId17" Type="http://schemas.openxmlformats.org/officeDocument/2006/relationships/tags" Target="../tags/tag175.xml"/><Relationship Id="rId16" Type="http://schemas.openxmlformats.org/officeDocument/2006/relationships/tags" Target="../tags/tag174.xml"/><Relationship Id="rId15" Type="http://schemas.openxmlformats.org/officeDocument/2006/relationships/tags" Target="../tags/tag173.xml"/><Relationship Id="rId14" Type="http://schemas.openxmlformats.org/officeDocument/2006/relationships/tags" Target="../tags/tag172.xml"/><Relationship Id="rId13" Type="http://schemas.openxmlformats.org/officeDocument/2006/relationships/tags" Target="../tags/tag171.xml"/><Relationship Id="rId12" Type="http://schemas.openxmlformats.org/officeDocument/2006/relationships/tags" Target="../tags/tag170.xml"/><Relationship Id="rId11" Type="http://schemas.openxmlformats.org/officeDocument/2006/relationships/tags" Target="../tags/tag169.xml"/><Relationship Id="rId10" Type="http://schemas.openxmlformats.org/officeDocument/2006/relationships/tags" Target="../tags/tag168.xml"/><Relationship Id="rId1" Type="http://schemas.openxmlformats.org/officeDocument/2006/relationships/tags" Target="../tags/tag161.xml"/></Relationships>
</file>

<file path=ppt/slides/_rels/slide17.xml.rels><?xml version="1.0" encoding="UTF-8" standalone="yes"?>
<Relationships xmlns="http://schemas.openxmlformats.org/package/2006/relationships"><Relationship Id="rId9" Type="http://schemas.openxmlformats.org/officeDocument/2006/relationships/tags" Target="../tags/tag188.xml"/><Relationship Id="rId8" Type="http://schemas.openxmlformats.org/officeDocument/2006/relationships/tags" Target="../tags/tag187.xml"/><Relationship Id="rId7" Type="http://schemas.openxmlformats.org/officeDocument/2006/relationships/image" Target="../media/image29.emf"/><Relationship Id="rId6" Type="http://schemas.openxmlformats.org/officeDocument/2006/relationships/tags" Target="../tags/tag186.xml"/><Relationship Id="rId5" Type="http://schemas.openxmlformats.org/officeDocument/2006/relationships/tags" Target="../tags/tag185.xml"/><Relationship Id="rId4" Type="http://schemas.openxmlformats.org/officeDocument/2006/relationships/tags" Target="../tags/tag184.xml"/><Relationship Id="rId3" Type="http://schemas.openxmlformats.org/officeDocument/2006/relationships/image" Target="../media/image6.png"/><Relationship Id="rId24" Type="http://schemas.openxmlformats.org/officeDocument/2006/relationships/notesSlide" Target="../notesSlides/notesSlide12.xml"/><Relationship Id="rId23" Type="http://schemas.openxmlformats.org/officeDocument/2006/relationships/slideLayout" Target="../slideLayouts/slideLayout1.xml"/><Relationship Id="rId22" Type="http://schemas.openxmlformats.org/officeDocument/2006/relationships/tags" Target="../tags/tag198.xml"/><Relationship Id="rId21" Type="http://schemas.openxmlformats.org/officeDocument/2006/relationships/tags" Target="../tags/tag197.xml"/><Relationship Id="rId20" Type="http://schemas.openxmlformats.org/officeDocument/2006/relationships/tags" Target="../tags/tag196.xml"/><Relationship Id="rId2" Type="http://schemas.openxmlformats.org/officeDocument/2006/relationships/tags" Target="../tags/tag183.xml"/><Relationship Id="rId19" Type="http://schemas.openxmlformats.org/officeDocument/2006/relationships/tags" Target="../tags/tag195.xml"/><Relationship Id="rId18" Type="http://schemas.openxmlformats.org/officeDocument/2006/relationships/tags" Target="../tags/tag194.xml"/><Relationship Id="rId17" Type="http://schemas.openxmlformats.org/officeDocument/2006/relationships/tags" Target="../tags/tag193.xml"/><Relationship Id="rId16" Type="http://schemas.openxmlformats.org/officeDocument/2006/relationships/image" Target="../media/image32.emf"/><Relationship Id="rId15" Type="http://schemas.openxmlformats.org/officeDocument/2006/relationships/tags" Target="../tags/tag192.xml"/><Relationship Id="rId14" Type="http://schemas.openxmlformats.org/officeDocument/2006/relationships/image" Target="../media/image31.emf"/><Relationship Id="rId13" Type="http://schemas.openxmlformats.org/officeDocument/2006/relationships/tags" Target="../tags/tag191.xml"/><Relationship Id="rId12" Type="http://schemas.openxmlformats.org/officeDocument/2006/relationships/image" Target="../media/image30.emf"/><Relationship Id="rId11" Type="http://schemas.openxmlformats.org/officeDocument/2006/relationships/tags" Target="../tags/tag190.xml"/><Relationship Id="rId10" Type="http://schemas.openxmlformats.org/officeDocument/2006/relationships/tags" Target="../tags/tag189.xml"/><Relationship Id="rId1" Type="http://schemas.openxmlformats.org/officeDocument/2006/relationships/tags" Target="../tags/tag182.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203.xml"/><Relationship Id="rId7" Type="http://schemas.openxmlformats.org/officeDocument/2006/relationships/image" Target="../media/image33.png"/><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image" Target="../media/image21.png"/><Relationship Id="rId3" Type="http://schemas.openxmlformats.org/officeDocument/2006/relationships/image" Target="../media/image6.png"/><Relationship Id="rId2" Type="http://schemas.openxmlformats.org/officeDocument/2006/relationships/tags" Target="../tags/tag200.xml"/><Relationship Id="rId10" Type="http://schemas.openxmlformats.org/officeDocument/2006/relationships/notesSlide" Target="../notesSlides/notesSlide13.xml"/><Relationship Id="rId1" Type="http://schemas.openxmlformats.org/officeDocument/2006/relationships/tags" Target="../tags/tag199.xml"/></Relationships>
</file>

<file path=ppt/slides/_rels/slide19.xml.rels><?xml version="1.0" encoding="UTF-8" standalone="yes"?>
<Relationships xmlns="http://schemas.openxmlformats.org/package/2006/relationships"><Relationship Id="rId9" Type="http://schemas.openxmlformats.org/officeDocument/2006/relationships/tags" Target="../tags/tag211.xml"/><Relationship Id="rId8" Type="http://schemas.openxmlformats.org/officeDocument/2006/relationships/tags" Target="../tags/tag210.xml"/><Relationship Id="rId7" Type="http://schemas.openxmlformats.org/officeDocument/2006/relationships/tags" Target="../tags/tag209.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0" Type="http://schemas.openxmlformats.org/officeDocument/2006/relationships/notesSlide" Target="../notesSlides/notesSlide14.xml"/><Relationship Id="rId3" Type="http://schemas.openxmlformats.org/officeDocument/2006/relationships/image" Target="../media/image6.png"/><Relationship Id="rId29" Type="http://schemas.openxmlformats.org/officeDocument/2006/relationships/slideLayout" Target="../slideLayouts/slideLayout1.xml"/><Relationship Id="rId28" Type="http://schemas.openxmlformats.org/officeDocument/2006/relationships/tags" Target="../tags/tag230.xml"/><Relationship Id="rId27" Type="http://schemas.openxmlformats.org/officeDocument/2006/relationships/tags" Target="../tags/tag229.xml"/><Relationship Id="rId26" Type="http://schemas.openxmlformats.org/officeDocument/2006/relationships/tags" Target="../tags/tag228.xml"/><Relationship Id="rId25" Type="http://schemas.openxmlformats.org/officeDocument/2006/relationships/tags" Target="../tags/tag227.xml"/><Relationship Id="rId24" Type="http://schemas.openxmlformats.org/officeDocument/2006/relationships/tags" Target="../tags/tag226.xml"/><Relationship Id="rId23" Type="http://schemas.openxmlformats.org/officeDocument/2006/relationships/tags" Target="../tags/tag225.xml"/><Relationship Id="rId22" Type="http://schemas.openxmlformats.org/officeDocument/2006/relationships/tags" Target="../tags/tag224.xml"/><Relationship Id="rId21" Type="http://schemas.openxmlformats.org/officeDocument/2006/relationships/tags" Target="../tags/tag223.xml"/><Relationship Id="rId20" Type="http://schemas.openxmlformats.org/officeDocument/2006/relationships/tags" Target="../tags/tag222.xml"/><Relationship Id="rId2" Type="http://schemas.openxmlformats.org/officeDocument/2006/relationships/tags" Target="../tags/tag205.xml"/><Relationship Id="rId19" Type="http://schemas.openxmlformats.org/officeDocument/2006/relationships/tags" Target="../tags/tag221.xml"/><Relationship Id="rId18" Type="http://schemas.openxmlformats.org/officeDocument/2006/relationships/tags" Target="../tags/tag220.xml"/><Relationship Id="rId17" Type="http://schemas.openxmlformats.org/officeDocument/2006/relationships/tags" Target="../tags/tag219.xml"/><Relationship Id="rId16" Type="http://schemas.openxmlformats.org/officeDocument/2006/relationships/tags" Target="../tags/tag218.xml"/><Relationship Id="rId15" Type="http://schemas.openxmlformats.org/officeDocument/2006/relationships/tags" Target="../tags/tag217.xml"/><Relationship Id="rId14" Type="http://schemas.openxmlformats.org/officeDocument/2006/relationships/tags" Target="../tags/tag216.xml"/><Relationship Id="rId13" Type="http://schemas.openxmlformats.org/officeDocument/2006/relationships/tags" Target="../tags/tag215.xml"/><Relationship Id="rId12" Type="http://schemas.openxmlformats.org/officeDocument/2006/relationships/tags" Target="../tags/tag214.xml"/><Relationship Id="rId11" Type="http://schemas.openxmlformats.org/officeDocument/2006/relationships/tags" Target="../tags/tag213.xml"/><Relationship Id="rId10" Type="http://schemas.openxmlformats.org/officeDocument/2006/relationships/tags" Target="../tags/tag212.xml"/><Relationship Id="rId1" Type="http://schemas.openxmlformats.org/officeDocument/2006/relationships/tags" Target="../tags/tag204.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234.xml"/><Relationship Id="rId4" Type="http://schemas.openxmlformats.org/officeDocument/2006/relationships/image" Target="../media/image6.png"/><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tags" Target="../tags/tag231.xml"/></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2.xml"/><Relationship Id="rId4" Type="http://schemas.openxmlformats.org/officeDocument/2006/relationships/tags" Target="../tags/tag237.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2.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1.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image" Target="../media/image6.png"/><Relationship Id="rId2" Type="http://schemas.openxmlformats.org/officeDocument/2006/relationships/tags" Target="../tags/tag245.xml"/><Relationship Id="rId1" Type="http://schemas.openxmlformats.org/officeDocument/2006/relationships/tags" Target="../tags/tag244.xml"/></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xml"/><Relationship Id="rId5" Type="http://schemas.openxmlformats.org/officeDocument/2006/relationships/tags" Target="../tags/tag251.xml"/><Relationship Id="rId4" Type="http://schemas.openxmlformats.org/officeDocument/2006/relationships/tags" Target="../tags/tag250.xml"/><Relationship Id="rId3" Type="http://schemas.openxmlformats.org/officeDocument/2006/relationships/image" Target="../media/image6.png"/><Relationship Id="rId2" Type="http://schemas.openxmlformats.org/officeDocument/2006/relationships/tags" Target="../tags/tag249.xml"/><Relationship Id="rId1" Type="http://schemas.openxmlformats.org/officeDocument/2006/relationships/tags" Target="../tags/tag248.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255.xml"/><Relationship Id="rId4" Type="http://schemas.openxmlformats.org/officeDocument/2006/relationships/image" Target="../media/image6.png"/><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3.xml"/><Relationship Id="rId3" Type="http://schemas.openxmlformats.org/officeDocument/2006/relationships/image" Target="../media/image6.png"/><Relationship Id="rId2" Type="http://schemas.openxmlformats.org/officeDocument/2006/relationships/tags" Target="../tags/tag257.xml"/><Relationship Id="rId1" Type="http://schemas.openxmlformats.org/officeDocument/2006/relationships/tags" Target="../tags/tag256.xml"/></Relationships>
</file>

<file path=ppt/slides/_rels/slide28.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image" Target="../media/image35.png"/><Relationship Id="rId7" Type="http://schemas.openxmlformats.org/officeDocument/2006/relationships/image" Target="../media/image34.png"/><Relationship Id="rId6" Type="http://schemas.openxmlformats.org/officeDocument/2006/relationships/tags" Target="../tags/tag262.xml"/><Relationship Id="rId5" Type="http://schemas.openxmlformats.org/officeDocument/2006/relationships/tags" Target="../tags/tag261.xml"/><Relationship Id="rId4" Type="http://schemas.openxmlformats.org/officeDocument/2006/relationships/tags" Target="../tags/tag260.xml"/><Relationship Id="rId3" Type="http://schemas.openxmlformats.org/officeDocument/2006/relationships/image" Target="../media/image6.png"/><Relationship Id="rId2" Type="http://schemas.openxmlformats.org/officeDocument/2006/relationships/tags" Target="../tags/tag259.xml"/><Relationship Id="rId16" Type="http://schemas.openxmlformats.org/officeDocument/2006/relationships/notesSlide" Target="../notesSlides/notesSlide21.xml"/><Relationship Id="rId15" Type="http://schemas.openxmlformats.org/officeDocument/2006/relationships/slideLayout" Target="../slideLayouts/slideLayout12.xml"/><Relationship Id="rId14" Type="http://schemas.openxmlformats.org/officeDocument/2006/relationships/image" Target="../media/image41.png"/><Relationship Id="rId13" Type="http://schemas.openxmlformats.org/officeDocument/2006/relationships/image" Target="../media/image40.png"/><Relationship Id="rId12" Type="http://schemas.openxmlformats.org/officeDocument/2006/relationships/image" Target="../media/image39.png"/><Relationship Id="rId11" Type="http://schemas.openxmlformats.org/officeDocument/2006/relationships/image" Target="../media/image38.png"/><Relationship Id="rId10" Type="http://schemas.openxmlformats.org/officeDocument/2006/relationships/image" Target="../media/image37.png"/><Relationship Id="rId1" Type="http://schemas.openxmlformats.org/officeDocument/2006/relationships/tags" Target="../tags/tag258.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3.xml"/><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9" Type="http://schemas.openxmlformats.org/officeDocument/2006/relationships/tags" Target="../tags/tag273.xml"/><Relationship Id="rId8" Type="http://schemas.openxmlformats.org/officeDocument/2006/relationships/tags" Target="../tags/tag272.xml"/><Relationship Id="rId7" Type="http://schemas.openxmlformats.org/officeDocument/2006/relationships/tags" Target="../tags/tag271.xml"/><Relationship Id="rId6" Type="http://schemas.openxmlformats.org/officeDocument/2006/relationships/tags" Target="../tags/tag270.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0" Type="http://schemas.openxmlformats.org/officeDocument/2006/relationships/notesSlide" Target="../notesSlides/notesSlide23.xml"/><Relationship Id="rId2" Type="http://schemas.openxmlformats.org/officeDocument/2006/relationships/tags" Target="../tags/tag266.xml"/><Relationship Id="rId19" Type="http://schemas.openxmlformats.org/officeDocument/2006/relationships/slideLayout" Target="../slideLayouts/slideLayout3.xml"/><Relationship Id="rId18" Type="http://schemas.openxmlformats.org/officeDocument/2006/relationships/tags" Target="../tags/tag282.xml"/><Relationship Id="rId17" Type="http://schemas.openxmlformats.org/officeDocument/2006/relationships/tags" Target="../tags/tag281.xml"/><Relationship Id="rId16" Type="http://schemas.openxmlformats.org/officeDocument/2006/relationships/tags" Target="../tags/tag280.xml"/><Relationship Id="rId15" Type="http://schemas.openxmlformats.org/officeDocument/2006/relationships/tags" Target="../tags/tag279.xml"/><Relationship Id="rId14" Type="http://schemas.openxmlformats.org/officeDocument/2006/relationships/tags" Target="../tags/tag278.xml"/><Relationship Id="rId13" Type="http://schemas.openxmlformats.org/officeDocument/2006/relationships/tags" Target="../tags/tag277.xml"/><Relationship Id="rId12" Type="http://schemas.openxmlformats.org/officeDocument/2006/relationships/tags" Target="../tags/tag276.xml"/><Relationship Id="rId11" Type="http://schemas.openxmlformats.org/officeDocument/2006/relationships/tags" Target="../tags/tag275.xml"/><Relationship Id="rId10" Type="http://schemas.openxmlformats.org/officeDocument/2006/relationships/tags" Target="../tags/tag274.xml"/><Relationship Id="rId1" Type="http://schemas.openxmlformats.org/officeDocument/2006/relationships/tags" Target="../tags/tag265.xml"/></Relationships>
</file>

<file path=ppt/slides/_rels/slide3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tags" Target="../tags/tag283.xml"/><Relationship Id="rId2" Type="http://schemas.openxmlformats.org/officeDocument/2006/relationships/image" Target="../media/image42.png"/><Relationship Id="rId1" Type="http://schemas.openxmlformats.org/officeDocument/2006/relationships/image" Target="../media/image6.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291.xml"/><Relationship Id="rId3" Type="http://schemas.openxmlformats.org/officeDocument/2006/relationships/image" Target="../media/image43.png"/><Relationship Id="rId2" Type="http://schemas.openxmlformats.org/officeDocument/2006/relationships/tags" Target="../tags/tag290.xml"/><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295.xml"/><Relationship Id="rId4" Type="http://schemas.openxmlformats.org/officeDocument/2006/relationships/image" Target="../media/image6.png"/><Relationship Id="rId3" Type="http://schemas.openxmlformats.org/officeDocument/2006/relationships/tags" Target="../tags/tag294.xml"/><Relationship Id="rId2" Type="http://schemas.openxmlformats.org/officeDocument/2006/relationships/tags" Target="../tags/tag293.xml"/><Relationship Id="rId1" Type="http://schemas.openxmlformats.org/officeDocument/2006/relationships/tags" Target="../tags/tag292.xml"/></Relationships>
</file>

<file path=ppt/slides/_rels/slide35.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svg"/><Relationship Id="rId7" Type="http://schemas.openxmlformats.org/officeDocument/2006/relationships/image" Target="../media/image44.png"/><Relationship Id="rId6" Type="http://schemas.openxmlformats.org/officeDocument/2006/relationships/image" Target="../media/image6.png"/><Relationship Id="rId5" Type="http://schemas.openxmlformats.org/officeDocument/2006/relationships/tags" Target="../tags/tag297.xml"/><Relationship Id="rId4" Type="http://schemas.openxmlformats.org/officeDocument/2006/relationships/tags" Target="../tags/tag296.xml"/><Relationship Id="rId3" Type="http://schemas.openxmlformats.org/officeDocument/2006/relationships/chart" Target="../charts/chart3.xml"/><Relationship Id="rId28" Type="http://schemas.openxmlformats.org/officeDocument/2006/relationships/slideLayout" Target="../slideLayouts/slideLayout1.xml"/><Relationship Id="rId27" Type="http://schemas.openxmlformats.org/officeDocument/2006/relationships/tags" Target="../tags/tag310.xml"/><Relationship Id="rId26" Type="http://schemas.openxmlformats.org/officeDocument/2006/relationships/tags" Target="../tags/tag309.xml"/><Relationship Id="rId25" Type="http://schemas.openxmlformats.org/officeDocument/2006/relationships/tags" Target="../tags/tag308.xml"/><Relationship Id="rId24" Type="http://schemas.openxmlformats.org/officeDocument/2006/relationships/tags" Target="../tags/tag307.xml"/><Relationship Id="rId23" Type="http://schemas.openxmlformats.org/officeDocument/2006/relationships/tags" Target="../tags/tag306.xml"/><Relationship Id="rId22" Type="http://schemas.openxmlformats.org/officeDocument/2006/relationships/tags" Target="../tags/tag305.xml"/><Relationship Id="rId21" Type="http://schemas.openxmlformats.org/officeDocument/2006/relationships/tags" Target="../tags/tag304.xml"/><Relationship Id="rId20" Type="http://schemas.openxmlformats.org/officeDocument/2006/relationships/tags" Target="../tags/tag303.xml"/><Relationship Id="rId2" Type="http://schemas.openxmlformats.org/officeDocument/2006/relationships/chart" Target="../charts/chart2.xml"/><Relationship Id="rId19" Type="http://schemas.openxmlformats.org/officeDocument/2006/relationships/tags" Target="../tags/tag302.xml"/><Relationship Id="rId18" Type="http://schemas.openxmlformats.org/officeDocument/2006/relationships/tags" Target="../tags/tag301.xml"/><Relationship Id="rId17" Type="http://schemas.openxmlformats.org/officeDocument/2006/relationships/tags" Target="../tags/tag300.xml"/><Relationship Id="rId16" Type="http://schemas.openxmlformats.org/officeDocument/2006/relationships/tags" Target="../tags/tag299.xml"/><Relationship Id="rId15" Type="http://schemas.openxmlformats.org/officeDocument/2006/relationships/tags" Target="../tags/tag298.xml"/><Relationship Id="rId14" Type="http://schemas.openxmlformats.org/officeDocument/2006/relationships/image" Target="../media/image51.svg"/><Relationship Id="rId13" Type="http://schemas.openxmlformats.org/officeDocument/2006/relationships/image" Target="../media/image50.png"/><Relationship Id="rId12" Type="http://schemas.openxmlformats.org/officeDocument/2006/relationships/image" Target="../media/image49.svg"/><Relationship Id="rId11" Type="http://schemas.openxmlformats.org/officeDocument/2006/relationships/image" Target="../media/image48.png"/><Relationship Id="rId10" Type="http://schemas.openxmlformats.org/officeDocument/2006/relationships/image" Target="../media/image47.svg"/><Relationship Id="rId1" Type="http://schemas.openxmlformats.org/officeDocument/2006/relationships/chart" Target="../charts/chart1.xml"/></Relationships>
</file>

<file path=ppt/slides/_rels/slide36.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tags" Target="../tags/tag314.xml"/><Relationship Id="rId7" Type="http://schemas.openxmlformats.org/officeDocument/2006/relationships/tags" Target="../tags/tag313.xml"/><Relationship Id="rId6" Type="http://schemas.openxmlformats.org/officeDocument/2006/relationships/tags" Target="../tags/tag312.xml"/><Relationship Id="rId5" Type="http://schemas.openxmlformats.org/officeDocument/2006/relationships/tags" Target="../tags/tag311.xml"/><Relationship Id="rId4" Type="http://schemas.openxmlformats.org/officeDocument/2006/relationships/chart" Target="../charts/chart7.xml"/><Relationship Id="rId3" Type="http://schemas.openxmlformats.org/officeDocument/2006/relationships/chart" Target="../charts/chart6.xml"/><Relationship Id="rId2" Type="http://schemas.openxmlformats.org/officeDocument/2006/relationships/chart" Target="../charts/chart5.xml"/><Relationship Id="rId11" Type="http://schemas.openxmlformats.org/officeDocument/2006/relationships/slideLayout" Target="../slideLayouts/slideLayout1.xml"/><Relationship Id="rId10" Type="http://schemas.openxmlformats.org/officeDocument/2006/relationships/image" Target="../media/image6.png"/><Relationship Id="rId1" Type="http://schemas.openxmlformats.org/officeDocument/2006/relationships/chart" Target="../charts/chart4.xml"/></Relationships>
</file>

<file path=ppt/slides/_rels/slide37.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tags" Target="../tags/tag316.xml"/><Relationship Id="rId4" Type="http://schemas.openxmlformats.org/officeDocument/2006/relationships/tags" Target="../tags/tag315.xml"/><Relationship Id="rId3" Type="http://schemas.openxmlformats.org/officeDocument/2006/relationships/image" Target="../media/image53.jpeg"/><Relationship Id="rId2" Type="http://schemas.openxmlformats.org/officeDocument/2006/relationships/image" Target="../media/image18.png"/><Relationship Id="rId1" Type="http://schemas.openxmlformats.org/officeDocument/2006/relationships/image" Target="../media/image52.png"/></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tags" Target="../tags/tag318.xml"/><Relationship Id="rId4" Type="http://schemas.openxmlformats.org/officeDocument/2006/relationships/tags" Target="../tags/tag317.xml"/><Relationship Id="rId3" Type="http://schemas.openxmlformats.org/officeDocument/2006/relationships/image" Target="../media/image53.jpeg"/><Relationship Id="rId2" Type="http://schemas.openxmlformats.org/officeDocument/2006/relationships/chart" Target="../charts/chart9.xml"/><Relationship Id="rId1" Type="http://schemas.openxmlformats.org/officeDocument/2006/relationships/chart" Target="../charts/chart8.xml"/></Relationships>
</file>

<file path=ppt/slides/_rels/slide39.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tags" Target="../tags/tag323.xml"/><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tags" Target="../tags/tag319.xml"/><Relationship Id="rId24" Type="http://schemas.openxmlformats.org/officeDocument/2006/relationships/slideLayout" Target="../slideLayouts/slideLayout1.xml"/><Relationship Id="rId23" Type="http://schemas.openxmlformats.org/officeDocument/2006/relationships/image" Target="../media/image61.svg"/><Relationship Id="rId22" Type="http://schemas.openxmlformats.org/officeDocument/2006/relationships/image" Target="../media/image60.png"/><Relationship Id="rId21" Type="http://schemas.openxmlformats.org/officeDocument/2006/relationships/image" Target="../media/image59.svg"/><Relationship Id="rId20" Type="http://schemas.openxmlformats.org/officeDocument/2006/relationships/image" Target="../media/image58.png"/><Relationship Id="rId2" Type="http://schemas.openxmlformats.org/officeDocument/2006/relationships/chart" Target="../charts/chart11.xml"/><Relationship Id="rId19" Type="http://schemas.openxmlformats.org/officeDocument/2006/relationships/image" Target="../media/image57.svg"/><Relationship Id="rId18" Type="http://schemas.openxmlformats.org/officeDocument/2006/relationships/image" Target="../media/image56.png"/><Relationship Id="rId17" Type="http://schemas.openxmlformats.org/officeDocument/2006/relationships/image" Target="../media/image55.svg"/><Relationship Id="rId16" Type="http://schemas.openxmlformats.org/officeDocument/2006/relationships/image" Target="../media/image54.png"/><Relationship Id="rId15" Type="http://schemas.openxmlformats.org/officeDocument/2006/relationships/image" Target="../media/image6.png"/><Relationship Id="rId14" Type="http://schemas.openxmlformats.org/officeDocument/2006/relationships/tags" Target="../tags/tag330.xml"/><Relationship Id="rId13" Type="http://schemas.openxmlformats.org/officeDocument/2006/relationships/tags" Target="../tags/tag329.xml"/><Relationship Id="rId12" Type="http://schemas.openxmlformats.org/officeDocument/2006/relationships/tags" Target="../tags/tag328.xml"/><Relationship Id="rId11" Type="http://schemas.openxmlformats.org/officeDocument/2006/relationships/tags" Target="../tags/tag327.xml"/><Relationship Id="rId10" Type="http://schemas.openxmlformats.org/officeDocument/2006/relationships/tags" Target="../tags/tag326.xml"/><Relationship Id="rId1" Type="http://schemas.openxmlformats.org/officeDocument/2006/relationships/chart" Target="../charts/chart10.xml"/></Relationships>
</file>

<file path=ppt/slides/_rels/slide40.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image" Target="../media/image65.svg"/><Relationship Id="rId7" Type="http://schemas.openxmlformats.org/officeDocument/2006/relationships/image" Target="../media/image64.png"/><Relationship Id="rId6" Type="http://schemas.openxmlformats.org/officeDocument/2006/relationships/tags" Target="../tags/tag333.xml"/><Relationship Id="rId5" Type="http://schemas.openxmlformats.org/officeDocument/2006/relationships/image" Target="../media/image63.svg"/><Relationship Id="rId4" Type="http://schemas.openxmlformats.org/officeDocument/2006/relationships/image" Target="../media/image62.png"/><Relationship Id="rId3" Type="http://schemas.openxmlformats.org/officeDocument/2006/relationships/tags" Target="../tags/tag332.xml"/><Relationship Id="rId2" Type="http://schemas.openxmlformats.org/officeDocument/2006/relationships/tags" Target="../tags/tag331.xml"/><Relationship Id="rId14" Type="http://schemas.openxmlformats.org/officeDocument/2006/relationships/slideLayout" Target="../slideLayouts/slideLayout1.xml"/><Relationship Id="rId13" Type="http://schemas.openxmlformats.org/officeDocument/2006/relationships/image" Target="../media/image6.png"/><Relationship Id="rId12" Type="http://schemas.openxmlformats.org/officeDocument/2006/relationships/image" Target="../media/image69.svg"/><Relationship Id="rId11" Type="http://schemas.openxmlformats.org/officeDocument/2006/relationships/image" Target="../media/image68.png"/><Relationship Id="rId10" Type="http://schemas.openxmlformats.org/officeDocument/2006/relationships/image" Target="../media/image67.svg"/><Relationship Id="rId1" Type="http://schemas.openxmlformats.org/officeDocument/2006/relationships/chart" Target="../charts/char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11" name="文本框 8"/>
          <p:cNvSpPr txBox="1">
            <a:spLocks noChangeArrowheads="1"/>
          </p:cNvSpPr>
          <p:nvPr/>
        </p:nvSpPr>
        <p:spPr bwMode="auto">
          <a:xfrm>
            <a:off x="5744845" y="3801110"/>
            <a:ext cx="5744210"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保护业务</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通报应对</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安全价值量化</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安全水位提升</a:t>
            </a:r>
            <a:endPar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endParaRPr>
          </a:p>
        </p:txBody>
      </p:sp>
      <p:grpSp>
        <p:nvGrpSpPr>
          <p:cNvPr id="7" name="组合 6"/>
          <p:cNvGrpSpPr/>
          <p:nvPr/>
        </p:nvGrpSpPr>
        <p:grpSpPr>
          <a:xfrm>
            <a:off x="5271770" y="2325370"/>
            <a:ext cx="6217285" cy="1490980"/>
            <a:chOff x="8301" y="2872"/>
            <a:chExt cx="9791" cy="2348"/>
          </a:xfrm>
        </p:grpSpPr>
        <p:sp>
          <p:nvSpPr>
            <p:cNvPr id="5" name="文本框 8"/>
            <p:cNvSpPr txBox="1"/>
            <p:nvPr>
              <p:custDataLst>
                <p:tags r:id="rId2"/>
              </p:custDataLst>
            </p:nvPr>
          </p:nvSpPr>
          <p:spPr>
            <a:xfrm>
              <a:off x="8301" y="3755"/>
              <a:ext cx="9791" cy="1465"/>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en-US" altLang="zh-CN"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2025</a:t>
              </a:r>
              <a:r>
                <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年网络安全工作复盘暨</a:t>
              </a:r>
              <a:r>
                <a:rPr lang="en-US" altLang="zh-CN"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2026</a:t>
              </a:r>
              <a:r>
                <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展望</a:t>
              </a:r>
              <a:endPar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endParaRPr>
            </a:p>
          </p:txBody>
        </p:sp>
        <p:sp>
          <p:nvSpPr>
            <p:cNvPr id="4" name="文本框 8"/>
            <p:cNvSpPr txBox="1"/>
            <p:nvPr>
              <p:custDataLst>
                <p:tags r:id="rId3"/>
              </p:custDataLst>
            </p:nvPr>
          </p:nvSpPr>
          <p:spPr>
            <a:xfrm>
              <a:off x="8695" y="2872"/>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en-US" altLang="zh-CN"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rPr>
                <a:t>{{company}}&amp;</a:t>
              </a: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rPr>
                <a:t>深信服科技</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endParaRPr>
            </a:p>
          </p:txBody>
        </p:sp>
      </p:grpSp>
      <p:sp>
        <p:nvSpPr>
          <p:cNvPr id="6" name="文本框 8"/>
          <p:cNvSpPr txBox="1">
            <a:spLocks noChangeArrowheads="1"/>
          </p:cNvSpPr>
          <p:nvPr/>
        </p:nvSpPr>
        <p:spPr bwMode="auto">
          <a:xfrm>
            <a:off x="6732905" y="4562475"/>
            <a:ext cx="4755515"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515151"/>
                </a:solidFill>
                <a:latin typeface="Arial" panose="020B0604020202020204" pitchFamily="34" charset="0"/>
                <a:ea typeface="黑体-简" panose="02000000000000000000" charset="-122"/>
                <a:cs typeface="微软雅黑" panose="020B0503020204020204" charset="-122"/>
                <a:sym typeface="+mn-ea"/>
              </a:rPr>
              <a:t>运营周期</a:t>
            </a:r>
            <a:r>
              <a:rPr lang="en-US" altLang="zh-CN" sz="1800" dirty="0">
                <a:solidFill>
                  <a:srgbClr val="515151"/>
                </a:solidFill>
                <a:latin typeface="Arial" panose="020B0604020202020204" pitchFamily="34" charset="0"/>
                <a:ea typeface="黑体-简" panose="02000000000000000000" charset="-122"/>
                <a:cs typeface="微软雅黑" panose="020B0503020204020204" charset="-122"/>
                <a:sym typeface="+mn-ea"/>
              </a:rPr>
              <a:t>：</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{{period_start}} </a:t>
            </a:r>
            <a:r>
              <a:rPr lang="en-US" altLang="zh-CN" sz="1800" b="1" dirty="0">
                <a:solidFill>
                  <a:srgbClr val="515151"/>
                </a:solidFill>
                <a:latin typeface="微软雅黑" panose="020B0503020204020204" charset="-122"/>
                <a:ea typeface="微软雅黑" panose="020B0503020204020204" charset="-122"/>
                <a:cs typeface="微软雅黑" panose="020B0503020204020204" charset="-122"/>
                <a:sym typeface="+mn-ea"/>
              </a:rPr>
              <a:t>~ </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{{period_end}}</a:t>
            </a:r>
            <a:endPar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descr="LOGO-深信服&amp;智安全@4x"/>
          <p:cNvPicPr>
            <a:picLocks noChangeAspect="1"/>
          </p:cNvPicPr>
          <p:nvPr/>
        </p:nvPicPr>
        <p:blipFill>
          <a:blip r:embed="rId4"/>
          <a:stretch>
            <a:fillRect/>
          </a:stretch>
        </p:blipFill>
        <p:spPr>
          <a:xfrm>
            <a:off x="643255" y="5992495"/>
            <a:ext cx="3002280" cy="42418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6" name="textbox 18"/>
          <p:cNvSpPr/>
          <p:nvPr/>
        </p:nvSpPr>
        <p:spPr>
          <a:xfrm>
            <a:off x="0" y="676910"/>
            <a:ext cx="5527675" cy="1368000"/>
          </a:xfrm>
          <a:prstGeom prst="rect">
            <a:avLst/>
          </a:prstGeom>
          <a:noFill/>
          <a:ln w="0" cap="flat">
            <a:noFill/>
            <a:prstDash val="solid"/>
            <a:miter lim="0"/>
          </a:ln>
        </p:spPr>
        <p:txBody>
          <a:bodyPr vert="horz" wrap="square" lIns="0" tIns="0" rIns="0" bIns="0" anchor="ctr" anchorCtr="0"/>
          <a:p>
            <a:pPr algn="l" rtl="0" eaLnBrk="0">
              <a:lnSpc>
                <a:spcPct val="96000"/>
              </a:lnSpc>
            </a:pPr>
            <a:r>
              <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rPr>
              <a:t>contents</a:t>
            </a:r>
            <a:endPar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endParaRPr>
          </a:p>
        </p:txBody>
      </p:sp>
      <p:sp>
        <p:nvSpPr>
          <p:cNvPr id="23" name="textbox 18"/>
          <p:cNvSpPr/>
          <p:nvPr/>
        </p:nvSpPr>
        <p:spPr>
          <a:xfrm>
            <a:off x="2851150" y="1457325"/>
            <a:ext cx="2094865" cy="918845"/>
          </a:xfrm>
          <a:prstGeom prst="rect">
            <a:avLst/>
          </a:prstGeom>
          <a:noFill/>
          <a:ln w="0" cap="flat">
            <a:noFill/>
            <a:prstDash val="solid"/>
            <a:miter lim="0"/>
          </a:ln>
        </p:spPr>
        <p:txBody>
          <a:bodyPr vert="horz" wrap="square" lIns="0" tIns="0" rIns="0" bIns="0" anchor="ctr" anchorCtr="0"/>
          <a:p>
            <a:pPr algn="l" rtl="0" eaLnBrk="0">
              <a:lnSpc>
                <a:spcPct val="96000"/>
              </a:lnSpc>
            </a:pPr>
            <a:r>
              <a:rPr sz="6600" b="1" kern="0" spc="60" dirty="0">
                <a:solidFill>
                  <a:srgbClr val="0C51C2"/>
                </a:solidFill>
                <a:latin typeface="微软雅黑" panose="020B0503020204020204" charset="-122"/>
                <a:ea typeface="微软雅黑" panose="020B0503020204020204" charset="-122"/>
                <a:cs typeface="黑体" panose="02010609060101010101" charset="-122"/>
              </a:rPr>
              <a:t>目</a:t>
            </a:r>
            <a:r>
              <a:rPr lang="en-US" sz="6600" b="1" kern="0" spc="60" dirty="0">
                <a:solidFill>
                  <a:srgbClr val="0C51C2"/>
                </a:solidFill>
                <a:latin typeface="微软雅黑" panose="020B0503020204020204" charset="-122"/>
                <a:ea typeface="微软雅黑" panose="020B0503020204020204" charset="-122"/>
                <a:cs typeface="黑体" panose="02010609060101010101" charset="-122"/>
              </a:rPr>
              <a:t> </a:t>
            </a:r>
            <a:r>
              <a:rPr sz="6600" b="1" kern="0" spc="60" dirty="0">
                <a:solidFill>
                  <a:srgbClr val="0C51C2"/>
                </a:solidFill>
                <a:latin typeface="微软雅黑" panose="020B0503020204020204" charset="-122"/>
                <a:ea typeface="微软雅黑" panose="020B0503020204020204" charset="-122"/>
                <a:cs typeface="黑体" panose="02010609060101010101" charset="-122"/>
              </a:rPr>
              <a:t>录</a:t>
            </a:r>
            <a:endParaRPr sz="6600" b="1" kern="0" spc="60" dirty="0">
              <a:solidFill>
                <a:srgbClr val="0C51C2"/>
              </a:solidFill>
              <a:latin typeface="微软雅黑" panose="020B0503020204020204" charset="-122"/>
              <a:ea typeface="微软雅黑" panose="020B0503020204020204" charset="-122"/>
              <a:cs typeface="黑体" panose="02010609060101010101" charset="-122"/>
            </a:endParaRPr>
          </a:p>
        </p:txBody>
      </p:sp>
      <p:pic>
        <p:nvPicPr>
          <p:cNvPr id="68" name="图片 67" descr="深信服 + 智安全"/>
          <p:cNvPicPr>
            <a:picLocks noChangeAspect="1"/>
          </p:cNvPicPr>
          <p:nvPr/>
        </p:nvPicPr>
        <p:blipFill>
          <a:blip r:embed="rId2"/>
          <a:srcRect l="5232" t="26576" r="4938" b="29565"/>
          <a:stretch>
            <a:fillRect/>
          </a:stretch>
        </p:blipFill>
        <p:spPr>
          <a:xfrm>
            <a:off x="10330815" y="273073"/>
            <a:ext cx="1629867" cy="360000"/>
          </a:xfrm>
          <a:prstGeom prst="rect">
            <a:avLst/>
          </a:prstGeom>
        </p:spPr>
      </p:pic>
      <p:pic>
        <p:nvPicPr>
          <p:cNvPr id="62" name="图片 61" descr="病毒检测@4x"/>
          <p:cNvPicPr>
            <a:picLocks noChangeAspect="1"/>
          </p:cNvPicPr>
          <p:nvPr/>
        </p:nvPicPr>
        <p:blipFill>
          <a:blip r:embed="rId3">
            <a:alphaModFix amt="84000"/>
          </a:blip>
          <a:srcRect l="-4651" t="-6497" r="18828" b="21030"/>
          <a:stretch>
            <a:fillRect/>
          </a:stretch>
        </p:blipFill>
        <p:spPr>
          <a:xfrm flipH="1">
            <a:off x="0" y="2709545"/>
            <a:ext cx="8221980" cy="4148455"/>
          </a:xfrm>
          <a:prstGeom prst="rect">
            <a:avLst/>
          </a:prstGeom>
        </p:spPr>
      </p:pic>
      <p:grpSp>
        <p:nvGrpSpPr>
          <p:cNvPr id="24" name="组合 23"/>
          <p:cNvGrpSpPr/>
          <p:nvPr>
            <p:custDataLst>
              <p:tags r:id="rId4"/>
            </p:custDataLst>
          </p:nvPr>
        </p:nvGrpSpPr>
        <p:grpSpPr>
          <a:xfrm rot="0">
            <a:off x="7091045" y="1797320"/>
            <a:ext cx="3239770" cy="468000"/>
            <a:chOff x="10673" y="2666"/>
            <a:chExt cx="5102" cy="874"/>
          </a:xfrm>
        </p:grpSpPr>
        <p:sp>
          <p:nvSpPr>
            <p:cNvPr id="25" name="文本框 24"/>
            <p:cNvSpPr txBox="1"/>
            <p:nvPr>
              <p:custDataLst>
                <p:tags r:id="rId5"/>
              </p:custDataLst>
            </p:nvPr>
          </p:nvSpPr>
          <p:spPr>
            <a:xfrm>
              <a:off x="10673" y="2666"/>
              <a:ext cx="4692" cy="484"/>
            </a:xfrm>
            <a:prstGeom prst="rect">
              <a:avLst/>
            </a:prstGeom>
            <a:noFill/>
            <a:ln w="0">
              <a:noFill/>
            </a:ln>
          </p:spPr>
          <p:txBody>
            <a:bodyPr wrap="square" lIns="0" tIns="0" rIns="0" bIns="0" anchor="t">
              <a:noAutofit/>
            </a:bodyPr>
            <a:p>
              <a:pPr algn="l"/>
              <a:r>
                <a:rPr lang="zh-CN" altLang="en-US" b="1" kern="0">
                  <a:uFillTx/>
                  <a:latin typeface="Arial" panose="020B0604020202020204" pitchFamily="34" charset="0"/>
                  <a:ea typeface="黑体-简" panose="02000000000000000000" charset="-122"/>
                  <a:cs typeface="微软雅黑" panose="020B0503020204020204" charset="-122"/>
                  <a:sym typeface="+mn-ea"/>
                </a:rPr>
                <a:t>目标与协作机制回顾</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26" name="文本框 25"/>
            <p:cNvSpPr txBox="1"/>
            <p:nvPr>
              <p:custDataLst>
                <p:tags r:id="rId6"/>
              </p:custDataLst>
            </p:nvPr>
          </p:nvSpPr>
          <p:spPr>
            <a:xfrm>
              <a:off x="10673" y="3200"/>
              <a:ext cx="5102" cy="340"/>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回顾预期目标与协作机制</a:t>
              </a:r>
              <a:endParaRPr lang="zh-CN" altLang="en-US"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29" name="组合 28"/>
          <p:cNvGrpSpPr/>
          <p:nvPr>
            <p:custDataLst>
              <p:tags r:id="rId7"/>
            </p:custDataLst>
          </p:nvPr>
        </p:nvGrpSpPr>
        <p:grpSpPr>
          <a:xfrm>
            <a:off x="7091045" y="2729772"/>
            <a:ext cx="3239770" cy="468000"/>
            <a:chOff x="11278" y="3926"/>
            <a:chExt cx="5102" cy="859"/>
          </a:xfrm>
        </p:grpSpPr>
        <p:sp>
          <p:nvSpPr>
            <p:cNvPr id="30" name="文本框 29"/>
            <p:cNvSpPr txBox="1"/>
            <p:nvPr>
              <p:custDataLst>
                <p:tags r:id="rId8"/>
              </p:custDataLst>
            </p:nvPr>
          </p:nvSpPr>
          <p:spPr>
            <a:xfrm>
              <a:off x="11278" y="3926"/>
              <a:ext cx="4692" cy="484"/>
            </a:xfrm>
            <a:prstGeom prst="rect">
              <a:avLst/>
            </a:prstGeom>
            <a:noFill/>
            <a:ln w="0">
              <a:noFill/>
            </a:ln>
          </p:spPr>
          <p:txBody>
            <a:bodyPr wrap="square" lIns="0" tIns="0" rIns="0" bIns="0" anchor="t">
              <a:noAutofit/>
            </a:bodyPr>
            <a:p>
              <a:pPr algn="l"/>
              <a:r>
                <a:rPr lang="zh-CN" altLang="en-US" b="1" kern="0">
                  <a:uFillTx/>
                  <a:latin typeface="Arial" panose="020B0604020202020204" pitchFamily="34" charset="0"/>
                  <a:ea typeface="黑体-简" panose="02000000000000000000" charset="-122"/>
                  <a:cs typeface="微软雅黑" panose="020B0503020204020204" charset="-122"/>
                  <a:sym typeface="+mn-ea"/>
                </a:rPr>
                <a:t>共同的工作成果总结</a:t>
              </a:r>
              <a:endParaRPr lang="en-US" altLang="zh-CN"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35" name="文本框 34"/>
            <p:cNvSpPr txBox="1"/>
            <p:nvPr>
              <p:custDataLst>
                <p:tags r:id="rId9"/>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200" kern="0" spc="7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保护业务安全、提升安全水位线</a:t>
              </a:r>
              <a:endParaRPr lang="zh-CN" altLang="en-US" sz="1200" kern="0" spc="7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36" name="组合 35"/>
          <p:cNvGrpSpPr/>
          <p:nvPr>
            <p:custDataLst>
              <p:tags r:id="rId10"/>
            </p:custDataLst>
          </p:nvPr>
        </p:nvGrpSpPr>
        <p:grpSpPr>
          <a:xfrm rot="0">
            <a:off x="7091045" y="3661952"/>
            <a:ext cx="3239770" cy="468000"/>
            <a:chOff x="11278" y="3926"/>
            <a:chExt cx="5102" cy="859"/>
          </a:xfrm>
        </p:grpSpPr>
        <p:sp>
          <p:nvSpPr>
            <p:cNvPr id="37" name="文本框 36"/>
            <p:cNvSpPr txBox="1"/>
            <p:nvPr>
              <p:custDataLst>
                <p:tags r:id="rId11"/>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rPr>
                <a:t>共同挑战与应对思路</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38" name="文本框 37"/>
            <p:cNvSpPr txBox="1"/>
            <p:nvPr>
              <p:custDataLst>
                <p:tags r:id="rId12"/>
              </p:custDataLst>
            </p:nvPr>
          </p:nvSpPr>
          <p:spPr>
            <a:xfrm>
              <a:off x="11278" y="4445"/>
              <a:ext cx="5102" cy="340"/>
            </a:xfrm>
            <a:prstGeom prst="rect">
              <a:avLst/>
            </a:prstGeom>
            <a:noFill/>
            <a:ln w="0">
              <a:noFill/>
            </a:ln>
          </p:spPr>
          <p:txBody>
            <a:bodyPr wrap="square" lIns="0" tIns="0" rIns="0" bIns="0" anchor="ctr" anchorCtr="0">
              <a:noAutofit/>
            </a:bodyPr>
            <a:p>
              <a:pPr algn="l"/>
              <a:r>
                <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关键问题与应对思路</a:t>
              </a:r>
              <a:endPar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39" name="组合 38"/>
          <p:cNvGrpSpPr/>
          <p:nvPr>
            <p:custDataLst>
              <p:tags r:id="rId13"/>
            </p:custDataLst>
          </p:nvPr>
        </p:nvGrpSpPr>
        <p:grpSpPr>
          <a:xfrm rot="0">
            <a:off x="7091045" y="4594132"/>
            <a:ext cx="3239770" cy="468000"/>
            <a:chOff x="11278" y="3926"/>
            <a:chExt cx="5102" cy="859"/>
          </a:xfrm>
        </p:grpSpPr>
        <p:sp>
          <p:nvSpPr>
            <p:cNvPr id="40" name="文本框 39"/>
            <p:cNvSpPr txBox="1"/>
            <p:nvPr>
              <p:custDataLst>
                <p:tags r:id="rId14"/>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kern="0">
                  <a:uFillTx/>
                  <a:latin typeface="Arial" panose="020B0604020202020204" pitchFamily="34" charset="0"/>
                  <a:ea typeface="黑体-简" panose="02000000000000000000" charset="-122"/>
                  <a:cs typeface="微软雅黑" panose="020B0503020204020204" charset="-122"/>
                  <a:sym typeface="+mn-ea"/>
                </a:rPr>
                <a:t>下阶段目标与协作计划</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42" name="文本框 41"/>
            <p:cNvSpPr txBox="1"/>
            <p:nvPr>
              <p:custDataLst>
                <p:tags r:id="rId15"/>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共同的目标与协作计划刷新</a:t>
              </a:r>
              <a:endPar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sp>
        <p:nvSpPr>
          <p:cNvPr id="43" name="节编号"/>
          <p:cNvSpPr>
            <a:spLocks noGrp="1"/>
          </p:cNvSpPr>
          <p:nvPr>
            <p:custDataLst>
              <p:tags r:id="rId16"/>
            </p:custDataLst>
          </p:nvPr>
        </p:nvSpPr>
        <p:spPr>
          <a:xfrm>
            <a:off x="6029960" y="1671320"/>
            <a:ext cx="1008000" cy="720000"/>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黑体-简" panose="02000000000000000000" charset="-122"/>
                <a:cs typeface="DINPro Bold" panose="02000503030000020004" charset="0"/>
              </a:rPr>
              <a:t>01</a:t>
            </a:r>
            <a:endParaRPr lang="en-US" altLang="en-US" sz="3600">
              <a:solidFill>
                <a:srgbClr val="0C51C2"/>
              </a:solidFill>
              <a:latin typeface="Arial" panose="020B0604020202020204" pitchFamily="34" charset="0"/>
              <a:ea typeface="黑体-简" panose="02000000000000000000" charset="-122"/>
              <a:cs typeface="DINPro Bold" panose="02000503030000020004" charset="0"/>
            </a:endParaRPr>
          </a:p>
        </p:txBody>
      </p:sp>
      <p:sp>
        <p:nvSpPr>
          <p:cNvPr id="45" name="节编号"/>
          <p:cNvSpPr>
            <a:spLocks noGrp="1"/>
          </p:cNvSpPr>
          <p:nvPr>
            <p:custDataLst>
              <p:tags r:id="rId17"/>
            </p:custDataLst>
          </p:nvPr>
        </p:nvSpPr>
        <p:spPr>
          <a:xfrm>
            <a:off x="6029960" y="260404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02</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46" name="节编号"/>
          <p:cNvSpPr>
            <a:spLocks noGrp="1"/>
          </p:cNvSpPr>
          <p:nvPr>
            <p:custDataLst>
              <p:tags r:id="rId18"/>
            </p:custDataLst>
          </p:nvPr>
        </p:nvSpPr>
        <p:spPr>
          <a:xfrm>
            <a:off x="6029960" y="353622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03</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47" name="节编号"/>
          <p:cNvSpPr>
            <a:spLocks noGrp="1"/>
          </p:cNvSpPr>
          <p:nvPr>
            <p:custDataLst>
              <p:tags r:id="rId19"/>
            </p:custDataLst>
          </p:nvPr>
        </p:nvSpPr>
        <p:spPr>
          <a:xfrm>
            <a:off x="6029960" y="446840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04</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Tree>
    <p:custDataLst>
      <p:tags r:id="rId2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400"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回顾预期目标与协作机制</a:t>
            </a:r>
            <a:endParaRPr lang="zh-CN" altLang="en-US" sz="14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noAutofit/>
          </a:bodyPr>
          <a:lstStyle/>
          <a:p>
            <a:r>
              <a:rPr lang="zh-CN" altLang="en-US" sz="3200">
                <a:solidFill>
                  <a:srgbClr val="4C61E7"/>
                </a:solidFill>
                <a:latin typeface="Arial Black" panose="020B0A04020102020204" pitchFamily="34" charset="0"/>
                <a:ea typeface="微软雅黑" panose="020B0503020204020204" charset="-122"/>
                <a:sym typeface="+mn-ea"/>
              </a:rPr>
              <a:t>目标与协作机制回顾</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01</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我们共同的目标回顾</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21" name="正文"/>
          <p:cNvSpPr txBox="1"/>
          <p:nvPr>
            <p:custDataLst>
              <p:tags r:id="rId4"/>
            </p:custDataLst>
          </p:nvPr>
        </p:nvSpPr>
        <p:spPr>
          <a:xfrm>
            <a:off x="8653475" y="3302211"/>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rPr>
              <a:t>重要时期防守保障</a:t>
            </a:r>
            <a:endPar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endParaRPr>
          </a:p>
        </p:txBody>
      </p:sp>
      <p:sp>
        <p:nvSpPr>
          <p:cNvPr id="11" name="椭圆 10"/>
          <p:cNvSpPr/>
          <p:nvPr>
            <p:custDataLst>
              <p:tags r:id="rId5"/>
            </p:custDataLst>
          </p:nvPr>
        </p:nvSpPr>
        <p:spPr>
          <a:xfrm>
            <a:off x="9446456" y="2680628"/>
            <a:ext cx="500354" cy="500354"/>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2" name="3" descr="斗争"/>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rcRect/>
          <a:stretch>
            <a:fillRect/>
          </a:stretch>
        </p:blipFill>
        <p:spPr>
          <a:xfrm>
            <a:off x="9561356" y="2787604"/>
            <a:ext cx="270553" cy="270553"/>
          </a:xfrm>
          <a:prstGeom prst="rect">
            <a:avLst/>
          </a:prstGeom>
        </p:spPr>
      </p:pic>
      <p:sp>
        <p:nvSpPr>
          <p:cNvPr id="4" name="矩形 3"/>
          <p:cNvSpPr/>
          <p:nvPr>
            <p:custDataLst>
              <p:tags r:id="rId9"/>
            </p:custDataLst>
          </p:nvPr>
        </p:nvSpPr>
        <p:spPr>
          <a:xfrm>
            <a:off x="4460308" y="2257742"/>
            <a:ext cx="3240000" cy="3823970"/>
          </a:xfrm>
          <a:prstGeom prst="rect">
            <a:avLst/>
          </a:prstGeom>
          <a:noFill/>
          <a:ln>
            <a:gradFill>
              <a:gsLst>
                <a:gs pos="100000">
                  <a:schemeClr val="accent6">
                    <a:lumMod val="5000"/>
                    <a:lumOff val="95000"/>
                    <a:alpha val="0"/>
                  </a:schemeClr>
                </a:gs>
                <a:gs pos="55000">
                  <a:schemeClr val="accent6">
                    <a:alpha val="25000"/>
                  </a:schemeClr>
                </a:gs>
              </a:gsLst>
              <a:lin ang="5400000" scaled="1"/>
            </a:gradFill>
          </a:ln>
          <a:effectLst>
            <a:outerShdw blurRad="114300" sx="101000" sy="101000" algn="ctr" rotWithShape="0">
              <a:schemeClr val="accent6">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6" name="正文"/>
          <p:cNvSpPr txBox="1"/>
          <p:nvPr>
            <p:custDataLst>
              <p:tags r:id="rId10"/>
            </p:custDataLst>
          </p:nvPr>
        </p:nvSpPr>
        <p:spPr>
          <a:xfrm>
            <a:off x="5037150" y="3026951"/>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6"/>
                </a:solidFill>
                <a:latin typeface="Arial" panose="020B0604020202020204" pitchFamily="34" charset="0"/>
                <a:ea typeface="黑体-简" panose="02000000000000000000" charset="-122"/>
                <a:cs typeface="微软雅黑" panose="020B0503020204020204" charset="-122"/>
                <a:sym typeface="+mn-ea"/>
              </a:rPr>
              <a:t>核心业务安全保护</a:t>
            </a:r>
            <a:endParaRPr lang="zh-CN" altLang="en-US" sz="1500" b="1" spc="150" dirty="0">
              <a:solidFill>
                <a:schemeClr val="accent6"/>
              </a:solidFill>
              <a:latin typeface="Arial" panose="020B0604020202020204" pitchFamily="34" charset="0"/>
              <a:ea typeface="黑体-简" panose="02000000000000000000" charset="-122"/>
              <a:cs typeface="微软雅黑" panose="020B0503020204020204" charset="-122"/>
              <a:sym typeface="+mn-ea"/>
            </a:endParaRPr>
          </a:p>
        </p:txBody>
      </p:sp>
      <p:sp>
        <p:nvSpPr>
          <p:cNvPr id="8" name="椭圆 7"/>
          <p:cNvSpPr/>
          <p:nvPr>
            <p:custDataLst>
              <p:tags r:id="rId11"/>
            </p:custDataLst>
          </p:nvPr>
        </p:nvSpPr>
        <p:spPr>
          <a:xfrm>
            <a:off x="5830131" y="2405368"/>
            <a:ext cx="500354" cy="500354"/>
          </a:xfrm>
          <a:prstGeom prst="ellipse">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9" name="2" descr="盾牌"/>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rcRect/>
          <a:stretch>
            <a:fillRect/>
          </a:stretch>
        </p:blipFill>
        <p:spPr>
          <a:xfrm>
            <a:off x="5939937" y="2514042"/>
            <a:ext cx="280741" cy="280741"/>
          </a:xfrm>
          <a:prstGeom prst="rect">
            <a:avLst/>
          </a:prstGeom>
        </p:spPr>
      </p:pic>
      <p:sp>
        <p:nvSpPr>
          <p:cNvPr id="10" name="正文"/>
          <p:cNvSpPr txBox="1"/>
          <p:nvPr>
            <p:custDataLst>
              <p:tags r:id="rId15"/>
            </p:custDataLst>
          </p:nvPr>
        </p:nvSpPr>
        <p:spPr>
          <a:xfrm>
            <a:off x="1421185" y="3309196"/>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rPr>
              <a:t>安全考核与通报应对</a:t>
            </a:r>
            <a:endPar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endParaRPr>
          </a:p>
        </p:txBody>
      </p:sp>
      <p:sp>
        <p:nvSpPr>
          <p:cNvPr id="18" name="椭圆 17"/>
          <p:cNvSpPr/>
          <p:nvPr>
            <p:custDataLst>
              <p:tags r:id="rId16"/>
            </p:custDataLst>
          </p:nvPr>
        </p:nvSpPr>
        <p:spPr>
          <a:xfrm>
            <a:off x="2214166" y="2696503"/>
            <a:ext cx="500354" cy="500354"/>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51" name="1" descr="审核"/>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a:stretch>
            <a:fillRect/>
          </a:stretch>
        </p:blipFill>
        <p:spPr>
          <a:xfrm>
            <a:off x="2327934" y="2802630"/>
            <a:ext cx="272817" cy="272817"/>
          </a:xfrm>
          <a:prstGeom prst="rect">
            <a:avLst/>
          </a:prstGeom>
        </p:spPr>
      </p:pic>
      <p:sp>
        <p:nvSpPr>
          <p:cNvPr id="19" name="矩形 18"/>
          <p:cNvSpPr/>
          <p:nvPr>
            <p:custDataLst>
              <p:tags r:id="rId20"/>
            </p:custDataLst>
          </p:nvPr>
        </p:nvSpPr>
        <p:spPr>
          <a:xfrm>
            <a:off x="8076633" y="2533003"/>
            <a:ext cx="3240000" cy="3560775"/>
          </a:xfrm>
          <a:prstGeom prst="rect">
            <a:avLst/>
          </a:prstGeom>
          <a:noFill/>
          <a:ln>
            <a:gradFill>
              <a:gsLst>
                <a:gs pos="100000">
                  <a:schemeClr val="accent5">
                    <a:lumMod val="5000"/>
                    <a:lumOff val="95000"/>
                    <a:alpha val="0"/>
                  </a:schemeClr>
                </a:gs>
                <a:gs pos="55000">
                  <a:schemeClr val="accent5">
                    <a:alpha val="25000"/>
                  </a:schemeClr>
                </a:gs>
              </a:gsLst>
              <a:lin ang="5400000" scaled="1"/>
            </a:gradFill>
          </a:ln>
          <a:effectLst>
            <a:outerShdw blurRad="114300" sx="101000" sy="101000" algn="ctr" rotWithShape="0">
              <a:schemeClr val="accent5">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20" name="矩形 19"/>
          <p:cNvSpPr/>
          <p:nvPr>
            <p:custDataLst>
              <p:tags r:id="rId21"/>
            </p:custDataLst>
          </p:nvPr>
        </p:nvSpPr>
        <p:spPr>
          <a:xfrm>
            <a:off x="844343" y="2539988"/>
            <a:ext cx="3240000" cy="3560775"/>
          </a:xfrm>
          <a:prstGeom prst="rect">
            <a:avLst/>
          </a:prstGeom>
          <a:noFill/>
          <a:ln>
            <a:gradFill>
              <a:gsLst>
                <a:gs pos="100000">
                  <a:schemeClr val="accent5">
                    <a:lumMod val="5000"/>
                    <a:lumOff val="95000"/>
                    <a:alpha val="0"/>
                  </a:schemeClr>
                </a:gs>
                <a:gs pos="55000">
                  <a:schemeClr val="accent5">
                    <a:alpha val="25000"/>
                  </a:schemeClr>
                </a:gs>
              </a:gsLst>
              <a:lin ang="5400000" scaled="1"/>
            </a:gradFill>
          </a:ln>
          <a:effectLst>
            <a:outerShdw blurRad="114300" sx="101000" sy="101000" algn="ctr" rotWithShape="0">
              <a:schemeClr val="accent5">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693" name="圆角矩形 692"/>
          <p:cNvSpPr/>
          <p:nvPr>
            <p:custDataLst>
              <p:tags r:id="rId22"/>
            </p:custDataLst>
          </p:nvPr>
        </p:nvSpPr>
        <p:spPr>
          <a:xfrm>
            <a:off x="669608" y="1215390"/>
            <a:ext cx="10800000" cy="865505"/>
          </a:xfrm>
          <a:prstGeom prst="roundRect">
            <a:avLst>
              <a:gd name="adj" fmla="val 11225"/>
            </a:avLst>
          </a:prstGeom>
          <a:solidFill>
            <a:schemeClr val="accent5">
              <a:lumMod val="40000"/>
              <a:lumOff val="60000"/>
            </a:schemeClr>
          </a:solidFill>
          <a:ln>
            <a:noFill/>
          </a:ln>
          <a:effectLst>
            <a:outerShdw blurRad="114300" dist="88900" dir="2700000" algn="tl"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marL="0" indent="0" algn="ctr">
              <a:lnSpc>
                <a:spcPct val="150000"/>
              </a:lnSpc>
              <a:buNone/>
            </a:pPr>
            <a:r>
              <a:rPr lang="zh-CN" alt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在国家及行业网络安全安全实战效果要求越来越高，外部网络安全态势愈加严峻多变的时代背景下。为</a:t>
            </a:r>
            <a:r>
              <a:rPr lang="en-US" sz="1200" dirty="0">
                <a:solidFill>
                  <a:srgbClr val="4C61E7"/>
                </a:solidFill>
                <a:latin typeface="Arial" panose="020B0604020202020204" pitchFamily="34" charset="0"/>
                <a:ea typeface="黑体-简" panose="02000000000000000000" charset="-122"/>
                <a:cs typeface="Calibri" panose="020F0502020204030204" pitchFamily="34" charset="-120"/>
                <a:sym typeface="+mn-ea"/>
              </a:rPr>
              <a:t>{{company}}</a:t>
            </a:r>
            <a:r>
              <a:rPr 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共同构建</a:t>
            </a:r>
            <a:r>
              <a:rPr lang="zh-CN" alt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起</a:t>
            </a:r>
            <a:r>
              <a:rPr 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以</a:t>
            </a:r>
            <a:r>
              <a:rPr lang="zh-CN" alt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保护</a:t>
            </a:r>
            <a:r>
              <a:rPr 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核心业务系统安全稳定运行</a:t>
            </a:r>
            <a:r>
              <a:rPr lang="zh-CN" alt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为中心的</a:t>
            </a:r>
            <a:r>
              <a:rPr 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主动防御、持续监测、快速响应的全面安全运营体系，为</a:t>
            </a:r>
            <a:r>
              <a:rPr lang="en-US" sz="1200" dirty="0">
                <a:solidFill>
                  <a:srgbClr val="4C61E7"/>
                </a:solidFill>
                <a:latin typeface="Arial" panose="020B0604020202020204" pitchFamily="34" charset="0"/>
                <a:ea typeface="黑体-简" panose="02000000000000000000" charset="-122"/>
                <a:cs typeface="Calibri" panose="020F0502020204030204" pitchFamily="34" charset="-120"/>
                <a:sym typeface="+mn-ea"/>
              </a:rPr>
              <a:t>{{company}}</a:t>
            </a:r>
            <a:r>
              <a:rPr 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的数字化转型保驾护航。</a:t>
            </a:r>
            <a:endParaRPr lang="en-US" altLang="en-US" sz="1200" b="1" dirty="0">
              <a:solidFill>
                <a:schemeClr val="tx1"/>
              </a:solidFill>
              <a:uFillTx/>
              <a:latin typeface="Arial" panose="020B0604020202020204" pitchFamily="34" charset="0"/>
              <a:ea typeface="黑体-简" panose="02000000000000000000" charset="-122"/>
              <a:cs typeface="Calibri" panose="020F0502020204030204" pitchFamily="34" charset="-120"/>
              <a:sym typeface="+mn-ea"/>
            </a:endParaRPr>
          </a:p>
        </p:txBody>
      </p:sp>
      <p:pic>
        <p:nvPicPr>
          <p:cNvPr id="705" name="图片 704" descr="1755071818846"/>
          <p:cNvPicPr/>
          <p:nvPr/>
        </p:nvPicPr>
        <p:blipFill>
          <a:blip r:embed="rId23"/>
          <a:stretch>
            <a:fillRect/>
          </a:stretch>
        </p:blipFill>
        <p:spPr>
          <a:xfrm>
            <a:off x="669608" y="6019800"/>
            <a:ext cx="10800000" cy="502285"/>
          </a:xfrm>
          <a:prstGeom prst="rect">
            <a:avLst/>
          </a:prstGeom>
        </p:spPr>
      </p:pic>
      <p:sp>
        <p:nvSpPr>
          <p:cNvPr id="706" name="文本框 705"/>
          <p:cNvSpPr txBox="1"/>
          <p:nvPr/>
        </p:nvSpPr>
        <p:spPr>
          <a:xfrm>
            <a:off x="859155" y="6052185"/>
            <a:ext cx="10575290" cy="4337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30000"/>
              </a:lnSpc>
              <a:spcBef>
                <a:spcPts val="0"/>
              </a:spcBef>
              <a:spcAft>
                <a:spcPts val="0"/>
              </a:spcAft>
              <a:buClrTx/>
              <a:buSzTx/>
              <a:buFontTx/>
              <a:buNone/>
            </a:pP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相互的信任和高效的协作是达成这一工作目标的坚实基础，每一次恶意外联拦截和清除主机风险、每一个被修复的漏洞和弱口令，都离不开</a:t>
            </a:r>
            <a:r>
              <a:rPr lang="en-US" sz="1000" dirty="0">
                <a:solidFill>
                  <a:srgbClr val="4C61E7"/>
                </a:solidFill>
                <a:latin typeface="Arial" panose="020B0604020202020204" pitchFamily="34" charset="0"/>
                <a:ea typeface="黑体-简" panose="02000000000000000000" charset="-122"/>
                <a:cs typeface="Calibri" panose="020F0502020204030204" pitchFamily="34" charset="-120"/>
                <a:sym typeface="+mn-ea"/>
              </a:rPr>
              <a:t>{{company}}</a:t>
            </a:r>
            <a:r>
              <a:rPr lang="zh-CN" sz="1000" dirty="0">
                <a:solidFill>
                  <a:schemeClr val="tx1">
                    <a:alpha val="100000"/>
                  </a:schemeClr>
                </a:solidFill>
                <a:latin typeface="Arial" panose="020B0604020202020204" pitchFamily="34" charset="0"/>
                <a:ea typeface="黑体-简" panose="02000000000000000000" charset="-122"/>
                <a:cs typeface="黑体" panose="02010609060101010101" charset="-122"/>
                <a:sym typeface="+mn-ea"/>
              </a:rPr>
              <a:t>同仁</a:t>
            </a: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的信任与支持，工作目标的</a:t>
            </a: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达成是我们共同的努力成果</a:t>
            </a:r>
            <a:endPar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32" name="正文"/>
          <p:cNvSpPr txBox="1"/>
          <p:nvPr>
            <p:custDataLst>
              <p:tags r:id="rId24"/>
            </p:custDataLst>
          </p:nvPr>
        </p:nvSpPr>
        <p:spPr>
          <a:xfrm>
            <a:off x="984885" y="3949065"/>
            <a:ext cx="2988310" cy="1845945"/>
          </a:xfrm>
          <a:prstGeom prst="rect">
            <a:avLst/>
          </a:prstGeom>
          <a:noFill/>
        </p:spPr>
        <p:txBody>
          <a:bodyPr wrap="square" lIns="0" tIns="0" rIns="0" bIns="0" rtlCol="0" anchor="t" anchorCtr="0">
            <a:noAutofit/>
          </a:bodyPr>
          <a:p>
            <a:pPr lvl="0" indent="0" algn="l">
              <a:lnSpc>
                <a:spcPct val="130000"/>
              </a:lnSpc>
              <a:buClrTx/>
              <a:buSzTx/>
              <a:buFont typeface="Wingdings" panose="05000000000000000000" charset="0"/>
              <a:buNone/>
            </a:pP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持续降低被通报风险，高效响应被通报问题</a:t>
            </a: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lvl="0" indent="0" algn="l">
              <a:lnSpc>
                <a:spcPct val="130000"/>
              </a:lnSpc>
              <a:buClrTx/>
              <a:buSzTx/>
              <a:buFont typeface="Wingdings" panose="05000000000000000000" charset="0"/>
              <a:buNone/>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1</a:t>
            </a:r>
            <a:r>
              <a:rPr lang="zh-CN" altLang="en-US" sz="1200" dirty="0">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2</a:t>
            </a:r>
            <a:r>
              <a:rPr lang="zh-CN" altLang="en-US" sz="1200" dirty="0">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、恶意外联类问题构建自主发现能力，有效减少被监管通报的概率；</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3</a:t>
            </a:r>
            <a:r>
              <a:rPr lang="zh-CN" altLang="en-US" sz="1200" dirty="0">
                <a:latin typeface="Heiti SC Light" panose="02000000000000000000" charset="-122"/>
                <a:ea typeface="Heiti SC Light" panose="02000000000000000000" charset="-122"/>
                <a:cs typeface="Heiti SC Light" panose="02000000000000000000" charset="-122"/>
                <a:sym typeface="+mn-ea"/>
              </a:rPr>
              <a:t>、被通报问题的有效排查和响应回函不超过48</a:t>
            </a:r>
            <a:r>
              <a:rPr lang="en-US" altLang="zh-CN" sz="1200" dirty="0">
                <a:latin typeface="Heiti SC Light" panose="02000000000000000000" charset="-122"/>
                <a:ea typeface="Heiti SC Light" panose="02000000000000000000" charset="-122"/>
                <a:cs typeface="Heiti SC Light" panose="02000000000000000000" charset="-122"/>
                <a:sym typeface="+mn-ea"/>
              </a:rPr>
              <a:t>H。</a:t>
            </a:r>
            <a:endPar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lvl="0" indent="0" algn="ctr">
              <a:lnSpc>
                <a:spcPct val="130000"/>
              </a:lnSpc>
              <a:buClrTx/>
              <a:buSzTx/>
              <a:buFont typeface="Wingdings" panose="05000000000000000000" charset="0"/>
              <a:buNone/>
            </a:pPr>
            <a:endParaRPr lang="zh-CN" altLang="en-US" sz="1200" kern="0" dirty="0">
              <a:ln>
                <a:noFill/>
                <a:prstDash val="sysDot"/>
              </a:ln>
              <a:solidFill>
                <a:schemeClr val="tx1">
                  <a:lumMod val="85000"/>
                  <a:lumOff val="15000"/>
                </a:schemeClr>
              </a:solidFill>
              <a:uFillTx/>
              <a:latin typeface="Heiti SC Light" panose="02000000000000000000" charset="-122"/>
              <a:ea typeface="Heiti SC Light" panose="02000000000000000000" charset="-122"/>
              <a:cs typeface="Heiti SC Light" panose="02000000000000000000" charset="-122"/>
              <a:sym typeface="+mn-ea"/>
            </a:endParaRPr>
          </a:p>
        </p:txBody>
      </p:sp>
      <p:sp>
        <p:nvSpPr>
          <p:cNvPr id="15" name="正文"/>
          <p:cNvSpPr txBox="1"/>
          <p:nvPr>
            <p:custDataLst>
              <p:tags r:id="rId25"/>
            </p:custDataLst>
          </p:nvPr>
        </p:nvSpPr>
        <p:spPr>
          <a:xfrm>
            <a:off x="4585970" y="3667125"/>
            <a:ext cx="2988310" cy="2009775"/>
          </a:xfrm>
          <a:prstGeom prst="rect">
            <a:avLst/>
          </a:prstGeom>
          <a:noFill/>
        </p:spPr>
        <p:txBody>
          <a:bodyPr wrap="square" lIns="0" tIns="0" rIns="0" bIns="0" rtlCol="0" anchor="t" anchorCtr="0">
            <a:noAutofit/>
          </a:bodyPr>
          <a:p>
            <a:pPr indent="0" algn="l" fontAlgn="auto">
              <a:lnSpc>
                <a:spcPct val="130000"/>
              </a:lnSpc>
              <a:buFont typeface="Wingdings" panose="05000000000000000000" charset="0"/>
              <a:buNone/>
            </a:pPr>
            <a:r>
              <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rPr>
              <a:t>保障核心业务系统0安全事故，有效规避业务损失</a:t>
            </a:r>
            <a:endPar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a:p>
            <a:pPr indent="0" algn="l" fontAlgn="auto">
              <a:lnSpc>
                <a:spcPct val="130000"/>
              </a:lnSpc>
              <a:buFont typeface="Wingdings" panose="05000000000000000000" charset="0"/>
              <a:buNone/>
            </a:pPr>
            <a:endPar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a:p>
            <a:pPr algn="l">
              <a:lnSpc>
                <a:spcPct val="120000"/>
              </a:lnSpc>
            </a:pPr>
            <a:r>
              <a:rPr lang="en-US" altLang="zh-CN" sz="1200" b="1" dirty="0">
                <a:latin typeface="Heiti SC Light" panose="02000000000000000000" charset="-122"/>
                <a:ea typeface="Heiti SC Light" panose="02000000000000000000" charset="-122"/>
                <a:cs typeface="Heiti SC Light" panose="02000000000000000000" charset="-122"/>
                <a:sym typeface="+mn-ea"/>
              </a:rPr>
              <a:t>1</a:t>
            </a:r>
            <a:r>
              <a:rPr lang="zh-CN" altLang="en-US" sz="12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200" dirty="0">
                <a:latin typeface="Heiti SC Light" panose="02000000000000000000" charset="-122"/>
                <a:ea typeface="Heiti SC Light" panose="02000000000000000000" charset="-122"/>
                <a:cs typeface="Heiti SC Light" panose="02000000000000000000" charset="-122"/>
                <a:sym typeface="+mn-ea"/>
              </a:rPr>
              <a:t>核心业务（</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200" dirty="0">
                <a:latin typeface="Heiti SC Light" panose="02000000000000000000" charset="-122"/>
                <a:ea typeface="Heiti SC Light" panose="02000000000000000000" charset="-122"/>
                <a:cs typeface="Heiti SC Light" panose="02000000000000000000" charset="-122"/>
                <a:sym typeface="+mn-ea"/>
              </a:rPr>
              <a:t>0</a:t>
            </a:r>
            <a:r>
              <a:rPr lang="zh-CN" altLang="en-US" sz="12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2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200" b="1" dirty="0">
                <a:latin typeface="Heiti SC Light" panose="02000000000000000000" charset="-122"/>
                <a:ea typeface="Heiti SC Light" panose="02000000000000000000" charset="-122"/>
                <a:cs typeface="Heiti SC Light" panose="02000000000000000000" charset="-122"/>
                <a:sym typeface="+mn-ea"/>
              </a:rPr>
              <a:t>2</a:t>
            </a:r>
            <a:r>
              <a:rPr lang="zh-CN" altLang="en-US" sz="12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2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主动发现核心系统的重大风险并进行缓解，降低风险被利用带来的损失；</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indent="0" algn="ctr" fontAlgn="auto">
              <a:lnSpc>
                <a:spcPct val="130000"/>
              </a:lnSpc>
              <a:buFont typeface="Wingdings" panose="05000000000000000000" charset="0"/>
              <a:buNone/>
            </a:pPr>
            <a:endParaRPr lang="zh-CN" altLang="en-US" sz="1200"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p:txBody>
      </p:sp>
      <p:sp>
        <p:nvSpPr>
          <p:cNvPr id="23" name="正文"/>
          <p:cNvSpPr txBox="1"/>
          <p:nvPr>
            <p:custDataLst>
              <p:tags r:id="rId26"/>
            </p:custDataLst>
          </p:nvPr>
        </p:nvSpPr>
        <p:spPr>
          <a:xfrm>
            <a:off x="8202930" y="3942080"/>
            <a:ext cx="2988310" cy="1734820"/>
          </a:xfrm>
          <a:prstGeom prst="rect">
            <a:avLst/>
          </a:prstGeom>
          <a:noFill/>
        </p:spPr>
        <p:txBody>
          <a:bodyPr wrap="square" lIns="0" tIns="0" rIns="0" bIns="0" rtlCol="0" anchor="t" anchorCtr="0">
            <a:noAutofit/>
          </a:bodyPr>
          <a:p>
            <a:pPr lvl="0" algn="l">
              <a:lnSpc>
                <a:spcPct val="130000"/>
              </a:lnSpc>
              <a:buClrTx/>
              <a:buSzTx/>
              <a:buFont typeface="Wingdings" panose="05000000000000000000" charset="0"/>
            </a:pP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提升攻防演练场景</a:t>
            </a: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的防守保障能力，助力单位安全水平通过实战检验</a:t>
            </a: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lvl="0" algn="l">
              <a:lnSpc>
                <a:spcPct val="130000"/>
              </a:lnSpc>
              <a:buClrTx/>
              <a:buSzTx/>
              <a:buFont typeface="Wingdings" panose="05000000000000000000" charset="0"/>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algn="l">
              <a:lnSpc>
                <a:spcPct val="120000"/>
              </a:lnSpc>
              <a:buClrTx/>
              <a:buSzTx/>
              <a:buFontTx/>
              <a:buNone/>
            </a:pPr>
            <a:r>
              <a:rPr lang="en-US" altLang="zh-CN" sz="1200" b="1" dirty="0">
                <a:latin typeface="Heiti SC Light" panose="02000000000000000000" charset="-122"/>
                <a:ea typeface="Heiti SC Light" panose="02000000000000000000" charset="-122"/>
                <a:cs typeface="Heiti SC Light" panose="02000000000000000000" charset="-122"/>
                <a:sym typeface="+mn-ea"/>
              </a:rPr>
              <a:t>1</a:t>
            </a:r>
            <a:r>
              <a:rPr lang="zh-CN" altLang="en-US" sz="12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2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200" dirty="0">
                <a:latin typeface="Heiti SC Light" panose="02000000000000000000" charset="-122"/>
                <a:ea typeface="Heiti SC Light" panose="02000000000000000000" charset="-122"/>
                <a:cs typeface="Heiti SC Light" panose="02000000000000000000" charset="-122"/>
                <a:sym typeface="+mn-ea"/>
              </a:rPr>
              <a:t>30</a:t>
            </a:r>
            <a:r>
              <a:rPr lang="zh-CN" altLang="en-US" sz="1200" dirty="0">
                <a:latin typeface="Heiti SC Light" panose="02000000000000000000" charset="-122"/>
                <a:ea typeface="Heiti SC Light" panose="02000000000000000000" charset="-122"/>
                <a:cs typeface="Heiti SC Light" panose="02000000000000000000" charset="-122"/>
                <a:sym typeface="+mn-ea"/>
              </a:rPr>
              <a:t>分钟内通告；</a:t>
            </a:r>
            <a:endParaRPr lang="zh-CN" altLang="en-US" sz="12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200" b="1" dirty="0">
                <a:latin typeface="Heiti SC Light" panose="02000000000000000000" charset="-122"/>
                <a:ea typeface="Heiti SC Light" panose="02000000000000000000" charset="-122"/>
                <a:cs typeface="Heiti SC Light" panose="02000000000000000000" charset="-122"/>
                <a:sym typeface="+mn-ea"/>
              </a:rPr>
              <a:t>2</a:t>
            </a:r>
            <a:r>
              <a:rPr lang="zh-CN" altLang="en-US" sz="12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2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200" dirty="0">
                <a:latin typeface="Heiti SC Light" panose="02000000000000000000" charset="-122"/>
                <a:ea typeface="Heiti SC Light" panose="02000000000000000000" charset="-122"/>
                <a:cs typeface="Heiti SC Light" panose="02000000000000000000" charset="-122"/>
                <a:sym typeface="+mn-ea"/>
              </a:rPr>
              <a:t>100%</a:t>
            </a:r>
            <a:r>
              <a:rPr lang="zh-CN" altLang="en-US" sz="12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200" dirty="0">
              <a:latin typeface="Heiti SC Light" panose="02000000000000000000" charset="-122"/>
              <a:ea typeface="Heiti SC Light" panose="02000000000000000000" charset="-122"/>
              <a:cs typeface="Heiti SC Light" panose="02000000000000000000" charset="-122"/>
              <a:sym typeface="+mn-ea"/>
            </a:endParaRPr>
          </a:p>
          <a:p>
            <a:pPr lvl="0" algn="l">
              <a:lnSpc>
                <a:spcPct val="130000"/>
              </a:lnSpc>
              <a:buClrTx/>
              <a:buSzTx/>
              <a:buFont typeface="Wingdings" panose="05000000000000000000" charset="0"/>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p:txBody>
      </p:sp>
    </p:spTree>
    <p:custDataLst>
      <p:tags r:id="rId2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sp>
        <p:nvSpPr>
          <p:cNvPr id="88" name="Shape 86"/>
          <p:cNvSpPr/>
          <p:nvPr/>
        </p:nvSpPr>
        <p:spPr>
          <a:xfrm>
            <a:off x="0" y="6339840"/>
            <a:ext cx="12192000" cy="609600"/>
          </a:xfrm>
          <a:prstGeom prst="rect">
            <a:avLst/>
          </a:prstGeom>
          <a:solidFill>
            <a:srgbClr val="F8FAFC"/>
          </a:solidFill>
        </p:spPr>
      </p:sp>
      <p:sp>
        <p:nvSpPr>
          <p:cNvPr id="89" name="Text 87"/>
          <p:cNvSpPr/>
          <p:nvPr/>
        </p:nvSpPr>
        <p:spPr>
          <a:xfrm>
            <a:off x="365760" y="6363970"/>
            <a:ext cx="11638280" cy="267970"/>
          </a:xfrm>
          <a:prstGeom prst="rect">
            <a:avLst/>
          </a:prstGeom>
          <a:noFill/>
        </p:spPr>
        <p:txBody>
          <a:bodyPr wrap="square" lIns="0" tIns="0" rIns="0" bIns="0" rtlCol="0" anchor="ctr"/>
          <a:lstStyle/>
          <a:p>
            <a:pPr marL="0" indent="0">
              <a:buNone/>
            </a:pPr>
            <a:r>
              <a:rPr lang="en-US" sz="1065" b="1" dirty="0">
                <a:solidFill>
                  <a:srgbClr val="1A3A5C"/>
                </a:solidFill>
                <a:latin typeface="微软雅黑" panose="020B0503020204020204" charset="-122"/>
                <a:ea typeface="微软雅黑" panose="020B0503020204020204" charset="-122"/>
                <a:cs typeface="微软雅黑" panose="020B0503020204020204" pitchFamily="34" charset="-120"/>
              </a:rPr>
              <a:t>⚙ 分工逻辑：</a:t>
            </a:r>
            <a:r>
              <a:rPr lang="en-US" sz="10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深信服</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提供技术底座与7×24运营能力 · </a:t>
            </a:r>
            <a:r>
              <a:rPr lang="en-US" sz="1065" b="1" dirty="0">
                <a:solidFill>
                  <a:srgbClr val="D97706"/>
                </a:solidFill>
                <a:latin typeface="微软雅黑" panose="020B0503020204020204" charset="-122"/>
                <a:ea typeface="微软雅黑" panose="020B0503020204020204" charset="-122"/>
                <a:cs typeface="微软雅黑" panose="020B0503020204020204" pitchFamily="34" charset="-120"/>
                <a:sym typeface="+mn-ea"/>
              </a:rPr>
              <a:t>渠道</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负责本地化</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运维</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与现场支撑 · </a:t>
            </a:r>
            <a:r>
              <a:rPr lang="en-US" sz="1065" b="1" dirty="0">
                <a:solidFill>
                  <a:srgbClr val="059669"/>
                </a:solidFill>
                <a:latin typeface="微软雅黑" panose="020B0503020204020204" charset="-122"/>
                <a:ea typeface="微软雅黑" panose="020B0503020204020204" charset="-122"/>
                <a:cs typeface="微软雅黑" panose="020B0503020204020204" pitchFamily="34" charset="-120"/>
                <a:sym typeface="+mn-ea"/>
              </a:rPr>
              <a:t>客户</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承担决策确认</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与内部</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协调</a:t>
            </a:r>
            <a:endParaRPr lang="en-US" sz="1065" dirty="0"/>
          </a:p>
        </p:txBody>
      </p:sp>
      <p:sp>
        <p:nvSpPr>
          <p:cNvPr id="91" name="Text 89"/>
          <p:cNvSpPr/>
          <p:nvPr/>
        </p:nvSpPr>
        <p:spPr>
          <a:xfrm>
            <a:off x="365760" y="6656832"/>
            <a:ext cx="10972800" cy="243840"/>
          </a:xfrm>
          <a:prstGeom prst="rect">
            <a:avLst/>
          </a:prstGeom>
          <a:noFill/>
        </p:spPr>
        <p:txBody>
          <a:bodyPr wrap="square" lIns="0" tIns="0" rIns="0" bIns="0" rtlCol="0" anchor="ctr"/>
          <a:lstStyle/>
          <a:p>
            <a:pPr marL="0" indent="0">
              <a:buNone/>
            </a:pPr>
            <a:r>
              <a:rPr lang="en-US" sz="1065" dirty="0">
                <a:solidFill>
                  <a:srgbClr val="000000"/>
                </a:solidFill>
                <a:latin typeface="微软雅黑" panose="020B0503020204020204" charset="-122"/>
                <a:ea typeface="微软雅黑" panose="020B0503020204020204" charset="-122"/>
                <a:cs typeface="微软雅黑" panose="020B0503020204020204" pitchFamily="34" charset="-120"/>
              </a:rPr>
              <a:t>✅ </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职责无重叠、无盲区：技术能力（深信服）+ 现场交付（渠道）+ 资源决策（客户）形成完整闭环</a:t>
            </a:r>
            <a:endParaRPr lang="en-US" sz="1065" dirty="0"/>
          </a:p>
        </p:txBody>
      </p:sp>
      <p:grpSp>
        <p:nvGrpSpPr>
          <p:cNvPr id="9" name="组合 8"/>
          <p:cNvGrpSpPr/>
          <p:nvPr/>
        </p:nvGrpSpPr>
        <p:grpSpPr>
          <a:xfrm>
            <a:off x="224790" y="289878"/>
            <a:ext cx="5322570" cy="327025"/>
            <a:chOff x="533" y="646"/>
            <a:chExt cx="8382" cy="515"/>
          </a:xfrm>
        </p:grpSpPr>
        <p:grpSp>
          <p:nvGrpSpPr>
            <p:cNvPr id="10" name="组合 9"/>
            <p:cNvGrpSpPr/>
            <p:nvPr/>
          </p:nvGrpSpPr>
          <p:grpSpPr>
            <a:xfrm rot="0">
              <a:off x="533" y="672"/>
              <a:ext cx="582" cy="420"/>
              <a:chOff x="533" y="672"/>
              <a:chExt cx="582" cy="420"/>
            </a:xfrm>
          </p:grpSpPr>
          <p:sp>
            <p:nvSpPr>
              <p:cNvPr id="11"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2"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7" name="textbox 158"/>
            <p:cNvSpPr/>
            <p:nvPr/>
          </p:nvSpPr>
          <p:spPr>
            <a:xfrm>
              <a:off x="1345" y="646"/>
              <a:ext cx="7570"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关键价值成果与分工协作机制</a:t>
              </a:r>
              <a:r>
                <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rPr>
                <a:t>（渠道版）</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成果</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nvSpPr>
        <p:spPr>
          <a:xfrm>
            <a:off x="4389120" y="1102360"/>
            <a:ext cx="3096000" cy="548640"/>
          </a:xfrm>
          <a:prstGeom prst="rect">
            <a:avLst/>
          </a:prstGeom>
          <a:solidFill>
            <a:srgbClr val="2563EB"/>
          </a:solidFill>
        </p:spPr>
      </p:sp>
      <p:sp>
        <p:nvSpPr>
          <p:cNvPr id="100" name="Text 16"/>
          <p:cNvSpPr/>
          <p:nvPr/>
        </p:nvSpPr>
        <p:spPr>
          <a:xfrm>
            <a:off x="438912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1" name="Shape 17"/>
          <p:cNvSpPr/>
          <p:nvPr/>
        </p:nvSpPr>
        <p:spPr>
          <a:xfrm>
            <a:off x="7487920" y="1102360"/>
            <a:ext cx="2194560" cy="548640"/>
          </a:xfrm>
          <a:prstGeom prst="rect">
            <a:avLst/>
          </a:prstGeom>
          <a:solidFill>
            <a:srgbClr val="D97706"/>
          </a:solidFill>
        </p:spPr>
      </p:sp>
      <p:sp>
        <p:nvSpPr>
          <p:cNvPr id="102" name="Text 18"/>
          <p:cNvSpPr/>
          <p:nvPr/>
        </p:nvSpPr>
        <p:spPr>
          <a:xfrm>
            <a:off x="7487920" y="1102360"/>
            <a:ext cx="2194560" cy="548640"/>
          </a:xfrm>
          <a:prstGeom prst="rect">
            <a:avLst/>
          </a:prstGeom>
          <a:noFill/>
        </p:spPr>
        <p:txBody>
          <a:bodyPr wrap="square" lIns="0" tIns="0" rIns="0" bIns="0" rtlCol="0" anchor="ctr"/>
          <a:lstStyle/>
          <a:p>
            <a:pPr marL="0" indent="0" algn="ctr">
              <a:buNone/>
            </a:pP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XX</a:t>
            </a:r>
            <a:r>
              <a:rPr lang="zh-CN" altLang="en-US" sz="1265" b="1" dirty="0">
                <a:solidFill>
                  <a:srgbClr val="2563EB"/>
                </a:solidFill>
                <a:latin typeface="微软雅黑" panose="020B0503020204020204" charset="-122"/>
                <a:ea typeface="微软雅黑" panose="020B0503020204020204" charset="-122"/>
                <a:cs typeface="微软雅黑" panose="020B0503020204020204" pitchFamily="34" charset="-120"/>
              </a:rPr>
              <a:t>渠道</a:t>
            </a: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现场支撑+本地化</a:t>
            </a:r>
            <a:r>
              <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服务</a:t>
            </a:r>
            <a:endPar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nvSpPr>
        <p:spPr>
          <a:xfrm>
            <a:off x="9682480" y="1102360"/>
            <a:ext cx="2194560" cy="548640"/>
          </a:xfrm>
          <a:prstGeom prst="rect">
            <a:avLst/>
          </a:prstGeom>
          <a:solidFill>
            <a:srgbClr val="059669"/>
          </a:solidFill>
        </p:spPr>
      </p:sp>
      <p:sp>
        <p:nvSpPr>
          <p:cNvPr id="104" name="Text 20"/>
          <p:cNvSpPr/>
          <p:nvPr/>
        </p:nvSpPr>
        <p:spPr>
          <a:xfrm>
            <a:off x="9682480" y="1102360"/>
            <a:ext cx="2194560" cy="548640"/>
          </a:xfrm>
          <a:prstGeom prst="rect">
            <a:avLst/>
          </a:prstGeom>
          <a:noFill/>
        </p:spPr>
        <p:txBody>
          <a:bodyPr wrap="square" lIns="0" tIns="0" rIns="0" bIns="0" rtlCol="0" anchor="ctr"/>
          <a:lstStyle/>
          <a:p>
            <a:pPr marL="0" indent="0" algn="ctr">
              <a:buNone/>
            </a:pP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{{company}}</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grpSp>
        <p:nvGrpSpPr>
          <p:cNvPr id="4" name="组合 3"/>
          <p:cNvGrpSpPr/>
          <p:nvPr/>
        </p:nvGrpSpPr>
        <p:grpSpPr>
          <a:xfrm>
            <a:off x="304800" y="1651000"/>
            <a:ext cx="11572240" cy="1440180"/>
            <a:chOff x="480" y="2600"/>
            <a:chExt cx="18224" cy="2268"/>
          </a:xfrm>
        </p:grpSpPr>
        <p:sp>
          <p:nvSpPr>
            <p:cNvPr id="105" name="Shape 21"/>
            <p:cNvSpPr/>
            <p:nvPr/>
          </p:nvSpPr>
          <p:spPr>
            <a:xfrm>
              <a:off x="480" y="2600"/>
              <a:ext cx="2211" cy="2268"/>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2688" y="2600"/>
              <a:ext cx="4224" cy="2268"/>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000" dirty="0">
                  <a:latin typeface="Heiti SC Light" panose="02000000000000000000" charset="-122"/>
                  <a:ea typeface="Heiti SC Light" panose="02000000000000000000" charset="-122"/>
                  <a:cs typeface="Heiti SC Light" panose="02000000000000000000" charset="-122"/>
                  <a:sym typeface="+mn-ea"/>
                </a:rPr>
                <a:t>核心业务（</a:t>
              </a:r>
              <a:r>
                <a:rPr lang="en-US" altLang="zh-CN" sz="1000" dirty="0">
                  <a:solidFill>
                    <a:srgbClr val="4C61E7"/>
                  </a:solidFill>
                  <a:latin typeface="Arial" panose="020B0604020202020204" pitchFamily="34" charset="0"/>
                  <a:ea typeface="黑体-简" panose="02000000000000000000" charset="-122"/>
                  <a:sym typeface="+mn-ea"/>
                </a:rPr>
                <a:t>{{core_system_1}}</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{{core_system_2}}</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{{core_system_3}}</a:t>
              </a:r>
              <a:r>
                <a:rPr lang="zh-CN" altLang="en-US" sz="10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000" dirty="0">
                  <a:latin typeface="Heiti SC Light" panose="02000000000000000000" charset="-122"/>
                  <a:ea typeface="Heiti SC Light" panose="02000000000000000000" charset="-122"/>
                  <a:cs typeface="Heiti SC Light" panose="02000000000000000000" charset="-122"/>
                  <a:sym typeface="+mn-ea"/>
                </a:rPr>
                <a:t>0</a:t>
              </a:r>
              <a:r>
                <a:rPr lang="zh-CN" altLang="en-US" sz="10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0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0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a:t>
              </a:r>
              <a:r>
                <a:rPr lang="zh-CN" altLang="en-US" sz="1000" dirty="0">
                  <a:latin typeface="Heiti SC Light" panose="02000000000000000000" charset="-122"/>
                  <a:ea typeface="Heiti SC Light" panose="02000000000000000000" charset="-122"/>
                  <a:cs typeface="Heiti SC Light" panose="02000000000000000000" charset="-122"/>
                  <a:sym typeface="+mn-ea"/>
                </a:rPr>
                <a:t>损失；</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nvSpPr>
          <p:spPr>
            <a:xfrm>
              <a:off x="6912" y="2600"/>
              <a:ext cx="4876" cy="2268"/>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威胁监测，对潜在攻击</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威胁和脆弱性利用</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风险准确预警、遏制攻击（联动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3、对核心资产定期开展脆弱性扫描、漏洞优先级排序，为业务侧</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风险闭环提供技术</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nvSpPr>
          <p:spPr>
            <a:xfrm>
              <a:off x="6912" y="2600"/>
              <a:ext cx="77" cy="2268"/>
            </a:xfrm>
            <a:prstGeom prst="rect">
              <a:avLst/>
            </a:prstGeom>
            <a:solidFill>
              <a:srgbClr val="2563EB">
                <a:alpha val="50000"/>
              </a:srgbClr>
            </a:solidFill>
          </p:spPr>
        </p:sp>
        <p:sp>
          <p:nvSpPr>
            <p:cNvPr id="109" name="Shape 28"/>
            <p:cNvSpPr/>
            <p:nvPr/>
          </p:nvSpPr>
          <p:spPr>
            <a:xfrm>
              <a:off x="11792"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1、现场与业务方的沟通</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2、执行网络及端点侧处置策略实施与协调，保障现场实施举措</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3、收集并反馈业务方的需求与安全痛点，助力安全运营优化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0" name="Shape 29"/>
            <p:cNvSpPr/>
            <p:nvPr/>
          </p:nvSpPr>
          <p:spPr>
            <a:xfrm>
              <a:off x="11792" y="2600"/>
              <a:ext cx="77" cy="2268"/>
            </a:xfrm>
            <a:prstGeom prst="rect">
              <a:avLst/>
            </a:prstGeom>
            <a:solidFill>
              <a:srgbClr val="D97706">
                <a:alpha val="50000"/>
              </a:srgbClr>
            </a:solidFill>
          </p:spPr>
        </p:sp>
        <p:sp>
          <p:nvSpPr>
            <p:cNvPr id="111" name="Shape 31"/>
            <p:cNvSpPr/>
            <p:nvPr/>
          </p:nvSpPr>
          <p:spPr>
            <a:xfrm>
              <a:off x="15248"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1、业务弱点整改加固的协调；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2、安全事件的处置审核及授权，如需远程上机的帮忙协调远程环境；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3、推动业务安全管理机制优化和落地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nvSpPr>
          <p:spPr>
            <a:xfrm>
              <a:off x="15248" y="2600"/>
              <a:ext cx="77" cy="2268"/>
            </a:xfrm>
            <a:prstGeom prst="rect">
              <a:avLst/>
            </a:prstGeom>
            <a:solidFill>
              <a:srgbClr val="059669">
                <a:alpha val="50000"/>
              </a:srgbClr>
            </a:solidFill>
          </p:spPr>
        </p:sp>
      </p:grpSp>
      <p:grpSp>
        <p:nvGrpSpPr>
          <p:cNvPr id="3" name="组合 2"/>
          <p:cNvGrpSpPr/>
          <p:nvPr/>
        </p:nvGrpSpPr>
        <p:grpSpPr>
          <a:xfrm>
            <a:off x="304800" y="3096895"/>
            <a:ext cx="11572240" cy="1440815"/>
            <a:chOff x="480" y="4296"/>
            <a:chExt cx="18224" cy="2269"/>
          </a:xfrm>
        </p:grpSpPr>
        <p:sp>
          <p:nvSpPr>
            <p:cNvPr id="113" name="Shape 34"/>
            <p:cNvSpPr/>
            <p:nvPr/>
          </p:nvSpPr>
          <p:spPr>
            <a:xfrm>
              <a:off x="480" y="4296"/>
              <a:ext cx="2211" cy="2268"/>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2688" y="4297"/>
              <a:ext cx="4224" cy="2268"/>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概率；</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、被通报问题的有效排查</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和响应回函不超过48</a:t>
              </a: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H。</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nvSpPr>
          <p:spPr>
            <a:xfrm>
              <a:off x="6912" y="4296"/>
              <a:ext cx="4876" cy="2268"/>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7x24</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H</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实时监测发现恶意外联行为，准确预警和遏制（联动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、定期开展两高一弱风险排查，漏洞优先级分析，协助防护方案优化和落地；</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、对被通报问题及时响应排查溯源，给出结论支持快速回函；</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nvSpPr>
          <p:spPr>
            <a:xfrm>
              <a:off x="6912" y="4296"/>
              <a:ext cx="77" cy="2268"/>
            </a:xfrm>
            <a:prstGeom prst="rect">
              <a:avLst/>
            </a:prstGeom>
            <a:solidFill>
              <a:srgbClr val="2563EB">
                <a:alpha val="50000"/>
              </a:srgbClr>
            </a:solidFill>
          </p:spPr>
        </p:sp>
        <p:sp>
          <p:nvSpPr>
            <p:cNvPr id="117" name="Shape 41"/>
            <p:cNvSpPr/>
            <p:nvPr/>
          </p:nvSpPr>
          <p:spPr>
            <a:xfrm>
              <a:off x="11792"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rPr>
                <a:t>1、渗透测试发现互联网暴露面漏洞风险，协助业务方加固；</a:t>
              </a:r>
              <a:endPar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2、协助定位恶意外联终端，提供主机侧处置；</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3、网络/业务运维的响应实施</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8" name="Shape 42"/>
            <p:cNvSpPr/>
            <p:nvPr/>
          </p:nvSpPr>
          <p:spPr>
            <a:xfrm>
              <a:off x="11792" y="4296"/>
              <a:ext cx="77" cy="2268"/>
            </a:xfrm>
            <a:prstGeom prst="rect">
              <a:avLst/>
            </a:prstGeom>
            <a:solidFill>
              <a:srgbClr val="D97706">
                <a:alpha val="50000"/>
              </a:srgbClr>
            </a:solidFill>
          </p:spPr>
        </p:sp>
        <p:sp>
          <p:nvSpPr>
            <p:cNvPr id="119" name="Shape 44"/>
            <p:cNvSpPr/>
            <p:nvPr/>
          </p:nvSpPr>
          <p:spPr>
            <a:xfrm>
              <a:off x="15248"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1、审批遏制操作的授权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2、协助落实脆弱性问题的管理机制，协调业务侧修复加固</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3、接收通报问题，同步信息发起排查指令</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nvSpPr>
          <p:spPr>
            <a:xfrm>
              <a:off x="15248" y="4296"/>
              <a:ext cx="77" cy="2268"/>
            </a:xfrm>
            <a:prstGeom prst="rect">
              <a:avLst/>
            </a:prstGeom>
            <a:solidFill>
              <a:srgbClr val="059669">
                <a:alpha val="50000"/>
              </a:srgbClr>
            </a:solidFill>
          </p:spPr>
        </p:sp>
      </p:grpSp>
      <p:grpSp>
        <p:nvGrpSpPr>
          <p:cNvPr id="2" name="组合 1"/>
          <p:cNvGrpSpPr/>
          <p:nvPr/>
        </p:nvGrpSpPr>
        <p:grpSpPr>
          <a:xfrm>
            <a:off x="304800" y="4543425"/>
            <a:ext cx="11572240" cy="1445260"/>
            <a:chOff x="480" y="7310"/>
            <a:chExt cx="18224" cy="2276"/>
          </a:xfrm>
        </p:grpSpPr>
        <p:sp>
          <p:nvSpPr>
            <p:cNvPr id="121" name="Shape 47"/>
            <p:cNvSpPr/>
            <p:nvPr/>
          </p:nvSpPr>
          <p:spPr>
            <a:xfrm>
              <a:off x="480" y="7316"/>
              <a:ext cx="2211" cy="2268"/>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2688" y="7318"/>
              <a:ext cx="4224" cy="2268"/>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0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000" dirty="0">
                  <a:latin typeface="Heiti SC Light" panose="02000000000000000000" charset="-122"/>
                  <a:ea typeface="Heiti SC Light" panose="02000000000000000000" charset="-122"/>
                  <a:cs typeface="Heiti SC Light" panose="02000000000000000000" charset="-122"/>
                  <a:sym typeface="+mn-ea"/>
                </a:rPr>
                <a:t>30</a:t>
              </a:r>
              <a:r>
                <a:rPr lang="zh-CN" altLang="en-US" sz="1000" dirty="0">
                  <a:latin typeface="Heiti SC Light" panose="02000000000000000000" charset="-122"/>
                  <a:ea typeface="Heiti SC Light" panose="02000000000000000000" charset="-122"/>
                  <a:cs typeface="Heiti SC Light" panose="02000000000000000000" charset="-122"/>
                  <a:sym typeface="+mn-ea"/>
                </a:rPr>
                <a:t>分钟内</a:t>
              </a:r>
              <a:r>
                <a:rPr lang="zh-CN" altLang="en-US" sz="1000" dirty="0">
                  <a:latin typeface="Heiti SC Light" panose="02000000000000000000" charset="-122"/>
                  <a:ea typeface="Heiti SC Light" panose="02000000000000000000" charset="-122"/>
                  <a:cs typeface="Heiti SC Light" panose="02000000000000000000" charset="-122"/>
                  <a:sym typeface="+mn-ea"/>
                </a:rPr>
                <a:t>通告；</a:t>
              </a:r>
              <a:endParaRPr lang="zh-CN" altLang="en-US" sz="10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0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000" dirty="0">
                  <a:latin typeface="Heiti SC Light" panose="02000000000000000000" charset="-122"/>
                  <a:ea typeface="Heiti SC Light" panose="02000000000000000000" charset="-122"/>
                  <a:cs typeface="Heiti SC Light" panose="02000000000000000000" charset="-122"/>
                  <a:sym typeface="+mn-ea"/>
                </a:rPr>
                <a:t>100%</a:t>
              </a:r>
              <a:r>
                <a:rPr lang="zh-CN" altLang="en-US" sz="10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nvSpPr>
          <p:spPr>
            <a:xfrm>
              <a:off x="6916" y="7310"/>
              <a:ext cx="487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1、重保前系统的梳理剩余风险，针对性加固支持；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实时监测威胁，准确预警和遏制有效攻击（联动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nvSpPr>
          <p:spPr>
            <a:xfrm>
              <a:off x="6912" y="7317"/>
              <a:ext cx="77" cy="2268"/>
            </a:xfrm>
            <a:prstGeom prst="rect">
              <a:avLst/>
            </a:prstGeom>
            <a:solidFill>
              <a:srgbClr val="2563EB">
                <a:alpha val="50000"/>
              </a:srgbClr>
            </a:solidFill>
          </p:spPr>
        </p:sp>
        <p:sp>
          <p:nvSpPr>
            <p:cNvPr id="125" name="Shape 54"/>
            <p:cNvSpPr/>
            <p:nvPr/>
          </p:nvSpPr>
          <p:spPr>
            <a:xfrm>
              <a:off x="11792" y="7317"/>
              <a:ext cx="3456" cy="2268"/>
            </a:xfrm>
            <a:prstGeom prst="rect">
              <a:avLst/>
            </a:prstGeom>
            <a:solidFill>
              <a:srgbClr val="F8FAFC"/>
            </a:solidFill>
            <a:ln w="3810">
              <a:solidFill>
                <a:srgbClr val="E2E8F0"/>
              </a:solidFill>
              <a:prstDash val="solid"/>
            </a:ln>
          </p:spPr>
          <p:txBody>
            <a:bodyPr anchor="ctr" anchorCtr="0">
              <a:noAutofit/>
            </a:bodyPr>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现场值守与一线处置、联络与</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协调；</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渗透测试发现互联网暴露面漏洞风险，前置加固；</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6" name="Shape 55"/>
            <p:cNvSpPr/>
            <p:nvPr/>
          </p:nvSpPr>
          <p:spPr>
            <a:xfrm>
              <a:off x="11792" y="7317"/>
              <a:ext cx="77" cy="2268"/>
            </a:xfrm>
            <a:prstGeom prst="rect">
              <a:avLst/>
            </a:prstGeom>
            <a:solidFill>
              <a:srgbClr val="D97706">
                <a:alpha val="50000"/>
              </a:srgbClr>
            </a:solidFill>
          </p:spPr>
        </p:sp>
        <p:sp>
          <p:nvSpPr>
            <p:cNvPr id="127" name="Shape 57"/>
            <p:cNvSpPr/>
            <p:nvPr/>
          </p:nvSpPr>
          <p:spPr>
            <a:xfrm>
              <a:off x="15248" y="7317"/>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1、重保前期单位内部动员、工作部署；</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2、内部员工安全意识宣贯和管理机制优化；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3、各项操作的决策审批</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nvSpPr>
          <p:spPr>
            <a:xfrm>
              <a:off x="15248" y="7317"/>
              <a:ext cx="77" cy="2268"/>
            </a:xfrm>
            <a:prstGeom prst="rect">
              <a:avLst/>
            </a:prstGeom>
            <a:solidFill>
              <a:srgbClr val="059669">
                <a:alpha val="50000"/>
              </a:srgbClr>
            </a:solid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sp>
        <p:nvSpPr>
          <p:cNvPr id="88" name="Shape 86"/>
          <p:cNvSpPr/>
          <p:nvPr/>
        </p:nvSpPr>
        <p:spPr>
          <a:xfrm>
            <a:off x="0" y="6339840"/>
            <a:ext cx="12192000" cy="609600"/>
          </a:xfrm>
          <a:prstGeom prst="rect">
            <a:avLst/>
          </a:prstGeom>
          <a:solidFill>
            <a:srgbClr val="F8FAFC"/>
          </a:solidFill>
        </p:spPr>
      </p:sp>
      <p:sp>
        <p:nvSpPr>
          <p:cNvPr id="89" name="Text 87"/>
          <p:cNvSpPr/>
          <p:nvPr/>
        </p:nvSpPr>
        <p:spPr>
          <a:xfrm>
            <a:off x="365760" y="6363970"/>
            <a:ext cx="11638280" cy="267970"/>
          </a:xfrm>
          <a:prstGeom prst="rect">
            <a:avLst/>
          </a:prstGeom>
          <a:noFill/>
        </p:spPr>
        <p:txBody>
          <a:bodyPr wrap="square" lIns="0" tIns="0" rIns="0" bIns="0" rtlCol="0" anchor="ctr"/>
          <a:lstStyle/>
          <a:p>
            <a:pPr marL="0" indent="0">
              <a:buNone/>
            </a:pPr>
            <a:r>
              <a:rPr lang="en-US" sz="1065" b="1" dirty="0">
                <a:solidFill>
                  <a:srgbClr val="1A3A5C"/>
                </a:solidFill>
                <a:latin typeface="微软雅黑" panose="020B0503020204020204" charset="-122"/>
                <a:ea typeface="微软雅黑" panose="020B0503020204020204" charset="-122"/>
                <a:cs typeface="微软雅黑" panose="020B0503020204020204" pitchFamily="34" charset="-120"/>
              </a:rPr>
              <a:t>⚙ 分工逻辑：</a:t>
            </a:r>
            <a:r>
              <a:rPr lang="en-US" sz="10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深信服</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提供技术底座与7×24运营能力 · </a:t>
            </a:r>
            <a:r>
              <a:rPr lang="en-US" sz="1065" b="1" dirty="0">
                <a:solidFill>
                  <a:srgbClr val="059669"/>
                </a:solidFill>
                <a:latin typeface="微软雅黑" panose="020B0503020204020204" charset="-122"/>
                <a:ea typeface="微软雅黑" panose="020B0503020204020204" charset="-122"/>
                <a:cs typeface="微软雅黑" panose="020B0503020204020204" pitchFamily="34" charset="-120"/>
                <a:sym typeface="+mn-ea"/>
              </a:rPr>
              <a:t>客户</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负责</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决策确认</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与现场处置</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协调</a:t>
            </a:r>
            <a:endParaRPr lang="en-US" sz="1065" dirty="0"/>
          </a:p>
        </p:txBody>
      </p:sp>
      <p:sp>
        <p:nvSpPr>
          <p:cNvPr id="91" name="Text 89"/>
          <p:cNvSpPr/>
          <p:nvPr/>
        </p:nvSpPr>
        <p:spPr>
          <a:xfrm>
            <a:off x="365760" y="6656832"/>
            <a:ext cx="10972800" cy="243840"/>
          </a:xfrm>
          <a:prstGeom prst="rect">
            <a:avLst/>
          </a:prstGeom>
          <a:noFill/>
        </p:spPr>
        <p:txBody>
          <a:bodyPr wrap="square" lIns="0" tIns="0" rIns="0" bIns="0" rtlCol="0" anchor="ctr"/>
          <a:lstStyle/>
          <a:p>
            <a:pPr marL="0" indent="0">
              <a:buNone/>
            </a:pPr>
            <a:r>
              <a:rPr lang="en-US" sz="1065" dirty="0">
                <a:solidFill>
                  <a:srgbClr val="000000"/>
                </a:solidFill>
                <a:latin typeface="微软雅黑" panose="020B0503020204020204" charset="-122"/>
                <a:ea typeface="微软雅黑" panose="020B0503020204020204" charset="-122"/>
                <a:cs typeface="微软雅黑" panose="020B0503020204020204" pitchFamily="34" charset="-120"/>
              </a:rPr>
              <a:t>✅ </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职责无重叠、无盲区：技术能力（深信服）+ 资源决策</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rPr>
              <a:t>与线下处置协调</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（客户）形成完整闭环</a:t>
            </a:r>
            <a:endParaRPr lang="en-US" sz="1065" dirty="0"/>
          </a:p>
        </p:txBody>
      </p:sp>
      <p:grpSp>
        <p:nvGrpSpPr>
          <p:cNvPr id="9" name="组合 8"/>
          <p:cNvGrpSpPr/>
          <p:nvPr/>
        </p:nvGrpSpPr>
        <p:grpSpPr>
          <a:xfrm>
            <a:off x="224790" y="289878"/>
            <a:ext cx="5351145" cy="327025"/>
            <a:chOff x="533" y="646"/>
            <a:chExt cx="8427" cy="515"/>
          </a:xfrm>
        </p:grpSpPr>
        <p:grpSp>
          <p:nvGrpSpPr>
            <p:cNvPr id="10" name="组合 9"/>
            <p:cNvGrpSpPr/>
            <p:nvPr/>
          </p:nvGrpSpPr>
          <p:grpSpPr>
            <a:xfrm rot="0">
              <a:off x="533" y="672"/>
              <a:ext cx="582" cy="420"/>
              <a:chOff x="533" y="672"/>
              <a:chExt cx="582" cy="420"/>
            </a:xfrm>
          </p:grpSpPr>
          <p:sp>
            <p:nvSpPr>
              <p:cNvPr id="11"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2"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7" name="textbox 158"/>
            <p:cNvSpPr/>
            <p:nvPr/>
          </p:nvSpPr>
          <p:spPr>
            <a:xfrm>
              <a:off x="1345" y="646"/>
              <a:ext cx="761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关键价值成果与分工协作机制</a:t>
              </a:r>
              <a:r>
                <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rPr>
                <a:t>（无渠道</a:t>
              </a:r>
              <a:r>
                <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rPr>
                <a:t>版）</a:t>
              </a:r>
              <a:endPar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endParaRPr>
            </a:p>
          </p:txBody>
        </p:sp>
      </p:grpSp>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成果</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custDataLst>
              <p:tags r:id="rId3"/>
            </p:custDataLst>
          </p:nvPr>
        </p:nvSpPr>
        <p:spPr>
          <a:xfrm>
            <a:off x="4389120" y="1102360"/>
            <a:ext cx="4321175" cy="548640"/>
          </a:xfrm>
          <a:prstGeom prst="rect">
            <a:avLst/>
          </a:prstGeom>
          <a:solidFill>
            <a:srgbClr val="2563EB"/>
          </a:solidFill>
        </p:spPr>
      </p:sp>
      <p:sp>
        <p:nvSpPr>
          <p:cNvPr id="100" name="Text 16"/>
          <p:cNvSpPr/>
          <p:nvPr>
            <p:custDataLst>
              <p:tags r:id="rId4"/>
            </p:custDataLst>
          </p:nvPr>
        </p:nvSpPr>
        <p:spPr>
          <a:xfrm>
            <a:off x="4389120" y="1102360"/>
            <a:ext cx="4322445"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custDataLst>
              <p:tags r:id="rId5"/>
            </p:custDataLst>
          </p:nvPr>
        </p:nvSpPr>
        <p:spPr>
          <a:xfrm>
            <a:off x="8710930" y="1102360"/>
            <a:ext cx="3166110" cy="548640"/>
          </a:xfrm>
          <a:prstGeom prst="rect">
            <a:avLst/>
          </a:prstGeom>
          <a:solidFill>
            <a:srgbClr val="059669"/>
          </a:solidFill>
        </p:spPr>
      </p:sp>
      <p:sp>
        <p:nvSpPr>
          <p:cNvPr id="104" name="Text 20"/>
          <p:cNvSpPr/>
          <p:nvPr>
            <p:custDataLst>
              <p:tags r:id="rId6"/>
            </p:custDataLst>
          </p:nvPr>
        </p:nvSpPr>
        <p:spPr>
          <a:xfrm>
            <a:off x="8749665" y="1102360"/>
            <a:ext cx="3127375" cy="548640"/>
          </a:xfrm>
          <a:prstGeom prst="rect">
            <a:avLst/>
          </a:prstGeom>
          <a:noFill/>
        </p:spPr>
        <p:txBody>
          <a:bodyPr wrap="square" lIns="0" tIns="0" rIns="0" bIns="0" rtlCol="0" anchor="ctr"/>
          <a:lstStyle/>
          <a:p>
            <a:pPr marL="0" indent="0" algn="ctr">
              <a:buNone/>
            </a:pP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{{company}}</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5" name="Shape 21"/>
          <p:cNvSpPr/>
          <p:nvPr/>
        </p:nvSpPr>
        <p:spPr>
          <a:xfrm>
            <a:off x="304800" y="1651000"/>
            <a:ext cx="1403985" cy="1440180"/>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1706880" y="1651000"/>
            <a:ext cx="2682240" cy="1440180"/>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000" dirty="0">
                <a:latin typeface="Heiti SC Light" panose="02000000000000000000" charset="-122"/>
                <a:ea typeface="Heiti SC Light" panose="02000000000000000000" charset="-122"/>
                <a:cs typeface="Heiti SC Light" panose="02000000000000000000" charset="-122"/>
                <a:sym typeface="+mn-ea"/>
              </a:rPr>
              <a:t>核心业务（</a:t>
            </a:r>
            <a:r>
              <a:rPr lang="en-US" altLang="zh-CN" sz="1000" dirty="0">
                <a:solidFill>
                  <a:srgbClr val="4C61E7"/>
                </a:solidFill>
                <a:latin typeface="Arial" panose="020B0604020202020204" pitchFamily="34" charset="0"/>
                <a:ea typeface="黑体-简" panose="02000000000000000000" charset="-122"/>
                <a:sym typeface="+mn-ea"/>
              </a:rPr>
              <a:t>{{core_system_1}}</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{{core_system_2}}</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{{core_system_3}}</a:t>
            </a:r>
            <a:r>
              <a:rPr lang="zh-CN" altLang="en-US" sz="10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000" dirty="0">
                <a:latin typeface="Heiti SC Light" panose="02000000000000000000" charset="-122"/>
                <a:ea typeface="Heiti SC Light" panose="02000000000000000000" charset="-122"/>
                <a:cs typeface="Heiti SC Light" panose="02000000000000000000" charset="-122"/>
                <a:sym typeface="+mn-ea"/>
              </a:rPr>
              <a:t>0</a:t>
            </a:r>
            <a:r>
              <a:rPr lang="zh-CN" altLang="en-US" sz="10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0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0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a:t>
            </a:r>
            <a:r>
              <a:rPr lang="zh-CN" altLang="en-US" sz="1000" dirty="0">
                <a:latin typeface="Heiti SC Light" panose="02000000000000000000" charset="-122"/>
                <a:ea typeface="Heiti SC Light" panose="02000000000000000000" charset="-122"/>
                <a:cs typeface="Heiti SC Light" panose="02000000000000000000" charset="-122"/>
                <a:sym typeface="+mn-ea"/>
              </a:rPr>
              <a:t>损失；</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custDataLst>
              <p:tags r:id="rId7"/>
            </p:custDataLst>
          </p:nvPr>
        </p:nvSpPr>
        <p:spPr>
          <a:xfrm>
            <a:off x="4389120" y="1651000"/>
            <a:ext cx="4309745" cy="1440180"/>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威胁监测，对潜在攻击</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威胁和脆弱性利用</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风险准确预警、遏制攻击（联动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3、对核心资产定期开展脆弱性扫描、漏洞优先级排序，为业务侧</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风险闭环提供技术</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custDataLst>
              <p:tags r:id="rId8"/>
            </p:custDataLst>
          </p:nvPr>
        </p:nvSpPr>
        <p:spPr>
          <a:xfrm>
            <a:off x="4389120" y="1651000"/>
            <a:ext cx="48895" cy="1440180"/>
          </a:xfrm>
          <a:prstGeom prst="rect">
            <a:avLst/>
          </a:prstGeom>
          <a:solidFill>
            <a:srgbClr val="2563EB">
              <a:alpha val="50000"/>
            </a:srgbClr>
          </a:solidFill>
        </p:spPr>
      </p:sp>
      <p:sp>
        <p:nvSpPr>
          <p:cNvPr id="111" name="Shape 31"/>
          <p:cNvSpPr/>
          <p:nvPr>
            <p:custDataLst>
              <p:tags r:id="rId9"/>
            </p:custDataLst>
          </p:nvPr>
        </p:nvSpPr>
        <p:spPr>
          <a:xfrm>
            <a:off x="8742045" y="1651000"/>
            <a:ext cx="3134995"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1、业务弱点整改加固的协调；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2、安全事件的处置审核及授权，需要现场处置的事件和本地网络</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侧设备策略操作的</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执行，如需远程上机的帮忙协调远程环境；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3、推动业务安全管理机制优化和落地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custDataLst>
              <p:tags r:id="rId10"/>
            </p:custDataLst>
          </p:nvPr>
        </p:nvSpPr>
        <p:spPr>
          <a:xfrm>
            <a:off x="8700135" y="1647190"/>
            <a:ext cx="48895" cy="1440180"/>
          </a:xfrm>
          <a:prstGeom prst="rect">
            <a:avLst/>
          </a:prstGeom>
          <a:solidFill>
            <a:srgbClr val="059669">
              <a:alpha val="50000"/>
            </a:srgbClr>
          </a:solidFill>
        </p:spPr>
      </p:sp>
      <p:sp>
        <p:nvSpPr>
          <p:cNvPr id="113" name="Shape 34"/>
          <p:cNvSpPr/>
          <p:nvPr/>
        </p:nvSpPr>
        <p:spPr>
          <a:xfrm>
            <a:off x="304800" y="3096895"/>
            <a:ext cx="1403985" cy="1440180"/>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1706880" y="3097530"/>
            <a:ext cx="2682240" cy="1440180"/>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概率；</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、被通报问题的有效排查</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和响应回函不超过48</a:t>
            </a: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H。</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custDataLst>
              <p:tags r:id="rId11"/>
            </p:custDataLst>
          </p:nvPr>
        </p:nvSpPr>
        <p:spPr>
          <a:xfrm>
            <a:off x="4389120" y="3096895"/>
            <a:ext cx="4309745" cy="1440180"/>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7x24</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H</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实时监测发现恶意外联行为，准确预警和遏制（联动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、定期开展两高一弱风险排查，漏洞优先级分析，协助防护方案优化和落地；</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、对被通报问题及时响应排查溯源，给出结论支持快速回函；</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custDataLst>
              <p:tags r:id="rId12"/>
            </p:custDataLst>
          </p:nvPr>
        </p:nvSpPr>
        <p:spPr>
          <a:xfrm>
            <a:off x="4389120" y="3096895"/>
            <a:ext cx="48895" cy="1440180"/>
          </a:xfrm>
          <a:prstGeom prst="rect">
            <a:avLst/>
          </a:prstGeom>
          <a:solidFill>
            <a:srgbClr val="2563EB">
              <a:alpha val="50000"/>
            </a:srgbClr>
          </a:solidFill>
        </p:spPr>
      </p:sp>
      <p:sp>
        <p:nvSpPr>
          <p:cNvPr id="119" name="Shape 44"/>
          <p:cNvSpPr/>
          <p:nvPr>
            <p:custDataLst>
              <p:tags r:id="rId13"/>
            </p:custDataLst>
          </p:nvPr>
        </p:nvSpPr>
        <p:spPr>
          <a:xfrm>
            <a:off x="8711565" y="3096895"/>
            <a:ext cx="3165475" cy="1440180"/>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1、审批遏制操作的授权，</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需要现场处置的恶意外联事件的响应执行</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以及本地网络侧设备策略操作的执行；</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2、协助落实脆弱性问题的管理机制，协调业务侧修复加固；</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3、接收通报问题，同步信息发起排查指令</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custDataLst>
              <p:tags r:id="rId14"/>
            </p:custDataLst>
          </p:nvPr>
        </p:nvSpPr>
        <p:spPr>
          <a:xfrm>
            <a:off x="8700135" y="3096895"/>
            <a:ext cx="48895" cy="1440180"/>
          </a:xfrm>
          <a:prstGeom prst="rect">
            <a:avLst/>
          </a:prstGeom>
          <a:solidFill>
            <a:srgbClr val="059669">
              <a:alpha val="50000"/>
            </a:srgbClr>
          </a:solidFill>
        </p:spPr>
      </p:sp>
      <p:sp>
        <p:nvSpPr>
          <p:cNvPr id="121" name="Shape 47"/>
          <p:cNvSpPr/>
          <p:nvPr/>
        </p:nvSpPr>
        <p:spPr>
          <a:xfrm>
            <a:off x="304800" y="4547235"/>
            <a:ext cx="1403985" cy="1440180"/>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1706880" y="4548505"/>
            <a:ext cx="2682240" cy="1440180"/>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0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000" dirty="0">
                <a:latin typeface="Heiti SC Light" panose="02000000000000000000" charset="-122"/>
                <a:ea typeface="Heiti SC Light" panose="02000000000000000000" charset="-122"/>
                <a:cs typeface="Heiti SC Light" panose="02000000000000000000" charset="-122"/>
                <a:sym typeface="+mn-ea"/>
              </a:rPr>
              <a:t>30</a:t>
            </a:r>
            <a:r>
              <a:rPr lang="zh-CN" altLang="en-US" sz="1000" dirty="0">
                <a:latin typeface="Heiti SC Light" panose="02000000000000000000" charset="-122"/>
                <a:ea typeface="Heiti SC Light" panose="02000000000000000000" charset="-122"/>
                <a:cs typeface="Heiti SC Light" panose="02000000000000000000" charset="-122"/>
                <a:sym typeface="+mn-ea"/>
              </a:rPr>
              <a:t>分钟内</a:t>
            </a:r>
            <a:r>
              <a:rPr lang="zh-CN" altLang="en-US" sz="1000" dirty="0">
                <a:latin typeface="Heiti SC Light" panose="02000000000000000000" charset="-122"/>
                <a:ea typeface="Heiti SC Light" panose="02000000000000000000" charset="-122"/>
                <a:cs typeface="Heiti SC Light" panose="02000000000000000000" charset="-122"/>
                <a:sym typeface="+mn-ea"/>
              </a:rPr>
              <a:t>通告；</a:t>
            </a:r>
            <a:endParaRPr lang="zh-CN" altLang="en-US" sz="10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0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000" dirty="0">
                <a:latin typeface="Heiti SC Light" panose="02000000000000000000" charset="-122"/>
                <a:ea typeface="Heiti SC Light" panose="02000000000000000000" charset="-122"/>
                <a:cs typeface="Heiti SC Light" panose="02000000000000000000" charset="-122"/>
                <a:sym typeface="+mn-ea"/>
              </a:rPr>
              <a:t>100%</a:t>
            </a:r>
            <a:r>
              <a:rPr lang="zh-CN" altLang="en-US" sz="10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custDataLst>
              <p:tags r:id="rId15"/>
            </p:custDataLst>
          </p:nvPr>
        </p:nvSpPr>
        <p:spPr>
          <a:xfrm>
            <a:off x="4391660" y="4547870"/>
            <a:ext cx="4307205"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1、重保前系统的梳理剩余风险，针对性加固支持；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实时监测威胁，准确预警和遏制有效攻击（联动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custDataLst>
              <p:tags r:id="rId16"/>
            </p:custDataLst>
          </p:nvPr>
        </p:nvSpPr>
        <p:spPr>
          <a:xfrm>
            <a:off x="4389120" y="4547870"/>
            <a:ext cx="48895" cy="1440180"/>
          </a:xfrm>
          <a:prstGeom prst="rect">
            <a:avLst/>
          </a:prstGeom>
          <a:solidFill>
            <a:srgbClr val="2563EB">
              <a:alpha val="50000"/>
            </a:srgbClr>
          </a:solidFill>
        </p:spPr>
      </p:sp>
      <p:sp>
        <p:nvSpPr>
          <p:cNvPr id="127" name="Shape 57"/>
          <p:cNvSpPr/>
          <p:nvPr>
            <p:custDataLst>
              <p:tags r:id="rId17"/>
            </p:custDataLst>
          </p:nvPr>
        </p:nvSpPr>
        <p:spPr>
          <a:xfrm>
            <a:off x="8741410" y="4547870"/>
            <a:ext cx="3135630"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1、重保前期单位内部动员、工作部署；</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2、内部员工安全意识宣贯和管理机制优化；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3、各项操作的决策审批</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custDataLst>
              <p:tags r:id="rId18"/>
            </p:custDataLst>
          </p:nvPr>
        </p:nvSpPr>
        <p:spPr>
          <a:xfrm>
            <a:off x="8700135" y="4547870"/>
            <a:ext cx="48895" cy="1440180"/>
          </a:xfrm>
          <a:prstGeom prst="rect">
            <a:avLst/>
          </a:prstGeom>
          <a:solidFill>
            <a:srgbClr val="059669">
              <a:alpha val="50000"/>
            </a:srgbClr>
          </a:solid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4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rPr>
              <a:t>保护业务安全、提升安全水位线</a:t>
            </a:r>
            <a:endParaRPr lang="zh-CN" altLang="en-US" sz="14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noAutofit/>
          </a:bodyPr>
          <a:lstStyle/>
          <a:p>
            <a:r>
              <a:rPr lang="zh-CN" altLang="en-US" sz="3200">
                <a:solidFill>
                  <a:srgbClr val="4C61E7"/>
                </a:solidFill>
                <a:latin typeface="Arial Black" panose="020B0A04020102020204" pitchFamily="34" charset="0"/>
                <a:ea typeface="微软雅黑" panose="020B0503020204020204" charset="-122"/>
                <a:sym typeface="+mn-ea"/>
              </a:rPr>
              <a:t>我们共同的工作成果总结</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02</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descr="shield-symmetric-blue-green"/>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31055" y="2298700"/>
            <a:ext cx="2959735" cy="3256280"/>
          </a:xfrm>
          <a:prstGeom prst="rect">
            <a:avLst/>
          </a:prstGeom>
        </p:spPr>
      </p:pic>
      <p:grpSp>
        <p:nvGrpSpPr>
          <p:cNvPr id="12" name="组合 11"/>
          <p:cNvGrpSpPr/>
          <p:nvPr/>
        </p:nvGrpSpPr>
        <p:grpSpPr>
          <a:xfrm>
            <a:off x="224790" y="289878"/>
            <a:ext cx="7886065" cy="327025"/>
            <a:chOff x="533" y="646"/>
            <a:chExt cx="12419" cy="515"/>
          </a:xfrm>
        </p:grpSpPr>
        <p:grpSp>
          <p:nvGrpSpPr>
            <p:cNvPr id="13" name="组合 12"/>
            <p:cNvGrpSpPr/>
            <p:nvPr/>
          </p:nvGrpSpPr>
          <p:grpSpPr>
            <a:xfrm rot="0">
              <a:off x="533" y="672"/>
              <a:ext cx="582" cy="420"/>
              <a:chOff x="533" y="672"/>
              <a:chExt cx="582" cy="420"/>
            </a:xfrm>
          </p:grpSpPr>
          <p:sp>
            <p:nvSpPr>
              <p:cNvPr id="14" name="燕尾形 86"/>
              <p:cNvSpPr/>
              <p:nvPr>
                <p:custDataLst>
                  <p:tags r:id="rId3"/>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4"/>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保护业务，全年实现0安全事故</a:t>
              </a:r>
              <a:endParaRPr lang="en-US" sz="1900">
                <a:latin typeface="Arial Black" panose="020B0A04020102020204" pitchFamily="34" charset="0"/>
                <a:ea typeface="微软雅黑" panose="020B0503020204020204" charset="-122"/>
              </a:endParaRPr>
            </a:p>
            <a:p>
              <a:pPr algn="l" rtl="0" eaLnBrk="0">
                <a:lnSpc>
                  <a:spcPct val="101000"/>
                </a:lnSpc>
              </a:pP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sp>
          <p:nvSpPr>
            <p:cNvPr id="4" name="textbox 158"/>
            <p:cNvSpPr/>
            <p:nvPr/>
          </p:nvSpPr>
          <p:spPr>
            <a:xfrm>
              <a:off x="7272" y="715"/>
              <a:ext cx="5680"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安全风险主动预防，</a:t>
              </a: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7*24</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小时威胁</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对抗</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5"/>
          <a:srcRect l="5232" t="26576" r="4938" b="29565"/>
          <a:stretch>
            <a:fillRect/>
          </a:stretch>
        </p:blipFill>
        <p:spPr>
          <a:xfrm>
            <a:off x="10330815" y="273073"/>
            <a:ext cx="1629867" cy="360000"/>
          </a:xfrm>
          <a:prstGeom prst="rect">
            <a:avLst/>
          </a:prstGeom>
        </p:spPr>
      </p:pic>
      <p:pic>
        <p:nvPicPr>
          <p:cNvPr id="112" name="图片 111" descr="组 3169@1x"/>
          <p:cNvPicPr>
            <a:picLocks noChangeAspect="1"/>
          </p:cNvPicPr>
          <p:nvPr/>
        </p:nvPicPr>
        <p:blipFill>
          <a:blip r:embed="rId6"/>
          <a:stretch>
            <a:fillRect/>
          </a:stretch>
        </p:blipFill>
        <p:spPr>
          <a:xfrm>
            <a:off x="1625283" y="6097905"/>
            <a:ext cx="8941435" cy="590550"/>
          </a:xfrm>
          <a:prstGeom prst="rect">
            <a:avLst/>
          </a:prstGeom>
        </p:spPr>
      </p:pic>
      <p:sp>
        <p:nvSpPr>
          <p:cNvPr id="128" name="文本框 127"/>
          <p:cNvSpPr txBox="1"/>
          <p:nvPr/>
        </p:nvSpPr>
        <p:spPr>
          <a:xfrm>
            <a:off x="3827145" y="6097905"/>
            <a:ext cx="4707890" cy="491490"/>
          </a:xfrm>
          <a:prstGeom prst="rect">
            <a:avLst/>
          </a:prstGeom>
          <a:noFill/>
        </p:spPr>
        <p:txBody>
          <a:bodyPr wrap="square" rtlCol="0" anchor="t">
            <a:spAutoFit/>
          </a:bodyPr>
          <a:p>
            <a:pPr algn="ctr"/>
            <a:r>
              <a:rPr lang="en-US" sz="1300">
                <a:solidFill>
                  <a:srgbClr val="404040"/>
                </a:solidFill>
                <a:latin typeface="Noto Sans SC"/>
                <a:ea typeface="Noto Sans SC"/>
                <a:cs typeface="Noto Sans SC"/>
                <a:sym typeface="Noto Sans SC"/>
              </a:rPr>
              <a:t>核心IT系统</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3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300">
                <a:solidFill>
                  <a:srgbClr val="404040"/>
                </a:solidFill>
                <a:latin typeface="Noto Sans SC"/>
                <a:ea typeface="Noto Sans SC"/>
                <a:cs typeface="Noto Sans SC"/>
                <a:sym typeface="Noto Sans SC"/>
              </a:rPr>
              <a:t>等覆盖</a:t>
            </a:r>
            <a:r>
              <a:rPr lang="zh-CN" altLang="en-US" sz="1300">
                <a:solidFill>
                  <a:srgbClr val="404040"/>
                </a:solidFill>
                <a:latin typeface="Noto Sans SC"/>
                <a:ea typeface="Noto Sans SC"/>
                <a:cs typeface="Noto Sans SC"/>
                <a:sym typeface="Noto Sans SC"/>
              </a:rPr>
              <a:t>率</a:t>
            </a:r>
            <a:r>
              <a:rPr lang="zh-CN" altLang="en-US" sz="1300">
                <a:solidFill>
                  <a:srgbClr val="4C61E7"/>
                </a:solidFill>
                <a:latin typeface="Noto Sans SC"/>
                <a:ea typeface="Noto Sans SC"/>
                <a:cs typeface="Noto Sans SC"/>
                <a:sym typeface="Noto Sans SC"/>
              </a:rPr>
              <a:t>{XX%}</a:t>
            </a:r>
            <a:endParaRPr lang="zh-CN" altLang="en-US" sz="1300">
              <a:solidFill>
                <a:srgbClr val="4C61E7"/>
              </a:solidFill>
              <a:latin typeface="Noto Sans SC"/>
              <a:ea typeface="Noto Sans SC"/>
              <a:cs typeface="Noto Sans SC"/>
              <a:sym typeface="Noto Sans SC"/>
            </a:endParaRPr>
          </a:p>
        </p:txBody>
      </p:sp>
      <p:sp>
        <p:nvSpPr>
          <p:cNvPr id="2" name="文本框 1"/>
          <p:cNvSpPr txBox="1"/>
          <p:nvPr/>
        </p:nvSpPr>
        <p:spPr>
          <a:xfrm>
            <a:off x="863918" y="874395"/>
            <a:ext cx="10464165" cy="774065"/>
          </a:xfrm>
          <a:prstGeom prst="rect">
            <a:avLst/>
          </a:prstGeom>
          <a:noFill/>
        </p:spPr>
        <p:txBody>
          <a:bodyPr wrap="square" rtlCol="0" anchor="ctr"/>
          <a:lstStyle/>
          <a:p>
            <a:pPr algn="l">
              <a:lnSpc>
                <a:spcPct val="130000"/>
              </a:lnSpc>
            </a:pPr>
            <a:r>
              <a:rPr lang="zh-CN" altLang="en-US" sz="1200" dirty="0">
                <a:latin typeface="Arial" panose="020B0604020202020204" pitchFamily="34" charset="0"/>
                <a:ea typeface="黑体-简" panose="02000000000000000000" charset="-122"/>
              </a:rPr>
              <a:t>主动发现</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solidFill>
                  <a:schemeClr val="tx1"/>
                </a:solidFill>
                <a:latin typeface="Arial" panose="020B0604020202020204" pitchFamily="34" charset="0"/>
                <a:ea typeface="黑体-简" panose="02000000000000000000" charset="-122"/>
              </a:rPr>
              <a:t>等</a:t>
            </a:r>
            <a:r>
              <a:rPr lang="zh-CN" altLang="en-US" sz="1200" dirty="0">
                <a:latin typeface="Arial" panose="020B0604020202020204" pitchFamily="34" charset="0"/>
                <a:ea typeface="黑体-简" panose="02000000000000000000" charset="-122"/>
                <a:sym typeface="+mn-ea"/>
              </a:rPr>
              <a:t>核心业务系统</a:t>
            </a:r>
            <a:r>
              <a:rPr lang="zh-CN" altLang="en-US" sz="1200" dirty="0">
                <a:latin typeface="Arial" panose="020B0604020202020204" pitchFamily="34" charset="0"/>
                <a:ea typeface="黑体-简" panose="02000000000000000000" charset="-122"/>
              </a:rPr>
              <a:t>的</a:t>
            </a:r>
            <a:r>
              <a:rPr lang="en-US" altLang="zh-CN" sz="1200" dirty="0">
                <a:solidFill>
                  <a:srgbClr val="4C61E7"/>
                </a:solidFill>
                <a:latin typeface="Arial" panose="020B0604020202020204" pitchFamily="34" charset="0"/>
                <a:ea typeface="黑体-简" panose="02000000000000000000" charset="-122"/>
              </a:rPr>
              <a:t>{{core_system_risk_total}}</a:t>
            </a:r>
            <a:r>
              <a:rPr lang="zh-CN" altLang="en-US" sz="1200" dirty="0">
                <a:latin typeface="Arial" panose="020B0604020202020204" pitchFamily="34" charset="0"/>
                <a:ea typeface="黑体-简" panose="02000000000000000000" charset="-122"/>
              </a:rPr>
              <a:t>个安全风险，并协同闭环了</a:t>
            </a:r>
            <a:r>
              <a:rPr lang="en-US" altLang="zh-CN" sz="1200" dirty="0">
                <a:solidFill>
                  <a:srgbClr val="4C61E7"/>
                </a:solidFill>
                <a:latin typeface="Arial" panose="020B0604020202020204" pitchFamily="34" charset="0"/>
                <a:ea typeface="黑体-简" panose="02000000000000000000" charset="-122"/>
                <a:sym typeface="+mn-ea"/>
              </a:rPr>
              <a:t>{{core_system_closed_risk_count}}</a:t>
            </a:r>
            <a:r>
              <a:rPr lang="zh-CN" altLang="en-US" sz="1200" dirty="0">
                <a:latin typeface="Arial" panose="020B0604020202020204" pitchFamily="34" charset="0"/>
                <a:ea typeface="黑体-简" panose="02000000000000000000" charset="-122"/>
              </a:rPr>
              <a:t>个</a:t>
            </a:r>
            <a:r>
              <a:rPr lang="zh-CN" altLang="en-US" sz="1200" dirty="0">
                <a:latin typeface="Arial" panose="020B0604020202020204" pitchFamily="34" charset="0"/>
                <a:ea typeface="黑体-简" panose="02000000000000000000" charset="-122"/>
              </a:rPr>
              <a:t>风险；</a:t>
            </a:r>
            <a:endParaRPr lang="zh-CN" altLang="en-US" sz="1200" dirty="0">
              <a:latin typeface="Arial" panose="020B0604020202020204" pitchFamily="34" charset="0"/>
              <a:ea typeface="黑体-简" panose="02000000000000000000" charset="-122"/>
            </a:endParaRPr>
          </a:p>
          <a:p>
            <a:pPr algn="l">
              <a:lnSpc>
                <a:spcPct val="130000"/>
              </a:lnSpc>
            </a:pPr>
            <a:r>
              <a:rPr lang="zh-CN" altLang="en-US" sz="1200" dirty="0">
                <a:latin typeface="Arial" panose="020B0604020202020204" pitchFamily="34" charset="0"/>
                <a:ea typeface="黑体-简" panose="02000000000000000000" charset="-122"/>
              </a:rPr>
              <a:t>快速识别并遏制了针对</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solidFill>
                  <a:schemeClr val="tx1"/>
                </a:solidFill>
                <a:latin typeface="Arial" panose="020B0604020202020204" pitchFamily="34" charset="0"/>
                <a:ea typeface="黑体-简" panose="02000000000000000000" charset="-122"/>
                <a:sym typeface="+mn-ea"/>
              </a:rPr>
              <a:t>等</a:t>
            </a:r>
            <a:r>
              <a:rPr lang="zh-CN" altLang="en-US" sz="1200" dirty="0">
                <a:latin typeface="Arial" panose="020B0604020202020204" pitchFamily="34" charset="0"/>
                <a:ea typeface="黑体-简" panose="02000000000000000000" charset="-122"/>
                <a:sym typeface="+mn-ea"/>
              </a:rPr>
              <a:t>核心业务系统的</a:t>
            </a:r>
            <a:r>
              <a:rPr lang="en-US" altLang="zh-CN" sz="1200" dirty="0">
                <a:solidFill>
                  <a:srgbClr val="4C61E7"/>
                </a:solidFill>
                <a:latin typeface="Arial" panose="020B0604020202020204" pitchFamily="34" charset="0"/>
                <a:ea typeface="黑体-简" panose="02000000000000000000" charset="-122"/>
                <a:sym typeface="+mn-ea"/>
              </a:rPr>
              <a:t>{{core_system_threat_incident_total}}</a:t>
            </a:r>
            <a:r>
              <a:rPr lang="zh-CN" altLang="en-US" sz="1200" dirty="0">
                <a:latin typeface="Arial" panose="020B0604020202020204" pitchFamily="34" charset="0"/>
                <a:ea typeface="黑体-简" panose="02000000000000000000" charset="-122"/>
                <a:sym typeface="+mn-ea"/>
              </a:rPr>
              <a:t>次安全威胁和事件，规避了</a:t>
            </a:r>
            <a:r>
              <a:rPr lang="en-US" altLang="zh-CN" sz="1200" dirty="0">
                <a:solidFill>
                  <a:srgbClr val="4C61E7"/>
                </a:solidFill>
                <a:latin typeface="Arial" panose="020B0604020202020204" pitchFamily="34" charset="0"/>
                <a:ea typeface="黑体-简" panose="02000000000000000000" charset="-122"/>
                <a:sym typeface="+mn-ea"/>
              </a:rPr>
              <a:t>{{core_system_threat_incident_total}}</a:t>
            </a:r>
            <a:r>
              <a:rPr lang="zh-CN" altLang="en-US" sz="1200" dirty="0">
                <a:latin typeface="Arial" panose="020B0604020202020204" pitchFamily="34" charset="0"/>
                <a:ea typeface="黑体-简" panose="02000000000000000000" charset="-122"/>
                <a:sym typeface="+mn-ea"/>
              </a:rPr>
              <a:t>次潜在业务中断损失；整体上有效</a:t>
            </a:r>
            <a:r>
              <a:rPr lang="en-US" sz="1200">
                <a:latin typeface="Arial" panose="020B0604020202020204" pitchFamily="34" charset="0"/>
                <a:ea typeface="黑体-简" panose="02000000000000000000" charset="-122"/>
                <a:cs typeface="Songti SC" panose="02010800040101010101" charset="-122"/>
                <a:sym typeface="Noto Sans SC"/>
              </a:rPr>
              <a:t>保障</a:t>
            </a:r>
            <a:r>
              <a:rPr lang="zh-CN" altLang="en-US" sz="1200">
                <a:latin typeface="Arial" panose="020B0604020202020204" pitchFamily="34" charset="0"/>
                <a:ea typeface="黑体-简" panose="02000000000000000000" charset="-122"/>
                <a:cs typeface="Songti SC" panose="02010800040101010101" charset="-122"/>
                <a:sym typeface="Noto Sans SC"/>
              </a:rPr>
              <a:t>了</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研发/生产/</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办公</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供应链</a:t>
            </a:r>
            <a:r>
              <a:rPr lang="zh-CN" altLang="en-US" sz="1200">
                <a:latin typeface="Arial" panose="020B0604020202020204" pitchFamily="34" charset="0"/>
                <a:ea typeface="黑体-简" panose="02000000000000000000" charset="-122"/>
                <a:cs typeface="Songti SC" panose="02010800040101010101" charset="-122"/>
                <a:sym typeface="Noto Sans SC"/>
              </a:rPr>
              <a:t>等</a:t>
            </a:r>
            <a:r>
              <a:rPr lang="en-US" sz="1200">
                <a:latin typeface="Arial" panose="020B0604020202020204" pitchFamily="34" charset="0"/>
                <a:ea typeface="黑体-简" panose="02000000000000000000" charset="-122"/>
                <a:cs typeface="Songti SC" panose="02010800040101010101" charset="-122"/>
                <a:sym typeface="Noto Sans SC"/>
              </a:rPr>
              <a:t>核心</a:t>
            </a:r>
            <a:r>
              <a:rPr lang="zh-CN" altLang="en-US" sz="1200">
                <a:latin typeface="Arial" panose="020B0604020202020204" pitchFamily="34" charset="0"/>
                <a:ea typeface="黑体-简" panose="02000000000000000000" charset="-122"/>
                <a:cs typeface="Songti SC" panose="02010800040101010101" charset="-122"/>
                <a:sym typeface="Noto Sans SC"/>
              </a:rPr>
              <a:t>业务运行</a:t>
            </a:r>
            <a:r>
              <a:rPr lang="en-US" sz="1200">
                <a:latin typeface="Arial" panose="020B0604020202020204" pitchFamily="34" charset="0"/>
                <a:ea typeface="黑体-简" panose="02000000000000000000" charset="-122"/>
                <a:cs typeface="Songti SC" panose="02010800040101010101" charset="-122"/>
                <a:sym typeface="Noto Sans SC"/>
              </a:rPr>
              <a:t>顺畅</a:t>
            </a:r>
            <a:r>
              <a:rPr lang="zh-CN" altLang="en-US" sz="1200" dirty="0">
                <a:latin typeface="Arial" panose="020B0604020202020204" pitchFamily="34" charset="0"/>
                <a:ea typeface="黑体-简" panose="02000000000000000000" charset="-122"/>
              </a:rPr>
              <a:t>。</a:t>
            </a:r>
            <a:endParaRPr lang="zh-CN" altLang="en-US" sz="1200" dirty="0">
              <a:effectLst/>
              <a:latin typeface="Arial" panose="020B0604020202020204" pitchFamily="34" charset="0"/>
              <a:ea typeface="黑体-简" panose="02000000000000000000" charset="-122"/>
            </a:endParaRPr>
          </a:p>
        </p:txBody>
      </p:sp>
      <p:sp>
        <p:nvSpPr>
          <p:cNvPr id="21" name="Shape 7"/>
          <p:cNvSpPr/>
          <p:nvPr/>
        </p:nvSpPr>
        <p:spPr>
          <a:xfrm>
            <a:off x="792480" y="1809115"/>
            <a:ext cx="10607040" cy="0"/>
          </a:xfrm>
          <a:prstGeom prst="line">
            <a:avLst/>
          </a:prstGeom>
          <a:noFill/>
          <a:ln w="12700">
            <a:solidFill>
              <a:srgbClr val="E2E8F0"/>
            </a:solidFill>
            <a:prstDash val="solid"/>
          </a:ln>
        </p:spPr>
      </p:sp>
      <p:sp>
        <p:nvSpPr>
          <p:cNvPr id="22" name="Shape 8"/>
          <p:cNvSpPr/>
          <p:nvPr/>
        </p:nvSpPr>
        <p:spPr>
          <a:xfrm>
            <a:off x="793115" y="2068830"/>
            <a:ext cx="3708000" cy="3740785"/>
          </a:xfrm>
          <a:prstGeom prst="rect">
            <a:avLst/>
          </a:prstGeom>
          <a:solidFill>
            <a:srgbClr val="FFFFFF"/>
          </a:solidFill>
          <a:ln w="12700">
            <a:solidFill>
              <a:srgbClr val="DBEAFE"/>
            </a:solidFill>
            <a:prstDash val="solid"/>
          </a:ln>
          <a:effectLst>
            <a:outerShdw blurRad="50800" dist="12700" dir="8100000" algn="bl" rotWithShape="0">
              <a:srgbClr val="2563EB">
                <a:alpha val="8000"/>
              </a:srgbClr>
            </a:outerShdw>
          </a:effectLst>
        </p:spPr>
      </p:sp>
      <p:sp>
        <p:nvSpPr>
          <p:cNvPr id="23" name="Shape 9"/>
          <p:cNvSpPr/>
          <p:nvPr/>
        </p:nvSpPr>
        <p:spPr>
          <a:xfrm>
            <a:off x="793115" y="2077720"/>
            <a:ext cx="3708000" cy="36000"/>
          </a:xfrm>
          <a:prstGeom prst="rect">
            <a:avLst/>
          </a:prstGeom>
          <a:solidFill>
            <a:srgbClr val="2563EB"/>
          </a:solidFill>
        </p:spPr>
      </p:sp>
      <p:sp>
        <p:nvSpPr>
          <p:cNvPr id="122" name="矩形 121"/>
          <p:cNvSpPr/>
          <p:nvPr>
            <p:custDataLst>
              <p:tags r:id="rId7"/>
            </p:custDataLst>
          </p:nvPr>
        </p:nvSpPr>
        <p:spPr>
          <a:xfrm>
            <a:off x="854710" y="2628265"/>
            <a:ext cx="3606800" cy="3996690"/>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主动</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风险识别：</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提前</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发现</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了</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{security_risk_total}</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脆弱性</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风险</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；其中</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{{high_risk_exploitable_vuln_count}}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个高风险漏洞，</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{{admin_weak_pwd_num}</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高风险</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弱口令</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{{latest_vuln_asset_count}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个最新漏洞风险</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资产；</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system1_risk_count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system2_risk_count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system3_risk_count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风险</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高效</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消除</a:t>
            </a:r>
            <a:r>
              <a:rPr lang="en-US" sz="1200" b="1">
                <a:latin typeface="Arial" panose="020B0604020202020204" pitchFamily="34" charset="0"/>
                <a:ea typeface="黑体-简" panose="02000000000000000000" charset="-122"/>
                <a:cs typeface="Songti SC" panose="02010800040101010101" charset="-122"/>
                <a:sym typeface="Noto Sans SC"/>
              </a:rPr>
              <a:t>隐患</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共</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闭环</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{closed_risk_total}</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，包含已防护</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{{protected_vuln_count}}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个高风险漏洞，已修复</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{{fixed_vuln_count}}</a:t>
            </a:r>
            <a:r>
              <a:rPr lang="zh-CN" altLang="en-US" sz="1200">
                <a:latin typeface="Arial" panose="020B0604020202020204" pitchFamily="34" charset="0"/>
                <a:ea typeface="黑体-简" panose="02000000000000000000" charset="-122"/>
                <a:cs typeface="Songti SC" panose="02010800040101010101" charset="-122"/>
                <a:sym typeface="Noto Sans SC" panose="020B0200000000000000" charset="-122"/>
              </a:rPr>
              <a:t>个高风险漏洞，已整改</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disposed_weak_pwd_num</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个高风险弱口令风险，已加固</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affected_latest_vuln_count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个最新漏洞）</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闭环了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{{system1_closed_risk_count}}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闭环了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{{system2_closed_risk_count}}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闭环了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{{system3_closed_risk_count}}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个风险</a:t>
            </a:r>
            <a:endParaRPr lang="en-US" altLang="en-US" sz="1200" dirty="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p:txBody>
      </p:sp>
      <p:sp>
        <p:nvSpPr>
          <p:cNvPr id="121" name="矩形 120"/>
          <p:cNvSpPr/>
          <p:nvPr>
            <p:custDataLst>
              <p:tags r:id="rId8"/>
            </p:custDataLst>
          </p:nvPr>
        </p:nvSpPr>
        <p:spPr>
          <a:xfrm>
            <a:off x="793115" y="2222500"/>
            <a:ext cx="3707765" cy="288290"/>
          </a:xfrm>
          <a:prstGeom prst="rect">
            <a:avLst/>
          </a:prstGeom>
          <a:noFill/>
        </p:spPr>
        <p:txBody>
          <a:bodyPr wrap="square" lIns="0" tIns="0" rIns="0" bIns="0" rtlCol="0" anchor="b">
            <a:noAutofit/>
          </a:bodyPr>
          <a:lstStyle/>
          <a:p>
            <a:pPr algn="ctr">
              <a:spcBef>
                <a:spcPct val="0"/>
              </a:spcBef>
              <a:spcAft>
                <a:spcPct val="0"/>
              </a:spcAft>
            </a:pPr>
            <a:r>
              <a:rPr lang="zh-CN" altLang="en-US" sz="2000" b="1" dirty="0">
                <a:solidFill>
                  <a:srgbClr val="2563EB"/>
                </a:solidFill>
                <a:latin typeface="Arial" panose="020B0604020202020204" pitchFamily="34" charset="0"/>
                <a:ea typeface="黑体-简" panose="02000000000000000000" charset="-122"/>
                <a:cs typeface="+mn-ea"/>
                <a:sym typeface="+mn-ea"/>
              </a:rPr>
              <a:t>风险主动预防</a:t>
            </a:r>
            <a:endParaRPr lang="zh-CN" altLang="en-US" sz="2000" b="1" dirty="0">
              <a:solidFill>
                <a:srgbClr val="2563EB"/>
              </a:solidFill>
              <a:latin typeface="Arial" panose="020B0604020202020204" pitchFamily="34" charset="0"/>
              <a:ea typeface="黑体-简" panose="02000000000000000000" charset="-122"/>
              <a:cs typeface="+mn-ea"/>
              <a:sym typeface="+mn-ea"/>
            </a:endParaRPr>
          </a:p>
        </p:txBody>
      </p:sp>
      <p:sp>
        <p:nvSpPr>
          <p:cNvPr id="6" name="Shape 8"/>
          <p:cNvSpPr/>
          <p:nvPr/>
        </p:nvSpPr>
        <p:spPr>
          <a:xfrm>
            <a:off x="7677785" y="2073275"/>
            <a:ext cx="3708000" cy="3740785"/>
          </a:xfrm>
          <a:prstGeom prst="rect">
            <a:avLst/>
          </a:prstGeom>
          <a:solidFill>
            <a:srgbClr val="FFFFFF"/>
          </a:solidFill>
          <a:ln w="12700">
            <a:solidFill>
              <a:schemeClr val="accent6">
                <a:lumMod val="20000"/>
                <a:lumOff val="80000"/>
              </a:schemeClr>
            </a:solidFill>
            <a:prstDash val="solid"/>
          </a:ln>
          <a:effectLst>
            <a:outerShdw blurRad="50800" dist="12700" dir="8100000" algn="bl" rotWithShape="0">
              <a:srgbClr val="2563EB">
                <a:alpha val="8000"/>
              </a:srgbClr>
            </a:outerShdw>
          </a:effectLst>
        </p:spPr>
      </p:sp>
      <p:sp>
        <p:nvSpPr>
          <p:cNvPr id="7" name="Shape 9"/>
          <p:cNvSpPr/>
          <p:nvPr/>
        </p:nvSpPr>
        <p:spPr>
          <a:xfrm>
            <a:off x="7677785" y="2082165"/>
            <a:ext cx="3708000" cy="36000"/>
          </a:xfrm>
          <a:prstGeom prst="rect">
            <a:avLst/>
          </a:prstGeom>
          <a:solidFill>
            <a:schemeClr val="accent6"/>
          </a:solidFill>
          <a:ln>
            <a:solidFill>
              <a:schemeClr val="accent6"/>
            </a:solidFill>
          </a:ln>
        </p:spPr>
      </p:sp>
      <p:sp>
        <p:nvSpPr>
          <p:cNvPr id="124" name="矩形 123"/>
          <p:cNvSpPr/>
          <p:nvPr>
            <p:custDataLst>
              <p:tags r:id="rId9"/>
            </p:custDataLst>
          </p:nvPr>
        </p:nvSpPr>
        <p:spPr>
          <a:xfrm>
            <a:off x="7689215" y="2171700"/>
            <a:ext cx="3693795" cy="359410"/>
          </a:xfrm>
          <a:prstGeom prst="rect">
            <a:avLst/>
          </a:prstGeom>
          <a:noFill/>
        </p:spPr>
        <p:txBody>
          <a:bodyPr wrap="square" lIns="0" tIns="0" rIns="0" bIns="0" rtlCol="0" anchor="b">
            <a:noAutofit/>
          </a:bodyPr>
          <a:lstStyle/>
          <a:p>
            <a:pPr algn="ctr">
              <a:spcBef>
                <a:spcPct val="0"/>
              </a:spcBef>
              <a:spcAft>
                <a:spcPct val="0"/>
              </a:spcAft>
            </a:pPr>
            <a:r>
              <a:rPr lang="en-US" altLang="zh-CN" sz="2000" b="1" dirty="0">
                <a:solidFill>
                  <a:srgbClr val="70AD47"/>
                </a:solidFill>
                <a:latin typeface="Heiti SC Medium" panose="02000000000000000000" charset="-122"/>
                <a:ea typeface="Heiti SC Medium" panose="02000000000000000000" charset="-122"/>
                <a:cs typeface="Heiti SC Medium" panose="02000000000000000000" charset="-122"/>
                <a:sym typeface="+mn-ea"/>
              </a:rPr>
              <a:t>7*24H</a:t>
            </a:r>
            <a:r>
              <a:rPr lang="zh-CN" altLang="en-US" sz="2000" b="1" dirty="0">
                <a:solidFill>
                  <a:srgbClr val="70AD47"/>
                </a:solidFill>
                <a:latin typeface="Heiti SC Medium" panose="02000000000000000000" charset="-122"/>
                <a:ea typeface="Heiti SC Medium" panose="02000000000000000000" charset="-122"/>
                <a:cs typeface="Heiti SC Medium" panose="02000000000000000000" charset="-122"/>
                <a:sym typeface="+mn-ea"/>
              </a:rPr>
              <a:t>威胁</a:t>
            </a:r>
            <a:r>
              <a:rPr lang="zh-CN" altLang="en-US" sz="2000" b="1" dirty="0">
                <a:solidFill>
                  <a:srgbClr val="70AD47"/>
                </a:solidFill>
                <a:latin typeface="Heiti SC Medium" panose="02000000000000000000" charset="-122"/>
                <a:ea typeface="Heiti SC Medium" panose="02000000000000000000" charset="-122"/>
                <a:cs typeface="Heiti SC Medium" panose="02000000000000000000" charset="-122"/>
                <a:sym typeface="+mn-ea"/>
              </a:rPr>
              <a:t>实时</a:t>
            </a:r>
            <a:r>
              <a:rPr lang="zh-CN" altLang="en-US" sz="2000" b="1" dirty="0">
                <a:solidFill>
                  <a:srgbClr val="70AD47"/>
                </a:solidFill>
                <a:latin typeface="Heiti SC Medium" panose="02000000000000000000" charset="-122"/>
                <a:ea typeface="Heiti SC Medium" panose="02000000000000000000" charset="-122"/>
                <a:cs typeface="Heiti SC Medium" panose="02000000000000000000" charset="-122"/>
                <a:sym typeface="+mn-ea"/>
              </a:rPr>
              <a:t>对抗</a:t>
            </a:r>
            <a:endParaRPr lang="zh-CN" altLang="en-US" sz="2000" b="1" dirty="0">
              <a:solidFill>
                <a:srgbClr val="70AD47"/>
              </a:solidFill>
              <a:latin typeface="Heiti SC Medium" panose="02000000000000000000" charset="-122"/>
              <a:ea typeface="Heiti SC Medium" panose="02000000000000000000" charset="-122"/>
              <a:cs typeface="Heiti SC Medium" panose="02000000000000000000" charset="-122"/>
              <a:sym typeface="+mn-ea"/>
            </a:endParaRPr>
          </a:p>
        </p:txBody>
      </p:sp>
      <p:sp>
        <p:nvSpPr>
          <p:cNvPr id="126" name="矩形 125"/>
          <p:cNvSpPr/>
          <p:nvPr>
            <p:custDataLst>
              <p:tags r:id="rId10"/>
            </p:custDataLst>
          </p:nvPr>
        </p:nvSpPr>
        <p:spPr>
          <a:xfrm>
            <a:off x="7738745" y="2628265"/>
            <a:ext cx="3606800" cy="3147695"/>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安全策略调优：</a:t>
            </a:r>
            <a:r>
              <a:rPr lang="zh-CN" altLang="en-US" sz="1200">
                <a:solidFill>
                  <a:schemeClr val="tx1"/>
                </a:solidFill>
                <a:latin typeface="Heiti SC Light" panose="02000000000000000000" charset="-122"/>
                <a:ea typeface="Heiti SC Light" panose="02000000000000000000" charset="-122"/>
                <a:cs typeface="Songti SC" panose="02010800040101010101" charset="-122"/>
                <a:sym typeface="Noto Sans SC"/>
              </a:rPr>
              <a:t>主动监测策略有效性，发现并调优</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{{security_policy_optimize_num}</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项异常</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策略；</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endParaRPr>
          </a:p>
          <a:p>
            <a:pPr algn="l">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实时威胁对抗：</a:t>
            </a:r>
            <a:r>
              <a:rPr lang="en-US" sz="1200">
                <a:solidFill>
                  <a:schemeClr val="tx1"/>
                </a:solidFill>
                <a:latin typeface="Arial" panose="020B0604020202020204" pitchFamily="34" charset="0"/>
                <a:ea typeface="黑体-简" panose="02000000000000000000" charset="-122"/>
                <a:cs typeface="Arial" panose="020B0604020202020204" pitchFamily="34" charset="0"/>
                <a:sym typeface="Noto Sans SC"/>
              </a:rPr>
              <a:t>7*24H</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监测并发现</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{threat_alert_total}}</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次</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威胁告警</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其中</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{{core_system1_threat_alert_distribution}}</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次威胁、</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{{core_system2_threat_alert_distribution}}</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次威胁、</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{{core_system3_threat_alert_distribution}}</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次威胁</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latin typeface="Arial" panose="020B0604020202020204" pitchFamily="34" charset="0"/>
                <a:ea typeface="黑体-简" panose="02000000000000000000" charset="-122"/>
                <a:cs typeface="Songti SC" panose="02010800040101010101" charset="-122"/>
                <a:sym typeface="Noto Sans SC"/>
              </a:rPr>
              <a:t>避免了黑客进一步入侵，</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平均遏制时间</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{{threat_average_containment_time}</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分钟；</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endParaRPr>
          </a:p>
          <a:p>
            <a:pPr algn="l">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事件快速处置：</a:t>
            </a:r>
            <a:r>
              <a:rPr lang="en-US" sz="1200">
                <a:latin typeface="Arial" panose="020B0604020202020204" pitchFamily="34" charset="0"/>
                <a:ea typeface="黑体-简" panose="02000000000000000000" charset="-122"/>
                <a:cs typeface="Arial" panose="020B0604020202020204" pitchFamily="34" charset="0"/>
                <a:sym typeface="Noto Sans SC"/>
              </a:rPr>
              <a:t>7*24H</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主动发现并及时处置了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{{incident_total}}</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起安全事件，</a:t>
            </a:r>
            <a:r>
              <a:rPr lang="zh-CN" altLang="en-US" sz="1200">
                <a:latin typeface="Arial" panose="020B0604020202020204" pitchFamily="34" charset="0"/>
                <a:ea typeface="黑体-简" panose="02000000000000000000" charset="-122"/>
                <a:cs typeface="Songti SC" panose="02010800040101010101" charset="-122"/>
                <a:sym typeface="Noto Sans SC"/>
              </a:rPr>
              <a:t>避免了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{{incident_total}}</a:t>
            </a:r>
            <a:r>
              <a:rPr lang="zh-CN" altLang="en-US" sz="1200">
                <a:latin typeface="Arial" panose="020B0604020202020204" pitchFamily="34" charset="0"/>
                <a:ea typeface="黑体-简" panose="02000000000000000000" charset="-122"/>
                <a:cs typeface="Songti SC" panose="02010800040101010101" charset="-122"/>
                <a:sym typeface="Noto Sans SC"/>
              </a:rPr>
              <a:t>次业务损失；</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其中</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solidFill>
                  <a:schemeClr val="tx1"/>
                </a:solidFill>
                <a:latin typeface="Arial" panose="020B0604020202020204" pitchFamily="34" charset="0"/>
                <a:ea typeface="黑体-简" panose="02000000000000000000" charset="-122"/>
                <a:sym typeface="+mn-ea"/>
              </a:rPr>
              <a:t>等核心系统的事件</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{{core_system_incident_count}}</a:t>
            </a:r>
            <a:r>
              <a:rPr lang="zh-CN" altLang="en-US" sz="1200" dirty="0">
                <a:solidFill>
                  <a:schemeClr val="tx1"/>
                </a:solidFill>
                <a:latin typeface="Arial" panose="020B0604020202020204" pitchFamily="34" charset="0"/>
                <a:ea typeface="黑体-简" panose="02000000000000000000" charset="-122"/>
                <a:sym typeface="+mn-ea"/>
              </a:rPr>
              <a:t>次</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；事件平均响应时间</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{{incident_avg_response_time}</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分钟</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endPar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endParaRPr>
          </a:p>
        </p:txBody>
      </p:sp>
      <p:sp>
        <p:nvSpPr>
          <p:cNvPr id="10" name="文本框 9"/>
          <p:cNvSpPr txBox="1"/>
          <p:nvPr/>
        </p:nvSpPr>
        <p:spPr>
          <a:xfrm>
            <a:off x="5546725" y="2876550"/>
            <a:ext cx="1146175" cy="368300"/>
          </a:xfrm>
          <a:prstGeom prst="rect">
            <a:avLst/>
          </a:prstGeom>
          <a:noFill/>
        </p:spPr>
        <p:txBody>
          <a:bodyPr wrap="square" rtlCol="0" anchor="t">
            <a:spAutoFit/>
          </a:bodyPr>
          <a:p>
            <a:pPr algn="ctr"/>
            <a:r>
              <a:rPr lang="zh-CN" altLang="en-US" b="1" dirty="0">
                <a:latin typeface="Arial" panose="020B0604020202020204" pitchFamily="34" charset="0"/>
                <a:ea typeface="黑体-简" panose="02000000000000000000" charset="-122"/>
                <a:cs typeface="+mn-ea"/>
                <a:sym typeface="+mn-ea"/>
              </a:rPr>
              <a:t>保护对象</a:t>
            </a:r>
            <a:endParaRPr lang="zh-CN" altLang="en-US" b="1" dirty="0">
              <a:latin typeface="Arial" panose="020B0604020202020204" pitchFamily="34" charset="0"/>
              <a:ea typeface="黑体-简" panose="02000000000000000000" charset="-122"/>
              <a:cs typeface="+mn-ea"/>
              <a:sym typeface="+mn-ea"/>
            </a:endParaRPr>
          </a:p>
        </p:txBody>
      </p:sp>
      <p:sp>
        <p:nvSpPr>
          <p:cNvPr id="15" name="文本框 14"/>
          <p:cNvSpPr txBox="1"/>
          <p:nvPr/>
        </p:nvSpPr>
        <p:spPr>
          <a:xfrm>
            <a:off x="5279390" y="3341370"/>
            <a:ext cx="900000" cy="360000"/>
          </a:xfrm>
          <a:prstGeom prst="rect">
            <a:avLst/>
          </a:prstGeom>
          <a:noFill/>
        </p:spPr>
        <p:txBody>
          <a:bodyPr wrap="square" rtlCol="0" anchor="ctr" anchorCtr="0">
            <a:noAutofit/>
          </a:bodyPr>
          <a:p>
            <a:pPr algn="dist"/>
            <a:r>
              <a:rPr lang="zh-CN" altLang="en-US" sz="1400" dirty="0">
                <a:latin typeface="Arial" panose="020B0604020202020204" pitchFamily="34" charset="0"/>
                <a:ea typeface="黑体-简" panose="02000000000000000000" charset="-122"/>
                <a:cs typeface="Source Han Sans CN Normal" panose="020B0600000000000000" charset="-122"/>
                <a:sym typeface="+mn-ea"/>
              </a:rPr>
              <a:t>业务</a:t>
            </a:r>
            <a:r>
              <a:rPr lang="zh-CN" altLang="en-US" sz="1400" dirty="0">
                <a:latin typeface="Arial" panose="020B0604020202020204" pitchFamily="34" charset="0"/>
                <a:ea typeface="黑体-简" panose="02000000000000000000" charset="-122"/>
                <a:cs typeface="Source Han Sans CN Normal" panose="020B0600000000000000" charset="-122"/>
                <a:sym typeface="+mn-ea"/>
              </a:rPr>
              <a:t>系统</a:t>
            </a:r>
            <a:endParaRPr lang="zh-CN" altLang="en-US" sz="1400" dirty="0">
              <a:latin typeface="Arial" panose="020B0604020202020204" pitchFamily="34" charset="0"/>
              <a:ea typeface="黑体-简" panose="02000000000000000000" charset="-122"/>
              <a:cs typeface="Source Han Sans CN Normal" panose="020B0600000000000000" charset="-122"/>
              <a:sym typeface="+mn-ea"/>
            </a:endParaRPr>
          </a:p>
        </p:txBody>
      </p:sp>
      <p:sp>
        <p:nvSpPr>
          <p:cNvPr id="17" name="文本框 16"/>
          <p:cNvSpPr txBox="1"/>
          <p:nvPr/>
        </p:nvSpPr>
        <p:spPr>
          <a:xfrm>
            <a:off x="5279390" y="3786482"/>
            <a:ext cx="900000" cy="359410"/>
          </a:xfrm>
          <a:prstGeom prst="rect">
            <a:avLst/>
          </a:prstGeom>
          <a:noFill/>
        </p:spPr>
        <p:txBody>
          <a:bodyPr wrap="square" rtlCol="0" anchor="ctr" anchorCtr="0">
            <a:noAutofit/>
          </a:bodyPr>
          <a:p>
            <a:pPr algn="dist"/>
            <a:r>
              <a:rPr lang="zh-CN" altLang="en-US" sz="1400" dirty="0">
                <a:latin typeface="Arial" panose="020B0604020202020204" pitchFamily="34" charset="0"/>
                <a:ea typeface="黑体-简" panose="02000000000000000000" charset="-122"/>
                <a:cs typeface="Source Han Sans CN Normal" panose="020B0600000000000000" charset="-122"/>
                <a:sym typeface="+mn-ea"/>
              </a:rPr>
              <a:t>服务器</a:t>
            </a:r>
            <a:endParaRPr lang="zh-CN" altLang="en-US" sz="1400" dirty="0">
              <a:latin typeface="Arial" panose="020B0604020202020204" pitchFamily="34" charset="0"/>
              <a:ea typeface="黑体-简" panose="02000000000000000000" charset="-122"/>
              <a:cs typeface="Source Han Sans CN Normal" panose="020B0600000000000000" charset="-122"/>
              <a:sym typeface="+mn-ea"/>
            </a:endParaRPr>
          </a:p>
        </p:txBody>
      </p:sp>
      <p:sp>
        <p:nvSpPr>
          <p:cNvPr id="18" name="文本框 17"/>
          <p:cNvSpPr txBox="1"/>
          <p:nvPr/>
        </p:nvSpPr>
        <p:spPr>
          <a:xfrm>
            <a:off x="5279390" y="4255090"/>
            <a:ext cx="900000" cy="359410"/>
          </a:xfrm>
          <a:prstGeom prst="rect">
            <a:avLst/>
          </a:prstGeom>
          <a:noFill/>
        </p:spPr>
        <p:txBody>
          <a:bodyPr wrap="square" rtlCol="0" anchor="ctr" anchorCtr="0">
            <a:noAutofit/>
          </a:bodyPr>
          <a:p>
            <a:pPr algn="dist"/>
            <a:r>
              <a:rPr lang="zh-CN" altLang="en-US" sz="1400" dirty="0">
                <a:latin typeface="Arial" panose="020B0604020202020204" pitchFamily="34" charset="0"/>
                <a:ea typeface="黑体-简" panose="02000000000000000000" charset="-122"/>
                <a:cs typeface="Source Han Sans CN Normal" panose="020B0600000000000000" charset="-122"/>
                <a:sym typeface="+mn-ea"/>
              </a:rPr>
              <a:t>重要</a:t>
            </a:r>
            <a:r>
              <a:rPr lang="zh-CN" altLang="en-US" sz="1400" dirty="0">
                <a:latin typeface="Arial" panose="020B0604020202020204" pitchFamily="34" charset="0"/>
                <a:ea typeface="黑体-简" panose="02000000000000000000" charset="-122"/>
                <a:cs typeface="Source Han Sans CN Normal" panose="020B0600000000000000" charset="-122"/>
                <a:sym typeface="+mn-ea"/>
              </a:rPr>
              <a:t>终端</a:t>
            </a:r>
            <a:endParaRPr lang="zh-CN" altLang="en-US" sz="1400" dirty="0">
              <a:latin typeface="Arial" panose="020B0604020202020204" pitchFamily="34" charset="0"/>
              <a:ea typeface="黑体-简" panose="02000000000000000000" charset="-122"/>
              <a:cs typeface="Source Han Sans CN Normal" panose="020B0600000000000000" charset="-122"/>
              <a:sym typeface="+mn-ea"/>
            </a:endParaRPr>
          </a:p>
        </p:txBody>
      </p:sp>
      <p:sp>
        <p:nvSpPr>
          <p:cNvPr id="19" name="文本框 18"/>
          <p:cNvSpPr txBox="1"/>
          <p:nvPr/>
        </p:nvSpPr>
        <p:spPr>
          <a:xfrm>
            <a:off x="6198235" y="3368017"/>
            <a:ext cx="1584000" cy="521970"/>
          </a:xfrm>
          <a:prstGeom prst="rect">
            <a:avLst/>
          </a:prstGeom>
          <a:noFill/>
        </p:spPr>
        <p:txBody>
          <a:bodyPr wrap="square" rtlCol="0" anchor="t">
            <a:spAutoFit/>
          </a:bodyPr>
          <a:p>
            <a:pPr algn="l">
              <a:spcBef>
                <a:spcPct val="0"/>
              </a:spcBef>
              <a:spcAft>
                <a:spcPct val="0"/>
              </a:spcAft>
            </a:pP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{{business_system_count}</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20" name="文本框 19"/>
          <p:cNvSpPr txBox="1"/>
          <p:nvPr/>
        </p:nvSpPr>
        <p:spPr>
          <a:xfrm>
            <a:off x="6198235" y="3812835"/>
            <a:ext cx="1584000" cy="521970"/>
          </a:xfrm>
          <a:prstGeom prst="rect">
            <a:avLst/>
          </a:prstGeom>
          <a:noFill/>
        </p:spPr>
        <p:txBody>
          <a:bodyPr wrap="square" rtlCol="0" anchor="t">
            <a:spAutoFit/>
          </a:bodyPr>
          <a:p>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{{server_asset_count}</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24" name="文本框 23"/>
          <p:cNvSpPr txBox="1"/>
          <p:nvPr/>
        </p:nvSpPr>
        <p:spPr>
          <a:xfrm>
            <a:off x="6198235" y="4281442"/>
            <a:ext cx="1584000" cy="521970"/>
          </a:xfrm>
          <a:prstGeom prst="rect">
            <a:avLst/>
          </a:prstGeom>
          <a:noFill/>
        </p:spPr>
        <p:txBody>
          <a:bodyPr wrap="square" rtlCol="0" anchor="t">
            <a:spAutoFit/>
          </a:bodyPr>
          <a:p>
            <a:r>
              <a:rPr 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pc_asset_count</a:t>
            </a:r>
            <a:r>
              <a:rPr 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p:txBody>
      </p:sp>
    </p:spTree>
    <p:custDataLst>
      <p:tags r:id="rId1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9" name="组合 158"/>
          <p:cNvGrpSpPr/>
          <p:nvPr/>
        </p:nvGrpSpPr>
        <p:grpSpPr>
          <a:xfrm>
            <a:off x="1005840" y="1713865"/>
            <a:ext cx="6798945" cy="4861560"/>
            <a:chOff x="1584" y="2699"/>
            <a:chExt cx="10707" cy="7656"/>
          </a:xfrm>
        </p:grpSpPr>
        <p:pic>
          <p:nvPicPr>
            <p:cNvPr id="2" name="图片 1" descr="组 33832@2x (1)"/>
            <p:cNvPicPr>
              <a:picLocks noChangeAspect="1"/>
            </p:cNvPicPr>
            <p:nvPr/>
          </p:nvPicPr>
          <p:blipFill>
            <a:blip r:embed="rId1"/>
            <a:srcRect r="37399"/>
            <a:stretch>
              <a:fillRect/>
            </a:stretch>
          </p:blipFill>
          <p:spPr>
            <a:xfrm>
              <a:off x="1584" y="2869"/>
              <a:ext cx="8401" cy="7383"/>
            </a:xfrm>
            <a:prstGeom prst="rect">
              <a:avLst/>
            </a:prstGeom>
          </p:spPr>
        </p:pic>
        <p:pic>
          <p:nvPicPr>
            <p:cNvPr id="140" name="图片 139" descr="组 33832@2x (1)"/>
            <p:cNvPicPr>
              <a:picLocks noChangeAspect="1"/>
            </p:cNvPicPr>
            <p:nvPr/>
          </p:nvPicPr>
          <p:blipFill>
            <a:blip r:embed="rId1"/>
            <a:srcRect l="62735"/>
            <a:stretch>
              <a:fillRect/>
            </a:stretch>
          </p:blipFill>
          <p:spPr>
            <a:xfrm>
              <a:off x="9873" y="2699"/>
              <a:ext cx="2418" cy="7656"/>
            </a:xfrm>
            <a:prstGeom prst="rect">
              <a:avLst/>
            </a:prstGeom>
          </p:spPr>
        </p:pic>
      </p:grpSp>
      <p:grpSp>
        <p:nvGrpSpPr>
          <p:cNvPr id="55" name="组合 54"/>
          <p:cNvGrpSpPr/>
          <p:nvPr/>
        </p:nvGrpSpPr>
        <p:grpSpPr>
          <a:xfrm>
            <a:off x="5473700" y="2772410"/>
            <a:ext cx="1268095" cy="721360"/>
            <a:chOff x="3291" y="2837"/>
            <a:chExt cx="1997" cy="1136"/>
          </a:xfrm>
        </p:grpSpPr>
        <p:grpSp>
          <p:nvGrpSpPr>
            <p:cNvPr id="56" name="组合 55"/>
            <p:cNvGrpSpPr/>
            <p:nvPr/>
          </p:nvGrpSpPr>
          <p:grpSpPr>
            <a:xfrm>
              <a:off x="3460" y="2837"/>
              <a:ext cx="1828" cy="554"/>
              <a:chOff x="4793" y="4123"/>
              <a:chExt cx="1828" cy="554"/>
            </a:xfrm>
          </p:grpSpPr>
          <p:sp>
            <p:nvSpPr>
              <p:cNvPr id="57" name="文本框 56"/>
              <p:cNvSpPr txBox="1"/>
              <p:nvPr/>
            </p:nvSpPr>
            <p:spPr>
              <a:xfrm>
                <a:off x="4793" y="4123"/>
                <a:ext cx="1331" cy="290"/>
              </a:xfrm>
              <a:prstGeom prst="rect">
                <a:avLst/>
              </a:prstGeom>
              <a:noFill/>
            </p:spPr>
            <p:txBody>
              <a:bodyPr wrap="square" lIns="0" tIns="0" rIns="0" bIns="0" rtlCol="0" anchor="t" anchorCtr="0">
                <a:spAutoFit/>
              </a:bodyPr>
              <a:p>
                <a:pPr algn="l">
                  <a:lnSpc>
                    <a:spcPct val="100000"/>
                  </a:lnSpc>
                </a:pPr>
                <a:r>
                  <a:rPr lang="zh-CN" altLang="en-US" sz="1200" dirty="0">
                    <a:solidFill>
                      <a:srgbClr val="0B4CBB"/>
                    </a:solidFill>
                    <a:latin typeface="Arial" panose="020B0604020202020204" pitchFamily="34" charset="0"/>
                    <a:ea typeface="黑体-简" panose="02000000000000000000" charset="-122"/>
                    <a:cs typeface="Source Han Sans CN Normal" panose="020B0600000000000000" charset="-122"/>
                    <a:sym typeface="+mn-ea"/>
                  </a:rPr>
                  <a:t>安全事件</a:t>
                </a:r>
                <a:endParaRPr lang="zh-CN" altLang="en-US" sz="1200" dirty="0">
                  <a:solidFill>
                    <a:srgbClr val="0B4CBB"/>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58" name="文本框 57"/>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Arial" panose="020B0604020202020204" pitchFamily="34" charset="0"/>
                    <a:ea typeface="黑体-简" panose="02000000000000000000" charset="-122"/>
                    <a:cs typeface="Source Han Sans CN Normal" panose="020B0600000000000000" charset="-122"/>
                    <a:sym typeface="+mn-ea"/>
                  </a:rPr>
                  <a:t>专家研判、协同处置</a:t>
                </a:r>
                <a:endParaRPr lang="zh-CN" altLang="en-US" sz="1000" dirty="0">
                  <a:solidFill>
                    <a:schemeClr val="tx1">
                      <a:lumMod val="65000"/>
                      <a:lumOff val="35000"/>
                    </a:schemeClr>
                  </a:solidFill>
                  <a:latin typeface="Arial" panose="020B0604020202020204" pitchFamily="34" charset="0"/>
                  <a:ea typeface="黑体-简" panose="02000000000000000000" charset="-122"/>
                  <a:cs typeface="Source Han Sans CN Normal" panose="020B0600000000000000" charset="-122"/>
                  <a:sym typeface="+mn-ea"/>
                </a:endParaRPr>
              </a:p>
            </p:txBody>
          </p:sp>
        </p:grpSp>
        <p:cxnSp>
          <p:nvCxnSpPr>
            <p:cNvPr id="59" name="直接连接符 58"/>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49" name="组合 48"/>
          <p:cNvGrpSpPr/>
          <p:nvPr/>
        </p:nvGrpSpPr>
        <p:grpSpPr>
          <a:xfrm>
            <a:off x="2783205" y="1713230"/>
            <a:ext cx="1268095" cy="721360"/>
            <a:chOff x="3291" y="2837"/>
            <a:chExt cx="1997" cy="1136"/>
          </a:xfrm>
        </p:grpSpPr>
        <p:grpSp>
          <p:nvGrpSpPr>
            <p:cNvPr id="47" name="组合 46"/>
            <p:cNvGrpSpPr/>
            <p:nvPr/>
          </p:nvGrpSpPr>
          <p:grpSpPr>
            <a:xfrm>
              <a:off x="3460" y="2837"/>
              <a:ext cx="1828" cy="554"/>
              <a:chOff x="4793" y="4123"/>
              <a:chExt cx="1828" cy="554"/>
            </a:xfrm>
          </p:grpSpPr>
          <p:sp>
            <p:nvSpPr>
              <p:cNvPr id="45" name="文本框 44"/>
              <p:cNvSpPr txBox="1"/>
              <p:nvPr/>
            </p:nvSpPr>
            <p:spPr>
              <a:xfrm>
                <a:off x="4793" y="4123"/>
                <a:ext cx="1331" cy="290"/>
              </a:xfrm>
              <a:prstGeom prst="rect">
                <a:avLst/>
              </a:prstGeom>
              <a:noFill/>
            </p:spPr>
            <p:txBody>
              <a:bodyPr wrap="square" lIns="0" tIns="0" rIns="0" bIns="0" rtlCol="0" anchor="t" anchorCtr="0">
                <a:spAutoFit/>
              </a:bodyPr>
              <a:p>
                <a:pPr algn="l">
                  <a:lnSpc>
                    <a:spcPct val="100000"/>
                  </a:lnSpc>
                </a:pPr>
                <a:r>
                  <a:rPr lang="zh-CN" altLang="en-US" sz="1200" dirty="0">
                    <a:solidFill>
                      <a:srgbClr val="0B4CBB"/>
                    </a:solidFill>
                    <a:latin typeface="Arial" panose="020B0604020202020204" pitchFamily="34" charset="0"/>
                    <a:ea typeface="黑体-简" panose="02000000000000000000" charset="-122"/>
                    <a:cs typeface="Source Han Sans CN Normal" panose="020B0600000000000000" charset="-122"/>
                    <a:sym typeface="+mn-ea"/>
                  </a:rPr>
                  <a:t>安全日志</a:t>
                </a:r>
                <a:endParaRPr lang="zh-CN" altLang="en-US" sz="1200" dirty="0">
                  <a:solidFill>
                    <a:srgbClr val="0B4CBB"/>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46" name="文本框 45"/>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Arial" panose="020B0604020202020204" pitchFamily="34" charset="0"/>
                    <a:ea typeface="黑体-简" panose="02000000000000000000" charset="-122"/>
                    <a:cs typeface="Source Han Sans CN Normal" panose="020B0600000000000000" charset="-122"/>
                    <a:sym typeface="+mn-ea"/>
                  </a:rPr>
                  <a:t>关联聚合、智能分析</a:t>
                </a:r>
                <a:endParaRPr lang="zh-CN" altLang="en-US" sz="1000" dirty="0">
                  <a:solidFill>
                    <a:schemeClr val="tx1">
                      <a:lumMod val="65000"/>
                      <a:lumOff val="35000"/>
                    </a:schemeClr>
                  </a:solidFill>
                  <a:latin typeface="Arial" panose="020B0604020202020204" pitchFamily="34" charset="0"/>
                  <a:ea typeface="黑体-简" panose="02000000000000000000" charset="-122"/>
                  <a:cs typeface="Source Han Sans CN Normal" panose="020B0600000000000000" charset="-122"/>
                  <a:sym typeface="+mn-ea"/>
                </a:endParaRPr>
              </a:p>
            </p:txBody>
          </p:sp>
        </p:grpSp>
        <p:cxnSp>
          <p:nvCxnSpPr>
            <p:cNvPr id="48" name="直接连接符 47"/>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50" name="组合 49"/>
          <p:cNvGrpSpPr/>
          <p:nvPr/>
        </p:nvGrpSpPr>
        <p:grpSpPr>
          <a:xfrm>
            <a:off x="4197350" y="2188210"/>
            <a:ext cx="1268095" cy="721360"/>
            <a:chOff x="3291" y="2837"/>
            <a:chExt cx="1997" cy="1136"/>
          </a:xfrm>
        </p:grpSpPr>
        <p:grpSp>
          <p:nvGrpSpPr>
            <p:cNvPr id="51" name="组合 50"/>
            <p:cNvGrpSpPr/>
            <p:nvPr/>
          </p:nvGrpSpPr>
          <p:grpSpPr>
            <a:xfrm>
              <a:off x="3460" y="2837"/>
              <a:ext cx="1828" cy="554"/>
              <a:chOff x="4793" y="4123"/>
              <a:chExt cx="1828" cy="554"/>
            </a:xfrm>
          </p:grpSpPr>
          <p:sp>
            <p:nvSpPr>
              <p:cNvPr id="52" name="文本框 51"/>
              <p:cNvSpPr txBox="1"/>
              <p:nvPr/>
            </p:nvSpPr>
            <p:spPr>
              <a:xfrm>
                <a:off x="4793" y="4123"/>
                <a:ext cx="1331" cy="290"/>
              </a:xfrm>
              <a:prstGeom prst="rect">
                <a:avLst/>
              </a:prstGeom>
              <a:noFill/>
            </p:spPr>
            <p:txBody>
              <a:bodyPr wrap="square" lIns="0" tIns="0" rIns="0" bIns="0" rtlCol="0" anchor="t" anchorCtr="0">
                <a:spAutoFit/>
              </a:bodyPr>
              <a:p>
                <a:pPr algn="l">
                  <a:lnSpc>
                    <a:spcPct val="100000"/>
                  </a:lnSpc>
                </a:pPr>
                <a:r>
                  <a:rPr lang="zh-CN" altLang="en-US" sz="1200" dirty="0">
                    <a:solidFill>
                      <a:srgbClr val="0B4CBB"/>
                    </a:solidFill>
                    <a:latin typeface="Arial" panose="020B0604020202020204" pitchFamily="34" charset="0"/>
                    <a:ea typeface="黑体-简" panose="02000000000000000000" charset="-122"/>
                    <a:cs typeface="Source Han Sans CN Normal" panose="020B0600000000000000" charset="-122"/>
                    <a:sym typeface="+mn-ea"/>
                  </a:rPr>
                  <a:t>安全告警</a:t>
                </a:r>
                <a:endParaRPr lang="zh-CN" altLang="en-US" sz="1200" dirty="0">
                  <a:solidFill>
                    <a:srgbClr val="0B4CBB"/>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53" name="文本框 52"/>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Arial" panose="020B0604020202020204" pitchFamily="34" charset="0"/>
                    <a:ea typeface="黑体-简" panose="02000000000000000000" charset="-122"/>
                    <a:cs typeface="Source Han Sans CN Normal" panose="020B0600000000000000" charset="-122"/>
                    <a:sym typeface="+mn-ea"/>
                  </a:rPr>
                  <a:t>深度理解、智能校验</a:t>
                </a:r>
                <a:endParaRPr lang="zh-CN" altLang="en-US" sz="1000" dirty="0">
                  <a:solidFill>
                    <a:schemeClr val="tx1">
                      <a:lumMod val="65000"/>
                      <a:lumOff val="35000"/>
                    </a:schemeClr>
                  </a:solidFill>
                  <a:latin typeface="Arial" panose="020B0604020202020204" pitchFamily="34" charset="0"/>
                  <a:ea typeface="黑体-简" panose="02000000000000000000" charset="-122"/>
                  <a:cs typeface="Source Han Sans CN Normal" panose="020B0600000000000000" charset="-122"/>
                  <a:sym typeface="+mn-ea"/>
                </a:endParaRPr>
              </a:p>
            </p:txBody>
          </p:sp>
        </p:grpSp>
        <p:cxnSp>
          <p:nvCxnSpPr>
            <p:cNvPr id="54" name="直接连接符 53"/>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12" name="组合 11"/>
          <p:cNvGrpSpPr/>
          <p:nvPr/>
        </p:nvGrpSpPr>
        <p:grpSpPr>
          <a:xfrm>
            <a:off x="224790" y="289878"/>
            <a:ext cx="4664710" cy="327025"/>
            <a:chOff x="533" y="646"/>
            <a:chExt cx="7346" cy="515"/>
          </a:xfrm>
        </p:grpSpPr>
        <p:grpSp>
          <p:nvGrpSpPr>
            <p:cNvPr id="13" name="组合 12"/>
            <p:cNvGrpSpPr/>
            <p:nvPr/>
          </p:nvGrpSpPr>
          <p:grpSpPr>
            <a:xfrm rot="0">
              <a:off x="533" y="672"/>
              <a:ext cx="582" cy="420"/>
              <a:chOff x="533" y="672"/>
              <a:chExt cx="582" cy="420"/>
            </a:xfrm>
          </p:grpSpPr>
          <p:sp>
            <p:nvSpPr>
              <p:cNvPr id="1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sp>
            <p:nvSpPr>
              <p:cNvPr id="16"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grpSp>
        <p:sp>
          <p:nvSpPr>
            <p:cNvPr id="18" name="textbox 158"/>
            <p:cNvSpPr/>
            <p:nvPr/>
          </p:nvSpPr>
          <p:spPr>
            <a:xfrm>
              <a:off x="1345" y="646"/>
              <a:ext cx="6534"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安全威胁主动响应</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威胁运营总览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pic>
        <p:nvPicPr>
          <p:cNvPr id="20" name="图片 19"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107" name="Shape 98"/>
          <p:cNvSpPr/>
          <p:nvPr/>
        </p:nvSpPr>
        <p:spPr>
          <a:xfrm>
            <a:off x="502920" y="930910"/>
            <a:ext cx="11192256" cy="475488"/>
          </a:xfrm>
          <a:prstGeom prst="roundRect">
            <a:avLst>
              <a:gd name="adj" fmla="val 15385"/>
            </a:avLst>
          </a:prstGeom>
          <a:solidFill>
            <a:srgbClr val="F4F8FD"/>
          </a:solidFill>
          <a:ln w="11430">
            <a:solidFill>
              <a:srgbClr val="BFD3F0"/>
            </a:solidFill>
            <a:prstDash val="solid"/>
          </a:ln>
          <a:effectLst>
            <a:outerShdw blurRad="88900" dist="25400" dir="8100000" algn="bl" rotWithShape="0">
              <a:srgbClr val="6B87B8">
                <a:alpha val="16000"/>
              </a:srgbClr>
            </a:outerShdw>
          </a:effectLst>
        </p:spPr>
      </p:sp>
      <p:sp>
        <p:nvSpPr>
          <p:cNvPr id="108" name="Shape 99"/>
          <p:cNvSpPr/>
          <p:nvPr/>
        </p:nvSpPr>
        <p:spPr>
          <a:xfrm>
            <a:off x="502920" y="930910"/>
            <a:ext cx="1783080" cy="475488"/>
          </a:xfrm>
          <a:prstGeom prst="rect">
            <a:avLst/>
          </a:prstGeom>
          <a:solidFill>
            <a:srgbClr val="1D4ED8"/>
          </a:solidFill>
        </p:spPr>
      </p:sp>
      <p:sp>
        <p:nvSpPr>
          <p:cNvPr id="109" name="Text 100"/>
          <p:cNvSpPr/>
          <p:nvPr/>
        </p:nvSpPr>
        <p:spPr>
          <a:xfrm>
            <a:off x="658368" y="930910"/>
            <a:ext cx="1554480" cy="475488"/>
          </a:xfrm>
          <a:prstGeom prst="rect">
            <a:avLst/>
          </a:prstGeom>
          <a:noFill/>
        </p:spPr>
        <p:txBody>
          <a:bodyPr wrap="square" lIns="0" tIns="0" rIns="0" bIns="0" rtlCol="0" anchor="ctr"/>
          <a:lstStyle/>
          <a:p>
            <a:pPr marL="0" indent="0">
              <a:buNone/>
            </a:pPr>
            <a:r>
              <a:rPr lang="zh-CN" altLang="en-US" sz="1400" dirty="0">
                <a:solidFill>
                  <a:schemeClr val="bg1"/>
                </a:solidFill>
                <a:latin typeface="Arial Black" panose="020B0A04020102020204" pitchFamily="34" charset="0"/>
                <a:ea typeface="微软雅黑" panose="020B0503020204020204" charset="-122"/>
              </a:rPr>
              <a:t>人机共智主动防御</a:t>
            </a:r>
            <a:endParaRPr lang="zh-CN" altLang="en-US" sz="1400" dirty="0">
              <a:solidFill>
                <a:schemeClr val="bg1"/>
              </a:solidFill>
              <a:latin typeface="Arial Black" panose="020B0A04020102020204" pitchFamily="34" charset="0"/>
              <a:ea typeface="微软雅黑" panose="020B0503020204020204" charset="-122"/>
            </a:endParaRPr>
          </a:p>
        </p:txBody>
      </p:sp>
      <p:sp>
        <p:nvSpPr>
          <p:cNvPr id="110" name="Shape 101"/>
          <p:cNvSpPr/>
          <p:nvPr/>
        </p:nvSpPr>
        <p:spPr>
          <a:xfrm>
            <a:off x="2286000" y="930910"/>
            <a:ext cx="13716" cy="475488"/>
          </a:xfrm>
          <a:prstGeom prst="rect">
            <a:avLst/>
          </a:prstGeom>
          <a:solidFill>
            <a:srgbClr val="BFD3F0"/>
          </a:solidFill>
        </p:spPr>
      </p:sp>
      <p:sp>
        <p:nvSpPr>
          <p:cNvPr id="23" name="Shape 102"/>
          <p:cNvSpPr/>
          <p:nvPr/>
        </p:nvSpPr>
        <p:spPr>
          <a:xfrm>
            <a:off x="2468880" y="1068070"/>
            <a:ext cx="146304" cy="146304"/>
          </a:xfrm>
          <a:prstGeom prst="ellipse">
            <a:avLst/>
          </a:prstGeom>
          <a:solidFill>
            <a:srgbClr val="10B981"/>
          </a:solidFill>
        </p:spPr>
      </p:sp>
      <p:sp>
        <p:nvSpPr>
          <p:cNvPr id="43" name="Text 103"/>
          <p:cNvSpPr/>
          <p:nvPr/>
        </p:nvSpPr>
        <p:spPr>
          <a:xfrm>
            <a:off x="2670048" y="976630"/>
            <a:ext cx="1536192" cy="402336"/>
          </a:xfrm>
          <a:prstGeom prst="rect">
            <a:avLst/>
          </a:prstGeom>
          <a:noFill/>
        </p:spPr>
        <p:txBody>
          <a:bodyPr wrap="square" lIns="0" tIns="0" rIns="0" bIns="0" rtlCol="0" anchor="ctr"/>
          <a:lstStyle/>
          <a:p>
            <a:pPr marL="0" indent="0">
              <a:lnSpc>
                <a:spcPct val="102000"/>
              </a:lnSpc>
              <a:buNone/>
            </a:pPr>
            <a:r>
              <a:rPr lang="en-US" sz="1000" b="1" dirty="0">
                <a:solidFill>
                  <a:srgbClr val="0F2A5C"/>
                </a:solidFill>
                <a:latin typeface="Arial Black" panose="020B0A04020102020204" pitchFamily="34" charset="0"/>
                <a:ea typeface="微软雅黑" panose="020B0503020204020204" charset="-122"/>
              </a:rPr>
              <a:t>防护+检测有效性</a:t>
            </a:r>
            <a:endParaRPr lang="en-US" sz="1000" dirty="0">
              <a:latin typeface="Arial Black" panose="020B0A04020102020204" pitchFamily="34" charset="0"/>
              <a:ea typeface="微软雅黑" panose="020B0503020204020204" charset="-122"/>
            </a:endParaRPr>
          </a:p>
          <a:p>
            <a:pPr marL="0" indent="0">
              <a:lnSpc>
                <a:spcPct val="102000"/>
              </a:lnSpc>
              <a:buNone/>
            </a:pPr>
            <a:r>
              <a:rPr lang="en-US" sz="850" dirty="0">
                <a:solidFill>
                  <a:srgbClr val="5A6B8C"/>
                </a:solidFill>
                <a:latin typeface="Arial Black" panose="020B0A04020102020204" pitchFamily="34" charset="0"/>
                <a:ea typeface="微软雅黑" panose="020B0503020204020204" charset="-122"/>
              </a:rPr>
              <a:t>核心资产覆盖</a:t>
            </a:r>
            <a:endParaRPr lang="en-US" sz="1000" dirty="0">
              <a:latin typeface="Arial Black" panose="020B0A04020102020204" pitchFamily="34" charset="0"/>
              <a:ea typeface="微软雅黑" panose="020B0503020204020204" charset="-122"/>
            </a:endParaRPr>
          </a:p>
        </p:txBody>
      </p:sp>
      <p:sp>
        <p:nvSpPr>
          <p:cNvPr id="44" name="Shape 104"/>
          <p:cNvSpPr/>
          <p:nvPr/>
        </p:nvSpPr>
        <p:spPr>
          <a:xfrm>
            <a:off x="4297680" y="1068070"/>
            <a:ext cx="146304" cy="146304"/>
          </a:xfrm>
          <a:prstGeom prst="ellipse">
            <a:avLst/>
          </a:prstGeom>
          <a:solidFill>
            <a:srgbClr val="10B981"/>
          </a:solidFill>
        </p:spPr>
      </p:sp>
      <p:sp>
        <p:nvSpPr>
          <p:cNvPr id="82" name="Text 105"/>
          <p:cNvSpPr/>
          <p:nvPr/>
        </p:nvSpPr>
        <p:spPr>
          <a:xfrm>
            <a:off x="4498848" y="976630"/>
            <a:ext cx="1536192" cy="402336"/>
          </a:xfrm>
          <a:prstGeom prst="rect">
            <a:avLst/>
          </a:prstGeom>
          <a:noFill/>
        </p:spPr>
        <p:txBody>
          <a:bodyPr wrap="square" lIns="0" tIns="0" rIns="0" bIns="0" rtlCol="0" anchor="ctr"/>
          <a:lstStyle/>
          <a:p>
            <a:pPr marL="0" indent="0">
              <a:lnSpc>
                <a:spcPct val="102000"/>
              </a:lnSpc>
              <a:buNone/>
            </a:pPr>
            <a:r>
              <a:rPr lang="en-US" sz="1000" b="1" dirty="0">
                <a:solidFill>
                  <a:srgbClr val="0F2A5C"/>
                </a:solidFill>
                <a:latin typeface="Arial Black" panose="020B0A04020102020204" pitchFamily="34" charset="0"/>
                <a:ea typeface="微软雅黑" panose="020B0503020204020204" charset="-122"/>
              </a:rPr>
              <a:t>威胁日志</a:t>
            </a:r>
            <a:r>
              <a:rPr lang="zh-CN" altLang="en-US" sz="1000" b="1" dirty="0">
                <a:solidFill>
                  <a:srgbClr val="0F2A5C"/>
                </a:solidFill>
                <a:latin typeface="Arial Black" panose="020B0A04020102020204" pitchFamily="34" charset="0"/>
                <a:ea typeface="微软雅黑" panose="020B0503020204020204" charset="-122"/>
              </a:rPr>
              <a:t>降噪</a:t>
            </a:r>
            <a:endParaRPr lang="en-US" sz="1000" dirty="0">
              <a:latin typeface="Arial Black" panose="020B0A04020102020204" pitchFamily="34" charset="0"/>
              <a:ea typeface="微软雅黑" panose="020B0503020204020204" charset="-122"/>
            </a:endParaRPr>
          </a:p>
          <a:p>
            <a:pPr marL="0" indent="0">
              <a:lnSpc>
                <a:spcPct val="102000"/>
              </a:lnSpc>
              <a:buNone/>
            </a:pPr>
            <a:r>
              <a:rPr lang="en-US" sz="850" dirty="0">
                <a:solidFill>
                  <a:srgbClr val="5A6B8C"/>
                </a:solidFill>
                <a:latin typeface="Arial Black" panose="020B0A04020102020204" pitchFamily="34" charset="0"/>
                <a:ea typeface="微软雅黑" panose="020B0503020204020204" charset="-122"/>
              </a:rPr>
              <a:t>精准捕获真实攻击</a:t>
            </a:r>
            <a:endParaRPr lang="en-US" sz="1000" dirty="0">
              <a:latin typeface="Arial Black" panose="020B0A04020102020204" pitchFamily="34" charset="0"/>
              <a:ea typeface="微软雅黑" panose="020B0503020204020204" charset="-122"/>
            </a:endParaRPr>
          </a:p>
        </p:txBody>
      </p:sp>
      <p:sp>
        <p:nvSpPr>
          <p:cNvPr id="83" name="Shape 106"/>
          <p:cNvSpPr/>
          <p:nvPr/>
        </p:nvSpPr>
        <p:spPr>
          <a:xfrm>
            <a:off x="6126480" y="1068070"/>
            <a:ext cx="146304" cy="146304"/>
          </a:xfrm>
          <a:prstGeom prst="ellipse">
            <a:avLst/>
          </a:prstGeom>
          <a:solidFill>
            <a:srgbClr val="10B981"/>
          </a:solidFill>
        </p:spPr>
      </p:sp>
      <p:sp>
        <p:nvSpPr>
          <p:cNvPr id="84" name="Text 107"/>
          <p:cNvSpPr/>
          <p:nvPr/>
        </p:nvSpPr>
        <p:spPr>
          <a:xfrm>
            <a:off x="6327648" y="976630"/>
            <a:ext cx="1536192" cy="402336"/>
          </a:xfrm>
          <a:prstGeom prst="rect">
            <a:avLst/>
          </a:prstGeom>
          <a:noFill/>
        </p:spPr>
        <p:txBody>
          <a:bodyPr wrap="square" lIns="0" tIns="0" rIns="0" bIns="0" rtlCol="0" anchor="ctr"/>
          <a:lstStyle/>
          <a:p>
            <a:pPr marL="0" indent="0">
              <a:lnSpc>
                <a:spcPct val="102000"/>
              </a:lnSpc>
              <a:buNone/>
            </a:pPr>
            <a:r>
              <a:rPr lang="en-US" sz="1000" b="1" dirty="0">
                <a:solidFill>
                  <a:srgbClr val="0F2A5C"/>
                </a:solidFill>
                <a:latin typeface="Arial Black" panose="020B0A04020102020204" pitchFamily="34" charset="0"/>
                <a:ea typeface="微软雅黑" panose="020B0503020204020204" charset="-122"/>
              </a:rPr>
              <a:t>AI 智能分析</a:t>
            </a:r>
            <a:endParaRPr lang="en-US" sz="1000" dirty="0">
              <a:latin typeface="Arial Black" panose="020B0A04020102020204" pitchFamily="34" charset="0"/>
              <a:ea typeface="微软雅黑" panose="020B0503020204020204" charset="-122"/>
            </a:endParaRPr>
          </a:p>
          <a:p>
            <a:pPr marL="0" indent="0">
              <a:lnSpc>
                <a:spcPct val="102000"/>
              </a:lnSpc>
              <a:buNone/>
            </a:pPr>
            <a:r>
              <a:rPr lang="en-US" sz="850" dirty="0">
                <a:solidFill>
                  <a:srgbClr val="5A6B8C"/>
                </a:solidFill>
                <a:latin typeface="Arial Black" panose="020B0A04020102020204" pitchFamily="34" charset="0"/>
                <a:ea typeface="微软雅黑" panose="020B0503020204020204" charset="-122"/>
              </a:rPr>
              <a:t>威胁识别全面性提升</a:t>
            </a:r>
            <a:endParaRPr lang="en-US" sz="1000" dirty="0">
              <a:latin typeface="Arial Black" panose="020B0A04020102020204" pitchFamily="34" charset="0"/>
              <a:ea typeface="微软雅黑" panose="020B0503020204020204" charset="-122"/>
            </a:endParaRPr>
          </a:p>
        </p:txBody>
      </p:sp>
      <p:sp>
        <p:nvSpPr>
          <p:cNvPr id="85" name="Shape 108"/>
          <p:cNvSpPr/>
          <p:nvPr/>
        </p:nvSpPr>
        <p:spPr>
          <a:xfrm>
            <a:off x="7955280" y="1068070"/>
            <a:ext cx="146304" cy="146304"/>
          </a:xfrm>
          <a:prstGeom prst="ellipse">
            <a:avLst/>
          </a:prstGeom>
          <a:solidFill>
            <a:srgbClr val="10B981"/>
          </a:solidFill>
        </p:spPr>
      </p:sp>
      <p:sp>
        <p:nvSpPr>
          <p:cNvPr id="86" name="Text 109"/>
          <p:cNvSpPr/>
          <p:nvPr/>
        </p:nvSpPr>
        <p:spPr>
          <a:xfrm>
            <a:off x="8156448" y="976630"/>
            <a:ext cx="1536192" cy="402336"/>
          </a:xfrm>
          <a:prstGeom prst="rect">
            <a:avLst/>
          </a:prstGeom>
          <a:noFill/>
        </p:spPr>
        <p:txBody>
          <a:bodyPr wrap="square" lIns="0" tIns="0" rIns="0" bIns="0" rtlCol="0" anchor="ctr"/>
          <a:lstStyle/>
          <a:p>
            <a:pPr marL="0" indent="0">
              <a:lnSpc>
                <a:spcPct val="102000"/>
              </a:lnSpc>
              <a:buNone/>
            </a:pPr>
            <a:r>
              <a:rPr lang="en-US" sz="1000" b="1" dirty="0">
                <a:solidFill>
                  <a:srgbClr val="0F2A5C"/>
                </a:solidFill>
                <a:latin typeface="Arial Black" panose="020B0A04020102020204" pitchFamily="34" charset="0"/>
                <a:ea typeface="微软雅黑" panose="020B0503020204020204" charset="-122"/>
              </a:rPr>
              <a:t>7×24H 专家对抗</a:t>
            </a:r>
            <a:endParaRPr lang="en-US" sz="1000" dirty="0">
              <a:latin typeface="Arial Black" panose="020B0A04020102020204" pitchFamily="34" charset="0"/>
              <a:ea typeface="微软雅黑" panose="020B0503020204020204" charset="-122"/>
            </a:endParaRPr>
          </a:p>
          <a:p>
            <a:pPr marL="0" indent="0">
              <a:lnSpc>
                <a:spcPct val="102000"/>
              </a:lnSpc>
              <a:buNone/>
            </a:pPr>
            <a:r>
              <a:rPr lang="en-US" sz="850" dirty="0">
                <a:solidFill>
                  <a:srgbClr val="5A6B8C"/>
                </a:solidFill>
                <a:latin typeface="Arial Black" panose="020B0A04020102020204" pitchFamily="34" charset="0"/>
                <a:ea typeface="微软雅黑" panose="020B0503020204020204" charset="-122"/>
              </a:rPr>
              <a:t>精准威胁遏制</a:t>
            </a:r>
            <a:endParaRPr lang="en-US" sz="1000" dirty="0">
              <a:latin typeface="Arial Black" panose="020B0A04020102020204" pitchFamily="34" charset="0"/>
              <a:ea typeface="微软雅黑" panose="020B0503020204020204" charset="-122"/>
            </a:endParaRPr>
          </a:p>
        </p:txBody>
      </p:sp>
      <p:sp>
        <p:nvSpPr>
          <p:cNvPr id="87" name="Shape 110"/>
          <p:cNvSpPr/>
          <p:nvPr/>
        </p:nvSpPr>
        <p:spPr>
          <a:xfrm>
            <a:off x="9784080" y="1068070"/>
            <a:ext cx="146304" cy="146304"/>
          </a:xfrm>
          <a:prstGeom prst="ellipse">
            <a:avLst/>
          </a:prstGeom>
          <a:solidFill>
            <a:srgbClr val="10B981"/>
          </a:solidFill>
        </p:spPr>
      </p:sp>
      <p:sp>
        <p:nvSpPr>
          <p:cNvPr id="88" name="Text 111"/>
          <p:cNvSpPr/>
          <p:nvPr/>
        </p:nvSpPr>
        <p:spPr>
          <a:xfrm>
            <a:off x="9985248" y="976630"/>
            <a:ext cx="1536192" cy="402336"/>
          </a:xfrm>
          <a:prstGeom prst="rect">
            <a:avLst/>
          </a:prstGeom>
          <a:noFill/>
        </p:spPr>
        <p:txBody>
          <a:bodyPr wrap="square" lIns="0" tIns="0" rIns="0" bIns="0" rtlCol="0" anchor="ctr"/>
          <a:lstStyle/>
          <a:p>
            <a:pPr marL="0" indent="0">
              <a:lnSpc>
                <a:spcPct val="102000"/>
              </a:lnSpc>
              <a:buNone/>
            </a:pPr>
            <a:r>
              <a:rPr lang="en-US" sz="1000" b="1" dirty="0">
                <a:solidFill>
                  <a:srgbClr val="0F2A5C"/>
                </a:solidFill>
                <a:latin typeface="Arial Black" panose="020B0A04020102020204" pitchFamily="34" charset="0"/>
                <a:ea typeface="微软雅黑" panose="020B0503020204020204" charset="-122"/>
              </a:rPr>
              <a:t>快速反应+准确遏制</a:t>
            </a:r>
            <a:endParaRPr lang="en-US" sz="1000" dirty="0">
              <a:latin typeface="Arial Black" panose="020B0A04020102020204" pitchFamily="34" charset="0"/>
              <a:ea typeface="微软雅黑" panose="020B0503020204020204" charset="-122"/>
            </a:endParaRPr>
          </a:p>
          <a:p>
            <a:pPr marL="0" indent="0">
              <a:lnSpc>
                <a:spcPct val="102000"/>
              </a:lnSpc>
              <a:buNone/>
            </a:pPr>
            <a:r>
              <a:rPr lang="en-US" sz="850" dirty="0">
                <a:solidFill>
                  <a:srgbClr val="5A6B8C"/>
                </a:solidFill>
                <a:latin typeface="Arial Black" panose="020B0A04020102020204" pitchFamily="34" charset="0"/>
                <a:ea typeface="微软雅黑" panose="020B0503020204020204" charset="-122"/>
              </a:rPr>
              <a:t>核心业务零</a:t>
            </a:r>
            <a:r>
              <a:rPr lang="zh-CN" altLang="en-US" sz="850" dirty="0">
                <a:solidFill>
                  <a:srgbClr val="5A6B8C"/>
                </a:solidFill>
                <a:latin typeface="Arial Black" panose="020B0A04020102020204" pitchFamily="34" charset="0"/>
                <a:ea typeface="微软雅黑" panose="020B0503020204020204" charset="-122"/>
              </a:rPr>
              <a:t>安全</a:t>
            </a:r>
            <a:r>
              <a:rPr lang="en-US" sz="850" dirty="0">
                <a:solidFill>
                  <a:srgbClr val="5A6B8C"/>
                </a:solidFill>
                <a:latin typeface="Arial Black" panose="020B0A04020102020204" pitchFamily="34" charset="0"/>
                <a:ea typeface="微软雅黑" panose="020B0503020204020204" charset="-122"/>
              </a:rPr>
              <a:t>事故</a:t>
            </a:r>
            <a:endParaRPr lang="en-US" sz="1000" dirty="0">
              <a:latin typeface="Arial Black" panose="020B0A04020102020204" pitchFamily="34" charset="0"/>
              <a:ea typeface="微软雅黑" panose="020B0503020204020204" charset="-122"/>
            </a:endParaRPr>
          </a:p>
        </p:txBody>
      </p:sp>
      <p:sp>
        <p:nvSpPr>
          <p:cNvPr id="89" name="ndr-bg"/>
          <p:cNvSpPr/>
          <p:nvPr/>
        </p:nvSpPr>
        <p:spPr>
          <a:xfrm>
            <a:off x="502920" y="2232660"/>
            <a:ext cx="1758315" cy="1778000"/>
          </a:xfrm>
          <a:prstGeom prst="roundRect">
            <a:avLst>
              <a:gd name="adj" fmla="val 5000"/>
            </a:avLst>
          </a:prstGeom>
          <a:solidFill>
            <a:srgbClr val="F7F9FC"/>
          </a:solidFill>
          <a:ln w="12700">
            <a:solidFill>
              <a:srgbClr val="EDF0F5"/>
            </a:solidFill>
          </a:ln>
        </p:spPr>
      </p:sp>
      <p:sp>
        <p:nvSpPr>
          <p:cNvPr id="90" name="ndr-ribbon"/>
          <p:cNvSpPr/>
          <p:nvPr/>
        </p:nvSpPr>
        <p:spPr>
          <a:xfrm>
            <a:off x="502920" y="2232660"/>
            <a:ext cx="1168400" cy="279400"/>
          </a:xfrm>
          <a:prstGeom prst="parallelogram">
            <a:avLst>
              <a:gd name="adj" fmla="val 25000"/>
            </a:avLst>
          </a:prstGeom>
          <a:gradFill rotWithShape="1">
            <a:gsLst>
              <a:gs pos="0">
                <a:srgbClr val="3B82F6"/>
              </a:gs>
              <a:gs pos="100000">
                <a:srgbClr val="2E6BE6"/>
              </a:gs>
            </a:gsLst>
            <a:lin ang="0" scaled="1"/>
          </a:gradFill>
          <a:ln>
            <a:noFill/>
          </a:ln>
        </p:spPr>
      </p:sp>
      <p:sp>
        <p:nvSpPr>
          <p:cNvPr id="91" name="ndr-ribbon-t"/>
          <p:cNvSpPr txBox="1"/>
          <p:nvPr/>
        </p:nvSpPr>
        <p:spPr>
          <a:xfrm>
            <a:off x="502920" y="2232660"/>
            <a:ext cx="1066800" cy="279400"/>
          </a:xfrm>
          <a:prstGeom prst="rect">
            <a:avLst/>
          </a:prstGeom>
          <a:noFill/>
          <a:ln>
            <a:noFill/>
          </a:ln>
        </p:spPr>
        <p:txBody>
          <a:bodyPr wrap="none" lIns="0" tIns="0" rIns="0" bIns="0" rtlCol="0" anchor="ctr"/>
          <a:lstStyle/>
          <a:p>
            <a:pPr algn="ctr">
              <a:lnSpc>
                <a:spcPct val="120000"/>
              </a:lnSpc>
            </a:pPr>
            <a:r>
              <a:rPr lang="en-US" sz="950" b="1" noProof="1">
                <a:solidFill>
                  <a:srgbClr val="FFFFFF"/>
                </a:solidFill>
                <a:latin typeface="Arial" panose="020B0604020202020204" pitchFamily="34" charset="0"/>
                <a:ea typeface="黑体-简" panose="02000000000000000000" charset="-122"/>
              </a:rPr>
              <a:t>网络 / NDR</a:t>
            </a:r>
            <a:endParaRPr lang="en-US" sz="950" b="1" noProof="1">
              <a:solidFill>
                <a:srgbClr val="FFFFFF"/>
              </a:solidFill>
              <a:latin typeface="Arial" panose="020B0604020202020204" pitchFamily="34" charset="0"/>
              <a:ea typeface="黑体-简" panose="02000000000000000000" charset="-122"/>
            </a:endParaRPr>
          </a:p>
        </p:txBody>
      </p:sp>
      <p:sp>
        <p:nvSpPr>
          <p:cNvPr id="92" name="ndr-l1"/>
          <p:cNvSpPr txBox="1"/>
          <p:nvPr/>
        </p:nvSpPr>
        <p:spPr>
          <a:xfrm>
            <a:off x="655320" y="2613660"/>
            <a:ext cx="889000" cy="1524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MiSans"/>
                <a:ea typeface="MiSans"/>
              </a:rPr>
              <a:t>Sangfor </a:t>
            </a:r>
            <a:r>
              <a:rPr lang="en-US" sz="800" noProof="1">
                <a:solidFill>
                  <a:srgbClr val="8A94A6"/>
                </a:solidFill>
                <a:highlight>
                  <a:srgbClr val="FFFF00"/>
                </a:highlight>
                <a:latin typeface="MiSans"/>
                <a:ea typeface="MiSans"/>
              </a:rPr>
              <a:t>X</a:t>
            </a:r>
            <a:endParaRPr lang="en-US" sz="800" noProof="1">
              <a:solidFill>
                <a:srgbClr val="8A94A6"/>
              </a:solidFill>
              <a:highlight>
                <a:srgbClr val="FFFF00"/>
              </a:highlight>
              <a:latin typeface="MiSans"/>
              <a:ea typeface="MiSans"/>
            </a:endParaRPr>
          </a:p>
        </p:txBody>
      </p:sp>
      <p:sp>
        <p:nvSpPr>
          <p:cNvPr id="93" name="ndr-c1"/>
          <p:cNvSpPr/>
          <p:nvPr/>
        </p:nvSpPr>
        <p:spPr>
          <a:xfrm>
            <a:off x="655320" y="2816860"/>
            <a:ext cx="685800" cy="254000"/>
          </a:xfrm>
          <a:prstGeom prst="roundRect">
            <a:avLst>
              <a:gd name="adj" fmla="val 12000"/>
            </a:avLst>
          </a:prstGeom>
          <a:solidFill>
            <a:srgbClr val="FFFFFF"/>
          </a:solidFill>
          <a:ln w="12700">
            <a:solidFill>
              <a:srgbClr val="EDF0F5"/>
            </a:solidFill>
          </a:ln>
        </p:spPr>
      </p:sp>
      <p:sp>
        <p:nvSpPr>
          <p:cNvPr id="94" name="ndr-c1-t"/>
          <p:cNvSpPr txBox="1"/>
          <p:nvPr/>
        </p:nvSpPr>
        <p:spPr>
          <a:xfrm>
            <a:off x="655320" y="2816860"/>
            <a:ext cx="685800" cy="254000"/>
          </a:xfrm>
          <a:prstGeom prst="rect">
            <a:avLst/>
          </a:prstGeom>
          <a:noFill/>
          <a:ln>
            <a:noFill/>
          </a:ln>
        </p:spPr>
        <p:txBody>
          <a:bodyPr wrap="none" lIns="0" tIns="0" rIns="0" bIns="0" rtlCol="0" anchor="ctr"/>
          <a:lstStyle/>
          <a:p>
            <a:pPr algn="ctr">
              <a:lnSpc>
                <a:spcPct val="120000"/>
              </a:lnSpc>
            </a:pPr>
            <a:r>
              <a:rPr lang="en-US" sz="850" b="1" noProof="1">
                <a:solidFill>
                  <a:srgbClr val="29C193"/>
                </a:solidFill>
                <a:latin typeface="Arial" panose="020B0604020202020204" pitchFamily="34" charset="0"/>
                <a:ea typeface="黑体-简" panose="02000000000000000000" charset="-122"/>
              </a:rPr>
              <a:t>●</a:t>
            </a:r>
            <a:r>
              <a:rPr lang="en-US" sz="850" b="1" noProof="1">
                <a:solidFill>
                  <a:srgbClr val="1F2D3D"/>
                </a:solidFill>
                <a:latin typeface="Arial" panose="020B0604020202020204" pitchFamily="34" charset="0"/>
                <a:ea typeface="黑体-简" panose="02000000000000000000" charset="-122"/>
              </a:rPr>
              <a:t> AF * {{af_count}}</a:t>
            </a:r>
            <a:endParaRPr lang="en-US" sz="850" b="1" noProof="1">
              <a:solidFill>
                <a:srgbClr val="1F2D3D"/>
              </a:solidFill>
              <a:highlight>
                <a:srgbClr val="FFFF00"/>
              </a:highlight>
              <a:latin typeface="Arial" panose="020B0604020202020204" pitchFamily="34" charset="0"/>
              <a:ea typeface="黑体-简" panose="02000000000000000000" charset="-122"/>
            </a:endParaRPr>
          </a:p>
        </p:txBody>
      </p:sp>
      <p:sp>
        <p:nvSpPr>
          <p:cNvPr id="95" name="ndr-c2"/>
          <p:cNvSpPr/>
          <p:nvPr/>
        </p:nvSpPr>
        <p:spPr>
          <a:xfrm>
            <a:off x="1391920" y="2816860"/>
            <a:ext cx="685800" cy="254000"/>
          </a:xfrm>
          <a:prstGeom prst="roundRect">
            <a:avLst>
              <a:gd name="adj" fmla="val 12000"/>
            </a:avLst>
          </a:prstGeom>
          <a:solidFill>
            <a:srgbClr val="FFFFFF"/>
          </a:solidFill>
          <a:ln w="12700">
            <a:solidFill>
              <a:srgbClr val="EDF0F5"/>
            </a:solidFill>
          </a:ln>
        </p:spPr>
      </p:sp>
      <p:sp>
        <p:nvSpPr>
          <p:cNvPr id="96" name="ndr-c2-t"/>
          <p:cNvSpPr txBox="1"/>
          <p:nvPr/>
        </p:nvSpPr>
        <p:spPr>
          <a:xfrm>
            <a:off x="1391920" y="2816860"/>
            <a:ext cx="685800" cy="254000"/>
          </a:xfrm>
          <a:prstGeom prst="rect">
            <a:avLst/>
          </a:prstGeom>
          <a:noFill/>
          <a:ln>
            <a:noFill/>
          </a:ln>
        </p:spPr>
        <p:txBody>
          <a:bodyPr wrap="none" lIns="0" tIns="0" rIns="0" bIns="0" rtlCol="0" anchor="ctr"/>
          <a:lstStyle/>
          <a:p>
            <a:pPr algn="ctr">
              <a:lnSpc>
                <a:spcPct val="120000"/>
              </a:lnSpc>
            </a:pPr>
            <a:r>
              <a:rPr lang="en-US" sz="850" b="1" noProof="1">
                <a:solidFill>
                  <a:srgbClr val="2E6BE6"/>
                </a:solidFill>
                <a:latin typeface="Arial" panose="020B0604020202020204" pitchFamily="34" charset="0"/>
                <a:ea typeface="黑体-简" panose="02000000000000000000" charset="-122"/>
              </a:rPr>
              <a:t>●</a:t>
            </a:r>
            <a:r>
              <a:rPr lang="en-US" sz="850" b="1" noProof="1">
                <a:solidFill>
                  <a:srgbClr val="1F2D3D"/>
                </a:solidFill>
                <a:latin typeface="Arial" panose="020B0604020202020204" pitchFamily="34" charset="0"/>
                <a:ea typeface="黑体-简" panose="02000000000000000000" charset="-122"/>
              </a:rPr>
              <a:t> STA </a:t>
            </a:r>
            <a:r>
              <a:rPr lang="en-US" sz="850" b="1">
                <a:solidFill>
                  <a:srgbClr val="1F2D3D"/>
                </a:solidFill>
                <a:latin typeface="Arial" panose="020B0604020202020204" pitchFamily="34" charset="0"/>
                <a:ea typeface="黑体-简" panose="02000000000000000000" charset="-122"/>
                <a:sym typeface="+mn-ea"/>
              </a:rPr>
              <a:t>* {{sta_count}}</a:t>
            </a:r>
            <a:endParaRPr lang="en-US" sz="850" b="1" noProof="1">
              <a:solidFill>
                <a:srgbClr val="1F2D3D"/>
              </a:solidFill>
              <a:latin typeface="Arial" panose="020B0604020202020204" pitchFamily="34" charset="0"/>
              <a:ea typeface="黑体-简" panose="02000000000000000000" charset="-122"/>
            </a:endParaRPr>
          </a:p>
        </p:txBody>
      </p:sp>
      <p:sp>
        <p:nvSpPr>
          <p:cNvPr id="99" name="ndr-l2"/>
          <p:cNvSpPr txBox="1"/>
          <p:nvPr/>
        </p:nvSpPr>
        <p:spPr>
          <a:xfrm>
            <a:off x="655320" y="3197860"/>
            <a:ext cx="889000" cy="1524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MiSans"/>
                <a:ea typeface="MiSans"/>
              </a:rPr>
              <a:t>第三方 </a:t>
            </a:r>
            <a:r>
              <a:rPr lang="en-US" sz="800" noProof="1">
                <a:solidFill>
                  <a:srgbClr val="8A94A6"/>
                </a:solidFill>
                <a:highlight>
                  <a:srgbClr val="FFFF00"/>
                </a:highlight>
                <a:latin typeface="MiSans"/>
                <a:ea typeface="MiSans"/>
              </a:rPr>
              <a:t>X</a:t>
            </a:r>
            <a:endParaRPr lang="en-US" sz="800" noProof="1">
              <a:solidFill>
                <a:srgbClr val="8A94A6"/>
              </a:solidFill>
              <a:highlight>
                <a:srgbClr val="FFFF00"/>
              </a:highlight>
              <a:latin typeface="MiSans"/>
              <a:ea typeface="MiSans"/>
            </a:endParaRPr>
          </a:p>
        </p:txBody>
      </p:sp>
      <p:sp>
        <p:nvSpPr>
          <p:cNvPr id="100" name="ndr-c4"/>
          <p:cNvSpPr/>
          <p:nvPr/>
        </p:nvSpPr>
        <p:spPr>
          <a:xfrm>
            <a:off x="655320" y="3401060"/>
            <a:ext cx="685800" cy="254000"/>
          </a:xfrm>
          <a:prstGeom prst="roundRect">
            <a:avLst>
              <a:gd name="adj" fmla="val 12000"/>
            </a:avLst>
          </a:prstGeom>
          <a:solidFill>
            <a:srgbClr val="FFFFFF"/>
          </a:solidFill>
          <a:ln w="12700">
            <a:solidFill>
              <a:srgbClr val="EDF0F5"/>
            </a:solidFill>
          </a:ln>
        </p:spPr>
      </p:sp>
      <p:sp>
        <p:nvSpPr>
          <p:cNvPr id="101" name="ndr-c4-t"/>
          <p:cNvSpPr txBox="1"/>
          <p:nvPr/>
        </p:nvSpPr>
        <p:spPr>
          <a:xfrm>
            <a:off x="655320" y="3401060"/>
            <a:ext cx="685800" cy="254000"/>
          </a:xfrm>
          <a:prstGeom prst="rect">
            <a:avLst/>
          </a:prstGeom>
          <a:noFill/>
          <a:ln>
            <a:noFill/>
          </a:ln>
        </p:spPr>
        <p:txBody>
          <a:bodyPr wrap="none" lIns="0" tIns="0" rIns="0" bIns="0" rtlCol="0" anchor="ctr"/>
          <a:lstStyle/>
          <a:p>
            <a:pPr algn="ctr">
              <a:lnSpc>
                <a:spcPct val="120000"/>
              </a:lnSpc>
            </a:pPr>
            <a:r>
              <a:rPr lang="en-US" sz="850" b="1" noProof="1">
                <a:solidFill>
                  <a:srgbClr val="F26D5F"/>
                </a:solidFill>
                <a:highlight>
                  <a:srgbClr val="FFFF00"/>
                </a:highlight>
                <a:latin typeface="Arial" panose="020B0604020202020204" pitchFamily="34" charset="0"/>
                <a:ea typeface="黑体-简" panose="02000000000000000000" charset="-122"/>
              </a:rPr>
              <a:t>●</a:t>
            </a:r>
            <a:r>
              <a:rPr lang="en-US" sz="850" b="1" noProof="1">
                <a:solidFill>
                  <a:srgbClr val="1F2D3D"/>
                </a:solidFill>
                <a:highlight>
                  <a:srgbClr val="FFFF00"/>
                </a:highlight>
                <a:latin typeface="Arial" panose="020B0604020202020204" pitchFamily="34" charset="0"/>
                <a:ea typeface="黑体-简" panose="02000000000000000000" charset="-122"/>
              </a:rPr>
              <a:t> 安恒</a:t>
            </a:r>
            <a:endParaRPr lang="en-US" sz="850" b="1" noProof="1">
              <a:solidFill>
                <a:srgbClr val="1F2D3D"/>
              </a:solidFill>
              <a:highlight>
                <a:srgbClr val="FFFF00"/>
              </a:highlight>
              <a:latin typeface="Arial" panose="020B0604020202020204" pitchFamily="34" charset="0"/>
              <a:ea typeface="黑体-简" panose="02000000000000000000" charset="-122"/>
            </a:endParaRPr>
          </a:p>
        </p:txBody>
      </p:sp>
      <p:sp>
        <p:nvSpPr>
          <p:cNvPr id="102" name="ndr-c5"/>
          <p:cNvSpPr/>
          <p:nvPr/>
        </p:nvSpPr>
        <p:spPr>
          <a:xfrm>
            <a:off x="1391920" y="3401060"/>
            <a:ext cx="685800" cy="254000"/>
          </a:xfrm>
          <a:prstGeom prst="roundRect">
            <a:avLst>
              <a:gd name="adj" fmla="val 12000"/>
            </a:avLst>
          </a:prstGeom>
          <a:solidFill>
            <a:srgbClr val="FFFFFF"/>
          </a:solidFill>
          <a:ln w="12700">
            <a:solidFill>
              <a:srgbClr val="EDF0F5"/>
            </a:solidFill>
          </a:ln>
        </p:spPr>
      </p:sp>
      <p:sp>
        <p:nvSpPr>
          <p:cNvPr id="103" name="ndr-c5-t"/>
          <p:cNvSpPr txBox="1"/>
          <p:nvPr/>
        </p:nvSpPr>
        <p:spPr>
          <a:xfrm>
            <a:off x="1391920" y="3401060"/>
            <a:ext cx="685800" cy="254000"/>
          </a:xfrm>
          <a:prstGeom prst="rect">
            <a:avLst/>
          </a:prstGeom>
          <a:noFill/>
          <a:ln>
            <a:noFill/>
          </a:ln>
        </p:spPr>
        <p:txBody>
          <a:bodyPr wrap="none" lIns="0" tIns="0" rIns="0" bIns="0" rtlCol="0" anchor="ctr"/>
          <a:lstStyle/>
          <a:p>
            <a:pPr algn="ctr">
              <a:lnSpc>
                <a:spcPct val="120000"/>
              </a:lnSpc>
            </a:pPr>
            <a:r>
              <a:rPr lang="en-US" sz="850" b="1" noProof="1">
                <a:solidFill>
                  <a:srgbClr val="F26D5F"/>
                </a:solidFill>
                <a:highlight>
                  <a:srgbClr val="FFFF00"/>
                </a:highlight>
                <a:latin typeface="Arial" panose="020B0604020202020204" pitchFamily="34" charset="0"/>
                <a:ea typeface="黑体-简" panose="02000000000000000000" charset="-122"/>
              </a:rPr>
              <a:t>●</a:t>
            </a:r>
            <a:r>
              <a:rPr lang="en-US" sz="850" b="1" noProof="1">
                <a:solidFill>
                  <a:srgbClr val="1F2D3D"/>
                </a:solidFill>
                <a:highlight>
                  <a:srgbClr val="FFFF00"/>
                </a:highlight>
                <a:latin typeface="Arial" panose="020B0604020202020204" pitchFamily="34" charset="0"/>
                <a:ea typeface="黑体-简" panose="02000000000000000000" charset="-122"/>
              </a:rPr>
              <a:t> 微步</a:t>
            </a:r>
            <a:endParaRPr lang="en-US" sz="850" b="1" noProof="1">
              <a:solidFill>
                <a:srgbClr val="1F2D3D"/>
              </a:solidFill>
              <a:highlight>
                <a:srgbClr val="FFFF00"/>
              </a:highlight>
              <a:latin typeface="Arial" panose="020B0604020202020204" pitchFamily="34" charset="0"/>
              <a:ea typeface="黑体-简" panose="02000000000000000000" charset="-122"/>
            </a:endParaRPr>
          </a:p>
        </p:txBody>
      </p:sp>
      <p:sp>
        <p:nvSpPr>
          <p:cNvPr id="104" name="edr-bg"/>
          <p:cNvSpPr/>
          <p:nvPr/>
        </p:nvSpPr>
        <p:spPr>
          <a:xfrm>
            <a:off x="502920" y="4239260"/>
            <a:ext cx="1758315" cy="1778000"/>
          </a:xfrm>
          <a:prstGeom prst="roundRect">
            <a:avLst>
              <a:gd name="adj" fmla="val 5000"/>
            </a:avLst>
          </a:prstGeom>
          <a:solidFill>
            <a:srgbClr val="F7F9FC"/>
          </a:solidFill>
          <a:ln w="12700">
            <a:solidFill>
              <a:srgbClr val="EDF0F5"/>
            </a:solidFill>
          </a:ln>
        </p:spPr>
      </p:sp>
      <p:sp>
        <p:nvSpPr>
          <p:cNvPr id="105" name="edr-ribbon"/>
          <p:cNvSpPr/>
          <p:nvPr/>
        </p:nvSpPr>
        <p:spPr>
          <a:xfrm>
            <a:off x="502920" y="4239260"/>
            <a:ext cx="1168400" cy="279400"/>
          </a:xfrm>
          <a:prstGeom prst="parallelogram">
            <a:avLst>
              <a:gd name="adj" fmla="val 25000"/>
            </a:avLst>
          </a:prstGeom>
          <a:gradFill rotWithShape="1">
            <a:gsLst>
              <a:gs pos="0">
                <a:srgbClr val="3B82F6"/>
              </a:gs>
              <a:gs pos="100000">
                <a:srgbClr val="2E6BE6"/>
              </a:gs>
            </a:gsLst>
            <a:lin ang="0" scaled="1"/>
          </a:gradFill>
          <a:ln>
            <a:noFill/>
          </a:ln>
        </p:spPr>
      </p:sp>
      <p:sp>
        <p:nvSpPr>
          <p:cNvPr id="106" name="edr-ribbon-t"/>
          <p:cNvSpPr txBox="1"/>
          <p:nvPr/>
        </p:nvSpPr>
        <p:spPr>
          <a:xfrm>
            <a:off x="502920" y="4239260"/>
            <a:ext cx="1066800" cy="279400"/>
          </a:xfrm>
          <a:prstGeom prst="rect">
            <a:avLst/>
          </a:prstGeom>
          <a:noFill/>
          <a:ln>
            <a:noFill/>
          </a:ln>
        </p:spPr>
        <p:txBody>
          <a:bodyPr wrap="none" lIns="0" tIns="0" rIns="0" bIns="0" rtlCol="0" anchor="ctr"/>
          <a:lstStyle/>
          <a:p>
            <a:pPr algn="ctr">
              <a:lnSpc>
                <a:spcPct val="120000"/>
              </a:lnSpc>
            </a:pPr>
            <a:r>
              <a:rPr lang="en-US" sz="950" b="1" noProof="1">
                <a:solidFill>
                  <a:srgbClr val="FFFFFF"/>
                </a:solidFill>
                <a:latin typeface="Arial" panose="020B0604020202020204" pitchFamily="34" charset="0"/>
                <a:ea typeface="黑体-简" panose="02000000000000000000" charset="-122"/>
              </a:rPr>
              <a:t>端点 / EDR</a:t>
            </a:r>
            <a:endParaRPr lang="en-US" sz="950" b="1" noProof="1">
              <a:solidFill>
                <a:srgbClr val="FFFFFF"/>
              </a:solidFill>
              <a:latin typeface="Arial" panose="020B0604020202020204" pitchFamily="34" charset="0"/>
              <a:ea typeface="黑体-简" panose="02000000000000000000" charset="-122"/>
            </a:endParaRPr>
          </a:p>
        </p:txBody>
      </p:sp>
      <p:sp>
        <p:nvSpPr>
          <p:cNvPr id="122" name="edr-c1"/>
          <p:cNvSpPr/>
          <p:nvPr/>
        </p:nvSpPr>
        <p:spPr>
          <a:xfrm>
            <a:off x="655320" y="4823460"/>
            <a:ext cx="1423035" cy="254000"/>
          </a:xfrm>
          <a:prstGeom prst="roundRect">
            <a:avLst>
              <a:gd name="adj" fmla="val 12000"/>
            </a:avLst>
          </a:prstGeom>
          <a:solidFill>
            <a:srgbClr val="FFFFFF"/>
          </a:solidFill>
          <a:ln w="12700">
            <a:solidFill>
              <a:srgbClr val="EDF0F5"/>
            </a:solidFill>
          </a:ln>
        </p:spPr>
      </p:sp>
      <p:sp>
        <p:nvSpPr>
          <p:cNvPr id="123" name="edr-c1-t"/>
          <p:cNvSpPr txBox="1"/>
          <p:nvPr/>
        </p:nvSpPr>
        <p:spPr>
          <a:xfrm>
            <a:off x="650240" y="4823460"/>
            <a:ext cx="1423035" cy="254000"/>
          </a:xfrm>
          <a:prstGeom prst="rect">
            <a:avLst/>
          </a:prstGeom>
          <a:noFill/>
          <a:ln>
            <a:noFill/>
          </a:ln>
        </p:spPr>
        <p:txBody>
          <a:bodyPr wrap="none" lIns="0" tIns="0" rIns="0" bIns="0" rtlCol="0" anchor="ctr"/>
          <a:lstStyle/>
          <a:p>
            <a:pPr algn="l">
              <a:lnSpc>
                <a:spcPct val="120000"/>
              </a:lnSpc>
            </a:pPr>
            <a:r>
              <a:rPr lang="en-US" sz="850" b="1" noProof="1">
                <a:solidFill>
                  <a:srgbClr val="29C193"/>
                </a:solidFill>
                <a:latin typeface="Arial" panose="020B0604020202020204" pitchFamily="34" charset="0"/>
                <a:ea typeface="黑体-简" panose="02000000000000000000" charset="-122"/>
              </a:rPr>
              <a:t>    ●</a:t>
            </a:r>
            <a:r>
              <a:rPr lang="en-US" sz="850" b="1" noProof="1">
                <a:solidFill>
                  <a:srgbClr val="1F2D3D"/>
                </a:solidFill>
                <a:latin typeface="Arial" panose="020B0604020202020204" pitchFamily="34" charset="0"/>
                <a:ea typeface="黑体-简" panose="02000000000000000000" charset="-122"/>
              </a:rPr>
              <a:t> AES </a:t>
            </a:r>
            <a:r>
              <a:rPr lang="zh-CN" altLang="en-US" sz="850" b="1" noProof="1">
                <a:solidFill>
                  <a:srgbClr val="1F2D3D"/>
                </a:solidFill>
                <a:latin typeface="Arial" panose="020B0604020202020204" pitchFamily="34" charset="0"/>
                <a:ea typeface="黑体-简" panose="02000000000000000000" charset="-122"/>
              </a:rPr>
              <a:t>覆盖端点</a:t>
            </a:r>
            <a:r>
              <a:rPr lang="en-US" altLang="zh-CN" sz="850" b="1" noProof="1">
                <a:solidFill>
                  <a:srgbClr val="1F2D3D"/>
                </a:solidFill>
                <a:latin typeface="Arial" panose="020B0604020202020204" pitchFamily="34" charset="0"/>
                <a:ea typeface="黑体-简" panose="02000000000000000000" charset="-122"/>
              </a:rPr>
              <a:t> * {{aes_count}}</a:t>
            </a:r>
            <a:endParaRPr lang="en-US" altLang="zh-CN" sz="850" b="1" noProof="1">
              <a:solidFill>
                <a:srgbClr val="1F2D3D"/>
              </a:solidFill>
              <a:highlight>
                <a:srgbClr val="FFFF00"/>
              </a:highlight>
              <a:latin typeface="Arial" panose="020B0604020202020204" pitchFamily="34" charset="0"/>
              <a:ea typeface="黑体-简" panose="02000000000000000000" charset="-122"/>
            </a:endParaRPr>
          </a:p>
        </p:txBody>
      </p:sp>
      <p:sp>
        <p:nvSpPr>
          <p:cNvPr id="128" name="edr-l2"/>
          <p:cNvSpPr txBox="1"/>
          <p:nvPr/>
        </p:nvSpPr>
        <p:spPr>
          <a:xfrm>
            <a:off x="655320" y="5204460"/>
            <a:ext cx="889000" cy="1524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MiSans"/>
                <a:ea typeface="MiSans"/>
              </a:rPr>
              <a:t>第三方 </a:t>
            </a:r>
            <a:r>
              <a:rPr lang="en-US" sz="800" noProof="1">
                <a:solidFill>
                  <a:srgbClr val="8A94A6"/>
                </a:solidFill>
                <a:highlight>
                  <a:srgbClr val="FFFF00"/>
                </a:highlight>
                <a:latin typeface="MiSans"/>
                <a:ea typeface="MiSans"/>
              </a:rPr>
              <a:t>X</a:t>
            </a:r>
            <a:endParaRPr lang="en-US" sz="800" noProof="1">
              <a:solidFill>
                <a:srgbClr val="8A94A6"/>
              </a:solidFill>
              <a:highlight>
                <a:srgbClr val="FFFF00"/>
              </a:highlight>
              <a:latin typeface="MiSans"/>
              <a:ea typeface="MiSans"/>
            </a:endParaRPr>
          </a:p>
        </p:txBody>
      </p:sp>
      <p:sp>
        <p:nvSpPr>
          <p:cNvPr id="129" name="edr-c4"/>
          <p:cNvSpPr/>
          <p:nvPr/>
        </p:nvSpPr>
        <p:spPr>
          <a:xfrm>
            <a:off x="655320" y="5407660"/>
            <a:ext cx="685800" cy="254000"/>
          </a:xfrm>
          <a:prstGeom prst="roundRect">
            <a:avLst>
              <a:gd name="adj" fmla="val 12000"/>
            </a:avLst>
          </a:prstGeom>
          <a:solidFill>
            <a:srgbClr val="FFFFFF"/>
          </a:solidFill>
          <a:ln w="12700">
            <a:solidFill>
              <a:srgbClr val="EDF0F5"/>
            </a:solidFill>
          </a:ln>
        </p:spPr>
      </p:sp>
      <p:sp>
        <p:nvSpPr>
          <p:cNvPr id="130" name="edr-c4-t"/>
          <p:cNvSpPr txBox="1"/>
          <p:nvPr/>
        </p:nvSpPr>
        <p:spPr>
          <a:xfrm>
            <a:off x="655320" y="5407660"/>
            <a:ext cx="685800" cy="254000"/>
          </a:xfrm>
          <a:prstGeom prst="rect">
            <a:avLst/>
          </a:prstGeom>
          <a:noFill/>
          <a:ln>
            <a:noFill/>
          </a:ln>
        </p:spPr>
        <p:txBody>
          <a:bodyPr wrap="none" lIns="0" tIns="0" rIns="0" bIns="0" rtlCol="0" anchor="ctr"/>
          <a:lstStyle/>
          <a:p>
            <a:pPr algn="ctr">
              <a:lnSpc>
                <a:spcPct val="120000"/>
              </a:lnSpc>
            </a:pPr>
            <a:r>
              <a:rPr lang="en-US" sz="850" b="1" noProof="1">
                <a:solidFill>
                  <a:srgbClr val="F26D5F"/>
                </a:solidFill>
                <a:highlight>
                  <a:srgbClr val="FFFF00"/>
                </a:highlight>
                <a:latin typeface="Arial" panose="020B0604020202020204" pitchFamily="34" charset="0"/>
                <a:ea typeface="黑体-简" panose="02000000000000000000" charset="-122"/>
              </a:rPr>
              <a:t>●</a:t>
            </a:r>
            <a:r>
              <a:rPr lang="en-US" sz="850" b="1" noProof="1">
                <a:solidFill>
                  <a:srgbClr val="1F2D3D"/>
                </a:solidFill>
                <a:highlight>
                  <a:srgbClr val="FFFF00"/>
                </a:highlight>
                <a:latin typeface="Arial" panose="020B0604020202020204" pitchFamily="34" charset="0"/>
                <a:ea typeface="黑体-简" panose="02000000000000000000" charset="-122"/>
              </a:rPr>
              <a:t> </a:t>
            </a:r>
            <a:r>
              <a:rPr lang="zh-CN" altLang="en-US" sz="850" b="1" noProof="1">
                <a:solidFill>
                  <a:srgbClr val="1F2D3D"/>
                </a:solidFill>
                <a:highlight>
                  <a:srgbClr val="FFFF00"/>
                </a:highlight>
                <a:latin typeface="Arial" panose="020B0604020202020204" pitchFamily="34" charset="0"/>
                <a:ea typeface="黑体-简" panose="02000000000000000000" charset="-122"/>
              </a:rPr>
              <a:t>天擎</a:t>
            </a:r>
            <a:endParaRPr lang="zh-CN" altLang="en-US" sz="850" b="1" noProof="1">
              <a:solidFill>
                <a:srgbClr val="1F2D3D"/>
              </a:solidFill>
              <a:highlight>
                <a:srgbClr val="FFFF00"/>
              </a:highlight>
              <a:latin typeface="Arial" panose="020B0604020202020204" pitchFamily="34" charset="0"/>
              <a:ea typeface="黑体-简" panose="02000000000000000000" charset="-122"/>
            </a:endParaRPr>
          </a:p>
        </p:txBody>
      </p:sp>
      <p:sp>
        <p:nvSpPr>
          <p:cNvPr id="131" name="edr-c5"/>
          <p:cNvSpPr/>
          <p:nvPr/>
        </p:nvSpPr>
        <p:spPr>
          <a:xfrm>
            <a:off x="1391920" y="5407660"/>
            <a:ext cx="685800" cy="254000"/>
          </a:xfrm>
          <a:prstGeom prst="roundRect">
            <a:avLst>
              <a:gd name="adj" fmla="val 12000"/>
            </a:avLst>
          </a:prstGeom>
          <a:solidFill>
            <a:srgbClr val="FFFFFF"/>
          </a:solidFill>
          <a:ln w="12700">
            <a:solidFill>
              <a:srgbClr val="EDF0F5"/>
            </a:solidFill>
          </a:ln>
        </p:spPr>
      </p:sp>
      <p:sp>
        <p:nvSpPr>
          <p:cNvPr id="132" name="edr-c5-t"/>
          <p:cNvSpPr txBox="1"/>
          <p:nvPr/>
        </p:nvSpPr>
        <p:spPr>
          <a:xfrm>
            <a:off x="1391920" y="5407660"/>
            <a:ext cx="685800" cy="254000"/>
          </a:xfrm>
          <a:prstGeom prst="rect">
            <a:avLst/>
          </a:prstGeom>
          <a:noFill/>
          <a:ln>
            <a:noFill/>
          </a:ln>
        </p:spPr>
        <p:txBody>
          <a:bodyPr wrap="none" lIns="0" tIns="0" rIns="0" bIns="0" rtlCol="0" anchor="ctr"/>
          <a:lstStyle/>
          <a:p>
            <a:pPr algn="ctr">
              <a:lnSpc>
                <a:spcPct val="120000"/>
              </a:lnSpc>
            </a:pPr>
            <a:r>
              <a:rPr lang="en-US" sz="850" b="1" noProof="1">
                <a:solidFill>
                  <a:srgbClr val="F26D5F"/>
                </a:solidFill>
                <a:highlight>
                  <a:srgbClr val="FFFF00"/>
                </a:highlight>
                <a:latin typeface="Arial" panose="020B0604020202020204" pitchFamily="34" charset="0"/>
                <a:ea typeface="黑体-简" panose="02000000000000000000" charset="-122"/>
              </a:rPr>
              <a:t>●</a:t>
            </a:r>
            <a:r>
              <a:rPr lang="en-US" sz="850" b="1" noProof="1">
                <a:solidFill>
                  <a:srgbClr val="1F2D3D"/>
                </a:solidFill>
                <a:highlight>
                  <a:srgbClr val="FFFF00"/>
                </a:highlight>
                <a:latin typeface="Arial" panose="020B0604020202020204" pitchFamily="34" charset="0"/>
                <a:ea typeface="黑体-简" panose="02000000000000000000" charset="-122"/>
              </a:rPr>
              <a:t> </a:t>
            </a:r>
            <a:r>
              <a:rPr lang="zh-CN" altLang="en-US" sz="850" b="1" noProof="1">
                <a:solidFill>
                  <a:srgbClr val="1F2D3D"/>
                </a:solidFill>
                <a:highlight>
                  <a:srgbClr val="FFFF00"/>
                </a:highlight>
                <a:latin typeface="Arial" panose="020B0604020202020204" pitchFamily="34" charset="0"/>
                <a:ea typeface="黑体-简" panose="02000000000000000000" charset="-122"/>
              </a:rPr>
              <a:t>亚信</a:t>
            </a:r>
            <a:endParaRPr lang="zh-CN" altLang="en-US" sz="850" b="1" noProof="1">
              <a:solidFill>
                <a:srgbClr val="1F2D3D"/>
              </a:solidFill>
              <a:highlight>
                <a:srgbClr val="FFFF00"/>
              </a:highlight>
              <a:latin typeface="Arial" panose="020B0604020202020204" pitchFamily="34" charset="0"/>
              <a:ea typeface="黑体-简" panose="02000000000000000000" charset="-122"/>
            </a:endParaRPr>
          </a:p>
        </p:txBody>
      </p:sp>
      <p:sp>
        <p:nvSpPr>
          <p:cNvPr id="133" name="ndr-l1"/>
          <p:cNvSpPr txBox="1"/>
          <p:nvPr/>
        </p:nvSpPr>
        <p:spPr>
          <a:xfrm>
            <a:off x="618490" y="4620895"/>
            <a:ext cx="889000" cy="1524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MiSans"/>
                <a:ea typeface="MiSans"/>
              </a:rPr>
              <a:t>Sangfor </a:t>
            </a:r>
            <a:r>
              <a:rPr lang="en-US" sz="800" noProof="1">
                <a:solidFill>
                  <a:srgbClr val="8A94A6"/>
                </a:solidFill>
                <a:highlight>
                  <a:srgbClr val="FFFF00"/>
                </a:highlight>
                <a:latin typeface="MiSans"/>
                <a:ea typeface="MiSans"/>
              </a:rPr>
              <a:t>X</a:t>
            </a:r>
            <a:endParaRPr lang="en-US" sz="800" noProof="1">
              <a:solidFill>
                <a:srgbClr val="8A94A6"/>
              </a:solidFill>
              <a:highlight>
                <a:srgbClr val="FFFF00"/>
              </a:highlight>
              <a:latin typeface="MiSans"/>
              <a:ea typeface="MiSans"/>
            </a:endParaRPr>
          </a:p>
        </p:txBody>
      </p:sp>
      <p:sp>
        <p:nvSpPr>
          <p:cNvPr id="137" name="文本框 136"/>
          <p:cNvSpPr txBox="1"/>
          <p:nvPr/>
        </p:nvSpPr>
        <p:spPr>
          <a:xfrm>
            <a:off x="2607310" y="3883025"/>
            <a:ext cx="1128395" cy="353695"/>
          </a:xfrm>
          <a:prstGeom prst="rect">
            <a:avLst/>
          </a:prstGeom>
          <a:noFill/>
        </p:spPr>
        <p:txBody>
          <a:bodyPr wrap="square" lIns="0" tIns="0" rIns="0" bIns="0" rtlCol="0" anchor="t" anchorCtr="0">
            <a:noAutofit/>
          </a:bodyPr>
          <a:p>
            <a:pPr algn="r">
              <a:lnSpc>
                <a:spcPct val="100000"/>
              </a:lnSpc>
            </a:pPr>
            <a:r>
              <a:rPr lang="en-US" altLang="zh-CN" sz="2000" dirty="0">
                <a:solidFill>
                  <a:srgbClr val="0B4CBB"/>
                </a:solidFill>
                <a:latin typeface="Arial" panose="020B0604020202020204" pitchFamily="34" charset="0"/>
                <a:ea typeface="黑体-简" panose="02000000000000000000" charset="-122"/>
                <a:cs typeface="Source Han Sans CN Normal" panose="020B0600000000000000" charset="-122"/>
                <a:sym typeface="+mn-ea"/>
              </a:rPr>
              <a:t>{{xdr_log_count}}</a:t>
            </a:r>
            <a:r>
              <a:rPr lang="zh-CN" altLang="en-US" sz="2000" dirty="0">
                <a:solidFill>
                  <a:srgbClr val="0B4CBB"/>
                </a:solidFill>
                <a:latin typeface="Arial" panose="020B0604020202020204" pitchFamily="34" charset="0"/>
                <a:ea typeface="黑体-简" panose="02000000000000000000" charset="-122"/>
                <a:cs typeface="Source Han Sans CN Normal" panose="020B0600000000000000" charset="-122"/>
                <a:sym typeface="+mn-ea"/>
              </a:rPr>
              <a:t>条</a:t>
            </a:r>
            <a:endParaRPr lang="zh-CN" altLang="en-US" sz="2000" dirty="0">
              <a:solidFill>
                <a:srgbClr val="0B4CBB"/>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138" name="文本框 137"/>
          <p:cNvSpPr txBox="1"/>
          <p:nvPr/>
        </p:nvSpPr>
        <p:spPr>
          <a:xfrm>
            <a:off x="4055110" y="3885565"/>
            <a:ext cx="906145" cy="353695"/>
          </a:xfrm>
          <a:prstGeom prst="rect">
            <a:avLst/>
          </a:prstGeom>
          <a:noFill/>
        </p:spPr>
        <p:txBody>
          <a:bodyPr wrap="square" lIns="0" tIns="0" rIns="0" bIns="0" rtlCol="0" anchor="t" anchorCtr="0">
            <a:noAutofit/>
          </a:bodyPr>
          <a:p>
            <a:pPr algn="r">
              <a:lnSpc>
                <a:spcPct val="100000"/>
              </a:lnSpc>
            </a:pPr>
            <a:r>
              <a:rPr lang="en-US" altLang="zh-CN" sz="2000" dirty="0">
                <a:solidFill>
                  <a:srgbClr val="0B4CBB"/>
                </a:solidFill>
                <a:latin typeface="Arial" panose="020B0604020202020204" pitchFamily="34" charset="0"/>
                <a:ea typeface="黑体-简" panose="02000000000000000000" charset="-122"/>
                <a:cs typeface="Source Han Sans CN Normal" panose="020B0600000000000000" charset="-122"/>
                <a:sym typeface="+mn-ea"/>
              </a:rPr>
              <a:t>{{xdr_alert_count}}</a:t>
            </a:r>
            <a:r>
              <a:rPr lang="zh-CN" altLang="en-US" sz="2000" dirty="0">
                <a:solidFill>
                  <a:srgbClr val="0B4CBB"/>
                </a:solidFill>
                <a:latin typeface="Arial" panose="020B0604020202020204" pitchFamily="34" charset="0"/>
                <a:ea typeface="黑体-简" panose="02000000000000000000" charset="-122"/>
                <a:cs typeface="Source Han Sans CN Normal" panose="020B0600000000000000" charset="-122"/>
                <a:sym typeface="+mn-ea"/>
              </a:rPr>
              <a:t>条</a:t>
            </a:r>
            <a:endParaRPr lang="zh-CN" altLang="en-US" sz="2000" dirty="0">
              <a:solidFill>
                <a:srgbClr val="0B4CBB"/>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139" name="文本框 138"/>
          <p:cNvSpPr txBox="1"/>
          <p:nvPr/>
        </p:nvSpPr>
        <p:spPr>
          <a:xfrm>
            <a:off x="5203190" y="3885565"/>
            <a:ext cx="906145" cy="353695"/>
          </a:xfrm>
          <a:prstGeom prst="rect">
            <a:avLst/>
          </a:prstGeom>
          <a:noFill/>
        </p:spPr>
        <p:txBody>
          <a:bodyPr wrap="square" lIns="0" tIns="0" rIns="0" bIns="0" rtlCol="0" anchor="t" anchorCtr="0">
            <a:noAutofit/>
          </a:bodyPr>
          <a:p>
            <a:pPr algn="r">
              <a:lnSpc>
                <a:spcPct val="100000"/>
              </a:lnSpc>
            </a:pPr>
            <a:r>
              <a:rPr lang="en-US" altLang="zh-CN" sz="2000" dirty="0">
                <a:solidFill>
                  <a:srgbClr val="0B4CBB"/>
                </a:solidFill>
                <a:latin typeface="Arial" panose="020B0604020202020204" pitchFamily="34" charset="0"/>
                <a:ea typeface="黑体-简" panose="02000000000000000000" charset="-122"/>
                <a:cs typeface="Source Han Sans CN Normal" panose="020B0600000000000000" charset="-122"/>
                <a:sym typeface="+mn-ea"/>
              </a:rPr>
              <a:t>{{xdr_accident_count}}</a:t>
            </a:r>
            <a:r>
              <a:rPr lang="zh-CN" altLang="en-US" sz="2000" dirty="0">
                <a:solidFill>
                  <a:srgbClr val="0B4CBB"/>
                </a:solidFill>
                <a:latin typeface="Arial" panose="020B0604020202020204" pitchFamily="34" charset="0"/>
                <a:ea typeface="黑体-简" panose="02000000000000000000" charset="-122"/>
                <a:cs typeface="Source Han Sans CN Normal" panose="020B0600000000000000" charset="-122"/>
                <a:sym typeface="+mn-ea"/>
              </a:rPr>
              <a:t>条</a:t>
            </a:r>
            <a:endParaRPr lang="zh-CN" altLang="en-US" sz="2000" dirty="0">
              <a:solidFill>
                <a:srgbClr val="0B4CBB"/>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143" name="flow-e1-t"/>
          <p:cNvSpPr txBox="1"/>
          <p:nvPr/>
        </p:nvSpPr>
        <p:spPr>
          <a:xfrm>
            <a:off x="3867150" y="3885565"/>
            <a:ext cx="330200" cy="304800"/>
          </a:xfrm>
          <a:prstGeom prst="rect">
            <a:avLst/>
          </a:prstGeom>
          <a:noFill/>
          <a:ln>
            <a:noFill/>
          </a:ln>
        </p:spPr>
        <p:txBody>
          <a:bodyPr wrap="none" lIns="0" tIns="0" rIns="0" bIns="0" rtlCol="0" anchor="ctr"/>
          <a:lstStyle/>
          <a:p>
            <a:pPr algn="ctr">
              <a:lnSpc>
                <a:spcPct val="120000"/>
              </a:lnSpc>
            </a:pPr>
            <a:r>
              <a:rPr lang="en-US" sz="1400" noProof="1">
                <a:solidFill>
                  <a:srgbClr val="B7D0F5"/>
                </a:solidFill>
                <a:latin typeface="Arial" panose="020B0604020202020204" pitchFamily="34" charset="0"/>
                <a:ea typeface="黑体-简" panose="02000000000000000000" charset="-122"/>
              </a:rPr>
              <a:t>»</a:t>
            </a:r>
            <a:endParaRPr lang="en-US" sz="1400" noProof="1">
              <a:solidFill>
                <a:srgbClr val="B7D0F5"/>
              </a:solidFill>
              <a:latin typeface="Arial" panose="020B0604020202020204" pitchFamily="34" charset="0"/>
              <a:ea typeface="黑体-简" panose="02000000000000000000" charset="-122"/>
            </a:endParaRPr>
          </a:p>
        </p:txBody>
      </p:sp>
      <p:sp>
        <p:nvSpPr>
          <p:cNvPr id="144" name="flow-e1-t"/>
          <p:cNvSpPr txBox="1"/>
          <p:nvPr/>
        </p:nvSpPr>
        <p:spPr>
          <a:xfrm>
            <a:off x="4888865" y="3885565"/>
            <a:ext cx="330200" cy="304800"/>
          </a:xfrm>
          <a:prstGeom prst="rect">
            <a:avLst/>
          </a:prstGeom>
          <a:noFill/>
          <a:ln>
            <a:noFill/>
          </a:ln>
        </p:spPr>
        <p:txBody>
          <a:bodyPr wrap="none" lIns="0" tIns="0" rIns="0" bIns="0" rtlCol="0" anchor="ctr"/>
          <a:lstStyle/>
          <a:p>
            <a:pPr algn="ctr">
              <a:lnSpc>
                <a:spcPct val="120000"/>
              </a:lnSpc>
            </a:pPr>
            <a:r>
              <a:rPr lang="en-US" sz="1400" noProof="1">
                <a:solidFill>
                  <a:srgbClr val="B7D0F5"/>
                </a:solidFill>
                <a:latin typeface="Arial" panose="020B0604020202020204" pitchFamily="34" charset="0"/>
                <a:ea typeface="黑体-简" panose="02000000000000000000" charset="-122"/>
              </a:rPr>
              <a:t>»</a:t>
            </a:r>
            <a:endParaRPr lang="en-US" sz="1400" noProof="1">
              <a:solidFill>
                <a:srgbClr val="B7D0F5"/>
              </a:solidFill>
              <a:latin typeface="Arial" panose="020B0604020202020204" pitchFamily="34" charset="0"/>
              <a:ea typeface="黑体-简" panose="02000000000000000000" charset="-122"/>
            </a:endParaRPr>
          </a:p>
        </p:txBody>
      </p:sp>
      <p:sp>
        <p:nvSpPr>
          <p:cNvPr id="166" name="flow-d1"/>
          <p:cNvSpPr txBox="1"/>
          <p:nvPr/>
        </p:nvSpPr>
        <p:spPr>
          <a:xfrm>
            <a:off x="2979420" y="4294505"/>
            <a:ext cx="729615" cy="939800"/>
          </a:xfrm>
          <a:prstGeom prst="rect">
            <a:avLst/>
          </a:prstGeom>
          <a:noFill/>
          <a:ln>
            <a:noFill/>
          </a:ln>
        </p:spPr>
        <p:txBody>
          <a:bodyPr wrap="square" lIns="0" tIns="0" rIns="0" bIns="0" rtlCol="0" anchor="t"/>
          <a:lstStyle/>
          <a:p>
            <a:pPr algn="l">
              <a:lnSpc>
                <a:spcPct val="150000"/>
              </a:lnSpc>
            </a:pPr>
            <a:r>
              <a:rPr lang="en-US" sz="800" noProof="1">
                <a:solidFill>
                  <a:schemeClr val="tx1"/>
                </a:solidFill>
                <a:latin typeface="Arial" panose="020B0604020202020204" pitchFamily="34" charset="0"/>
                <a:ea typeface="黑体-简" panose="02000000000000000000" charset="-122"/>
              </a:rPr>
              <a:t>网络、端点、边界设备及第三方平台的多源安全日志数据</a:t>
            </a:r>
            <a:endParaRPr lang="en-US" sz="800" noProof="1">
              <a:solidFill>
                <a:schemeClr val="tx1"/>
              </a:solidFill>
              <a:latin typeface="Arial" panose="020B0604020202020204" pitchFamily="34" charset="0"/>
              <a:ea typeface="黑体-简" panose="02000000000000000000" charset="-122"/>
            </a:endParaRPr>
          </a:p>
        </p:txBody>
      </p:sp>
      <p:sp>
        <p:nvSpPr>
          <p:cNvPr id="167" name="flow-d2"/>
          <p:cNvSpPr txBox="1"/>
          <p:nvPr/>
        </p:nvSpPr>
        <p:spPr>
          <a:xfrm>
            <a:off x="4295140" y="4294505"/>
            <a:ext cx="682625" cy="837565"/>
          </a:xfrm>
          <a:prstGeom prst="rect">
            <a:avLst/>
          </a:prstGeom>
          <a:noFill/>
          <a:ln>
            <a:noFill/>
          </a:ln>
        </p:spPr>
        <p:txBody>
          <a:bodyPr wrap="square" lIns="0" tIns="0" rIns="0" bIns="0" rtlCol="0" anchor="t"/>
          <a:lstStyle/>
          <a:p>
            <a:pPr algn="l">
              <a:lnSpc>
                <a:spcPct val="150000"/>
              </a:lnSpc>
            </a:pPr>
            <a:r>
              <a:rPr lang="en-US" sz="800" noProof="1">
                <a:solidFill>
                  <a:schemeClr val="tx1"/>
                </a:solidFill>
                <a:latin typeface="Arial" panose="020B0604020202020204" pitchFamily="34" charset="0"/>
                <a:ea typeface="黑体-简" panose="02000000000000000000" charset="-122"/>
              </a:rPr>
              <a:t>智能</a:t>
            </a:r>
            <a:r>
              <a:rPr lang="zh-CN" altLang="en-US" sz="800" noProof="1">
                <a:solidFill>
                  <a:schemeClr val="tx1"/>
                </a:solidFill>
                <a:latin typeface="Arial" panose="020B0604020202020204" pitchFamily="34" charset="0"/>
                <a:ea typeface="黑体-简" panose="02000000000000000000" charset="-122"/>
              </a:rPr>
              <a:t>关联</a:t>
            </a:r>
            <a:r>
              <a:rPr lang="en-US" sz="800" noProof="1">
                <a:solidFill>
                  <a:schemeClr val="tx1"/>
                </a:solidFill>
                <a:latin typeface="Arial" panose="020B0604020202020204" pitchFamily="34" charset="0"/>
                <a:ea typeface="黑体-简" panose="02000000000000000000" charset="-122"/>
              </a:rPr>
              <a:t>、去重降噪海量日志收敛为有效安全告警</a:t>
            </a:r>
            <a:endParaRPr lang="en-US" sz="800" noProof="1">
              <a:solidFill>
                <a:schemeClr val="tx1"/>
              </a:solidFill>
              <a:latin typeface="Arial" panose="020B0604020202020204" pitchFamily="34" charset="0"/>
              <a:ea typeface="黑体-简" panose="02000000000000000000" charset="-122"/>
            </a:endParaRPr>
          </a:p>
        </p:txBody>
      </p:sp>
      <p:sp>
        <p:nvSpPr>
          <p:cNvPr id="168" name="flow-d3"/>
          <p:cNvSpPr txBox="1"/>
          <p:nvPr/>
        </p:nvSpPr>
        <p:spPr>
          <a:xfrm>
            <a:off x="5365750" y="4294505"/>
            <a:ext cx="669290" cy="782320"/>
          </a:xfrm>
          <a:prstGeom prst="rect">
            <a:avLst/>
          </a:prstGeom>
          <a:noFill/>
          <a:ln>
            <a:noFill/>
          </a:ln>
        </p:spPr>
        <p:txBody>
          <a:bodyPr wrap="square" lIns="0" tIns="0" rIns="0" bIns="0" rtlCol="0" anchor="t"/>
          <a:lstStyle/>
          <a:p>
            <a:pPr algn="l">
              <a:lnSpc>
                <a:spcPct val="150000"/>
              </a:lnSpc>
            </a:pPr>
            <a:r>
              <a:rPr lang="en-US" sz="800" noProof="1">
                <a:solidFill>
                  <a:schemeClr val="tx1"/>
                </a:solidFill>
                <a:latin typeface="Arial" panose="020B0604020202020204" pitchFamily="34" charset="0"/>
                <a:ea typeface="黑体-简" panose="02000000000000000000" charset="-122"/>
              </a:rPr>
              <a:t>聚合分析、安全研判，识别形成安全事件</a:t>
            </a:r>
            <a:endParaRPr lang="en-US" sz="800" noProof="1">
              <a:solidFill>
                <a:schemeClr val="tx1"/>
              </a:solidFill>
              <a:latin typeface="Arial" panose="020B0604020202020204" pitchFamily="34" charset="0"/>
              <a:ea typeface="黑体-简" panose="02000000000000000000" charset="-122"/>
            </a:endParaRPr>
          </a:p>
        </p:txBody>
      </p:sp>
      <p:sp>
        <p:nvSpPr>
          <p:cNvPr id="156" name="矩形 155"/>
          <p:cNvSpPr/>
          <p:nvPr>
            <p:custDataLst>
              <p:tags r:id="rId5"/>
            </p:custDataLst>
          </p:nvPr>
        </p:nvSpPr>
        <p:spPr>
          <a:xfrm>
            <a:off x="7858760" y="4236720"/>
            <a:ext cx="3829685" cy="827405"/>
          </a:xfrm>
          <a:prstGeom prst="rect">
            <a:avLst/>
          </a:prstGeom>
          <a:gradFill>
            <a:gsLst>
              <a:gs pos="0">
                <a:schemeClr val="accent4">
                  <a:lumMod val="20000"/>
                  <a:lumOff val="80000"/>
                </a:schemeClr>
              </a:gs>
              <a:gs pos="100000">
                <a:schemeClr val="bg1"/>
              </a:gs>
            </a:gsLst>
            <a:lin ang="0" scaled="0"/>
          </a:gradFill>
        </p:spPr>
        <p:txBody>
          <a:bodyPr wrap="square" lIns="0" tIns="0" rIns="0" bIns="0" rtlCol="0" anchor="ctr" anchorCtr="0">
            <a:noAutofit/>
          </a:bodyPr>
          <a:p>
            <a:pPr algn="l">
              <a:spcBef>
                <a:spcPct val="0"/>
              </a:spcBef>
              <a:spcAft>
                <a:spcPct val="0"/>
              </a:spcAft>
            </a:pPr>
            <a:r>
              <a:rPr lang="en-US" altLang="zh-CN" sz="1200">
                <a:solidFill>
                  <a:schemeClr val="accent2"/>
                </a:solidFill>
                <a:latin typeface="Source Han Sans CN Medium" panose="020B0600000000000000" charset="-122"/>
                <a:ea typeface="Source Han Sans CN Medium" panose="020B0600000000000000" charset="-122"/>
                <a:cs typeface="+mn-ea"/>
                <a:sym typeface="+mn-ea"/>
              </a:rPr>
              <a:t>     </a:t>
            </a:r>
            <a:r>
              <a:rPr lang="en-US" altLang="zh-CN" sz="1600">
                <a:solidFill>
                  <a:schemeClr val="accent2"/>
                </a:solidFill>
                <a:latin typeface="Source Han Sans CN Medium" panose="020B0600000000000000" charset="-122"/>
                <a:ea typeface="Source Han Sans CN Medium" panose="020B0600000000000000" charset="-122"/>
                <a:cs typeface="+mn-ea"/>
                <a:sym typeface="+mn-ea"/>
              </a:rPr>
              <a:t> </a:t>
            </a:r>
            <a:endParaRPr lang="zh-CN" altLang="en-US" sz="1600">
              <a:solidFill>
                <a:schemeClr val="accent2"/>
              </a:solidFill>
              <a:latin typeface="Source Han Sans CN Medium" panose="020B0600000000000000" charset="-122"/>
              <a:ea typeface="Source Han Sans CN Medium" panose="020B0600000000000000" charset="-122"/>
              <a:cs typeface="+mn-ea"/>
              <a:sym typeface="+mn-ea"/>
            </a:endParaRPr>
          </a:p>
        </p:txBody>
      </p:sp>
      <p:sp>
        <p:nvSpPr>
          <p:cNvPr id="157" name="矩形 156"/>
          <p:cNvSpPr/>
          <p:nvPr>
            <p:custDataLst>
              <p:tags r:id="rId6"/>
            </p:custDataLst>
          </p:nvPr>
        </p:nvSpPr>
        <p:spPr>
          <a:xfrm>
            <a:off x="7823200" y="4236720"/>
            <a:ext cx="36195" cy="828040"/>
          </a:xfrm>
          <a:prstGeom prst="rect">
            <a:avLst/>
          </a:prstGeom>
          <a:solidFill>
            <a:srgbClr val="FFC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solidFill>
                <a:schemeClr val="lt1"/>
              </a:solidFill>
              <a:latin typeface="微软雅黑" panose="020B0503020204020204" charset="-122"/>
              <a:ea typeface="微软雅黑" panose="020B0503020204020204" charset="-122"/>
            </a:endParaRPr>
          </a:p>
        </p:txBody>
      </p:sp>
      <p:sp>
        <p:nvSpPr>
          <p:cNvPr id="173" name="rc-n1"/>
          <p:cNvSpPr txBox="1"/>
          <p:nvPr/>
        </p:nvSpPr>
        <p:spPr>
          <a:xfrm>
            <a:off x="10106660" y="4470400"/>
            <a:ext cx="828040" cy="360045"/>
          </a:xfrm>
          <a:prstGeom prst="rect">
            <a:avLst/>
          </a:prstGeom>
          <a:noFill/>
          <a:ln>
            <a:noFill/>
          </a:ln>
        </p:spPr>
        <p:txBody>
          <a:bodyPr wrap="none" lIns="0" tIns="0" rIns="0" bIns="0" rtlCol="0" anchor="ctr" anchorCtr="0"/>
          <a:lstStyle/>
          <a:p>
            <a:pPr algn="l">
              <a:lnSpc>
                <a:spcPct val="120000"/>
              </a:lnSpc>
            </a:pPr>
            <a:r>
              <a:rPr lang="en-US" altLang="zh-CN" sz="1600" b="1" noProof="1">
                <a:solidFill>
                  <a:srgbClr val="2E6BE6"/>
                </a:solidFill>
                <a:latin typeface="Arial" panose="020B0604020202020204" pitchFamily="34" charset="0"/>
                <a:ea typeface="黑体-简" panose="02000000000000000000" charset="-122"/>
              </a:rPr>
              <a:t>{{disposing_event_count}}</a:t>
            </a:r>
            <a:r>
              <a:rPr lang="en-US" sz="900" noProof="1">
                <a:solidFill>
                  <a:srgbClr val="1F2D3D"/>
                </a:solidFill>
                <a:latin typeface="Arial" panose="020B0604020202020204" pitchFamily="34" charset="0"/>
                <a:ea typeface="黑体-简" panose="02000000000000000000" charset="-122"/>
              </a:rPr>
              <a:t> 条</a:t>
            </a:r>
            <a:endParaRPr lang="en-US" sz="1600" noProof="1">
              <a:latin typeface="Arial" panose="020B0604020202020204" pitchFamily="34" charset="0"/>
              <a:ea typeface="黑体-简" panose="02000000000000000000" charset="-122"/>
            </a:endParaRPr>
          </a:p>
        </p:txBody>
      </p:sp>
      <p:sp>
        <p:nvSpPr>
          <p:cNvPr id="160" name="矩形 159"/>
          <p:cNvSpPr/>
          <p:nvPr>
            <p:custDataLst>
              <p:tags r:id="rId7"/>
            </p:custDataLst>
          </p:nvPr>
        </p:nvSpPr>
        <p:spPr>
          <a:xfrm>
            <a:off x="7865745" y="5469890"/>
            <a:ext cx="3822700" cy="837565"/>
          </a:xfrm>
          <a:prstGeom prst="rect">
            <a:avLst/>
          </a:prstGeom>
          <a:gradFill>
            <a:gsLst>
              <a:gs pos="0">
                <a:schemeClr val="accent2">
                  <a:lumMod val="40000"/>
                  <a:lumOff val="60000"/>
                </a:schemeClr>
              </a:gs>
              <a:gs pos="100000">
                <a:schemeClr val="bg1"/>
              </a:gs>
            </a:gsLst>
            <a:lin ang="0" scaled="0"/>
          </a:gradFill>
        </p:spPr>
        <p:txBody>
          <a:bodyPr wrap="square" lIns="0" tIns="0" rIns="0" bIns="0" rtlCol="0" anchor="ctr" anchorCtr="0">
            <a:noAutofit/>
          </a:bodyPr>
          <a:p>
            <a:pPr algn="l">
              <a:spcBef>
                <a:spcPct val="0"/>
              </a:spcBef>
              <a:spcAft>
                <a:spcPct val="0"/>
              </a:spcAft>
            </a:pPr>
            <a:r>
              <a:rPr lang="en-US" altLang="zh-CN" sz="1200">
                <a:solidFill>
                  <a:srgbClr val="FF0000"/>
                </a:solidFill>
                <a:latin typeface="Source Han Sans CN Medium" panose="020B0600000000000000" charset="-122"/>
                <a:ea typeface="Source Han Sans CN Medium" panose="020B0600000000000000" charset="-122"/>
                <a:cs typeface="+mn-ea"/>
                <a:sym typeface="+mn-ea"/>
              </a:rPr>
              <a:t>    </a:t>
            </a:r>
            <a:endParaRPr lang="zh-CN" altLang="en-US" sz="1200">
              <a:solidFill>
                <a:srgbClr val="FF0000"/>
              </a:solidFill>
              <a:latin typeface="Source Han Sans CN Medium" panose="020B0600000000000000" charset="-122"/>
              <a:ea typeface="Source Han Sans CN Medium" panose="020B0600000000000000" charset="-122"/>
              <a:cs typeface="+mn-ea"/>
              <a:sym typeface="+mn-ea"/>
            </a:endParaRPr>
          </a:p>
        </p:txBody>
      </p:sp>
      <p:sp>
        <p:nvSpPr>
          <p:cNvPr id="161" name="矩形 160"/>
          <p:cNvSpPr/>
          <p:nvPr>
            <p:custDataLst>
              <p:tags r:id="rId8"/>
            </p:custDataLst>
          </p:nvPr>
        </p:nvSpPr>
        <p:spPr>
          <a:xfrm>
            <a:off x="7830185" y="5469890"/>
            <a:ext cx="36195" cy="828040"/>
          </a:xfrm>
          <a:prstGeom prst="rect">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solidFill>
                <a:schemeClr val="lt1"/>
              </a:solidFill>
              <a:latin typeface="微软雅黑" panose="020B0503020204020204" charset="-122"/>
              <a:ea typeface="微软雅黑" panose="020B0503020204020204" charset="-122"/>
            </a:endParaRPr>
          </a:p>
        </p:txBody>
      </p:sp>
      <p:sp>
        <p:nvSpPr>
          <p:cNvPr id="180" name="rc-n1"/>
          <p:cNvSpPr txBox="1"/>
          <p:nvPr/>
        </p:nvSpPr>
        <p:spPr>
          <a:xfrm>
            <a:off x="10106660" y="5708650"/>
            <a:ext cx="828040" cy="360045"/>
          </a:xfrm>
          <a:prstGeom prst="rect">
            <a:avLst/>
          </a:prstGeom>
          <a:noFill/>
          <a:ln>
            <a:noFill/>
          </a:ln>
        </p:spPr>
        <p:txBody>
          <a:bodyPr wrap="none" lIns="0" tIns="0" rIns="0" bIns="0" rtlCol="0" anchor="ctr" anchorCtr="0"/>
          <a:lstStyle/>
          <a:p>
            <a:pPr algn="l">
              <a:lnSpc>
                <a:spcPct val="120000"/>
              </a:lnSpc>
            </a:pPr>
            <a:r>
              <a:rPr lang="en-US" altLang="zh-CN" sz="1600" b="1" noProof="1">
                <a:solidFill>
                  <a:srgbClr val="2E6BE6"/>
                </a:solidFill>
                <a:latin typeface="Arial" panose="020B0604020202020204" pitchFamily="34" charset="0"/>
                <a:ea typeface="黑体-简" panose="02000000000000000000" charset="-122"/>
              </a:rPr>
              <a:t>{{pending_dispose_event_count}}</a:t>
            </a:r>
            <a:r>
              <a:rPr lang="en-US" sz="900" noProof="1">
                <a:solidFill>
                  <a:srgbClr val="1F2D3D"/>
                </a:solidFill>
                <a:latin typeface="Arial" panose="020B0604020202020204" pitchFamily="34" charset="0"/>
                <a:ea typeface="黑体-简" panose="02000000000000000000" charset="-122"/>
              </a:rPr>
              <a:t> 条</a:t>
            </a:r>
            <a:endParaRPr lang="en-US" sz="1600" noProof="1">
              <a:latin typeface="Arial" panose="020B0604020202020204" pitchFamily="34" charset="0"/>
              <a:ea typeface="黑体-简" panose="02000000000000000000" charset="-122"/>
            </a:endParaRPr>
          </a:p>
        </p:txBody>
      </p:sp>
      <p:grpSp>
        <p:nvGrpSpPr>
          <p:cNvPr id="190" name="组合 189"/>
          <p:cNvGrpSpPr/>
          <p:nvPr/>
        </p:nvGrpSpPr>
        <p:grpSpPr>
          <a:xfrm>
            <a:off x="7823200" y="1948180"/>
            <a:ext cx="3872230" cy="1884045"/>
            <a:chOff x="12320" y="3068"/>
            <a:chExt cx="6098" cy="2967"/>
          </a:xfrm>
        </p:grpSpPr>
        <p:sp>
          <p:nvSpPr>
            <p:cNvPr id="151" name="矩形 150"/>
            <p:cNvSpPr/>
            <p:nvPr>
              <p:custDataLst>
                <p:tags r:id="rId9"/>
              </p:custDataLst>
            </p:nvPr>
          </p:nvSpPr>
          <p:spPr>
            <a:xfrm>
              <a:off x="12387" y="3068"/>
              <a:ext cx="6031" cy="2966"/>
            </a:xfrm>
            <a:prstGeom prst="rect">
              <a:avLst/>
            </a:prstGeom>
            <a:gradFill>
              <a:gsLst>
                <a:gs pos="0">
                  <a:schemeClr val="accent6">
                    <a:lumMod val="20000"/>
                    <a:lumOff val="80000"/>
                  </a:schemeClr>
                </a:gs>
                <a:gs pos="100000">
                  <a:schemeClr val="bg1"/>
                </a:gs>
              </a:gsLst>
              <a:lin ang="0" scaled="0"/>
            </a:gradFill>
          </p:spPr>
          <p:txBody>
            <a:bodyPr wrap="square" lIns="0" tIns="0" rIns="0" bIns="0" rtlCol="0" anchor="ctr" anchorCtr="0">
              <a:noAutofit/>
            </a:bodyPr>
            <a:p>
              <a:pPr algn="l">
                <a:spcBef>
                  <a:spcPct val="0"/>
                </a:spcBef>
                <a:spcAft>
                  <a:spcPct val="0"/>
                </a:spcAft>
              </a:pPr>
              <a:r>
                <a:rPr lang="en-US" altLang="zh-CN" sz="1600">
                  <a:solidFill>
                    <a:schemeClr val="accent6"/>
                  </a:solidFill>
                  <a:latin typeface="Source Han Sans CN Medium" panose="020B0600000000000000" charset="-122"/>
                  <a:ea typeface="Source Han Sans CN Medium" panose="020B0600000000000000" charset="-122"/>
                  <a:cs typeface="+mn-ea"/>
                  <a:sym typeface="+mn-ea"/>
                </a:rPr>
                <a:t>      </a:t>
              </a:r>
              <a:endParaRPr lang="zh-CN" altLang="en-US" sz="1600">
                <a:solidFill>
                  <a:schemeClr val="accent6"/>
                </a:solidFill>
                <a:latin typeface="Source Han Sans CN Medium" panose="020B0600000000000000" charset="-122"/>
                <a:ea typeface="Source Han Sans CN Medium" panose="020B0600000000000000" charset="-122"/>
                <a:cs typeface="+mn-ea"/>
                <a:sym typeface="+mn-ea"/>
              </a:endParaRPr>
            </a:p>
          </p:txBody>
        </p:sp>
        <p:sp>
          <p:nvSpPr>
            <p:cNvPr id="148" name="rc-i1"/>
            <p:cNvSpPr/>
            <p:nvPr/>
          </p:nvSpPr>
          <p:spPr>
            <a:xfrm>
              <a:off x="12477" y="4129"/>
              <a:ext cx="283" cy="283"/>
            </a:xfrm>
            <a:custGeom>
              <a:avLst/>
              <a:gdLst/>
              <a:ahLst/>
              <a:cxnLst/>
              <a:rect l="l" t="t" r="r" b="b"/>
              <a:pathLst>
                <a:path w="384" h="512">
                  <a:moveTo>
                    <a:pt x="55" y="73"/>
                  </a:moveTo>
                  <a:cubicBezTo>
                    <a:pt x="43" y="61"/>
                    <a:pt x="22" y="61"/>
                    <a:pt x="10" y="73"/>
                  </a:cubicBezTo>
                  <a:cubicBezTo>
                    <a:pt x="-3" y="86"/>
                    <a:pt x="-3" y="106"/>
                    <a:pt x="10" y="119"/>
                  </a:cubicBezTo>
                  <a:lnTo>
                    <a:pt x="147" y="256"/>
                  </a:lnTo>
                  <a:lnTo>
                    <a:pt x="10" y="393"/>
                  </a:lnTo>
                  <a:cubicBezTo>
                    <a:pt x="-3" y="406"/>
                    <a:pt x="-3" y="426"/>
                    <a:pt x="10" y="439"/>
                  </a:cubicBezTo>
                  <a:cubicBezTo>
                    <a:pt x="22" y="451"/>
                    <a:pt x="43" y="451"/>
                    <a:pt x="55" y="439"/>
                  </a:cubicBezTo>
                  <a:lnTo>
                    <a:pt x="193" y="301"/>
                  </a:lnTo>
                  <a:lnTo>
                    <a:pt x="330" y="439"/>
                  </a:lnTo>
                  <a:cubicBezTo>
                    <a:pt x="342" y="451"/>
                    <a:pt x="363" y="451"/>
                    <a:pt x="375" y="439"/>
                  </a:cubicBezTo>
                  <a:cubicBezTo>
                    <a:pt x="388" y="426"/>
                    <a:pt x="388" y="406"/>
                    <a:pt x="375" y="393"/>
                  </a:cubicBezTo>
                  <a:lnTo>
                    <a:pt x="238" y="256"/>
                  </a:lnTo>
                  <a:lnTo>
                    <a:pt x="375" y="119"/>
                  </a:lnTo>
                  <a:cubicBezTo>
                    <a:pt x="388" y="106"/>
                    <a:pt x="388" y="86"/>
                    <a:pt x="375" y="73"/>
                  </a:cubicBezTo>
                  <a:cubicBezTo>
                    <a:pt x="363" y="61"/>
                    <a:pt x="342" y="61"/>
                    <a:pt x="330" y="73"/>
                  </a:cubicBezTo>
                  <a:lnTo>
                    <a:pt x="193" y="211"/>
                  </a:lnTo>
                  <a:lnTo>
                    <a:pt x="55" y="73"/>
                  </a:lnTo>
                  <a:close/>
                </a:path>
              </a:pathLst>
            </a:custGeom>
            <a:solidFill>
              <a:schemeClr val="accent6"/>
            </a:solidFill>
            <a:ln>
              <a:noFill/>
            </a:ln>
          </p:spPr>
          <p:txBody>
            <a:bodyPr/>
            <a:p>
              <a:r>
                <a:rPr lang="en-US" altLang="zh-CN"/>
                <a:t> </a:t>
              </a:r>
              <a:endParaRPr lang="en-US" altLang="zh-CN"/>
            </a:p>
          </p:txBody>
        </p:sp>
        <p:sp>
          <p:nvSpPr>
            <p:cNvPr id="149" name="rc-i2"/>
            <p:cNvSpPr/>
            <p:nvPr/>
          </p:nvSpPr>
          <p:spPr>
            <a:xfrm>
              <a:off x="12477" y="4769"/>
              <a:ext cx="283" cy="283"/>
            </a:xfrm>
            <a:custGeom>
              <a:avLst/>
              <a:gdLst/>
              <a:ahLst/>
              <a:cxnLst/>
              <a:rect l="l" t="t" r="r" b="b"/>
              <a:pathLst>
                <a:path w="512" h="512">
                  <a:moveTo>
                    <a:pt x="256" y="0"/>
                  </a:moveTo>
                  <a:cubicBezTo>
                    <a:pt x="261" y="0"/>
                    <a:pt x="265" y="1"/>
                    <a:pt x="269" y="3"/>
                  </a:cubicBezTo>
                  <a:lnTo>
                    <a:pt x="458" y="83"/>
                  </a:lnTo>
                  <a:cubicBezTo>
                    <a:pt x="480" y="92"/>
                    <a:pt x="496" y="114"/>
                    <a:pt x="496" y="140"/>
                  </a:cubicBezTo>
                  <a:cubicBezTo>
                    <a:pt x="496" y="239"/>
                    <a:pt x="455" y="421"/>
                    <a:pt x="283" y="503"/>
                  </a:cubicBezTo>
                  <a:cubicBezTo>
                    <a:pt x="266" y="511"/>
                    <a:pt x="246" y="511"/>
                    <a:pt x="230" y="503"/>
                  </a:cubicBezTo>
                  <a:cubicBezTo>
                    <a:pt x="57" y="421"/>
                    <a:pt x="17" y="239"/>
                    <a:pt x="16" y="140"/>
                  </a:cubicBezTo>
                  <a:cubicBezTo>
                    <a:pt x="16" y="114"/>
                    <a:pt x="32" y="92"/>
                    <a:pt x="54" y="83"/>
                  </a:cubicBezTo>
                  <a:lnTo>
                    <a:pt x="243" y="3"/>
                  </a:lnTo>
                  <a:cubicBezTo>
                    <a:pt x="247" y="1"/>
                    <a:pt x="251" y="0"/>
                    <a:pt x="256" y="0"/>
                  </a:cubicBezTo>
                  <a:close/>
                </a:path>
              </a:pathLst>
            </a:custGeom>
            <a:solidFill>
              <a:schemeClr val="accent6"/>
            </a:solidFill>
            <a:ln>
              <a:noFill/>
            </a:ln>
          </p:spPr>
        </p:sp>
        <p:sp>
          <p:nvSpPr>
            <p:cNvPr id="153" name="矩形 152"/>
            <p:cNvSpPr/>
            <p:nvPr>
              <p:custDataLst>
                <p:tags r:id="rId10"/>
              </p:custDataLst>
            </p:nvPr>
          </p:nvSpPr>
          <p:spPr>
            <a:xfrm flipH="1">
              <a:off x="12320" y="3068"/>
              <a:ext cx="57" cy="2967"/>
            </a:xfrm>
            <a:prstGeom prst="rect">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solidFill>
                  <a:schemeClr val="lt1"/>
                </a:solidFill>
                <a:latin typeface="微软雅黑" panose="020B0503020204020204" charset="-122"/>
                <a:ea typeface="微软雅黑" panose="020B0503020204020204" charset="-122"/>
              </a:endParaRPr>
            </a:p>
          </p:txBody>
        </p:sp>
        <p:sp>
          <p:nvSpPr>
            <p:cNvPr id="169" name="rc-n1"/>
            <p:cNvSpPr txBox="1"/>
            <p:nvPr/>
          </p:nvSpPr>
          <p:spPr>
            <a:xfrm>
              <a:off x="15916" y="3131"/>
              <a:ext cx="1304" cy="567"/>
            </a:xfrm>
            <a:prstGeom prst="rect">
              <a:avLst/>
            </a:prstGeom>
            <a:noFill/>
            <a:ln>
              <a:noFill/>
            </a:ln>
          </p:spPr>
          <p:txBody>
            <a:bodyPr wrap="none" lIns="0" tIns="0" rIns="0" bIns="0" rtlCol="0" anchor="ctr" anchorCtr="0"/>
            <a:lstStyle/>
            <a:p>
              <a:pPr algn="l">
                <a:lnSpc>
                  <a:spcPct val="120000"/>
                </a:lnSpc>
              </a:pPr>
              <a:r>
                <a:rPr lang="en-US" altLang="zh-CN" sz="1600" b="1" noProof="1">
                  <a:solidFill>
                    <a:srgbClr val="2E6BE6"/>
                  </a:solidFill>
                  <a:latin typeface="Arial" panose="020B0604020202020204" pitchFamily="34" charset="0"/>
                  <a:ea typeface="黑体-简" panose="02000000000000000000" charset="-122"/>
                </a:rPr>
                <a:t>{{disposed_event_count}}</a:t>
              </a:r>
              <a:r>
                <a:rPr lang="en-US" sz="900" noProof="1">
                  <a:solidFill>
                    <a:srgbClr val="1F2D3D"/>
                  </a:solidFill>
                  <a:latin typeface="Arial" panose="020B0604020202020204" pitchFamily="34" charset="0"/>
                  <a:ea typeface="黑体-简" panose="02000000000000000000" charset="-122"/>
                </a:rPr>
                <a:t> 条</a:t>
              </a:r>
              <a:endParaRPr lang="en-US" sz="1600" noProof="1">
                <a:latin typeface="Arial" panose="020B0604020202020204" pitchFamily="34" charset="0"/>
                <a:ea typeface="黑体-简" panose="02000000000000000000" charset="-122"/>
              </a:endParaRPr>
            </a:p>
          </p:txBody>
        </p:sp>
        <p:sp>
          <p:nvSpPr>
            <p:cNvPr id="170" name="rc-n2"/>
            <p:cNvSpPr txBox="1"/>
            <p:nvPr/>
          </p:nvSpPr>
          <p:spPr>
            <a:xfrm>
              <a:off x="15244" y="4043"/>
              <a:ext cx="1304" cy="454"/>
            </a:xfrm>
            <a:prstGeom prst="rect">
              <a:avLst/>
            </a:prstGeom>
            <a:noFill/>
            <a:ln>
              <a:noFill/>
            </a:ln>
          </p:spPr>
          <p:txBody>
            <a:bodyPr wrap="none" lIns="0" tIns="0" rIns="0" bIns="0" rtlCol="0" anchor="ctr"/>
            <a:lstStyle/>
            <a:p>
              <a:pPr algn="l">
                <a:lnSpc>
                  <a:spcPct val="120000"/>
                </a:lnSpc>
              </a:pPr>
              <a:r>
                <a:rPr lang="en-US" altLang="zh-CN" sz="1200" b="1" noProof="1">
                  <a:solidFill>
                    <a:srgbClr val="1F2D3D"/>
                  </a:solidFill>
                  <a:latin typeface="Arial" panose="020B0604020202020204" pitchFamily="34" charset="0"/>
                  <a:ea typeface="黑体-简" panose="02000000000000000000" charset="-122"/>
                </a:rPr>
                <a:t>{{local_disposed_event_count}}</a:t>
              </a:r>
              <a:r>
                <a:rPr lang="en-US" sz="900" noProof="1">
                  <a:solidFill>
                    <a:srgbClr val="8A94A6"/>
                  </a:solidFill>
                  <a:latin typeface="Arial" panose="020B0604020202020204" pitchFamily="34" charset="0"/>
                  <a:ea typeface="黑体-简" panose="02000000000000000000" charset="-122"/>
                </a:rPr>
                <a:t> 条</a:t>
              </a:r>
              <a:endParaRPr lang="en-US" sz="900" noProof="1">
                <a:solidFill>
                  <a:srgbClr val="8A94A6"/>
                </a:solidFill>
                <a:latin typeface="Arial" panose="020B0604020202020204" pitchFamily="34" charset="0"/>
                <a:ea typeface="黑体-简" panose="02000000000000000000" charset="-122"/>
              </a:endParaRPr>
            </a:p>
          </p:txBody>
        </p:sp>
        <p:sp>
          <p:nvSpPr>
            <p:cNvPr id="171" name="rc-n2"/>
            <p:cNvSpPr txBox="1"/>
            <p:nvPr/>
          </p:nvSpPr>
          <p:spPr>
            <a:xfrm>
              <a:off x="15244" y="4683"/>
              <a:ext cx="1304" cy="454"/>
            </a:xfrm>
            <a:prstGeom prst="rect">
              <a:avLst/>
            </a:prstGeom>
            <a:noFill/>
            <a:ln>
              <a:noFill/>
            </a:ln>
          </p:spPr>
          <p:txBody>
            <a:bodyPr wrap="none" lIns="0" tIns="0" rIns="0" bIns="0" rtlCol="0" anchor="ctr"/>
            <a:lstStyle/>
            <a:p>
              <a:pPr algn="l">
                <a:lnSpc>
                  <a:spcPct val="120000"/>
                </a:lnSpc>
              </a:pPr>
              <a:r>
                <a:rPr lang="en-US" altLang="zh-CN" sz="1200" b="1" noProof="1">
                  <a:solidFill>
                    <a:srgbClr val="1F2D3D"/>
                  </a:solidFill>
                  <a:latin typeface="Arial" panose="020B0604020202020204" pitchFamily="34" charset="0"/>
                  <a:ea typeface="黑体-简" panose="02000000000000000000" charset="-122"/>
                </a:rPr>
                <a:t>{{mss_disposed_event_count}}</a:t>
              </a:r>
              <a:r>
                <a:rPr lang="en-US" sz="900" noProof="1">
                  <a:solidFill>
                    <a:srgbClr val="8A94A6"/>
                  </a:solidFill>
                  <a:latin typeface="Arial" panose="020B0604020202020204" pitchFamily="34" charset="0"/>
                  <a:ea typeface="黑体-简" panose="02000000000000000000" charset="-122"/>
                </a:rPr>
                <a:t> 条</a:t>
              </a:r>
              <a:endParaRPr lang="en-US" sz="900" noProof="1">
                <a:solidFill>
                  <a:srgbClr val="8A94A6"/>
                </a:solidFill>
                <a:latin typeface="Arial" panose="020B0604020202020204" pitchFamily="34" charset="0"/>
                <a:ea typeface="黑体-简" panose="02000000000000000000" charset="-122"/>
              </a:endParaRPr>
            </a:p>
          </p:txBody>
        </p:sp>
        <p:sp>
          <p:nvSpPr>
            <p:cNvPr id="182" name="文本框 181"/>
            <p:cNvSpPr txBox="1"/>
            <p:nvPr/>
          </p:nvSpPr>
          <p:spPr>
            <a:xfrm>
              <a:off x="12815" y="3151"/>
              <a:ext cx="2418" cy="531"/>
            </a:xfrm>
            <a:prstGeom prst="rect">
              <a:avLst/>
            </a:prstGeom>
            <a:noFill/>
          </p:spPr>
          <p:txBody>
            <a:bodyPr wrap="square" rtlCol="0" anchor="t">
              <a:spAutoFit/>
            </a:bodyPr>
            <a:p>
              <a:pPr algn="l">
                <a:spcBef>
                  <a:spcPct val="0"/>
                </a:spcBef>
                <a:spcAft>
                  <a:spcPct val="0"/>
                </a:spcAft>
              </a:pPr>
              <a:r>
                <a:rPr lang="zh-CN" altLang="en-US" sz="1600">
                  <a:solidFill>
                    <a:schemeClr val="accent6"/>
                  </a:solidFill>
                  <a:latin typeface="Arial" panose="020B0604020202020204" pitchFamily="34" charset="0"/>
                  <a:ea typeface="黑体-简" panose="02000000000000000000" charset="-122"/>
                  <a:cs typeface="+mn-ea"/>
                  <a:sym typeface="+mn-ea"/>
                </a:rPr>
                <a:t>已处置事件数</a:t>
              </a:r>
              <a:endParaRPr lang="zh-CN" altLang="en-US" sz="1600">
                <a:solidFill>
                  <a:schemeClr val="accent6"/>
                </a:solidFill>
                <a:latin typeface="Arial" panose="020B0604020202020204" pitchFamily="34" charset="0"/>
                <a:ea typeface="黑体-简" panose="02000000000000000000" charset="-122"/>
                <a:cs typeface="+mn-ea"/>
                <a:sym typeface="+mn-ea"/>
              </a:endParaRPr>
            </a:p>
          </p:txBody>
        </p:sp>
        <p:sp>
          <p:nvSpPr>
            <p:cNvPr id="183" name="文本框 182"/>
            <p:cNvSpPr txBox="1"/>
            <p:nvPr/>
          </p:nvSpPr>
          <p:spPr>
            <a:xfrm>
              <a:off x="12956" y="4043"/>
              <a:ext cx="1984" cy="454"/>
            </a:xfrm>
            <a:prstGeom prst="rect">
              <a:avLst/>
            </a:prstGeom>
            <a:noFill/>
          </p:spPr>
          <p:txBody>
            <a:bodyPr wrap="square" rtlCol="0" anchor="ctr" anchorCtr="0">
              <a:noAutofit/>
            </a:bodyPr>
            <a:p>
              <a:r>
                <a:rPr lang="zh-CN" altLang="en-US" sz="1000" b="1">
                  <a:ln>
                    <a:noFill/>
                    <a:prstDash val="sysDot"/>
                  </a:ln>
                  <a:uFillTx/>
                  <a:latin typeface="Arial" panose="020B0604020202020204" pitchFamily="34" charset="0"/>
                  <a:ea typeface="黑体-简" panose="02000000000000000000" charset="-122"/>
                  <a:cs typeface="+mn-ea"/>
                  <a:sym typeface="+mn-ea"/>
                </a:rPr>
                <a:t>本地处置事件数</a:t>
              </a:r>
              <a:endParaRPr lang="zh-CN" altLang="en-US" sz="1000" b="1">
                <a:ln>
                  <a:noFill/>
                  <a:prstDash val="sysDot"/>
                </a:ln>
                <a:uFillTx/>
                <a:latin typeface="Arial" panose="020B0604020202020204" pitchFamily="34" charset="0"/>
                <a:ea typeface="黑体-简" panose="02000000000000000000" charset="-122"/>
                <a:cs typeface="+mn-ea"/>
                <a:sym typeface="+mn-ea"/>
              </a:endParaRPr>
            </a:p>
          </p:txBody>
        </p:sp>
        <p:sp>
          <p:nvSpPr>
            <p:cNvPr id="184" name="文本框 183"/>
            <p:cNvSpPr txBox="1"/>
            <p:nvPr/>
          </p:nvSpPr>
          <p:spPr>
            <a:xfrm>
              <a:off x="12956" y="4683"/>
              <a:ext cx="1984" cy="454"/>
            </a:xfrm>
            <a:prstGeom prst="rect">
              <a:avLst/>
            </a:prstGeom>
            <a:noFill/>
          </p:spPr>
          <p:txBody>
            <a:bodyPr wrap="square" rtlCol="0" anchor="ctr" anchorCtr="0">
              <a:noAutofit/>
            </a:bodyPr>
            <a:p>
              <a:pPr indent="0" algn="just" fontAlgn="auto">
                <a:lnSpc>
                  <a:spcPct val="100000"/>
                </a:lnSpc>
                <a:spcBef>
                  <a:spcPct val="0"/>
                </a:spcBef>
                <a:spcAft>
                  <a:spcPct val="0"/>
                </a:spcAft>
              </a:pPr>
              <a:r>
                <a:rPr lang="en-US" altLang="zh-CN" sz="1000" b="1">
                  <a:ln>
                    <a:noFill/>
                    <a:prstDash val="sysDot"/>
                  </a:ln>
                  <a:uFillTx/>
                  <a:latin typeface="Arial" panose="020B0604020202020204" pitchFamily="34" charset="0"/>
                  <a:ea typeface="黑体-简" panose="02000000000000000000" charset="-122"/>
                  <a:cs typeface="+mn-ea"/>
                  <a:sym typeface="+mn-ea"/>
                </a:rPr>
                <a:t>MSS</a:t>
              </a:r>
              <a:r>
                <a:rPr lang="zh-CN" altLang="en-US" sz="1000" b="1">
                  <a:ln>
                    <a:noFill/>
                    <a:prstDash val="sysDot"/>
                  </a:ln>
                  <a:uFillTx/>
                  <a:latin typeface="Arial" panose="020B0604020202020204" pitchFamily="34" charset="0"/>
                  <a:ea typeface="黑体-简" panose="02000000000000000000" charset="-122"/>
                  <a:cs typeface="+mn-ea"/>
                  <a:sym typeface="+mn-ea"/>
                </a:rPr>
                <a:t>处置事件数</a:t>
              </a:r>
              <a:endParaRPr lang="zh-CN" altLang="en-US" sz="1000" b="1">
                <a:ln>
                  <a:noFill/>
                  <a:prstDash val="sysDot"/>
                </a:ln>
                <a:uFillTx/>
                <a:latin typeface="Arial" panose="020B0604020202020204" pitchFamily="34" charset="0"/>
                <a:ea typeface="黑体-简" panose="02000000000000000000" charset="-122"/>
                <a:cs typeface="+mn-ea"/>
                <a:sym typeface="+mn-ea"/>
              </a:endParaRPr>
            </a:p>
          </p:txBody>
        </p:sp>
      </p:grpSp>
      <p:sp>
        <p:nvSpPr>
          <p:cNvPr id="187" name="文本框 186"/>
          <p:cNvSpPr txBox="1"/>
          <p:nvPr/>
        </p:nvSpPr>
        <p:spPr>
          <a:xfrm>
            <a:off x="8157210" y="4481830"/>
            <a:ext cx="1452245" cy="337185"/>
          </a:xfrm>
          <a:prstGeom prst="rect">
            <a:avLst/>
          </a:prstGeom>
          <a:noFill/>
        </p:spPr>
        <p:txBody>
          <a:bodyPr wrap="square" rtlCol="0" anchor="t">
            <a:spAutoFit/>
          </a:bodyPr>
          <a:p>
            <a:pPr algn="l">
              <a:spcBef>
                <a:spcPct val="0"/>
              </a:spcBef>
              <a:spcAft>
                <a:spcPct val="0"/>
              </a:spcAft>
            </a:pPr>
            <a:r>
              <a:rPr lang="zh-CN" altLang="en-US" sz="1600">
                <a:solidFill>
                  <a:schemeClr val="accent2"/>
                </a:solidFill>
                <a:latin typeface="Arial" panose="020B0604020202020204" pitchFamily="34" charset="0"/>
                <a:ea typeface="黑体-简" panose="02000000000000000000" charset="-122"/>
                <a:cs typeface="+mn-ea"/>
                <a:sym typeface="+mn-ea"/>
              </a:rPr>
              <a:t>处置中事件数</a:t>
            </a:r>
            <a:endParaRPr lang="zh-CN" altLang="en-US" sz="1600">
              <a:solidFill>
                <a:schemeClr val="accent2"/>
              </a:solidFill>
              <a:latin typeface="Arial" panose="020B0604020202020204" pitchFamily="34" charset="0"/>
              <a:ea typeface="黑体-简" panose="02000000000000000000" charset="-122"/>
              <a:cs typeface="+mn-ea"/>
              <a:sym typeface="+mn-ea"/>
            </a:endParaRPr>
          </a:p>
        </p:txBody>
      </p:sp>
      <p:sp>
        <p:nvSpPr>
          <p:cNvPr id="188" name="文本框 187"/>
          <p:cNvSpPr txBox="1"/>
          <p:nvPr/>
        </p:nvSpPr>
        <p:spPr>
          <a:xfrm>
            <a:off x="8157210" y="5744528"/>
            <a:ext cx="1440180" cy="288290"/>
          </a:xfrm>
          <a:prstGeom prst="rect">
            <a:avLst/>
          </a:prstGeom>
          <a:noFill/>
        </p:spPr>
        <p:txBody>
          <a:bodyPr wrap="square" rtlCol="0" anchor="t">
            <a:noAutofit/>
          </a:bodyPr>
          <a:p>
            <a:pPr algn="l">
              <a:spcBef>
                <a:spcPct val="0"/>
              </a:spcBef>
              <a:spcAft>
                <a:spcPct val="0"/>
              </a:spcAft>
            </a:pPr>
            <a:r>
              <a:rPr lang="zh-CN" altLang="en-US" sz="1600">
                <a:solidFill>
                  <a:srgbClr val="FF0000"/>
                </a:solidFill>
                <a:latin typeface="Arial" panose="020B0604020202020204" pitchFamily="34" charset="0"/>
                <a:ea typeface="黑体-简" panose="02000000000000000000" charset="-122"/>
                <a:cs typeface="+mn-ea"/>
                <a:sym typeface="+mn-ea"/>
              </a:rPr>
              <a:t>待处置事件数</a:t>
            </a:r>
            <a:endParaRPr lang="zh-CN" altLang="en-US" sz="1600">
              <a:solidFill>
                <a:srgbClr val="FF0000"/>
              </a:solidFill>
              <a:latin typeface="Arial" panose="020B0604020202020204" pitchFamily="34" charset="0"/>
              <a:ea typeface="黑体-简" panose="02000000000000000000" charset="-122"/>
              <a:cs typeface="+mn-ea"/>
              <a:sym typeface="+mn-ea"/>
            </a:endParaRPr>
          </a:p>
        </p:txBody>
      </p:sp>
      <p:sp>
        <p:nvSpPr>
          <p:cNvPr id="3" name="文本框 2"/>
          <p:cNvSpPr txBox="1"/>
          <p:nvPr/>
        </p:nvSpPr>
        <p:spPr>
          <a:xfrm>
            <a:off x="8227060" y="3350260"/>
            <a:ext cx="1259840" cy="288290"/>
          </a:xfrm>
          <a:prstGeom prst="rect">
            <a:avLst/>
          </a:prstGeom>
          <a:noFill/>
        </p:spPr>
        <p:txBody>
          <a:bodyPr wrap="square" rtlCol="0" anchor="ctr" anchorCtr="0">
            <a:noAutofit/>
          </a:bodyPr>
          <a:p>
            <a:r>
              <a:rPr lang="zh-CN" altLang="en-US" sz="1000" b="1">
                <a:ln>
                  <a:noFill/>
                  <a:prstDash val="sysDot"/>
                </a:ln>
                <a:uFillTx/>
                <a:latin typeface="Arial" panose="020B0604020202020204" pitchFamily="34" charset="0"/>
                <a:ea typeface="黑体-简" panose="02000000000000000000" charset="-122"/>
                <a:cs typeface="+mn-ea"/>
                <a:sym typeface="+mn-ea"/>
              </a:rPr>
              <a:t>自动处置事件数</a:t>
            </a:r>
            <a:endParaRPr lang="zh-CN" altLang="en-US" sz="1000" b="1">
              <a:ln>
                <a:noFill/>
                <a:prstDash val="sysDot"/>
              </a:ln>
              <a:uFillTx/>
              <a:latin typeface="Arial" panose="020B0604020202020204" pitchFamily="34" charset="0"/>
              <a:ea typeface="黑体-简" panose="02000000000000000000" charset="-122"/>
              <a:cs typeface="+mn-ea"/>
              <a:sym typeface="+mn-ea"/>
            </a:endParaRPr>
          </a:p>
        </p:txBody>
      </p:sp>
      <p:sp>
        <p:nvSpPr>
          <p:cNvPr id="4" name="rc-n2"/>
          <p:cNvSpPr txBox="1"/>
          <p:nvPr/>
        </p:nvSpPr>
        <p:spPr>
          <a:xfrm>
            <a:off x="9692640" y="3350260"/>
            <a:ext cx="828040" cy="288290"/>
          </a:xfrm>
          <a:prstGeom prst="rect">
            <a:avLst/>
          </a:prstGeom>
          <a:noFill/>
          <a:ln>
            <a:noFill/>
          </a:ln>
        </p:spPr>
        <p:txBody>
          <a:bodyPr wrap="none" lIns="0" tIns="0" rIns="0" bIns="0" rtlCol="0" anchor="ctr"/>
          <a:lstStyle/>
          <a:p>
            <a:pPr algn="l">
              <a:lnSpc>
                <a:spcPct val="120000"/>
              </a:lnSpc>
            </a:pPr>
            <a:r>
              <a:rPr lang="en-US" altLang="zh-CN" sz="1200" b="1" noProof="1">
                <a:solidFill>
                  <a:srgbClr val="1F2D3D"/>
                </a:solidFill>
                <a:latin typeface="Arial" panose="020B0604020202020204" pitchFamily="34" charset="0"/>
                <a:ea typeface="黑体-简" panose="02000000000000000000" charset="-122"/>
              </a:rPr>
              <a:t>{{auto_disposed_event_count}}</a:t>
            </a:r>
            <a:r>
              <a:rPr lang="en-US" sz="900" noProof="1">
                <a:solidFill>
                  <a:srgbClr val="8A94A6"/>
                </a:solidFill>
                <a:latin typeface="Arial" panose="020B0604020202020204" pitchFamily="34" charset="0"/>
                <a:ea typeface="黑体-简" panose="02000000000000000000" charset="-122"/>
              </a:rPr>
              <a:t> 条</a:t>
            </a:r>
            <a:endParaRPr lang="en-US" sz="900" noProof="1">
              <a:solidFill>
                <a:srgbClr val="8A94A6"/>
              </a:solidFill>
              <a:latin typeface="Arial" panose="020B0604020202020204" pitchFamily="34" charset="0"/>
              <a:ea typeface="黑体-简" panose="02000000000000000000" charset="-122"/>
            </a:endParaRPr>
          </a:p>
        </p:txBody>
      </p:sp>
      <p:pic>
        <p:nvPicPr>
          <p:cNvPr id="5" name="图片 4" descr="机器人"/>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7921625" y="3404405"/>
            <a:ext cx="180000" cy="18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9"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保护业务</a:t>
              </a:r>
              <a:r>
                <a:rPr lang="zh-CN" alt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安全典型事例</a:t>
              </a:r>
              <a:endParaRPr lang="en-US" sz="1900">
                <a:latin typeface="Arial Black" panose="020B0A04020102020204" pitchFamily="34" charset="0"/>
                <a:ea typeface="微软雅黑" panose="020B0503020204020204" charset="-122"/>
              </a:endParaRPr>
            </a:p>
            <a:p>
              <a:pPr algn="l" rtl="0" eaLnBrk="0">
                <a:lnSpc>
                  <a:spcPct val="101000"/>
                </a:lnSpc>
              </a:pP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graphicFrame>
        <p:nvGraphicFramePr>
          <p:cNvPr id="47" name="表格 46"/>
          <p:cNvGraphicFramePr/>
          <p:nvPr>
            <p:custDataLst>
              <p:tags r:id="rId4"/>
            </p:custDataLst>
          </p:nvPr>
        </p:nvGraphicFramePr>
        <p:xfrm>
          <a:off x="6257290" y="1151890"/>
          <a:ext cx="5535295" cy="5471795"/>
        </p:xfrm>
        <a:graphic>
          <a:graphicData uri="http://schemas.openxmlformats.org/drawingml/2006/table">
            <a:tbl>
              <a:tblPr firstRow="1" lastCol="1" bandCol="1">
                <a:tableStyleId>{0126E9F6-41A6-44B7-8387-491034A24550}</a:tableStyleId>
              </a:tblPr>
              <a:tblGrid>
                <a:gridCol w="883285"/>
                <a:gridCol w="4652010"/>
              </a:tblGrid>
              <a:tr h="851535">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潜在损失维度</a:t>
                      </a:r>
                      <a:endParaRPr lang="zh-CN" altLang="en-US" sz="1200">
                        <a:solidFill>
                          <a:schemeClr val="tx1"/>
                        </a:solidFill>
                        <a:latin typeface="Heiti SC Light" panose="02000000000000000000" charset="-122"/>
                        <a:ea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5">
                        <a:lumMod val="60000"/>
                        <a:lumOff val="40000"/>
                      </a:schemeClr>
                    </a:solidFill>
                  </a:tcPr>
                </a:tc>
                <a:tc>
                  <a:txBody>
                    <a:bodyPr/>
                    <a:p>
                      <a:pPr algn="l">
                        <a:lnSpc>
                          <a:spcPct val="150000"/>
                        </a:lnSpc>
                        <a:buClrTx/>
                        <a:buSzTx/>
                        <a:buFontTx/>
                        <a:buNone/>
                      </a:pPr>
                      <a:r>
                        <a:rPr lang="zh-CN" altLang="en-US" sz="1200">
                          <a:solidFill>
                            <a:schemeClr val="tx1"/>
                          </a:solidFill>
                          <a:latin typeface="Heiti SC Light" panose="02000000000000000000" charset="-122"/>
                          <a:ea typeface="Heiti SC Light" panose="02000000000000000000" charset="-122"/>
                          <a:sym typeface="+mn-ea"/>
                        </a:rPr>
                        <a:t>漏洞利用攻击如果未及时发现和对抗，可能导致核心系统敏感数据泄露、主机被控挖矿、数据勒索加密等重大</a:t>
                      </a:r>
                      <a:r>
                        <a:rPr lang="zh-CN" altLang="en-US" sz="1200">
                          <a:solidFill>
                            <a:schemeClr val="tx1"/>
                          </a:solidFill>
                          <a:latin typeface="Heiti SC Light" panose="02000000000000000000" charset="-122"/>
                          <a:ea typeface="Heiti SC Light" panose="02000000000000000000" charset="-122"/>
                          <a:sym typeface="+mn-ea"/>
                        </a:rPr>
                        <a:t>危害事件</a:t>
                      </a:r>
                      <a:endParaRPr lang="zh-CN" altLang="en-US" sz="1200">
                        <a:solidFill>
                          <a:schemeClr val="tx1"/>
                        </a:solidFill>
                        <a:latin typeface="Heiti SC Light" panose="02000000000000000000" charset="-122"/>
                        <a:ea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3">
                        <a:lumMod val="20000"/>
                        <a:lumOff val="80000"/>
                      </a:schemeClr>
                    </a:solidFill>
                  </a:tcPr>
                </a:tc>
              </a:tr>
              <a:tr h="112014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潜在损失规避评估</a:t>
                      </a:r>
                      <a:endParaRPr lang="zh-CN" altLang="en-US" sz="1200">
                        <a:solidFill>
                          <a:schemeClr val="tx1"/>
                        </a:solidFill>
                        <a:latin typeface="Heiti SC Light" panose="02000000000000000000" charset="-122"/>
                        <a:ea typeface="Heiti SC Light" panose="02000000000000000000" charset="-122"/>
                      </a:endParaRPr>
                    </a:p>
                    <a:p>
                      <a:pPr algn="ctr">
                        <a:buNone/>
                      </a:pPr>
                      <a:r>
                        <a:rPr lang="zh-CN" altLang="en-US" sz="1200">
                          <a:solidFill>
                            <a:schemeClr val="tx1"/>
                          </a:solidFill>
                          <a:latin typeface="Heiti SC Light" panose="02000000000000000000" charset="-122"/>
                          <a:ea typeface="Heiti SC Light" panose="02000000000000000000" charset="-122"/>
                          <a:sym typeface="+mn-ea"/>
                        </a:rPr>
                        <a:t>（影响面）</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algn="ctr">
                        <a:buNone/>
                      </a:pPr>
                      <a:r>
                        <a:rPr lang="en-US" altLang="zh-CN" sz="1200">
                          <a:solidFill>
                            <a:srgbClr val="FF0000"/>
                          </a:solidFill>
                          <a:latin typeface="Arial" panose="020B0604020202020204" pitchFamily="34" charset="0"/>
                          <a:ea typeface="黑体-简" panose="02000000000000000000" charset="-122"/>
                          <a:sym typeface="+mn-ea"/>
                        </a:rPr>
                        <a:t>2</a:t>
                      </a:r>
                      <a:r>
                        <a:rPr lang="zh-CN" altLang="en-US" sz="1200">
                          <a:solidFill>
                            <a:srgbClr val="FF0000"/>
                          </a:solidFill>
                          <a:latin typeface="Arial" panose="020B0604020202020204" pitchFamily="34" charset="0"/>
                          <a:ea typeface="黑体-简" panose="02000000000000000000" charset="-122"/>
                          <a:sym typeface="+mn-ea"/>
                        </a:rPr>
                        <a:t>个高危可利用漏洞</a:t>
                      </a:r>
                      <a:r>
                        <a:rPr lang="en-US" altLang="zh-CN" sz="1200">
                          <a:solidFill>
                            <a:srgbClr val="FF0000"/>
                          </a:solidFill>
                          <a:latin typeface="Arial" panose="020B0604020202020204" pitchFamily="34" charset="0"/>
                          <a:ea typeface="黑体-简" panose="02000000000000000000" charset="-122"/>
                          <a:sym typeface="+mn-ea"/>
                        </a:rPr>
                        <a:t>*100</a:t>
                      </a:r>
                      <a:r>
                        <a:rPr lang="zh-CN" altLang="en-US" sz="1200">
                          <a:solidFill>
                            <a:srgbClr val="FF0000"/>
                          </a:solidFill>
                          <a:latin typeface="Arial" panose="020B0604020202020204" pitchFamily="34" charset="0"/>
                          <a:ea typeface="黑体-简" panose="02000000000000000000" charset="-122"/>
                          <a:sym typeface="+mn-ea"/>
                        </a:rPr>
                        <a:t>万元</a:t>
                      </a:r>
                      <a:r>
                        <a:rPr lang="en-US" altLang="zh-CN" sz="1200">
                          <a:solidFill>
                            <a:srgbClr val="FF0000"/>
                          </a:solidFill>
                          <a:latin typeface="Arial" panose="020B0604020202020204" pitchFamily="34" charset="0"/>
                          <a:ea typeface="黑体-简" panose="02000000000000000000" charset="-122"/>
                          <a:sym typeface="+mn-ea"/>
                        </a:rPr>
                        <a:t>≈200</a:t>
                      </a:r>
                      <a:r>
                        <a:rPr lang="zh-CN" altLang="en-US" sz="1200">
                          <a:solidFill>
                            <a:srgbClr val="FF0000"/>
                          </a:solidFill>
                          <a:latin typeface="Arial" panose="020B0604020202020204" pitchFamily="34" charset="0"/>
                          <a:ea typeface="黑体-简" panose="02000000000000000000" charset="-122"/>
                          <a:sym typeface="+mn-ea"/>
                        </a:rPr>
                        <a:t>万元</a:t>
                      </a:r>
                      <a:endParaRPr lang="zh-CN" altLang="en-US" sz="1200">
                        <a:solidFill>
                          <a:srgbClr val="FF0000"/>
                        </a:solidFill>
                        <a:latin typeface="Arial" panose="020B0604020202020204" pitchFamily="34" charset="0"/>
                        <a:ea typeface="黑体-简" panose="02000000000000000000" charset="-122"/>
                      </a:endParaRPr>
                    </a:p>
                    <a:p>
                      <a:pPr algn="ctr">
                        <a:lnSpc>
                          <a:spcPct val="150000"/>
                        </a:lnSpc>
                        <a:buSzTx/>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（基于行业公开事例评估测算，单个漏洞利用攻击入侵成功导致的平均安全损失约</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100</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万元；）</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r h="350012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实际案例损失情况</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indent="0" algn="l" defTabSz="914400">
                        <a:lnSpc>
                          <a:spcPct val="150000"/>
                        </a:lnSpc>
                        <a:buClrTx/>
                        <a:buSzTx/>
                        <a:buFont typeface="+mj-lt"/>
                        <a:buNone/>
                      </a:pPr>
                      <a:r>
                        <a:rPr lang="zh-CN" altLang="en-US" sz="120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当前规模化的</a:t>
                      </a:r>
                      <a:r>
                        <a:rPr lang="en-US" altLang="zh-CN" sz="120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RaaS</a:t>
                      </a:r>
                      <a:r>
                        <a:rPr lang="zh-CN" altLang="en-US" sz="120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攻击手段主要探测识别</a:t>
                      </a:r>
                      <a:r>
                        <a:rPr lang="en-US" altLang="zh-CN" sz="120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1DAY</a:t>
                      </a:r>
                      <a:r>
                        <a:rPr lang="zh-CN" altLang="en-US" sz="120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高危可利用漏洞后进行自动化利用攻击</a:t>
                      </a:r>
                      <a:endParaRPr lang="en-US" altLang="zh-CN" sz="1200" b="1"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endParaRPr>
                    </a:p>
                    <a:p>
                      <a:pPr indent="0" algn="l" defTabSz="914400">
                        <a:lnSpc>
                          <a:spcPct val="150000"/>
                        </a:lnSpc>
                        <a:buClrTx/>
                        <a:buSzTx/>
                        <a:buFont typeface="+mj-lt"/>
                        <a:buNone/>
                      </a:pP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捷豹路虎遭勒索攻击致全球系统瘫痪</a:t>
                      </a:r>
                      <a:endPar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indent="0" algn="l" defTabSz="914400">
                        <a:lnSpc>
                          <a:spcPct val="150000"/>
                        </a:lnSpc>
                        <a:buClrTx/>
                        <a:buSzTx/>
                        <a:buFont typeface="+mj-lt"/>
                        <a:buNone/>
                      </a:pP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日期：</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2025.9 </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至</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 2025.10.8</a:t>
                      </a:r>
                      <a:endPar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indent="0" algn="l" defTabSz="914400">
                        <a:lnSpc>
                          <a:spcPct val="150000"/>
                        </a:lnSpc>
                        <a:buClrTx/>
                        <a:buSzTx/>
                        <a:buFont typeface="+mj-lt"/>
                        <a:buNone/>
                      </a:pP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事件概要：</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"Scattered Lapsus$ Hunters"</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黑客组织利用</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SAP NetWeaver</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CVE-2025-31324</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）远程执行漏洞入侵内部网络，部署勒索软件并窃取数据。</a:t>
                      </a:r>
                      <a:endPar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indent="0" algn="l" defTabSz="914400">
                        <a:lnSpc>
                          <a:spcPct val="150000"/>
                        </a:lnSpc>
                        <a:buClrTx/>
                        <a:buSzTx/>
                        <a:buFont typeface="+mj-lt"/>
                        <a:buNone/>
                      </a:pP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影响描述：全球</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IT</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系统关闭，生产、销售、售后服务全面瘫痪；</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33,000</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名员工被安排休假；财务损失达</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 1.96</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亿英镑；</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10</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月</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8</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日才完成系统重启。</a:t>
                      </a:r>
                      <a:endPar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endParaRPr>
                    </a:p>
                    <a:p>
                      <a:pPr indent="0" algn="l" defTabSz="914400">
                        <a:lnSpc>
                          <a:spcPct val="150000"/>
                        </a:lnSpc>
                        <a:buClrTx/>
                        <a:buSzTx/>
                        <a:buFont typeface="+mj-lt"/>
                        <a:buNone/>
                      </a:pPr>
                      <a:r>
                        <a:rPr lang="en-US" altLang="zh-CN" sz="12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基于</a:t>
                      </a:r>
                      <a:r>
                        <a:rPr lang="zh-CN" altLang="en-US" sz="12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国内安全咨询机构及厂商综合披露的数据显示，国内政企勒索支付的中位数为</a:t>
                      </a:r>
                      <a:r>
                        <a:rPr lang="en-US" altLang="zh-CN" sz="12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100</a:t>
                      </a:r>
                      <a:r>
                        <a:rPr lang="zh-CN" altLang="en-US" sz="12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万元</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bl>
          </a:graphicData>
        </a:graphic>
      </p:graphicFrame>
      <p:sp>
        <p:nvSpPr>
          <p:cNvPr id="2" name="Text 1"/>
          <p:cNvSpPr/>
          <p:nvPr/>
        </p:nvSpPr>
        <p:spPr>
          <a:xfrm>
            <a:off x="431165" y="1151255"/>
            <a:ext cx="5760000" cy="576000"/>
          </a:xfrm>
          <a:prstGeom prst="rect">
            <a:avLst/>
          </a:prstGeom>
          <a:solidFill>
            <a:srgbClr val="E6514E"/>
          </a:solidFill>
        </p:spPr>
        <p:txBody>
          <a:bodyPr wrap="square" lIns="0" tIns="0" rIns="0" bIns="0" rtlCol="0" anchor="ctr"/>
          <a:lstStyle/>
          <a:p>
            <a:pPr marL="0" indent="0" algn="ctr">
              <a:buNone/>
            </a:pPr>
            <a:r>
              <a:rPr lang="en-US" sz="1400" dirty="0">
                <a:solidFill>
                  <a:srgbClr val="FFFFFF"/>
                </a:solidFill>
                <a:latin typeface="Heiti SC Light" panose="02000000000000000000" charset="-122"/>
                <a:ea typeface="Heiti SC Light" panose="02000000000000000000" charset="-122"/>
                <a:cs typeface="微软雅黑" panose="020B0503020204020204" pitchFamily="34" charset="-120"/>
              </a:rPr>
              <a:t>主机存在动态脚本上传成功</a:t>
            </a:r>
            <a:endParaRPr lang="en-US" altLang="en-US" sz="1400" dirty="0">
              <a:solidFill>
                <a:srgbClr val="FFFFFF"/>
              </a:solidFill>
              <a:latin typeface="Heiti SC Light" panose="02000000000000000000" charset="-122"/>
              <a:ea typeface="Heiti SC Light" panose="02000000000000000000" charset="-122"/>
              <a:cs typeface="微软雅黑" panose="020B0503020204020204" pitchFamily="34" charset="-120"/>
            </a:endParaRPr>
          </a:p>
        </p:txBody>
      </p:sp>
      <p:sp>
        <p:nvSpPr>
          <p:cNvPr id="4" name="Text 2"/>
          <p:cNvSpPr/>
          <p:nvPr/>
        </p:nvSpPr>
        <p:spPr>
          <a:xfrm>
            <a:off x="431165" y="1727200"/>
            <a:ext cx="5760000" cy="4896000"/>
          </a:xfrm>
          <a:prstGeom prst="rect">
            <a:avLst/>
          </a:prstGeom>
          <a:solidFill>
            <a:srgbClr val="FDF1F1"/>
          </a:solidFill>
        </p:spPr>
        <p:txBody>
          <a:bodyPr wrap="square" lIns="283464" tIns="137160" rIns="283464" bIns="137160" rtlCol="0" anchor="t"/>
          <a:lstStyle/>
          <a:p>
            <a:pPr marL="0" indent="0">
              <a:lnSpc>
                <a:spcPts val="1600"/>
              </a:lnSpc>
              <a:buNone/>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rPr>
              <a:t>攻击者通过文件上传漏洞，成功上传脚本文件，尝试执行脚本文件获取服务器权限</a:t>
            </a:r>
            <a:r>
              <a:rPr lang="en-US" sz="1200" b="1" dirty="0">
                <a:solidFill>
                  <a:srgbClr val="14161A"/>
                </a:solidFill>
                <a:latin typeface="Heiti SC Light" panose="02000000000000000000" charset="-122"/>
                <a:ea typeface="Heiti SC Light" panose="02000000000000000000" charset="-122"/>
                <a:cs typeface="Heiti SC Light" panose="02000000000000000000" charset="-122"/>
              </a:rPr>
              <a:t>
</a:t>
            </a:r>
            <a:endParaRPr lang="en-US" sz="1200" b="1"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solidFill>
                  <a:schemeClr val="tx1"/>
                </a:solidFill>
                <a:latin typeface="Heiti SC Light" panose="02000000000000000000" charset="-122"/>
                <a:ea typeface="Heiti SC Light" panose="02000000000000000000" charset="-122"/>
                <a:cs typeface="Heiti SC Light" panose="02000000000000000000" charset="-122"/>
              </a:rPr>
              <a:t>【</a:t>
            </a:r>
            <a:r>
              <a:rPr lang="en-US" sz="1200" b="1" dirty="0">
                <a:solidFill>
                  <a:schemeClr val="tx1"/>
                </a:solidFill>
                <a:latin typeface="Heiti SC Light" panose="02000000000000000000" charset="-122"/>
                <a:ea typeface="Heiti SC Light" panose="02000000000000000000" charset="-122"/>
                <a:cs typeface="Heiti SC Light" panose="02000000000000000000" charset="-122"/>
              </a:rPr>
              <a:t>发现时间</a:t>
            </a:r>
            <a:r>
              <a:rPr lang="zh-CN" altLang="en-US" sz="1200" b="1" dirty="0">
                <a:solidFill>
                  <a:schemeClr val="tx1"/>
                </a:solidFill>
                <a:latin typeface="Heiti SC Light" panose="02000000000000000000" charset="-122"/>
                <a:ea typeface="Heiti SC Light" panose="02000000000000000000" charset="-122"/>
                <a:cs typeface="Heiti SC Light" panose="02000000000000000000" charset="-122"/>
                <a:sym typeface="+mn-ea"/>
              </a:rPr>
              <a:t>】</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2025-10-29 18:19:26</a:t>
            </a:r>
            <a:endParaRPr lang="en-US" sz="12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【影响资产</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XX.XX.XX.XX</a:t>
            </a:r>
            <a:r>
              <a:rPr 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XX</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应用</a:t>
            </a:r>
            <a:r>
              <a:rPr 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endParaRPr lang="en-US" altLang="zh-CN" sz="12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【事件危害</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服务器</a:t>
            </a:r>
            <a:r>
              <a:rPr lang="en-US" sz="1200" b="1" dirty="0">
                <a:solidFill>
                  <a:srgbClr val="14161A"/>
                </a:solidFill>
                <a:latin typeface="Heiti SC Light" panose="02000000000000000000" charset="-122"/>
                <a:ea typeface="Heiti SC Light" panose="02000000000000000000" charset="-122"/>
                <a:cs typeface="Heiti SC Light" panose="02000000000000000000" charset="-122"/>
              </a:rPr>
              <a:t>存在</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文件上传</a:t>
            </a:r>
            <a:r>
              <a:rPr lang="en-US" sz="1200" b="1" dirty="0">
                <a:solidFill>
                  <a:srgbClr val="14161A"/>
                </a:solidFill>
                <a:latin typeface="Heiti SC Light" panose="02000000000000000000" charset="-122"/>
                <a:ea typeface="Heiti SC Light" panose="02000000000000000000" charset="-122"/>
                <a:cs typeface="Heiti SC Light" panose="02000000000000000000" charset="-122"/>
              </a:rPr>
              <a:t>漏洞</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a:t>
            </a:r>
            <a:r>
              <a:rPr 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如未</a:t>
            </a:r>
            <a:r>
              <a:rPr lang="zh-CN" sz="1200" b="1" dirty="0">
                <a:solidFill>
                  <a:srgbClr val="14161A"/>
                </a:solidFill>
                <a:latin typeface="Heiti SC Light" panose="02000000000000000000" charset="-122"/>
                <a:ea typeface="Heiti SC Light" panose="02000000000000000000" charset="-122"/>
                <a:cs typeface="Heiti SC Light" panose="02000000000000000000" charset="-122"/>
                <a:sym typeface="+mn-ea"/>
              </a:rPr>
              <a:t>发现脚本落盘和攻击动向</a:t>
            </a:r>
            <a:r>
              <a:rPr 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攻击者</a:t>
            </a:r>
            <a:r>
              <a:rPr lang="en-US" sz="1200" b="1" dirty="0">
                <a:solidFill>
                  <a:srgbClr val="14161A"/>
                </a:solidFill>
                <a:latin typeface="Heiti SC Light" panose="02000000000000000000" charset="-122"/>
                <a:ea typeface="Heiti SC Light" panose="02000000000000000000" charset="-122"/>
                <a:cs typeface="Heiti SC Light" panose="02000000000000000000" charset="-122"/>
              </a:rPr>
              <a:t>可</a:t>
            </a:r>
            <a:r>
              <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rPr>
              <a:t>直接控制服务器</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执行命令，对</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收银业务</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进行</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数据窃取甚至进一步投放勒索病毒</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，从而导致</a:t>
            </a:r>
            <a:r>
              <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rPr>
              <a:t>集团出现</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信息泄露、业务中断以及数据被加密</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的状况，进一步造成</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资金</a:t>
            </a:r>
            <a:r>
              <a:rPr lang="en-US" altLang="zh-CN" sz="1200" b="1" dirty="0">
                <a:solidFill>
                  <a:srgbClr val="FF0000"/>
                </a:solidFill>
                <a:latin typeface="Heiti SC Light" panose="02000000000000000000" charset="-122"/>
                <a:ea typeface="Heiti SC Light" panose="02000000000000000000" charset="-122"/>
                <a:cs typeface="Heiti SC Light" panose="02000000000000000000" charset="-122"/>
              </a:rPr>
              <a:t>/ </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名誉损失和监管单位通报处罚</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等；</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【影响范围</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攻击行为的</a:t>
            </a:r>
            <a:r>
              <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rPr>
              <a:t>阻断和处置加固及时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，将</a:t>
            </a:r>
            <a:r>
              <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rPr>
              <a:t>影响范围限制在单台业务服务器</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且</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未造成损失，未影响其它业务</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en-US" sz="12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【事件处置</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endParaRPr lang="zh-CN" altLang="en-US" sz="1200" b="1" dirty="0">
              <a:latin typeface="Heiti SC Light" panose="02000000000000000000" charset="-122"/>
              <a:ea typeface="Heiti SC Light" panose="02000000000000000000" charset="-122"/>
              <a:cs typeface="Heiti SC Light" panose="02000000000000000000" charset="-122"/>
              <a:sym typeface="+mn-ea"/>
            </a:endParaRPr>
          </a:p>
          <a:p>
            <a:pPr marL="228600" indent="-228600">
              <a:lnSpc>
                <a:spcPct val="150000"/>
              </a:lnSpc>
              <a:buFont typeface="+mj-ea"/>
              <a:buAutoNum type="circleNumDbPlain"/>
            </a:pP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云端服务经理：发现告警后对事件完成分析定性和通报预警，</a:t>
            </a:r>
            <a:r>
              <a:rPr lang="en-US" sz="1200" b="1" dirty="0">
                <a:solidFill>
                  <a:srgbClr val="14161A"/>
                </a:solidFill>
                <a:latin typeface="Heiti SC Light" panose="02000000000000000000" charset="-122"/>
                <a:ea typeface="Heiti SC Light" panose="02000000000000000000" charset="-122"/>
                <a:cs typeface="Heiti SC Light" panose="02000000000000000000" charset="-122"/>
              </a:rPr>
              <a:t>封堵恶意IP</a:t>
            </a:r>
            <a:r>
              <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rPr>
              <a:t>完成攻击抑制；应急响应，开展紧急溯源分析和处置；</a:t>
            </a:r>
            <a:endParaRPr lang="en-US" altLang="en-US" sz="1200" b="1"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rPr>
              <a:t>「客户单位</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rPr>
              <a:t>对接人称呼</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rPr>
              <a:t>」</a:t>
            </a:r>
            <a:r>
              <a:rPr lang="zh-CN" sz="1200" b="1" dirty="0">
                <a:solidFill>
                  <a:schemeClr val="tx1"/>
                </a:solidFill>
                <a:latin typeface="Heiti SC Light" panose="02000000000000000000" charset="-122"/>
                <a:ea typeface="Heiti SC Light" panose="02000000000000000000" charset="-122"/>
                <a:cs typeface="Heiti SC Light" panose="02000000000000000000" charset="-122"/>
              </a:rPr>
              <a:t>：</a:t>
            </a:r>
            <a:r>
              <a:rPr lang="zh-CN" sz="1200" dirty="0">
                <a:solidFill>
                  <a:schemeClr val="tx1"/>
                </a:solidFill>
                <a:latin typeface="Heiti SC Light" panose="02000000000000000000" charset="-122"/>
                <a:ea typeface="Heiti SC Light" panose="02000000000000000000" charset="-122"/>
                <a:cs typeface="Heiti SC Light" panose="02000000000000000000" charset="-122"/>
              </a:rPr>
              <a:t>结合业务判断审核事件属性，决策处置策略</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「线下驻场</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渠道工程师</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solidFill>
                  <a:schemeClr val="tx1"/>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对主机的恶意脚本文件进行清除；同步开展漏洞加固，通过</a:t>
            </a:r>
            <a:r>
              <a:rPr 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配置防护策略，针对性</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完成风险闭环</a:t>
            </a:r>
            <a:endPar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pic>
        <p:nvPicPr>
          <p:cNvPr id="5" name="Image 0" descr="/opt/sangfor/app/report-generation/soar/apps/report_generation/front/threat-management-report/static/images/quarterly-report/event-manage/finished.png"/>
          <p:cNvPicPr>
            <a:picLocks noChangeAspect="1"/>
          </p:cNvPicPr>
          <p:nvPr/>
        </p:nvPicPr>
        <p:blipFill>
          <a:blip r:embed="rId5"/>
          <a:stretch>
            <a:fillRect/>
          </a:stretch>
        </p:blipFill>
        <p:spPr>
          <a:xfrm>
            <a:off x="4911344" y="4854448"/>
            <a:ext cx="1088136" cy="877824"/>
          </a:xfrm>
          <a:prstGeom prst="rect">
            <a:avLst/>
          </a:prstGeom>
        </p:spPr>
      </p:pic>
      <p:sp>
        <p:nvSpPr>
          <p:cNvPr id="6" name="textbox 158"/>
          <p:cNvSpPr/>
          <p:nvPr/>
        </p:nvSpPr>
        <p:spPr>
          <a:xfrm>
            <a:off x="3480435" y="306070"/>
            <a:ext cx="1430655" cy="267970"/>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威胁</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对抗</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sp>
        <p:nvSpPr>
          <p:cNvPr id="8" name="文本框 7"/>
          <p:cNvSpPr txBox="1"/>
          <p:nvPr/>
        </p:nvSpPr>
        <p:spPr>
          <a:xfrm>
            <a:off x="599440" y="682625"/>
            <a:ext cx="6096000" cy="229870"/>
          </a:xfrm>
          <a:prstGeom prst="rect">
            <a:avLst/>
          </a:prstGeom>
          <a:noFill/>
        </p:spPr>
        <p:txBody>
          <a:bodyPr wrap="square" rtlCol="0" anchor="t">
            <a:spAutoFit/>
          </a:bodyPr>
          <a:p>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TIPs</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选择跟保护核心业务相关，并且跟用户共同协作完成处置的典型事件样例</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endPar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sp>
        <p:nvSpPr>
          <p:cNvPr id="3" name="文本框 2"/>
          <p:cNvSpPr txBox="1"/>
          <p:nvPr/>
        </p:nvSpPr>
        <p:spPr>
          <a:xfrm>
            <a:off x="599440" y="682625"/>
            <a:ext cx="6096000" cy="229870"/>
          </a:xfrm>
          <a:prstGeom prst="rect">
            <a:avLst/>
          </a:prstGeom>
          <a:noFill/>
        </p:spPr>
        <p:txBody>
          <a:bodyPr wrap="square" rtlCol="0" anchor="t">
            <a:spAutoFit/>
          </a:bodyPr>
          <a:p>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TIPs</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选择跟保护核心业务相关，并且跟用户共同协作完成处置的典型事件样例</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endPar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endParaRPr>
          </a:p>
        </p:txBody>
      </p:sp>
      <p:sp>
        <p:nvSpPr>
          <p:cNvPr id="20" name="Text 1"/>
          <p:cNvSpPr/>
          <p:nvPr/>
        </p:nvSpPr>
        <p:spPr>
          <a:xfrm>
            <a:off x="428625" y="1155065"/>
            <a:ext cx="5760000" cy="576000"/>
          </a:xfrm>
          <a:prstGeom prst="rect">
            <a:avLst/>
          </a:prstGeom>
          <a:solidFill>
            <a:srgbClr val="E6514E"/>
          </a:solidFill>
        </p:spPr>
        <p:txBody>
          <a:bodyPr wrap="square" lIns="0" tIns="0" rIns="0" bIns="0" rtlCol="0" anchor="ctr"/>
          <a:lstStyle/>
          <a:p>
            <a:pPr marL="0" indent="0" algn="ctr">
              <a:buNone/>
            </a:pPr>
            <a:r>
              <a:rPr lang="en-US" sz="1400" dirty="0">
                <a:solidFill>
                  <a:srgbClr val="FFFFFF"/>
                </a:solidFill>
                <a:latin typeface="Heiti SC Light" panose="02000000000000000000" charset="-122"/>
                <a:ea typeface="Heiti SC Light" panose="02000000000000000000" charset="-122"/>
                <a:cs typeface="微软雅黑" panose="020B0503020204020204" pitchFamily="34" charset="-120"/>
              </a:rPr>
              <a:t>主机</a:t>
            </a:r>
            <a:r>
              <a:rPr lang="zh-CN" altLang="en-US" sz="1400" dirty="0">
                <a:solidFill>
                  <a:srgbClr val="FFFFFF"/>
                </a:solidFill>
                <a:latin typeface="Heiti SC Light" panose="02000000000000000000" charset="-122"/>
                <a:ea typeface="Heiti SC Light" panose="02000000000000000000" charset="-122"/>
                <a:cs typeface="微软雅黑" panose="020B0503020204020204" pitchFamily="34" charset="-120"/>
              </a:rPr>
              <a:t>感染银狐病毒进行内网传播</a:t>
            </a:r>
            <a:endParaRPr lang="zh-CN" altLang="en-US" sz="1400" dirty="0">
              <a:solidFill>
                <a:srgbClr val="FFFFFF"/>
              </a:solidFill>
              <a:latin typeface="Heiti SC Light" panose="02000000000000000000" charset="-122"/>
              <a:ea typeface="Heiti SC Light" panose="02000000000000000000" charset="-122"/>
              <a:cs typeface="微软雅黑" panose="020B0503020204020204" pitchFamily="34" charset="-120"/>
            </a:endParaRPr>
          </a:p>
        </p:txBody>
      </p:sp>
      <p:sp>
        <p:nvSpPr>
          <p:cNvPr id="21" name="Text 2"/>
          <p:cNvSpPr/>
          <p:nvPr/>
        </p:nvSpPr>
        <p:spPr>
          <a:xfrm>
            <a:off x="428625" y="1731010"/>
            <a:ext cx="5760000" cy="4896000"/>
          </a:xfrm>
          <a:prstGeom prst="rect">
            <a:avLst/>
          </a:prstGeom>
          <a:solidFill>
            <a:srgbClr val="FDF1F1"/>
          </a:solidFill>
        </p:spPr>
        <p:txBody>
          <a:bodyPr wrap="square" lIns="283464" tIns="137160" rIns="283464" bIns="137160" rtlCol="0" anchor="t"/>
          <a:lstStyle/>
          <a:p>
            <a:pPr marL="0" indent="0">
              <a:lnSpc>
                <a:spcPts val="1600"/>
              </a:lnSpc>
              <a:buNone/>
            </a:pPr>
            <a:r>
              <a:rPr lang="zh-CN" altLang="en-US" sz="1200" b="1" dirty="0">
                <a:solidFill>
                  <a:srgbClr val="14161A"/>
                </a:solidFill>
                <a:latin typeface="Heiti SC Medium" panose="02000000000000000000" charset="-122"/>
                <a:ea typeface="Heiti SC Medium" panose="02000000000000000000" charset="-122"/>
                <a:cs typeface="Heiti SC Medium" panose="02000000000000000000" charset="-122"/>
              </a:rPr>
              <a:t>攻击者通过伪造盗版谷歌浏览器，诱导员工下载安装从而植入银狐木马，通过</a:t>
            </a:r>
            <a:r>
              <a:rPr lang="en-US" altLang="zh-CN" sz="1200" b="1" dirty="0">
                <a:solidFill>
                  <a:srgbClr val="14161A"/>
                </a:solidFill>
                <a:latin typeface="Heiti SC Medium" panose="02000000000000000000" charset="-122"/>
                <a:ea typeface="Heiti SC Medium" panose="02000000000000000000" charset="-122"/>
                <a:cs typeface="Heiti SC Medium" panose="02000000000000000000" charset="-122"/>
              </a:rPr>
              <a:t>OA</a:t>
            </a:r>
            <a:r>
              <a:rPr lang="zh-CN" altLang="en-US" sz="1200" b="1" dirty="0">
                <a:solidFill>
                  <a:srgbClr val="14161A"/>
                </a:solidFill>
                <a:latin typeface="Heiti SC Medium" panose="02000000000000000000" charset="-122"/>
                <a:ea typeface="Heiti SC Medium" panose="02000000000000000000" charset="-122"/>
                <a:cs typeface="Heiti SC Medium" panose="02000000000000000000" charset="-122"/>
              </a:rPr>
              <a:t>系统进行横向传播。</a:t>
            </a:r>
            <a:r>
              <a:rPr lang="en-US" sz="1000" b="1" dirty="0">
                <a:solidFill>
                  <a:srgbClr val="14161A"/>
                </a:solidFill>
                <a:latin typeface="Heiti SC Light" panose="02000000000000000000" charset="-122"/>
                <a:ea typeface="Heiti SC Light" panose="02000000000000000000" charset="-122"/>
                <a:cs typeface="Heiti SC Light" panose="02000000000000000000" charset="-122"/>
              </a:rPr>
              <a:t>
</a:t>
            </a:r>
            <a:endParaRPr lang="en-US" sz="10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【发现时间】：</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2025-9-11 05:48</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影响资产</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en-US" sz="1200" dirty="0">
                <a:solidFill>
                  <a:srgbClr val="666666"/>
                </a:solidFill>
                <a:latin typeface="Heiti SC Light" panose="02000000000000000000" charset="-122"/>
                <a:ea typeface="Heiti SC Light" panose="02000000000000000000" charset="-122"/>
                <a:cs typeface="Heiti SC Light" panose="02000000000000000000" charset="-122"/>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XX.XX.XX.XX</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XX</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资产</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en-US" altLang="zh-CN" sz="12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事件危害</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终端电脑</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rPr>
              <a:t>感染银狐病毒</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后</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，攻击者可控制该PC通过即时通讯软件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（微信等）</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或办公OA系统进行钓鱼从而</a:t>
            </a:r>
            <a:r>
              <a:rPr lang="zh-CN" altLang="en-US" sz="1200" dirty="0">
                <a:solidFill>
                  <a:srgbClr val="FF0000"/>
                </a:solidFill>
                <a:latin typeface="Heiti SC Light" panose="02000000000000000000" charset="-122"/>
                <a:ea typeface="Heiti SC Light" panose="02000000000000000000" charset="-122"/>
                <a:cs typeface="Heiti SC Light" panose="02000000000000000000" charset="-122"/>
              </a:rPr>
              <a:t>无差别</a:t>
            </a:r>
            <a:r>
              <a:rPr lang="en-US" altLang="zh-CN" sz="1200" dirty="0">
                <a:solidFill>
                  <a:srgbClr val="FF0000"/>
                </a:solidFill>
                <a:latin typeface="Heiti SC Light" panose="02000000000000000000" charset="-122"/>
                <a:ea typeface="Heiti SC Light" panose="02000000000000000000" charset="-122"/>
                <a:cs typeface="Heiti SC Light" panose="02000000000000000000" charset="-122"/>
              </a:rPr>
              <a:t>骗取</a:t>
            </a:r>
            <a:r>
              <a:rPr lang="zh-CN" altLang="en-US" sz="1200" dirty="0">
                <a:solidFill>
                  <a:srgbClr val="FF0000"/>
                </a:solidFill>
                <a:latin typeface="Heiti SC Light" panose="02000000000000000000" charset="-122"/>
                <a:ea typeface="Heiti SC Light" panose="02000000000000000000" charset="-122"/>
                <a:cs typeface="Heiti SC Light" panose="02000000000000000000" charset="-122"/>
              </a:rPr>
              <a:t>钱财或投放勒索病毒</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a:t>
            </a:r>
            <a:r>
              <a:rPr lang="zh-CN" altLang="en-US" sz="1200" dirty="0">
                <a:solidFill>
                  <a:srgbClr val="FF0000"/>
                </a:solidFill>
                <a:latin typeface="Heiti SC Light" panose="02000000000000000000" charset="-122"/>
                <a:ea typeface="Heiti SC Light" panose="02000000000000000000" charset="-122"/>
                <a:cs typeface="Heiti SC Light" panose="02000000000000000000" charset="-122"/>
              </a:rPr>
              <a:t>影响员工乃至单位领导的正常办公并造成个人损失</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【影响范围</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攻击者控制该电脑主机</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通过</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OA向集团</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员工</a:t>
            </a:r>
            <a:r>
              <a:rPr lang="zh-CN" altLang="en-US" sz="1200" dirty="0">
                <a:solidFill>
                  <a:srgbClr val="FF0000"/>
                </a:solidFill>
                <a:latin typeface="Heiti SC Light" panose="02000000000000000000" charset="-122"/>
                <a:ea typeface="Heiti SC Light" panose="02000000000000000000" charset="-122"/>
                <a:cs typeface="Heiti SC Light" panose="02000000000000000000" charset="-122"/>
              </a:rPr>
              <a:t>批量</a:t>
            </a:r>
            <a:r>
              <a:rPr lang="en-US" altLang="zh-CN" sz="1200" dirty="0">
                <a:solidFill>
                  <a:srgbClr val="FF0000"/>
                </a:solidFill>
                <a:latin typeface="Heiti SC Light" panose="02000000000000000000" charset="-122"/>
                <a:ea typeface="Heiti SC Light" panose="02000000000000000000" charset="-122"/>
                <a:cs typeface="Heiti SC Light" panose="02000000000000000000" charset="-122"/>
              </a:rPr>
              <a:t>发送了钓鱼邮件</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，单位内部存在</a:t>
            </a:r>
            <a:r>
              <a:rPr lang="en-US" altLang="zh-CN" sz="1200" dirty="0">
                <a:solidFill>
                  <a:srgbClr val="FF0000"/>
                </a:solidFill>
                <a:latin typeface="Heiti SC Light" panose="02000000000000000000" charset="-122"/>
                <a:ea typeface="Heiti SC Light" panose="02000000000000000000" charset="-122"/>
                <a:cs typeface="Heiti SC Light" panose="02000000000000000000" charset="-122"/>
              </a:rPr>
              <a:t>部分员工访问钓鱼链接遭受风险</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，最终</a:t>
            </a:r>
            <a:r>
              <a:rPr lang="zh-CN" altLang="en-US" sz="1200" dirty="0">
                <a:solidFill>
                  <a:srgbClr val="666666"/>
                </a:solidFill>
                <a:latin typeface="Heiti SC Light" panose="02000000000000000000" charset="-122"/>
                <a:ea typeface="Heiti SC Light" panose="02000000000000000000" charset="-122"/>
                <a:cs typeface="Heiti SC Light" panose="02000000000000000000" charset="-122"/>
              </a:rPr>
              <a:t>通过</a:t>
            </a:r>
            <a:r>
              <a:rPr lang="zh-CN" altLang="en-US" sz="1200" dirty="0">
                <a:solidFill>
                  <a:srgbClr val="FF0000"/>
                </a:solidFill>
                <a:latin typeface="Heiti SC Light" panose="02000000000000000000" charset="-122"/>
                <a:ea typeface="Heiti SC Light" panose="02000000000000000000" charset="-122"/>
                <a:cs typeface="Heiti SC Light" panose="02000000000000000000" charset="-122"/>
              </a:rPr>
              <a:t>快速的应急排查和处置闭环规避了损失</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【事件处置</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endParaRPr lang="en-US" sz="1200" dirty="0">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altLang="en-US" sz="1200" dirty="0">
                <a:solidFill>
                  <a:srgbClr val="14161A"/>
                </a:solidFill>
                <a:latin typeface="Heiti SC Light" panose="02000000000000000000" charset="-122"/>
                <a:ea typeface="Heiti SC Light" panose="02000000000000000000" charset="-122"/>
                <a:cs typeface="微软雅黑" panose="020B0503020204020204" pitchFamily="34" charset="-120"/>
                <a:sym typeface="+mn-ea"/>
              </a:rPr>
              <a:t>云端服务经理</a:t>
            </a:r>
            <a:r>
              <a:rPr lang="zh-CN" altLang="en-US" sz="1200" dirty="0">
                <a:solidFill>
                  <a:srgbClr val="666666"/>
                </a:solidFill>
                <a:latin typeface="Heiti SC Light" panose="02000000000000000000" charset="-122"/>
                <a:ea typeface="Heiti SC Light" panose="02000000000000000000" charset="-122"/>
                <a:cs typeface="Heiti SC Light" panose="02000000000000000000" charset="-122"/>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应急响应专家对该中招</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PC</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进行排查和攻击路径分析溯源，协助线下找到并清除了木马文件，快速定位了中招原因</a:t>
            </a:r>
            <a:r>
              <a:rPr 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和攻击路径</a:t>
            </a:r>
            <a:endParaRPr lang="en-US" altLang="en-US" sz="1200" b="1"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「客户单位</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对接人姓名</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latin typeface="Heiti SC Light" panose="02000000000000000000" charset="-122"/>
                <a:ea typeface="Heiti SC Light" panose="02000000000000000000" charset="-122"/>
                <a:cs typeface="Heiti SC Light" panose="02000000000000000000" charset="-122"/>
                <a:sym typeface="+mn-ea"/>
              </a:rPr>
              <a:t>：</a:t>
            </a:r>
            <a:r>
              <a:rPr lang="zh-CN" sz="1200" dirty="0">
                <a:latin typeface="Heiti SC Light" panose="02000000000000000000" charset="-122"/>
                <a:ea typeface="Heiti SC Light" panose="02000000000000000000" charset="-122"/>
                <a:cs typeface="Heiti SC Light" panose="02000000000000000000" charset="-122"/>
                <a:sym typeface="+mn-ea"/>
              </a:rPr>
              <a:t>协助快速定位到事发主机，决策处置预案；</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「线下驻场</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渠道工程师</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进行了攻击</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IP</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封堵、</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PC</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网络链接断开的初步遏制</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endParaRPr>
          </a:p>
        </p:txBody>
      </p:sp>
      <p:pic>
        <p:nvPicPr>
          <p:cNvPr id="22" name="Image 0" descr="/opt/sangfor/app/report-generation/soar/apps/report_generation/front/threat-management-report/static/images/quarterly-report/event-manage/finished.png"/>
          <p:cNvPicPr>
            <a:picLocks noChangeAspect="1"/>
          </p:cNvPicPr>
          <p:nvPr/>
        </p:nvPicPr>
        <p:blipFill>
          <a:blip r:embed="rId2"/>
          <a:stretch>
            <a:fillRect/>
          </a:stretch>
        </p:blipFill>
        <p:spPr>
          <a:xfrm>
            <a:off x="4544314" y="4698238"/>
            <a:ext cx="1088136" cy="877824"/>
          </a:xfrm>
          <a:prstGeom prst="rect">
            <a:avLst/>
          </a:prstGeom>
        </p:spPr>
      </p:pic>
      <p:graphicFrame>
        <p:nvGraphicFramePr>
          <p:cNvPr id="47" name="表格 46"/>
          <p:cNvGraphicFramePr/>
          <p:nvPr>
            <p:custDataLst>
              <p:tags r:id="rId3"/>
            </p:custDataLst>
          </p:nvPr>
        </p:nvGraphicFramePr>
        <p:xfrm>
          <a:off x="6257290" y="1155065"/>
          <a:ext cx="5535295" cy="5471795"/>
        </p:xfrm>
        <a:graphic>
          <a:graphicData uri="http://schemas.openxmlformats.org/drawingml/2006/table">
            <a:tbl>
              <a:tblPr firstRow="1" lastCol="1" bandCol="1">
                <a:tableStyleId>{0126E9F6-41A6-44B7-8387-491034A24550}</a:tableStyleId>
              </a:tblPr>
              <a:tblGrid>
                <a:gridCol w="883285"/>
                <a:gridCol w="4652010"/>
              </a:tblGrid>
              <a:tr h="85725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潜在损失维度</a:t>
                      </a:r>
                      <a:endParaRPr lang="zh-CN" altLang="en-US" sz="1200">
                        <a:solidFill>
                          <a:schemeClr val="tx1"/>
                        </a:solidFill>
                        <a:latin typeface="Heiti SC Light" panose="02000000000000000000" charset="-122"/>
                        <a:ea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5">
                        <a:lumMod val="60000"/>
                        <a:lumOff val="40000"/>
                      </a:schemeClr>
                    </a:solidFill>
                  </a:tcPr>
                </a:tc>
                <a:tc>
                  <a:txBody>
                    <a:bodyPr/>
                    <a:p>
                      <a:pPr algn="ctr">
                        <a:lnSpc>
                          <a:spcPct val="150000"/>
                        </a:lnSpc>
                        <a:buNone/>
                      </a:pPr>
                      <a:r>
                        <a:rPr lang="zh-CN" altLang="en-US" sz="1200">
                          <a:solidFill>
                            <a:schemeClr val="tx1"/>
                          </a:solidFill>
                          <a:latin typeface="Heiti SC Light" panose="02000000000000000000" charset="-122"/>
                          <a:ea typeface="Heiti SC Light" panose="02000000000000000000" charset="-122"/>
                          <a:sym typeface="+mn-ea"/>
                        </a:rPr>
                        <a:t>主机外联成功将被感染银狐木马</a:t>
                      </a:r>
                      <a:r>
                        <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，利用主机的即时通讯软件在单位内部执行诈骗，或以内部员工合法身份窃取内部</a:t>
                      </a:r>
                      <a:r>
                        <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敏感数据</a:t>
                      </a:r>
                      <a:endPar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3">
                        <a:lumMod val="20000"/>
                        <a:lumOff val="80000"/>
                      </a:schemeClr>
                    </a:solidFill>
                  </a:tcPr>
                </a:tc>
              </a:tr>
              <a:tr h="1301115">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潜在损失规避评估</a:t>
                      </a:r>
                      <a:endParaRPr lang="zh-CN" altLang="en-US" sz="1200">
                        <a:solidFill>
                          <a:schemeClr val="tx1"/>
                        </a:solidFill>
                        <a:latin typeface="Heiti SC Light" panose="02000000000000000000" charset="-122"/>
                        <a:ea typeface="Heiti SC Light" panose="02000000000000000000" charset="-122"/>
                      </a:endParaRPr>
                    </a:p>
                    <a:p>
                      <a:pPr algn="ctr">
                        <a:buNone/>
                      </a:pPr>
                      <a:r>
                        <a:rPr lang="zh-CN" altLang="en-US" sz="1200">
                          <a:solidFill>
                            <a:schemeClr val="tx1"/>
                          </a:solidFill>
                          <a:latin typeface="Heiti SC Light" panose="02000000000000000000" charset="-122"/>
                          <a:ea typeface="Heiti SC Light" panose="02000000000000000000" charset="-122"/>
                          <a:sym typeface="+mn-ea"/>
                        </a:rPr>
                        <a:t>（影响面）</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algn="ctr">
                        <a:lnSpc>
                          <a:spcPct val="150000"/>
                        </a:lnSpc>
                        <a:buNone/>
                      </a:pP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600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起银狐外联</a:t>
                      </a: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*2000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元</a:t>
                      </a:r>
                      <a:endParaRPr lang="zh-CN" altLang="en-US" sz="1200">
                        <a:solidFill>
                          <a:srgbClr val="FF0000"/>
                        </a:solidFill>
                        <a:latin typeface="Heiti SC Light" panose="02000000000000000000" charset="-122"/>
                        <a:ea typeface="Heiti SC Light" panose="02000000000000000000" charset="-122"/>
                        <a:cs typeface="Heiti SC Light" panose="02000000000000000000" charset="-122"/>
                      </a:endParaRPr>
                    </a:p>
                    <a:p>
                      <a:pPr algn="ctr">
                        <a:lnSpc>
                          <a:spcPct val="150000"/>
                        </a:lnSpc>
                        <a:buNone/>
                      </a:pP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≈120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万元</a:t>
                      </a:r>
                      <a:endParaRPr lang="zh-CN" altLang="en-US" sz="1200">
                        <a:solidFill>
                          <a:schemeClr val="tx1"/>
                        </a:solidFill>
                        <a:latin typeface="Heiti SC Light" panose="02000000000000000000" charset="-122"/>
                        <a:ea typeface="Heiti SC Light" panose="02000000000000000000" charset="-122"/>
                        <a:cs typeface="Heiti SC Light" panose="02000000000000000000" charset="-122"/>
                      </a:endParaRPr>
                    </a:p>
                    <a:p>
                      <a:pPr algn="ctr">
                        <a:lnSpc>
                          <a:spcPct val="150000"/>
                        </a:lnSpc>
                        <a:buSzTx/>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（基于深信服安全运营中心2025年统计，平均每起</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algn="ctr">
                        <a:lnSpc>
                          <a:spcPct val="150000"/>
                        </a:lnSpc>
                        <a:buSzTx/>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银狐木马攻击造成的个人损失约2000元；）</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r h="331343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实际案例损失情况</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indent="0" algn="l">
                        <a:lnSpc>
                          <a:spcPct val="150000"/>
                        </a:lnSpc>
                        <a:buClrTx/>
                        <a:buSzTx/>
                        <a:buFont typeface="+mj-lt"/>
                        <a:buNone/>
                      </a:pP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2025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年，银狐木马以远程控制</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财务诈骗</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数据窃取为主，非传统勒索加密，但造成企业直接经济损失超</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20</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亿元、受害企事业单位超</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1000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家，以下为权威披露的典型高损失案例：</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杭州某跨境电商（</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2025</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年</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5</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月，损失</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800</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万元）</a:t>
                      </a:r>
                      <a:endParaRPr lang="zh-CN" altLang="en-US" sz="1200" b="0" dirty="0">
                        <a:solidFill>
                          <a:schemeClr val="tx1"/>
                        </a:solidFill>
                        <a:latin typeface="Heiti SC Light" panose="02000000000000000000" charset="-122"/>
                        <a:ea typeface="Heiti SC Light" panose="02000000000000000000" charset="-122"/>
                        <a:cs typeface="Heiti SC Light" panose="02000000000000000000" charset="-122"/>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攻击路径：伪装成银行账户年审通知约鱼邮件，财务电脑中招，木马潜伏两周，</a:t>
                      </a:r>
                      <a:endParaRPr lang="zh-CN" altLang="en-US" sz="1200" b="0" dirty="0">
                        <a:solidFill>
                          <a:schemeClr val="tx1"/>
                        </a:solidFill>
                        <a:latin typeface="Heiti SC Light" panose="02000000000000000000" charset="-122"/>
                        <a:ea typeface="Heiti SC Light" panose="02000000000000000000" charset="-122"/>
                        <a:cs typeface="Heiti SC Light" panose="02000000000000000000" charset="-122"/>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作案手法：监控微信聊天，自动篡改指令：将财务汇报的</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暂不付款”</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篡改为“</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立即支付”，并伪造老板</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已阅</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回复。</a:t>
                      </a:r>
                      <a:endParaRPr lang="zh-CN" altLang="en-US" sz="1200" b="0" dirty="0">
                        <a:solidFill>
                          <a:schemeClr val="tx1"/>
                        </a:solidFill>
                        <a:latin typeface="Heiti SC Light" panose="02000000000000000000" charset="-122"/>
                        <a:ea typeface="Heiti SC Light" panose="02000000000000000000" charset="-122"/>
                        <a:cs typeface="Heiti SC Light" panose="02000000000000000000" charset="-122"/>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损失：</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15</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分钟内</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800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万货款转至境外账户，追回难度极大。</a:t>
                      </a:r>
                      <a:endParaRPr lang="zh-CN" altLang="en-US" sz="1200" b="0" dirty="0">
                        <a:solidFill>
                          <a:schemeClr val="tx1"/>
                        </a:solidFill>
                        <a:latin typeface="Heiti SC Light" panose="02000000000000000000" charset="-122"/>
                        <a:ea typeface="Heiti SC Light" panose="02000000000000000000" charset="-122"/>
                        <a:cs typeface="Heiti SC Light" panose="02000000000000000000" charset="-122"/>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来源：浙江警方（</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2025</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年经济犯罪典型案例）</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bl>
          </a:graphicData>
        </a:graphic>
      </p:graphicFrame>
      <p:pic>
        <p:nvPicPr>
          <p:cNvPr id="23" name="图片 22" descr="深信服 + 智安全"/>
          <p:cNvPicPr>
            <a:picLocks noChangeAspect="1"/>
          </p:cNvPicPr>
          <p:nvPr/>
        </p:nvPicPr>
        <p:blipFill>
          <a:blip r:embed="rId1"/>
          <a:srcRect l="5232" t="26576" r="4938" b="29565"/>
          <a:stretch>
            <a:fillRect/>
          </a:stretch>
        </p:blipFill>
        <p:spPr>
          <a:xfrm>
            <a:off x="10144125" y="365760"/>
            <a:ext cx="1629867" cy="360000"/>
          </a:xfrm>
          <a:prstGeom prst="rect">
            <a:avLst/>
          </a:prstGeom>
        </p:spPr>
      </p:pic>
      <p:grpSp>
        <p:nvGrpSpPr>
          <p:cNvPr id="24" name="组合 23"/>
          <p:cNvGrpSpPr/>
          <p:nvPr/>
        </p:nvGrpSpPr>
        <p:grpSpPr>
          <a:xfrm>
            <a:off x="224790" y="289878"/>
            <a:ext cx="4279900" cy="327025"/>
            <a:chOff x="533" y="646"/>
            <a:chExt cx="6740" cy="515"/>
          </a:xfrm>
        </p:grpSpPr>
        <p:grpSp>
          <p:nvGrpSpPr>
            <p:cNvPr id="25" name="组合 24"/>
            <p:cNvGrpSpPr/>
            <p:nvPr/>
          </p:nvGrpSpPr>
          <p:grpSpPr>
            <a:xfrm rot="0">
              <a:off x="533" y="672"/>
              <a:ext cx="582" cy="420"/>
              <a:chOff x="533" y="672"/>
              <a:chExt cx="582" cy="420"/>
            </a:xfrm>
          </p:grpSpPr>
          <p:sp>
            <p:nvSpPr>
              <p:cNvPr id="26" name="燕尾形 86"/>
              <p:cNvSpPr/>
              <p:nvPr>
                <p:custDataLst>
                  <p:tags r:id="rId4"/>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27" name="燕尾形 103"/>
              <p:cNvSpPr/>
              <p:nvPr>
                <p:custDataLst>
                  <p:tags r:id="rId5"/>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8"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保护业务</a:t>
              </a:r>
              <a:r>
                <a:rPr lang="zh-CN" alt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安全典型事例</a:t>
              </a:r>
              <a:endParaRPr lang="en-US" sz="1900">
                <a:latin typeface="Arial Black" panose="020B0A04020102020204" pitchFamily="34" charset="0"/>
                <a:ea typeface="微软雅黑" panose="020B0503020204020204" charset="-122"/>
              </a:endParaRPr>
            </a:p>
            <a:p>
              <a:pPr algn="l" rtl="0" eaLnBrk="0">
                <a:lnSpc>
                  <a:spcPct val="101000"/>
                </a:lnSpc>
              </a:pP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sp>
        <p:nvSpPr>
          <p:cNvPr id="29" name="textbox 158"/>
          <p:cNvSpPr/>
          <p:nvPr/>
        </p:nvSpPr>
        <p:spPr>
          <a:xfrm>
            <a:off x="3480435" y="306070"/>
            <a:ext cx="1430655" cy="267970"/>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威胁</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对抗</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5209540" cy="327025"/>
            <a:chOff x="533" y="646"/>
            <a:chExt cx="8204"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8" name="textbox 158"/>
            <p:cNvSpPr/>
            <p:nvPr/>
          </p:nvSpPr>
          <p:spPr>
            <a:xfrm>
              <a:off x="1345" y="646"/>
              <a:ext cx="7392"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安全风险主动预防</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风险运营总览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pic>
        <p:nvPicPr>
          <p:cNvPr id="20" name="图片 19"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207" name="Rectangle"/>
          <p:cNvSpPr/>
          <p:nvPr/>
        </p:nvSpPr>
        <p:spPr>
          <a:xfrm>
            <a:off x="838200" y="1860550"/>
            <a:ext cx="355600" cy="355600"/>
          </a:xfrm>
          <a:prstGeom prst="roundRect">
            <a:avLst>
              <a:gd name="adj" fmla="val 25000"/>
            </a:avLst>
          </a:prstGeom>
          <a:gradFill>
            <a:gsLst>
              <a:gs pos="0">
                <a:srgbClr val="3B82F5"/>
              </a:gs>
              <a:gs pos="100000">
                <a:srgbClr val="0FBAD4"/>
              </a:gs>
            </a:gsLst>
            <a:lin ang="0" scaled="1"/>
          </a:gradFill>
          <a:ln>
            <a:noFill/>
          </a:ln>
        </p:spPr>
        <p:txBody>
          <a:bodyPr/>
          <a:lstStyle/>
          <a:p>
            <a:endParaRPr lang="en-US" sz="1200"/>
          </a:p>
        </p:txBody>
      </p:sp>
      <p:sp>
        <p:nvSpPr>
          <p:cNvPr id="208" name="TextBox"/>
          <p:cNvSpPr txBox="1"/>
          <p:nvPr/>
        </p:nvSpPr>
        <p:spPr>
          <a:xfrm>
            <a:off x="920750" y="1930400"/>
            <a:ext cx="187437" cy="215900"/>
          </a:xfrm>
          <a:prstGeom prst="rect">
            <a:avLst/>
          </a:prstGeom>
          <a:noFill/>
          <a:ln>
            <a:noFill/>
          </a:ln>
        </p:spPr>
        <p:txBody>
          <a:bodyPr wrap="none" lIns="0" tIns="0" rIns="0" bIns="0"/>
          <a:lstStyle/>
          <a:p>
            <a:r>
              <a:rPr lang="en-US" sz="1400">
                <a:solidFill>
                  <a:srgbClr val="FFFFFF"/>
                </a:solidFill>
                <a:latin typeface="Inter Bold"/>
                <a:ea typeface="Inter Bold"/>
                <a:cs typeface="Inter Bold"/>
              </a:rPr>
              <a:t>01</a:t>
            </a:r>
            <a:endParaRPr lang="en-US" sz="1400">
              <a:solidFill>
                <a:srgbClr val="FFFFFF"/>
              </a:solidFill>
              <a:latin typeface="Inter Bold"/>
              <a:ea typeface="Inter Bold"/>
              <a:cs typeface="Inter Bold"/>
            </a:endParaRPr>
          </a:p>
        </p:txBody>
      </p:sp>
      <p:sp>
        <p:nvSpPr>
          <p:cNvPr id="209" name="TextBox"/>
          <p:cNvSpPr txBox="1"/>
          <p:nvPr/>
        </p:nvSpPr>
        <p:spPr>
          <a:xfrm>
            <a:off x="1282700" y="1847850"/>
            <a:ext cx="1219200" cy="247650"/>
          </a:xfrm>
          <a:prstGeom prst="rect">
            <a:avLst/>
          </a:prstGeom>
          <a:noFill/>
          <a:ln>
            <a:noFill/>
          </a:ln>
        </p:spPr>
        <p:txBody>
          <a:bodyPr wrap="none" lIns="0" tIns="0" rIns="0" bIns="0"/>
          <a:lstStyle/>
          <a:p>
            <a:r>
              <a:rPr lang="zh-CN" sz="1600">
                <a:solidFill>
                  <a:schemeClr val="tx1"/>
                </a:solidFill>
                <a:latin typeface="Arial Black" panose="020B0A04020102020204" pitchFamily="34" charset="0"/>
                <a:ea typeface="微软雅黑" panose="020B0503020204020204" charset="-122"/>
                <a:cs typeface="Inter Bold"/>
              </a:rPr>
              <a:t>主动识别风险</a:t>
            </a:r>
            <a:endParaRPr lang="zh-CN" sz="1600">
              <a:solidFill>
                <a:schemeClr val="tx1"/>
              </a:solidFill>
              <a:latin typeface="Arial Black" panose="020B0A04020102020204" pitchFamily="34" charset="0"/>
              <a:ea typeface="微软雅黑" panose="020B0503020204020204" charset="-122"/>
              <a:cs typeface="Inter Bold"/>
            </a:endParaRPr>
          </a:p>
        </p:txBody>
      </p:sp>
      <p:sp>
        <p:nvSpPr>
          <p:cNvPr id="210" name="Rectangle"/>
          <p:cNvSpPr/>
          <p:nvPr/>
        </p:nvSpPr>
        <p:spPr>
          <a:xfrm>
            <a:off x="5308600" y="1930400"/>
            <a:ext cx="584200" cy="222250"/>
          </a:xfrm>
          <a:prstGeom prst="roundRect">
            <a:avLst>
              <a:gd name="adj" fmla="val 50000"/>
            </a:avLst>
          </a:prstGeom>
          <a:solidFill>
            <a:srgbClr val="3B82F5">
              <a:alpha val="18000"/>
            </a:srgbClr>
          </a:solidFill>
          <a:ln>
            <a:noFill/>
          </a:ln>
        </p:spPr>
        <p:txBody>
          <a:bodyPr/>
          <a:lstStyle/>
          <a:p>
            <a:endParaRPr lang="en-US" sz="1200"/>
          </a:p>
        </p:txBody>
      </p:sp>
      <p:sp>
        <p:nvSpPr>
          <p:cNvPr id="211" name="TextBox"/>
          <p:cNvSpPr txBox="1"/>
          <p:nvPr/>
        </p:nvSpPr>
        <p:spPr>
          <a:xfrm>
            <a:off x="5397500" y="1981200"/>
            <a:ext cx="406400" cy="120650"/>
          </a:xfrm>
          <a:prstGeom prst="rect">
            <a:avLst/>
          </a:prstGeom>
          <a:noFill/>
          <a:ln>
            <a:noFill/>
          </a:ln>
        </p:spPr>
        <p:txBody>
          <a:bodyPr wrap="none" lIns="0" tIns="0" rIns="0" bIns="0"/>
          <a:lstStyle/>
          <a:p>
            <a:r>
              <a:rPr lang="zh-CN" sz="800">
                <a:solidFill>
                  <a:srgbClr val="60A5FA"/>
                </a:solidFill>
                <a:latin typeface="Arial Black" panose="020B0A04020102020204" pitchFamily="34" charset="0"/>
                <a:ea typeface="微软雅黑" panose="020B0503020204020204" charset="-122"/>
                <a:cs typeface="Inter"/>
              </a:rPr>
              <a:t>发现阶段</a:t>
            </a:r>
            <a:endParaRPr lang="zh-CN" sz="800">
              <a:solidFill>
                <a:srgbClr val="60A5FA"/>
              </a:solidFill>
              <a:latin typeface="Arial Black" panose="020B0A04020102020204" pitchFamily="34" charset="0"/>
              <a:ea typeface="微软雅黑" panose="020B0503020204020204" charset="-122"/>
              <a:cs typeface="Inter"/>
            </a:endParaRPr>
          </a:p>
        </p:txBody>
      </p:sp>
      <p:sp>
        <p:nvSpPr>
          <p:cNvPr id="212" name="Rectangle"/>
          <p:cNvSpPr/>
          <p:nvPr/>
        </p:nvSpPr>
        <p:spPr>
          <a:xfrm>
            <a:off x="5311775" y="1933575"/>
            <a:ext cx="577850" cy="215900"/>
          </a:xfrm>
          <a:prstGeom prst="roundRect">
            <a:avLst>
              <a:gd name="adj" fmla="val 50000"/>
            </a:avLst>
          </a:prstGeom>
          <a:noFill/>
          <a:ln w="9525">
            <a:solidFill>
              <a:srgbClr val="3B82F5">
                <a:alpha val="60000"/>
              </a:srgbClr>
            </a:solidFill>
            <a:miter lim="400000"/>
          </a:ln>
        </p:spPr>
        <p:txBody>
          <a:bodyPr/>
          <a:lstStyle/>
          <a:p>
            <a:endParaRPr lang="en-US" sz="1200"/>
          </a:p>
        </p:txBody>
      </p:sp>
      <p:sp>
        <p:nvSpPr>
          <p:cNvPr id="213" name="Rectangle"/>
          <p:cNvSpPr/>
          <p:nvPr/>
        </p:nvSpPr>
        <p:spPr>
          <a:xfrm>
            <a:off x="838200" y="2330450"/>
            <a:ext cx="5054600" cy="749300"/>
          </a:xfrm>
          <a:prstGeom prst="roundRect">
            <a:avLst>
              <a:gd name="adj" fmla="val 11864"/>
            </a:avLst>
          </a:prstGeom>
          <a:noFill/>
          <a:ln>
            <a:noFill/>
          </a:ln>
          <a:extLst>
            <a:ext uri="{909E8E84-426E-40DD-AFC4-6F175D3DCCD1}">
              <a14:hiddenFill xmlns:a14="http://schemas.microsoft.com/office/drawing/2010/main">
                <a:solidFill>
                  <a:srgbClr val="1C2940">
                    <a:alpha val="85000"/>
                  </a:srgbClr>
                </a:solidFill>
              </a14:hiddenFill>
            </a:ext>
          </a:extLst>
        </p:spPr>
        <p:txBody>
          <a:bodyPr/>
          <a:lstStyle/>
          <a:p>
            <a:endParaRPr lang="en-US" sz="1200"/>
          </a:p>
        </p:txBody>
      </p:sp>
      <p:sp>
        <p:nvSpPr>
          <p:cNvPr id="214" name="Rectangle"/>
          <p:cNvSpPr/>
          <p:nvPr/>
        </p:nvSpPr>
        <p:spPr>
          <a:xfrm>
            <a:off x="965200" y="2527300"/>
            <a:ext cx="355600" cy="355600"/>
          </a:xfrm>
          <a:prstGeom prst="roundRect">
            <a:avLst>
              <a:gd name="adj" fmla="val 25000"/>
            </a:avLst>
          </a:prstGeom>
          <a:solidFill>
            <a:srgbClr val="3B82F5">
              <a:alpha val="15000"/>
            </a:srgbClr>
          </a:solidFill>
          <a:ln>
            <a:noFill/>
          </a:ln>
        </p:spPr>
        <p:txBody>
          <a:bodyPr/>
          <a:lstStyle/>
          <a:p>
            <a:endParaRPr lang="en-US" sz="1200"/>
          </a:p>
        </p:txBody>
      </p:sp>
      <p:sp>
        <p:nvSpPr>
          <p:cNvPr id="215" name="Ellipse"/>
          <p:cNvSpPr/>
          <p:nvPr/>
        </p:nvSpPr>
        <p:spPr>
          <a:xfrm>
            <a:off x="1083733" y="2645833"/>
            <a:ext cx="103717" cy="103717"/>
          </a:xfrm>
          <a:prstGeom prst="ellipse">
            <a:avLst/>
          </a:prstGeom>
          <a:noFill/>
          <a:ln w="22225">
            <a:solidFill>
              <a:srgbClr val="60A5FA"/>
            </a:solidFill>
            <a:miter lim="400000"/>
          </a:ln>
        </p:spPr>
        <p:txBody>
          <a:bodyPr/>
          <a:lstStyle/>
          <a:p>
            <a:endParaRPr lang="en-US" sz="1200"/>
          </a:p>
        </p:txBody>
      </p:sp>
      <p:sp>
        <p:nvSpPr>
          <p:cNvPr id="216" name="Path"/>
          <p:cNvSpPr/>
          <p:nvPr/>
        </p:nvSpPr>
        <p:spPr>
          <a:xfrm>
            <a:off x="1170321" y="2732421"/>
            <a:ext cx="46851" cy="46851"/>
          </a:xfrm>
          <a:custGeom>
            <a:avLst/>
            <a:gdLst/>
            <a:ahLst/>
            <a:cxnLst/>
            <a:rect l="0" t="0" r="r" b="b"/>
            <a:pathLst>
              <a:path w="70277" h="70277">
                <a:moveTo>
                  <a:pt x="51173" y="66888"/>
                </a:moveTo>
                <a:lnTo>
                  <a:pt x="3389" y="19104"/>
                </a:lnTo>
                <a:quadBezTo>
                  <a:pt x="0" y="15905"/>
                  <a:pt x="134" y="11247"/>
                </a:quadBezTo>
                <a:quadBezTo>
                  <a:pt x="0" y="6588"/>
                  <a:pt x="3389" y="3389"/>
                </a:quadBezTo>
                <a:quadBezTo>
                  <a:pt x="6588" y="0"/>
                  <a:pt x="11247" y="134"/>
                </a:quadBezTo>
                <a:quadBezTo>
                  <a:pt x="15905" y="0"/>
                  <a:pt x="19104" y="3389"/>
                </a:quadBezTo>
                <a:lnTo>
                  <a:pt x="66888" y="51173"/>
                </a:lnTo>
                <a:quadBezTo>
                  <a:pt x="70277" y="54372"/>
                  <a:pt x="70143" y="59030"/>
                </a:quadBezTo>
                <a:quadBezTo>
                  <a:pt x="70277" y="63689"/>
                  <a:pt x="66888" y="66888"/>
                </a:quadBezTo>
                <a:quadBezTo>
                  <a:pt x="63689" y="70277"/>
                  <a:pt x="59030" y="70143"/>
                </a:quadBezTo>
                <a:quadBezTo>
                  <a:pt x="54372" y="70277"/>
                  <a:pt x="51173" y="66888"/>
                </a:quadBezTo>
                <a:close/>
              </a:path>
            </a:pathLst>
          </a:custGeom>
          <a:solidFill>
            <a:srgbClr val="60A5FA"/>
          </a:solidFill>
          <a:ln>
            <a:noFill/>
          </a:ln>
        </p:spPr>
        <p:txBody>
          <a:bodyPr/>
          <a:lstStyle/>
          <a:p>
            <a:endParaRPr lang="en-US" sz="1200"/>
          </a:p>
        </p:txBody>
      </p:sp>
      <p:sp>
        <p:nvSpPr>
          <p:cNvPr id="217" name="Path"/>
          <p:cNvSpPr/>
          <p:nvPr/>
        </p:nvSpPr>
        <p:spPr>
          <a:xfrm>
            <a:off x="1105869" y="2667969"/>
            <a:ext cx="59445" cy="59445"/>
          </a:xfrm>
          <a:custGeom>
            <a:avLst/>
            <a:gdLst/>
            <a:ahLst/>
            <a:cxnLst/>
            <a:rect l="0" t="0" r="r" b="b"/>
            <a:pathLst>
              <a:path w="89168" h="89168">
                <a:moveTo>
                  <a:pt x="55697" y="11247"/>
                </a:moveTo>
                <a:lnTo>
                  <a:pt x="55697" y="33472"/>
                </a:lnTo>
                <a:lnTo>
                  <a:pt x="77922" y="33472"/>
                </a:lnTo>
                <a:quadBezTo>
                  <a:pt x="82580" y="33338"/>
                  <a:pt x="85779" y="36726"/>
                </a:quadBezTo>
                <a:quadBezTo>
                  <a:pt x="89168" y="39926"/>
                  <a:pt x="89034" y="44584"/>
                </a:quadBezTo>
                <a:quadBezTo>
                  <a:pt x="89168" y="49243"/>
                  <a:pt x="85779" y="52442"/>
                </a:quadBezTo>
                <a:quadBezTo>
                  <a:pt x="82580" y="55831"/>
                  <a:pt x="77922" y="55697"/>
                </a:quadBezTo>
                <a:lnTo>
                  <a:pt x="55697" y="55697"/>
                </a:lnTo>
                <a:lnTo>
                  <a:pt x="55697" y="77922"/>
                </a:lnTo>
                <a:quadBezTo>
                  <a:pt x="55831" y="82580"/>
                  <a:pt x="52442" y="85779"/>
                </a:quadBezTo>
                <a:quadBezTo>
                  <a:pt x="49243" y="89168"/>
                  <a:pt x="44584" y="89034"/>
                </a:quadBezTo>
                <a:quadBezTo>
                  <a:pt x="39926" y="89168"/>
                  <a:pt x="36726" y="85779"/>
                </a:quadBezTo>
                <a:quadBezTo>
                  <a:pt x="33338" y="82580"/>
                  <a:pt x="33472" y="77922"/>
                </a:quadBezTo>
                <a:lnTo>
                  <a:pt x="33472" y="55697"/>
                </a:lnTo>
                <a:lnTo>
                  <a:pt x="11247" y="55697"/>
                </a:lnTo>
                <a:quadBezTo>
                  <a:pt x="6588" y="55831"/>
                  <a:pt x="3389" y="52442"/>
                </a:quadBezTo>
                <a:quadBezTo>
                  <a:pt x="0" y="49243"/>
                  <a:pt x="134" y="44584"/>
                </a:quadBezTo>
                <a:quadBezTo>
                  <a:pt x="0" y="39926"/>
                  <a:pt x="3389" y="36726"/>
                </a:quadBezTo>
                <a:quadBezTo>
                  <a:pt x="6588" y="33338"/>
                  <a:pt x="11247" y="33472"/>
                </a:quadBezTo>
                <a:lnTo>
                  <a:pt x="33472" y="33472"/>
                </a:lnTo>
                <a:lnTo>
                  <a:pt x="33472" y="11247"/>
                </a:lnTo>
                <a:quadBezTo>
                  <a:pt x="33338" y="6588"/>
                  <a:pt x="36726" y="3389"/>
                </a:quadBezTo>
                <a:quadBezTo>
                  <a:pt x="39926" y="0"/>
                  <a:pt x="44584" y="134"/>
                </a:quadBezTo>
                <a:quadBezTo>
                  <a:pt x="49243" y="0"/>
                  <a:pt x="52442" y="3389"/>
                </a:quadBezTo>
                <a:quadBezTo>
                  <a:pt x="55831" y="6588"/>
                  <a:pt x="55697" y="11247"/>
                </a:quadBezTo>
                <a:close/>
              </a:path>
            </a:pathLst>
          </a:custGeom>
          <a:solidFill>
            <a:srgbClr val="60A5FA"/>
          </a:solidFill>
          <a:ln>
            <a:noFill/>
          </a:ln>
        </p:spPr>
        <p:txBody>
          <a:bodyPr/>
          <a:lstStyle/>
          <a:p>
            <a:endParaRPr lang="en-US" sz="1200"/>
          </a:p>
        </p:txBody>
      </p:sp>
      <p:sp>
        <p:nvSpPr>
          <p:cNvPr id="218" name="TextBox"/>
          <p:cNvSpPr txBox="1"/>
          <p:nvPr/>
        </p:nvSpPr>
        <p:spPr>
          <a:xfrm>
            <a:off x="1422400" y="2514600"/>
            <a:ext cx="990600" cy="196850"/>
          </a:xfrm>
          <a:prstGeom prst="rect">
            <a:avLst/>
          </a:prstGeom>
          <a:noFill/>
          <a:ln>
            <a:noFill/>
          </a:ln>
        </p:spPr>
        <p:txBody>
          <a:bodyPr wrap="none" lIns="0" tIns="0" rIns="0" bIns="0"/>
          <a:lstStyle/>
          <a:p>
            <a:r>
              <a:rPr lang="zh-CN" sz="1300">
                <a:solidFill>
                  <a:schemeClr val="tx1"/>
                </a:solidFill>
                <a:latin typeface="Arial" panose="020B0604020202020204" pitchFamily="34" charset="0"/>
                <a:ea typeface="黑体-简" panose="02000000000000000000" charset="-122"/>
                <a:cs typeface="Inter Bold"/>
              </a:rPr>
              <a:t>定期漏洞扫描</a:t>
            </a:r>
            <a:endParaRPr lang="zh-CN" sz="1300">
              <a:solidFill>
                <a:schemeClr val="tx1"/>
              </a:solidFill>
              <a:latin typeface="Arial" panose="020B0604020202020204" pitchFamily="34" charset="0"/>
              <a:ea typeface="黑体-简" panose="02000000000000000000" charset="-122"/>
              <a:cs typeface="Inter Bold"/>
            </a:endParaRPr>
          </a:p>
        </p:txBody>
      </p:sp>
      <p:sp>
        <p:nvSpPr>
          <p:cNvPr id="219" name="TextBox"/>
          <p:cNvSpPr txBox="1"/>
          <p:nvPr/>
        </p:nvSpPr>
        <p:spPr>
          <a:xfrm>
            <a:off x="1422400" y="2762250"/>
            <a:ext cx="1872000" cy="180000"/>
          </a:xfrm>
          <a:prstGeom prst="rect">
            <a:avLst/>
          </a:prstGeom>
          <a:noFill/>
          <a:ln>
            <a:noFill/>
          </a:ln>
        </p:spPr>
        <p:txBody>
          <a:bodyPr wrap="none" lIns="0" tIns="0" rIns="0" bIns="0" anchor="ctr" anchorCtr="0"/>
          <a:lstStyle/>
          <a:p>
            <a:r>
              <a:rPr lang="zh-CN" sz="900">
                <a:solidFill>
                  <a:schemeClr val="tx1">
                    <a:lumMod val="85000"/>
                    <a:lumOff val="15000"/>
                  </a:schemeClr>
                </a:solidFill>
                <a:latin typeface="Arial" panose="020B0604020202020204" pitchFamily="34" charset="0"/>
                <a:ea typeface="黑体-简" panose="02000000000000000000" charset="-122"/>
                <a:cs typeface="Inter"/>
              </a:rPr>
              <a:t>定期扫描发现已知</a:t>
            </a:r>
            <a:r>
              <a:rPr lang="zh-CN" sz="900">
                <a:solidFill>
                  <a:schemeClr val="tx1">
                    <a:lumMod val="85000"/>
                    <a:lumOff val="15000"/>
                  </a:schemeClr>
                </a:solidFill>
                <a:latin typeface="Arial" panose="020B0604020202020204" pitchFamily="34" charset="0"/>
                <a:ea typeface="黑体-简" panose="02000000000000000000" charset="-122"/>
                <a:cs typeface="Inter"/>
              </a:rPr>
              <a:t>高危漏洞风险</a:t>
            </a:r>
            <a:endParaRPr lang="zh-CN" sz="900">
              <a:solidFill>
                <a:schemeClr val="tx1">
                  <a:lumMod val="85000"/>
                  <a:lumOff val="15000"/>
                </a:schemeClr>
              </a:solidFill>
              <a:latin typeface="Arial" panose="020B0604020202020204" pitchFamily="34" charset="0"/>
              <a:ea typeface="黑体-简" panose="02000000000000000000" charset="-122"/>
              <a:cs typeface="Inter"/>
            </a:endParaRPr>
          </a:p>
        </p:txBody>
      </p:sp>
      <p:sp>
        <p:nvSpPr>
          <p:cNvPr id="221" name="TextBox"/>
          <p:cNvSpPr txBox="1"/>
          <p:nvPr/>
        </p:nvSpPr>
        <p:spPr>
          <a:xfrm>
            <a:off x="3159125" y="2514600"/>
            <a:ext cx="1155065" cy="336550"/>
          </a:xfrm>
          <a:prstGeom prst="rect">
            <a:avLst/>
          </a:prstGeom>
          <a:noFill/>
          <a:ln>
            <a:noFill/>
          </a:ln>
        </p:spPr>
        <p:txBody>
          <a:bodyPr wrap="none" lIns="0" tIns="0" rIns="0" bIns="0"/>
          <a:lstStyle/>
          <a:p>
            <a:pPr algn="r"/>
            <a:r>
              <a:rPr sz="2200">
                <a:solidFill>
                  <a:srgbClr val="3B82F6"/>
                </a:solidFill>
                <a:latin typeface="Arial" panose="020B0604020202020204" pitchFamily="34" charset="0"/>
                <a:ea typeface="黑体-简" panose="02000000000000000000" charset="-122"/>
                <a:cs typeface="Inter Bold"/>
              </a:rPr>
              <a:t>{{high_risk_vuln_count}}</a:t>
            </a:r>
            <a:endParaRPr sz="2200">
              <a:solidFill>
                <a:srgbClr val="3B82F6"/>
              </a:solidFill>
              <a:latin typeface="Arial" panose="020B0604020202020204" pitchFamily="34" charset="0"/>
              <a:ea typeface="黑体-简" panose="02000000000000000000" charset="-122"/>
              <a:cs typeface="Inter Bold"/>
            </a:endParaRPr>
          </a:p>
        </p:txBody>
      </p:sp>
      <p:sp>
        <p:nvSpPr>
          <p:cNvPr id="222" name="TextBox"/>
          <p:cNvSpPr txBox="1"/>
          <p:nvPr/>
        </p:nvSpPr>
        <p:spPr>
          <a:xfrm>
            <a:off x="4322445" y="2536825"/>
            <a:ext cx="114300" cy="139700"/>
          </a:xfrm>
          <a:prstGeom prst="rect">
            <a:avLst/>
          </a:prstGeom>
          <a:noFill/>
          <a:ln>
            <a:noFill/>
          </a:ln>
        </p:spPr>
        <p:txBody>
          <a:bodyPr wrap="none" lIns="0" tIns="0" rIns="0" bIns="0"/>
          <a:lstStyle/>
          <a:p>
            <a:r>
              <a:rPr lang="zh-CN" sz="900">
                <a:solidFill>
                  <a:schemeClr val="tx1"/>
                </a:solidFill>
                <a:latin typeface="Arial" panose="020B0604020202020204" pitchFamily="34" charset="0"/>
                <a:ea typeface="黑体-简" panose="02000000000000000000" charset="-122"/>
                <a:cs typeface="Inter"/>
              </a:rPr>
              <a:t>个</a:t>
            </a:r>
            <a:endParaRPr lang="zh-CN" sz="900">
              <a:solidFill>
                <a:schemeClr val="tx1"/>
              </a:solidFill>
              <a:latin typeface="Arial" panose="020B0604020202020204" pitchFamily="34" charset="0"/>
              <a:ea typeface="黑体-简" panose="02000000000000000000" charset="-122"/>
              <a:cs typeface="Inter"/>
            </a:endParaRPr>
          </a:p>
        </p:txBody>
      </p:sp>
      <p:sp>
        <p:nvSpPr>
          <p:cNvPr id="223" name="Rectangle"/>
          <p:cNvSpPr/>
          <p:nvPr/>
        </p:nvSpPr>
        <p:spPr>
          <a:xfrm>
            <a:off x="841375" y="2333625"/>
            <a:ext cx="5048250" cy="742950"/>
          </a:xfrm>
          <a:prstGeom prst="roundRect">
            <a:avLst>
              <a:gd name="adj" fmla="val 11538"/>
            </a:avLst>
          </a:prstGeom>
          <a:noFill/>
          <a:ln w="9525">
            <a:solidFill>
              <a:srgbClr val="3B82F5">
                <a:alpha val="30000"/>
              </a:srgbClr>
            </a:solidFill>
            <a:miter lim="400000"/>
          </a:ln>
        </p:spPr>
        <p:txBody>
          <a:bodyPr/>
          <a:lstStyle/>
          <a:p>
            <a:endParaRPr lang="en-US" sz="1200"/>
          </a:p>
        </p:txBody>
      </p:sp>
      <p:sp>
        <p:nvSpPr>
          <p:cNvPr id="224" name="Rectangle"/>
          <p:cNvSpPr/>
          <p:nvPr/>
        </p:nvSpPr>
        <p:spPr>
          <a:xfrm>
            <a:off x="838200" y="3194050"/>
            <a:ext cx="5054600" cy="749300"/>
          </a:xfrm>
          <a:prstGeom prst="roundRect">
            <a:avLst>
              <a:gd name="adj" fmla="val 11864"/>
            </a:avLst>
          </a:prstGeom>
          <a:noFill/>
          <a:ln>
            <a:noFill/>
          </a:ln>
          <a:extLst>
            <a:ext uri="{909E8E84-426E-40DD-AFC4-6F175D3DCCD1}">
              <a14:hiddenFill xmlns:a14="http://schemas.microsoft.com/office/drawing/2010/main">
                <a:solidFill>
                  <a:srgbClr val="1C2940">
                    <a:alpha val="85000"/>
                  </a:srgbClr>
                </a:solidFill>
              </a14:hiddenFill>
            </a:ext>
          </a:extLst>
        </p:spPr>
        <p:txBody>
          <a:bodyPr/>
          <a:lstStyle/>
          <a:p>
            <a:endParaRPr lang="en-US" sz="1200"/>
          </a:p>
        </p:txBody>
      </p:sp>
      <p:sp>
        <p:nvSpPr>
          <p:cNvPr id="225" name="Rectangle"/>
          <p:cNvSpPr/>
          <p:nvPr/>
        </p:nvSpPr>
        <p:spPr>
          <a:xfrm>
            <a:off x="965200" y="3390900"/>
            <a:ext cx="355600" cy="355600"/>
          </a:xfrm>
          <a:prstGeom prst="roundRect">
            <a:avLst>
              <a:gd name="adj" fmla="val 25000"/>
            </a:avLst>
          </a:prstGeom>
          <a:solidFill>
            <a:srgbClr val="3B82F5">
              <a:alpha val="15000"/>
            </a:srgbClr>
          </a:solidFill>
          <a:ln>
            <a:noFill/>
          </a:ln>
        </p:spPr>
        <p:txBody>
          <a:bodyPr/>
          <a:lstStyle/>
          <a:p>
            <a:endParaRPr lang="en-US" sz="1200"/>
          </a:p>
        </p:txBody>
      </p:sp>
      <p:sp>
        <p:nvSpPr>
          <p:cNvPr id="226" name="Rectangle"/>
          <p:cNvSpPr/>
          <p:nvPr/>
        </p:nvSpPr>
        <p:spPr>
          <a:xfrm>
            <a:off x="1083733" y="3561291"/>
            <a:ext cx="118533" cy="74083"/>
          </a:xfrm>
          <a:prstGeom prst="roundRect">
            <a:avLst>
              <a:gd name="adj" fmla="val 20000"/>
            </a:avLst>
          </a:prstGeom>
          <a:noFill/>
          <a:ln w="22225">
            <a:solidFill>
              <a:srgbClr val="60A5FA"/>
            </a:solidFill>
            <a:miter lim="400000"/>
          </a:ln>
        </p:spPr>
        <p:txBody>
          <a:bodyPr/>
          <a:lstStyle/>
          <a:p>
            <a:endParaRPr lang="en-US" sz="1200"/>
          </a:p>
        </p:txBody>
      </p:sp>
      <p:sp>
        <p:nvSpPr>
          <p:cNvPr id="227" name="Path"/>
          <p:cNvSpPr/>
          <p:nvPr/>
        </p:nvSpPr>
        <p:spPr>
          <a:xfrm>
            <a:off x="1105959" y="3494617"/>
            <a:ext cx="74083" cy="66675"/>
          </a:xfrm>
          <a:custGeom>
            <a:avLst/>
            <a:gdLst/>
            <a:ahLst/>
            <a:cxnLst/>
            <a:rect l="0" t="0" r="r" b="b"/>
            <a:pathLst>
              <a:path w="111125" h="100013">
                <a:moveTo>
                  <a:pt x="0" y="100013"/>
                </a:moveTo>
                <a:lnTo>
                  <a:pt x="0" y="55562"/>
                </a:lnTo>
                <a:quadBezTo>
                  <a:pt x="0" y="32548"/>
                  <a:pt x="16274" y="16274"/>
                </a:quadBezTo>
                <a:quadBezTo>
                  <a:pt x="32548" y="0"/>
                  <a:pt x="55562" y="0"/>
                </a:quadBezTo>
                <a:quadBezTo>
                  <a:pt x="78577" y="0"/>
                  <a:pt x="94851" y="16274"/>
                </a:quadBezTo>
                <a:quadBezTo>
                  <a:pt x="111125" y="32548"/>
                  <a:pt x="111125" y="55562"/>
                </a:quadBezTo>
                <a:lnTo>
                  <a:pt x="111125" y="100013"/>
                </a:lnTo>
                <a:lnTo>
                  <a:pt x="88900" y="100013"/>
                </a:lnTo>
                <a:lnTo>
                  <a:pt x="88900" y="55562"/>
                </a:lnTo>
                <a:quadBezTo>
                  <a:pt x="88900" y="41754"/>
                  <a:pt x="79136" y="31989"/>
                </a:quadBezTo>
                <a:quadBezTo>
                  <a:pt x="69371" y="22225"/>
                  <a:pt x="55562" y="22225"/>
                </a:quadBezTo>
                <a:quadBezTo>
                  <a:pt x="41754" y="22225"/>
                  <a:pt x="31989" y="31989"/>
                </a:quadBezTo>
                <a:quadBezTo>
                  <a:pt x="22225" y="41754"/>
                  <a:pt x="22225" y="55562"/>
                </a:quadBezTo>
                <a:lnTo>
                  <a:pt x="22225" y="100013"/>
                </a:lnTo>
                <a:lnTo>
                  <a:pt x="0" y="100013"/>
                </a:lnTo>
                <a:close/>
              </a:path>
            </a:pathLst>
          </a:custGeom>
          <a:solidFill>
            <a:srgbClr val="60A5FA"/>
          </a:solidFill>
          <a:ln>
            <a:noFill/>
          </a:ln>
        </p:spPr>
        <p:txBody>
          <a:bodyPr/>
          <a:lstStyle/>
          <a:p>
            <a:endParaRPr lang="en-US" sz="1200"/>
          </a:p>
        </p:txBody>
      </p:sp>
      <p:sp>
        <p:nvSpPr>
          <p:cNvPr id="228" name="TextBox"/>
          <p:cNvSpPr txBox="1"/>
          <p:nvPr/>
        </p:nvSpPr>
        <p:spPr>
          <a:xfrm>
            <a:off x="1422400" y="3378200"/>
            <a:ext cx="1155700" cy="196850"/>
          </a:xfrm>
          <a:prstGeom prst="rect">
            <a:avLst/>
          </a:prstGeom>
          <a:noFill/>
          <a:ln>
            <a:noFill/>
          </a:ln>
        </p:spPr>
        <p:txBody>
          <a:bodyPr wrap="none" lIns="0" tIns="0" rIns="0" bIns="0"/>
          <a:lstStyle/>
          <a:p>
            <a:r>
              <a:rPr lang="zh-CN" sz="1300">
                <a:solidFill>
                  <a:schemeClr val="tx1"/>
                </a:solidFill>
                <a:latin typeface="Arial" panose="020B0604020202020204" pitchFamily="34" charset="0"/>
                <a:ea typeface="黑体-简" panose="02000000000000000000" charset="-122"/>
                <a:cs typeface="Inter Bold"/>
              </a:rPr>
              <a:t>弱口令风险发现</a:t>
            </a:r>
            <a:endParaRPr lang="zh-CN" sz="1300">
              <a:solidFill>
                <a:schemeClr val="tx1"/>
              </a:solidFill>
              <a:latin typeface="Arial" panose="020B0604020202020204" pitchFamily="34" charset="0"/>
              <a:ea typeface="黑体-简" panose="02000000000000000000" charset="-122"/>
              <a:cs typeface="Inter Bold"/>
            </a:endParaRPr>
          </a:p>
        </p:txBody>
      </p:sp>
      <p:sp>
        <p:nvSpPr>
          <p:cNvPr id="229" name="TextBox"/>
          <p:cNvSpPr txBox="1"/>
          <p:nvPr/>
        </p:nvSpPr>
        <p:spPr>
          <a:xfrm>
            <a:off x="1422400" y="3625850"/>
            <a:ext cx="1872000" cy="180000"/>
          </a:xfrm>
          <a:prstGeom prst="rect">
            <a:avLst/>
          </a:prstGeom>
          <a:noFill/>
          <a:ln>
            <a:noFill/>
          </a:ln>
        </p:spPr>
        <p:txBody>
          <a:bodyPr wrap="none" lIns="0" tIns="0" rIns="0" bIns="0" anchor="ctr" anchorCtr="0"/>
          <a:lstStyle/>
          <a:p>
            <a:r>
              <a:rPr lang="zh-CN" altLang="en-US" sz="900">
                <a:solidFill>
                  <a:schemeClr val="tx1">
                    <a:lumMod val="85000"/>
                    <a:lumOff val="15000"/>
                  </a:schemeClr>
                </a:solidFill>
                <a:latin typeface="Arial" panose="020B0604020202020204" pitchFamily="34" charset="0"/>
                <a:ea typeface="黑体-简" panose="02000000000000000000" charset="-122"/>
                <a:cs typeface="Inter"/>
              </a:rPr>
              <a:t>流量识别和定期扫描发现系统弱口令</a:t>
            </a:r>
            <a:endParaRPr lang="zh-CN" altLang="en-US" sz="900">
              <a:solidFill>
                <a:schemeClr val="tx1">
                  <a:lumMod val="85000"/>
                  <a:lumOff val="15000"/>
                </a:schemeClr>
              </a:solidFill>
              <a:latin typeface="Arial" panose="020B0604020202020204" pitchFamily="34" charset="0"/>
              <a:ea typeface="黑体-简" panose="02000000000000000000" charset="-122"/>
              <a:cs typeface="Inter"/>
            </a:endParaRPr>
          </a:p>
        </p:txBody>
      </p:sp>
      <p:sp>
        <p:nvSpPr>
          <p:cNvPr id="231" name="TextBox"/>
          <p:cNvSpPr txBox="1"/>
          <p:nvPr/>
        </p:nvSpPr>
        <p:spPr>
          <a:xfrm>
            <a:off x="3159125" y="3400425"/>
            <a:ext cx="1155065" cy="336550"/>
          </a:xfrm>
          <a:prstGeom prst="rect">
            <a:avLst/>
          </a:prstGeom>
          <a:noFill/>
          <a:ln>
            <a:noFill/>
          </a:ln>
        </p:spPr>
        <p:txBody>
          <a:bodyPr wrap="none" lIns="0" tIns="0" rIns="0" bIns="0"/>
          <a:lstStyle/>
          <a:p>
            <a:pPr algn="r"/>
            <a:r>
              <a:rPr sz="2200">
                <a:solidFill>
                  <a:srgbClr val="F59E0B"/>
                </a:solidFill>
                <a:latin typeface="Arial" panose="020B0604020202020204" pitchFamily="34" charset="0"/>
                <a:ea typeface="黑体-简" panose="02000000000000000000" charset="-122"/>
                <a:cs typeface="Inter Bold"/>
              </a:rPr>
              <a:t>{{admin_weak_password_count}}</a:t>
            </a:r>
            <a:endParaRPr sz="2200">
              <a:solidFill>
                <a:srgbClr val="F59E0B"/>
              </a:solidFill>
              <a:latin typeface="Arial" panose="020B0604020202020204" pitchFamily="34" charset="0"/>
              <a:ea typeface="黑体-简" panose="02000000000000000000" charset="-122"/>
              <a:cs typeface="Inter Bold"/>
            </a:endParaRPr>
          </a:p>
        </p:txBody>
      </p:sp>
      <p:sp>
        <p:nvSpPr>
          <p:cNvPr id="232" name="TextBox"/>
          <p:cNvSpPr txBox="1"/>
          <p:nvPr/>
        </p:nvSpPr>
        <p:spPr>
          <a:xfrm>
            <a:off x="4322445" y="3400425"/>
            <a:ext cx="114300" cy="139700"/>
          </a:xfrm>
          <a:prstGeom prst="rect">
            <a:avLst/>
          </a:prstGeom>
          <a:noFill/>
          <a:ln>
            <a:noFill/>
          </a:ln>
        </p:spPr>
        <p:txBody>
          <a:bodyPr wrap="none" lIns="0" tIns="0" rIns="0" bIns="0"/>
          <a:lstStyle/>
          <a:p>
            <a:r>
              <a:rPr lang="zh-CN" sz="900">
                <a:solidFill>
                  <a:schemeClr val="tx1"/>
                </a:solidFill>
                <a:latin typeface="Arial" panose="020B0604020202020204" pitchFamily="34" charset="0"/>
                <a:ea typeface="黑体-简" panose="02000000000000000000" charset="-122"/>
                <a:cs typeface="Inter"/>
              </a:rPr>
              <a:t>个</a:t>
            </a:r>
            <a:endParaRPr lang="zh-CN" sz="900">
              <a:solidFill>
                <a:schemeClr val="tx1"/>
              </a:solidFill>
              <a:latin typeface="Arial" panose="020B0604020202020204" pitchFamily="34" charset="0"/>
              <a:ea typeface="黑体-简" panose="02000000000000000000" charset="-122"/>
              <a:cs typeface="Inter"/>
            </a:endParaRPr>
          </a:p>
        </p:txBody>
      </p:sp>
      <p:sp>
        <p:nvSpPr>
          <p:cNvPr id="233" name="Rectangle"/>
          <p:cNvSpPr/>
          <p:nvPr/>
        </p:nvSpPr>
        <p:spPr>
          <a:xfrm>
            <a:off x="841375" y="3197225"/>
            <a:ext cx="5048250" cy="742950"/>
          </a:xfrm>
          <a:prstGeom prst="roundRect">
            <a:avLst>
              <a:gd name="adj" fmla="val 11538"/>
            </a:avLst>
          </a:prstGeom>
          <a:noFill/>
          <a:ln w="9525">
            <a:solidFill>
              <a:srgbClr val="3B82F5">
                <a:alpha val="30000"/>
              </a:srgbClr>
            </a:solidFill>
            <a:miter lim="400000"/>
          </a:ln>
        </p:spPr>
        <p:txBody>
          <a:bodyPr/>
          <a:lstStyle/>
          <a:p>
            <a:endParaRPr lang="en-US" sz="1200"/>
          </a:p>
        </p:txBody>
      </p:sp>
      <p:sp>
        <p:nvSpPr>
          <p:cNvPr id="234" name="Rectangle"/>
          <p:cNvSpPr/>
          <p:nvPr/>
        </p:nvSpPr>
        <p:spPr>
          <a:xfrm>
            <a:off x="838200" y="4057650"/>
            <a:ext cx="5054600" cy="749300"/>
          </a:xfrm>
          <a:prstGeom prst="roundRect">
            <a:avLst>
              <a:gd name="adj" fmla="val 11864"/>
            </a:avLst>
          </a:prstGeom>
          <a:noFill/>
          <a:ln>
            <a:noFill/>
          </a:ln>
          <a:extLst>
            <a:ext uri="{909E8E84-426E-40DD-AFC4-6F175D3DCCD1}">
              <a14:hiddenFill xmlns:a14="http://schemas.microsoft.com/office/drawing/2010/main">
                <a:solidFill>
                  <a:srgbClr val="1C2940">
                    <a:alpha val="85000"/>
                  </a:srgbClr>
                </a:solidFill>
              </a14:hiddenFill>
            </a:ext>
          </a:extLst>
        </p:spPr>
        <p:txBody>
          <a:bodyPr/>
          <a:lstStyle/>
          <a:p>
            <a:endParaRPr lang="en-US" sz="1200"/>
          </a:p>
        </p:txBody>
      </p:sp>
      <p:sp>
        <p:nvSpPr>
          <p:cNvPr id="235" name="Rectangle"/>
          <p:cNvSpPr/>
          <p:nvPr/>
        </p:nvSpPr>
        <p:spPr>
          <a:xfrm>
            <a:off x="965200" y="4254500"/>
            <a:ext cx="355600" cy="355600"/>
          </a:xfrm>
          <a:prstGeom prst="roundRect">
            <a:avLst>
              <a:gd name="adj" fmla="val 25000"/>
            </a:avLst>
          </a:prstGeom>
          <a:solidFill>
            <a:srgbClr val="3B82F5">
              <a:alpha val="15000"/>
            </a:srgbClr>
          </a:solidFill>
          <a:ln>
            <a:noFill/>
          </a:ln>
        </p:spPr>
        <p:txBody>
          <a:bodyPr/>
          <a:lstStyle/>
          <a:p>
            <a:endParaRPr lang="en-US" sz="1200"/>
          </a:p>
        </p:txBody>
      </p:sp>
      <p:sp>
        <p:nvSpPr>
          <p:cNvPr id="236" name="Ellipse"/>
          <p:cNvSpPr/>
          <p:nvPr/>
        </p:nvSpPr>
        <p:spPr>
          <a:xfrm>
            <a:off x="1076325" y="4365625"/>
            <a:ext cx="133350" cy="133350"/>
          </a:xfrm>
          <a:prstGeom prst="ellipse">
            <a:avLst/>
          </a:prstGeom>
          <a:noFill/>
          <a:ln w="22225">
            <a:solidFill>
              <a:srgbClr val="60A5FA"/>
            </a:solidFill>
            <a:miter lim="400000"/>
          </a:ln>
        </p:spPr>
        <p:txBody>
          <a:bodyPr/>
          <a:lstStyle/>
          <a:p>
            <a:endParaRPr lang="en-US" sz="1200"/>
          </a:p>
        </p:txBody>
      </p:sp>
      <p:sp>
        <p:nvSpPr>
          <p:cNvPr id="237" name="Ellipse"/>
          <p:cNvSpPr/>
          <p:nvPr/>
        </p:nvSpPr>
        <p:spPr>
          <a:xfrm>
            <a:off x="1113367" y="4402667"/>
            <a:ext cx="59267" cy="59267"/>
          </a:xfrm>
          <a:prstGeom prst="ellipse">
            <a:avLst/>
          </a:prstGeom>
          <a:noFill/>
          <a:ln w="22225">
            <a:solidFill>
              <a:srgbClr val="60A5FA"/>
            </a:solidFill>
            <a:miter lim="400000"/>
          </a:ln>
        </p:spPr>
        <p:txBody>
          <a:bodyPr/>
          <a:lstStyle/>
          <a:p>
            <a:endParaRPr lang="en-US" sz="1200"/>
          </a:p>
        </p:txBody>
      </p:sp>
      <p:sp>
        <p:nvSpPr>
          <p:cNvPr id="238" name="Path"/>
          <p:cNvSpPr/>
          <p:nvPr/>
        </p:nvSpPr>
        <p:spPr>
          <a:xfrm>
            <a:off x="1068827" y="4358127"/>
            <a:ext cx="148345" cy="148345"/>
          </a:xfrm>
          <a:custGeom>
            <a:avLst/>
            <a:gdLst/>
            <a:ahLst/>
            <a:cxnLst/>
            <a:rect l="0" t="0" r="r" b="b"/>
            <a:pathLst>
              <a:path w="222518" h="222518">
                <a:moveTo>
                  <a:pt x="122372" y="11247"/>
                </a:moveTo>
                <a:lnTo>
                  <a:pt x="122372" y="44584"/>
                </a:lnTo>
                <a:quadBezTo>
                  <a:pt x="122506" y="49243"/>
                  <a:pt x="119117" y="52442"/>
                </a:quadBezTo>
                <a:quadBezTo>
                  <a:pt x="115918" y="55831"/>
                  <a:pt x="111259" y="55697"/>
                </a:quadBezTo>
                <a:quadBezTo>
                  <a:pt x="106601" y="55831"/>
                  <a:pt x="103401" y="52442"/>
                </a:quadBezTo>
                <a:quadBezTo>
                  <a:pt x="100013" y="49243"/>
                  <a:pt x="100147" y="44584"/>
                </a:quadBezTo>
                <a:lnTo>
                  <a:pt x="100147" y="11247"/>
                </a:lnTo>
                <a:quadBezTo>
                  <a:pt x="100013" y="6588"/>
                  <a:pt x="103401" y="3389"/>
                </a:quadBezTo>
                <a:quadBezTo>
                  <a:pt x="106601" y="0"/>
                  <a:pt x="111259" y="134"/>
                </a:quadBezTo>
                <a:quadBezTo>
                  <a:pt x="115918" y="0"/>
                  <a:pt x="119117" y="3389"/>
                </a:quadBezTo>
                <a:quadBezTo>
                  <a:pt x="122506" y="6588"/>
                  <a:pt x="122372" y="11247"/>
                </a:quadBezTo>
                <a:close/>
                <a:moveTo>
                  <a:pt x="11247" y="100147"/>
                </a:moveTo>
                <a:lnTo>
                  <a:pt x="44584" y="100147"/>
                </a:lnTo>
                <a:quadBezTo>
                  <a:pt x="49243" y="100013"/>
                  <a:pt x="52442" y="103401"/>
                </a:quadBezTo>
                <a:quadBezTo>
                  <a:pt x="55831" y="106601"/>
                  <a:pt x="55697" y="111259"/>
                </a:quadBezTo>
                <a:quadBezTo>
                  <a:pt x="55831" y="115918"/>
                  <a:pt x="52442" y="119117"/>
                </a:quadBezTo>
                <a:quadBezTo>
                  <a:pt x="49243" y="122506"/>
                  <a:pt x="44584" y="122372"/>
                </a:quadBezTo>
                <a:lnTo>
                  <a:pt x="11247" y="122372"/>
                </a:lnTo>
                <a:quadBezTo>
                  <a:pt x="6588" y="122506"/>
                  <a:pt x="3389" y="119117"/>
                </a:quadBezTo>
                <a:quadBezTo>
                  <a:pt x="0" y="115918"/>
                  <a:pt x="134" y="111259"/>
                </a:quadBezTo>
                <a:quadBezTo>
                  <a:pt x="0" y="106601"/>
                  <a:pt x="3389" y="103401"/>
                </a:quadBezTo>
                <a:quadBezTo>
                  <a:pt x="6588" y="100013"/>
                  <a:pt x="11247" y="100147"/>
                </a:quadBezTo>
                <a:close/>
                <a:moveTo>
                  <a:pt x="211272" y="122372"/>
                </a:moveTo>
                <a:lnTo>
                  <a:pt x="177934" y="122372"/>
                </a:lnTo>
                <a:quadBezTo>
                  <a:pt x="173276" y="122506"/>
                  <a:pt x="170076" y="119117"/>
                </a:quadBezTo>
                <a:quadBezTo>
                  <a:pt x="166687" y="115918"/>
                  <a:pt x="166822" y="111259"/>
                </a:quadBezTo>
                <a:quadBezTo>
                  <a:pt x="166687" y="106601"/>
                  <a:pt x="170076" y="103401"/>
                </a:quadBezTo>
                <a:quadBezTo>
                  <a:pt x="173276" y="100013"/>
                  <a:pt x="177934" y="100147"/>
                </a:quadBezTo>
                <a:lnTo>
                  <a:pt x="211272" y="100147"/>
                </a:lnTo>
                <a:quadBezTo>
                  <a:pt x="215930" y="100013"/>
                  <a:pt x="219129" y="103401"/>
                </a:quadBezTo>
                <a:quadBezTo>
                  <a:pt x="222518" y="106601"/>
                  <a:pt x="222384" y="111259"/>
                </a:quadBezTo>
                <a:quadBezTo>
                  <a:pt x="222518" y="115918"/>
                  <a:pt x="219129" y="119117"/>
                </a:quadBezTo>
                <a:quadBezTo>
                  <a:pt x="215930" y="122506"/>
                  <a:pt x="211272" y="122372"/>
                </a:quadBezTo>
                <a:close/>
                <a:moveTo>
                  <a:pt x="100147" y="211272"/>
                </a:moveTo>
                <a:lnTo>
                  <a:pt x="100147" y="177934"/>
                </a:lnTo>
                <a:quadBezTo>
                  <a:pt x="100013" y="173276"/>
                  <a:pt x="103401" y="170076"/>
                </a:quadBezTo>
                <a:quadBezTo>
                  <a:pt x="106601" y="166687"/>
                  <a:pt x="111259" y="166822"/>
                </a:quadBezTo>
                <a:quadBezTo>
                  <a:pt x="115918" y="166687"/>
                  <a:pt x="119117" y="170076"/>
                </a:quadBezTo>
                <a:quadBezTo>
                  <a:pt x="122506" y="173276"/>
                  <a:pt x="122372" y="177934"/>
                </a:quadBezTo>
                <a:lnTo>
                  <a:pt x="122372" y="211272"/>
                </a:lnTo>
                <a:quadBezTo>
                  <a:pt x="122506" y="215930"/>
                  <a:pt x="119117" y="219129"/>
                </a:quadBezTo>
                <a:quadBezTo>
                  <a:pt x="115918" y="222518"/>
                  <a:pt x="111259" y="222384"/>
                </a:quadBezTo>
                <a:quadBezTo>
                  <a:pt x="106601" y="222518"/>
                  <a:pt x="103401" y="219129"/>
                </a:quadBezTo>
                <a:quadBezTo>
                  <a:pt x="100013" y="215930"/>
                  <a:pt x="100147" y="211272"/>
                </a:quadBezTo>
                <a:close/>
              </a:path>
            </a:pathLst>
          </a:custGeom>
          <a:solidFill>
            <a:srgbClr val="60A5FA"/>
          </a:solidFill>
          <a:ln>
            <a:noFill/>
          </a:ln>
        </p:spPr>
        <p:txBody>
          <a:bodyPr/>
          <a:lstStyle/>
          <a:p>
            <a:endParaRPr lang="en-US" sz="1200"/>
          </a:p>
        </p:txBody>
      </p:sp>
      <p:sp>
        <p:nvSpPr>
          <p:cNvPr id="239" name="TextBox"/>
          <p:cNvSpPr txBox="1"/>
          <p:nvPr/>
        </p:nvSpPr>
        <p:spPr>
          <a:xfrm>
            <a:off x="1422400" y="4241800"/>
            <a:ext cx="2146300" cy="196850"/>
          </a:xfrm>
          <a:prstGeom prst="rect">
            <a:avLst/>
          </a:prstGeom>
          <a:noFill/>
          <a:ln>
            <a:noFill/>
          </a:ln>
        </p:spPr>
        <p:txBody>
          <a:bodyPr wrap="none" lIns="0" tIns="0" rIns="0" bIns="0"/>
          <a:lstStyle/>
          <a:p>
            <a:r>
              <a:rPr lang="zh-CN" sz="1300">
                <a:solidFill>
                  <a:schemeClr val="tx1"/>
                </a:solidFill>
                <a:latin typeface="Arial" panose="020B0604020202020204" pitchFamily="34" charset="0"/>
                <a:ea typeface="黑体-简" panose="02000000000000000000" charset="-122"/>
                <a:cs typeface="Inter Bold"/>
              </a:rPr>
              <a:t>最新漏洞情报排查</a:t>
            </a:r>
            <a:endParaRPr lang="zh-CN" sz="1300">
              <a:solidFill>
                <a:schemeClr val="tx1"/>
              </a:solidFill>
              <a:latin typeface="Arial" panose="020B0604020202020204" pitchFamily="34" charset="0"/>
              <a:ea typeface="黑体-简" panose="02000000000000000000" charset="-122"/>
              <a:cs typeface="Inter Bold"/>
            </a:endParaRPr>
          </a:p>
        </p:txBody>
      </p:sp>
      <p:sp>
        <p:nvSpPr>
          <p:cNvPr id="240" name="TextBox"/>
          <p:cNvSpPr txBox="1"/>
          <p:nvPr/>
        </p:nvSpPr>
        <p:spPr>
          <a:xfrm>
            <a:off x="1422400" y="4489450"/>
            <a:ext cx="1872000" cy="180000"/>
          </a:xfrm>
          <a:prstGeom prst="rect">
            <a:avLst/>
          </a:prstGeom>
          <a:noFill/>
          <a:ln>
            <a:noFill/>
          </a:ln>
        </p:spPr>
        <p:txBody>
          <a:bodyPr wrap="none" lIns="0" tIns="0" rIns="0" bIns="0" anchor="ctr" anchorCtr="0"/>
          <a:lstStyle/>
          <a:p>
            <a:r>
              <a:rPr lang="zh-CN" sz="900">
                <a:solidFill>
                  <a:schemeClr val="tx1">
                    <a:lumMod val="85000"/>
                    <a:lumOff val="15000"/>
                  </a:schemeClr>
                </a:solidFill>
                <a:latin typeface="Arial" panose="020B0604020202020204" pitchFamily="34" charset="0"/>
                <a:ea typeface="黑体-简" panose="02000000000000000000" charset="-122"/>
                <a:cs typeface="Inter"/>
              </a:rPr>
              <a:t>追踪最新漏洞情报定位受影响资产</a:t>
            </a:r>
            <a:endParaRPr lang="zh-CN" sz="900">
              <a:solidFill>
                <a:schemeClr val="tx1">
                  <a:lumMod val="85000"/>
                  <a:lumOff val="15000"/>
                </a:schemeClr>
              </a:solidFill>
              <a:latin typeface="Arial" panose="020B0604020202020204" pitchFamily="34" charset="0"/>
              <a:ea typeface="黑体-简" panose="02000000000000000000" charset="-122"/>
              <a:cs typeface="Inter"/>
            </a:endParaRPr>
          </a:p>
        </p:txBody>
      </p:sp>
      <p:sp>
        <p:nvSpPr>
          <p:cNvPr id="242" name="TextBox"/>
          <p:cNvSpPr txBox="1"/>
          <p:nvPr/>
        </p:nvSpPr>
        <p:spPr>
          <a:xfrm>
            <a:off x="4458970" y="4241800"/>
            <a:ext cx="1080000" cy="360000"/>
          </a:xfrm>
          <a:prstGeom prst="rect">
            <a:avLst/>
          </a:prstGeom>
          <a:noFill/>
          <a:ln>
            <a:noFill/>
          </a:ln>
        </p:spPr>
        <p:txBody>
          <a:bodyPr wrap="none" lIns="0" tIns="0" rIns="0" bIns="0"/>
          <a:lstStyle/>
          <a:p>
            <a:pPr algn="r"/>
            <a:r>
              <a:rPr sz="2200">
                <a:solidFill>
                  <a:srgbClr val="A855F7"/>
                </a:solidFill>
                <a:latin typeface="Arial" panose="020B0604020202020204" pitchFamily="34" charset="0"/>
                <a:ea typeface="黑体-简" panose="02000000000000000000" charset="-122"/>
                <a:cs typeface="Inter Bold"/>
              </a:rPr>
              <a:t>{{unpublished_threat_distinct_asset_count}}</a:t>
            </a:r>
            <a:endParaRPr sz="2200">
              <a:solidFill>
                <a:srgbClr val="A855F7"/>
              </a:solidFill>
              <a:latin typeface="Arial" panose="020B0604020202020204" pitchFamily="34" charset="0"/>
              <a:ea typeface="黑体-简" panose="02000000000000000000" charset="-122"/>
              <a:cs typeface="Inter Bold"/>
            </a:endParaRPr>
          </a:p>
        </p:txBody>
      </p:sp>
      <p:sp>
        <p:nvSpPr>
          <p:cNvPr id="243" name="TextBox"/>
          <p:cNvSpPr txBox="1"/>
          <p:nvPr/>
        </p:nvSpPr>
        <p:spPr>
          <a:xfrm>
            <a:off x="5523230" y="4254500"/>
            <a:ext cx="342900" cy="139700"/>
          </a:xfrm>
          <a:prstGeom prst="rect">
            <a:avLst/>
          </a:prstGeom>
          <a:noFill/>
          <a:ln>
            <a:noFill/>
          </a:ln>
        </p:spPr>
        <p:txBody>
          <a:bodyPr wrap="none" lIns="0" tIns="0" rIns="0" bIns="0"/>
          <a:lstStyle/>
          <a:p>
            <a:pPr algn="l"/>
            <a:r>
              <a:rPr lang="zh-CN" sz="900">
                <a:solidFill>
                  <a:schemeClr val="tx1"/>
                </a:solidFill>
                <a:latin typeface="Arial" panose="020B0604020202020204" pitchFamily="34" charset="0"/>
                <a:ea typeface="黑体-简" panose="02000000000000000000" charset="-122"/>
                <a:cs typeface="Inter"/>
              </a:rPr>
              <a:t>个资产</a:t>
            </a:r>
            <a:endParaRPr lang="zh-CN" sz="900">
              <a:solidFill>
                <a:schemeClr val="tx1"/>
              </a:solidFill>
              <a:latin typeface="Arial" panose="020B0604020202020204" pitchFamily="34" charset="0"/>
              <a:ea typeface="黑体-简" panose="02000000000000000000" charset="-122"/>
              <a:cs typeface="Inter"/>
            </a:endParaRPr>
          </a:p>
        </p:txBody>
      </p:sp>
      <p:sp>
        <p:nvSpPr>
          <p:cNvPr id="244" name="Rectangle"/>
          <p:cNvSpPr/>
          <p:nvPr/>
        </p:nvSpPr>
        <p:spPr>
          <a:xfrm>
            <a:off x="841375" y="4060825"/>
            <a:ext cx="5048250" cy="742950"/>
          </a:xfrm>
          <a:prstGeom prst="roundRect">
            <a:avLst>
              <a:gd name="adj" fmla="val 11538"/>
            </a:avLst>
          </a:prstGeom>
          <a:noFill/>
          <a:ln w="9525">
            <a:solidFill>
              <a:srgbClr val="3B82F5">
                <a:alpha val="30000"/>
              </a:srgbClr>
            </a:solidFill>
            <a:miter lim="400000"/>
          </a:ln>
        </p:spPr>
        <p:txBody>
          <a:bodyPr/>
          <a:lstStyle/>
          <a:p>
            <a:endParaRPr lang="en-US" sz="1200"/>
          </a:p>
        </p:txBody>
      </p:sp>
      <p:sp>
        <p:nvSpPr>
          <p:cNvPr id="245" name="Rectangle"/>
          <p:cNvSpPr/>
          <p:nvPr/>
        </p:nvSpPr>
        <p:spPr>
          <a:xfrm>
            <a:off x="640080" y="1736725"/>
            <a:ext cx="5451475" cy="3141980"/>
          </a:xfrm>
          <a:prstGeom prst="roundRect">
            <a:avLst>
              <a:gd name="adj" fmla="val 3446"/>
            </a:avLst>
          </a:prstGeom>
          <a:noFill/>
          <a:ln w="14288">
            <a:solidFill>
              <a:srgbClr val="3B82F5">
                <a:alpha val="40000"/>
              </a:srgbClr>
            </a:solidFill>
            <a:miter lim="400000"/>
          </a:ln>
        </p:spPr>
        <p:txBody>
          <a:bodyPr/>
          <a:lstStyle/>
          <a:p>
            <a:endParaRPr lang="en-US" sz="1200"/>
          </a:p>
        </p:txBody>
      </p:sp>
      <p:sp>
        <p:nvSpPr>
          <p:cNvPr id="246" name="Rectangle"/>
          <p:cNvSpPr/>
          <p:nvPr/>
        </p:nvSpPr>
        <p:spPr>
          <a:xfrm>
            <a:off x="6426200" y="1869440"/>
            <a:ext cx="355600" cy="355600"/>
          </a:xfrm>
          <a:prstGeom prst="roundRect">
            <a:avLst>
              <a:gd name="adj" fmla="val 25000"/>
            </a:avLst>
          </a:prstGeom>
          <a:gradFill>
            <a:gsLst>
              <a:gs pos="0">
                <a:srgbClr val="0FBA82"/>
              </a:gs>
              <a:gs pos="100000">
                <a:srgbClr val="05B5D4"/>
              </a:gs>
            </a:gsLst>
            <a:lin ang="0" scaled="1"/>
          </a:gradFill>
          <a:ln>
            <a:noFill/>
          </a:ln>
        </p:spPr>
        <p:txBody>
          <a:bodyPr/>
          <a:lstStyle/>
          <a:p>
            <a:endParaRPr lang="en-US" sz="1200"/>
          </a:p>
        </p:txBody>
      </p:sp>
      <p:sp>
        <p:nvSpPr>
          <p:cNvPr id="247" name="TextBox"/>
          <p:cNvSpPr txBox="1"/>
          <p:nvPr/>
        </p:nvSpPr>
        <p:spPr>
          <a:xfrm>
            <a:off x="6489700" y="1939290"/>
            <a:ext cx="224160" cy="215900"/>
          </a:xfrm>
          <a:prstGeom prst="rect">
            <a:avLst/>
          </a:prstGeom>
          <a:noFill/>
          <a:ln>
            <a:noFill/>
          </a:ln>
        </p:spPr>
        <p:txBody>
          <a:bodyPr wrap="none" lIns="0" tIns="0" rIns="0" bIns="0"/>
          <a:lstStyle/>
          <a:p>
            <a:r>
              <a:rPr lang="en-US" sz="1400">
                <a:solidFill>
                  <a:srgbClr val="FFFFFF"/>
                </a:solidFill>
                <a:latin typeface="Inter Bold"/>
                <a:ea typeface="Inter Bold"/>
                <a:cs typeface="Inter Bold"/>
              </a:rPr>
              <a:t>02</a:t>
            </a:r>
            <a:endParaRPr lang="en-US" sz="1400">
              <a:solidFill>
                <a:srgbClr val="FFFFFF"/>
              </a:solidFill>
              <a:latin typeface="Inter Bold"/>
              <a:ea typeface="Inter Bold"/>
              <a:cs typeface="Inter Bold"/>
            </a:endParaRPr>
          </a:p>
        </p:txBody>
      </p:sp>
      <p:sp>
        <p:nvSpPr>
          <p:cNvPr id="248" name="TextBox"/>
          <p:cNvSpPr txBox="1"/>
          <p:nvPr/>
        </p:nvSpPr>
        <p:spPr>
          <a:xfrm>
            <a:off x="6870700" y="1856740"/>
            <a:ext cx="1219200" cy="247650"/>
          </a:xfrm>
          <a:prstGeom prst="rect">
            <a:avLst/>
          </a:prstGeom>
          <a:noFill/>
          <a:ln>
            <a:noFill/>
          </a:ln>
        </p:spPr>
        <p:txBody>
          <a:bodyPr wrap="none" lIns="0" tIns="0" rIns="0" bIns="0"/>
          <a:lstStyle/>
          <a:p>
            <a:r>
              <a:rPr lang="zh-CN" sz="1600">
                <a:solidFill>
                  <a:schemeClr val="tx1"/>
                </a:solidFill>
                <a:latin typeface="Arial" panose="020B0604020202020204" pitchFamily="34" charset="0"/>
                <a:ea typeface="黑体-简" panose="02000000000000000000" charset="-122"/>
                <a:cs typeface="Inter Bold"/>
              </a:rPr>
              <a:t>高效减少隐患</a:t>
            </a:r>
            <a:endParaRPr lang="zh-CN" sz="1600">
              <a:solidFill>
                <a:schemeClr val="tx1"/>
              </a:solidFill>
              <a:latin typeface="Arial" panose="020B0604020202020204" pitchFamily="34" charset="0"/>
              <a:ea typeface="黑体-简" panose="02000000000000000000" charset="-122"/>
              <a:cs typeface="Inter Bold"/>
            </a:endParaRPr>
          </a:p>
        </p:txBody>
      </p:sp>
      <p:sp>
        <p:nvSpPr>
          <p:cNvPr id="249" name="Rectangle"/>
          <p:cNvSpPr/>
          <p:nvPr/>
        </p:nvSpPr>
        <p:spPr>
          <a:xfrm>
            <a:off x="10896600" y="1939290"/>
            <a:ext cx="584200" cy="222250"/>
          </a:xfrm>
          <a:prstGeom prst="roundRect">
            <a:avLst>
              <a:gd name="adj" fmla="val 50000"/>
            </a:avLst>
          </a:prstGeom>
          <a:solidFill>
            <a:srgbClr val="0FBA82">
              <a:alpha val="18000"/>
            </a:srgbClr>
          </a:solidFill>
          <a:ln>
            <a:noFill/>
          </a:ln>
        </p:spPr>
        <p:txBody>
          <a:bodyPr/>
          <a:lstStyle/>
          <a:p>
            <a:endParaRPr lang="en-US" sz="1200"/>
          </a:p>
        </p:txBody>
      </p:sp>
      <p:sp>
        <p:nvSpPr>
          <p:cNvPr id="250" name="TextBox"/>
          <p:cNvSpPr txBox="1"/>
          <p:nvPr/>
        </p:nvSpPr>
        <p:spPr>
          <a:xfrm>
            <a:off x="10985500" y="1990090"/>
            <a:ext cx="406400" cy="120650"/>
          </a:xfrm>
          <a:prstGeom prst="rect">
            <a:avLst/>
          </a:prstGeom>
          <a:noFill/>
          <a:ln>
            <a:noFill/>
          </a:ln>
        </p:spPr>
        <p:txBody>
          <a:bodyPr wrap="none" lIns="0" tIns="0" rIns="0" bIns="0"/>
          <a:lstStyle/>
          <a:p>
            <a:r>
              <a:rPr lang="zh-CN" sz="800">
                <a:solidFill>
                  <a:srgbClr val="34D399"/>
                </a:solidFill>
                <a:latin typeface="Arial Black" panose="020B0A04020102020204" pitchFamily="34" charset="0"/>
                <a:ea typeface="微软雅黑" panose="020B0503020204020204" charset="-122"/>
                <a:cs typeface="Inter"/>
              </a:rPr>
              <a:t>处置阶段</a:t>
            </a:r>
            <a:endParaRPr lang="zh-CN" sz="800">
              <a:solidFill>
                <a:srgbClr val="34D399"/>
              </a:solidFill>
              <a:latin typeface="Arial Black" panose="020B0A04020102020204" pitchFamily="34" charset="0"/>
              <a:ea typeface="微软雅黑" panose="020B0503020204020204" charset="-122"/>
              <a:cs typeface="Inter"/>
            </a:endParaRPr>
          </a:p>
        </p:txBody>
      </p:sp>
      <p:sp>
        <p:nvSpPr>
          <p:cNvPr id="251" name="Rectangle"/>
          <p:cNvSpPr/>
          <p:nvPr/>
        </p:nvSpPr>
        <p:spPr>
          <a:xfrm>
            <a:off x="10899775" y="1942465"/>
            <a:ext cx="577850" cy="215900"/>
          </a:xfrm>
          <a:prstGeom prst="roundRect">
            <a:avLst>
              <a:gd name="adj" fmla="val 50000"/>
            </a:avLst>
          </a:prstGeom>
          <a:noFill/>
          <a:ln w="9525">
            <a:solidFill>
              <a:srgbClr val="0FBA82">
                <a:alpha val="60000"/>
              </a:srgbClr>
            </a:solidFill>
            <a:miter lim="400000"/>
          </a:ln>
        </p:spPr>
        <p:txBody>
          <a:bodyPr/>
          <a:lstStyle/>
          <a:p>
            <a:endParaRPr lang="en-US" sz="1200"/>
          </a:p>
        </p:txBody>
      </p:sp>
      <p:sp>
        <p:nvSpPr>
          <p:cNvPr id="252" name="Rectangle"/>
          <p:cNvSpPr/>
          <p:nvPr/>
        </p:nvSpPr>
        <p:spPr>
          <a:xfrm>
            <a:off x="6426200" y="2339340"/>
            <a:ext cx="5054600" cy="749300"/>
          </a:xfrm>
          <a:prstGeom prst="roundRect">
            <a:avLst>
              <a:gd name="adj" fmla="val 11864"/>
            </a:avLst>
          </a:prstGeom>
          <a:noFill/>
          <a:ln>
            <a:noFill/>
          </a:ln>
          <a:extLst>
            <a:ext uri="{909E8E84-426E-40DD-AFC4-6F175D3DCCD1}">
              <a14:hiddenFill xmlns:a14="http://schemas.microsoft.com/office/drawing/2010/main">
                <a:solidFill>
                  <a:srgbClr val="1C2940">
                    <a:alpha val="85000"/>
                  </a:srgbClr>
                </a:solidFill>
              </a14:hiddenFill>
            </a:ext>
          </a:extLst>
        </p:spPr>
        <p:txBody>
          <a:bodyPr/>
          <a:lstStyle/>
          <a:p>
            <a:endParaRPr lang="en-US" sz="1200"/>
          </a:p>
        </p:txBody>
      </p:sp>
      <p:sp>
        <p:nvSpPr>
          <p:cNvPr id="253" name="Rectangle"/>
          <p:cNvSpPr/>
          <p:nvPr/>
        </p:nvSpPr>
        <p:spPr>
          <a:xfrm>
            <a:off x="6553200" y="2536190"/>
            <a:ext cx="355600" cy="355600"/>
          </a:xfrm>
          <a:prstGeom prst="roundRect">
            <a:avLst>
              <a:gd name="adj" fmla="val 25000"/>
            </a:avLst>
          </a:prstGeom>
          <a:solidFill>
            <a:srgbClr val="0FBA82">
              <a:alpha val="15000"/>
            </a:srgbClr>
          </a:solidFill>
          <a:ln>
            <a:noFill/>
          </a:ln>
        </p:spPr>
        <p:txBody>
          <a:bodyPr/>
          <a:lstStyle/>
          <a:p>
            <a:endParaRPr lang="en-US" sz="1200"/>
          </a:p>
        </p:txBody>
      </p:sp>
      <p:sp>
        <p:nvSpPr>
          <p:cNvPr id="254" name="Path"/>
          <p:cNvSpPr/>
          <p:nvPr/>
        </p:nvSpPr>
        <p:spPr>
          <a:xfrm>
            <a:off x="6671707" y="2639901"/>
            <a:ext cx="118587" cy="140766"/>
          </a:xfrm>
          <a:custGeom>
            <a:avLst/>
            <a:gdLst/>
            <a:ahLst/>
            <a:cxnLst/>
            <a:rect l="0" t="0" r="r" b="b"/>
            <a:pathLst>
              <a:path w="177881" h="211149">
                <a:moveTo>
                  <a:pt x="171105" y="34245"/>
                </a:moveTo>
                <a:quadBezTo>
                  <a:pt x="174197" y="35526"/>
                  <a:pt x="176005" y="38342"/>
                </a:quadBezTo>
                <a:quadBezTo>
                  <a:pt x="177881" y="41113"/>
                  <a:pt x="177840" y="44459"/>
                </a:quadBezTo>
                <a:lnTo>
                  <a:pt x="177840" y="100022"/>
                </a:lnTo>
                <a:quadBezTo>
                  <a:pt x="177840" y="143091"/>
                  <a:pt x="150782" y="174014"/>
                </a:quadBezTo>
                <a:quadBezTo>
                  <a:pt x="127556" y="200558"/>
                  <a:pt x="91993" y="210719"/>
                </a:quadBezTo>
                <a:quadBezTo>
                  <a:pt x="90497" y="211149"/>
                  <a:pt x="88940" y="211147"/>
                </a:quadBezTo>
                <a:quadBezTo>
                  <a:pt x="87384" y="211149"/>
                  <a:pt x="85888" y="210719"/>
                </a:quadBezTo>
                <a:quadBezTo>
                  <a:pt x="50324" y="200558"/>
                  <a:pt x="27098" y="174014"/>
                </a:quadBezTo>
                <a:quadBezTo>
                  <a:pt x="40" y="143091"/>
                  <a:pt x="40" y="100022"/>
                </a:quadBezTo>
                <a:lnTo>
                  <a:pt x="40" y="44459"/>
                </a:lnTo>
                <a:quadBezTo>
                  <a:pt x="0" y="41113"/>
                  <a:pt x="1876" y="38342"/>
                </a:quadBezTo>
                <a:quadBezTo>
                  <a:pt x="3684" y="35526"/>
                  <a:pt x="6775" y="34245"/>
                </a:quadBezTo>
                <a:lnTo>
                  <a:pt x="84563" y="908"/>
                </a:lnTo>
                <a:quadBezTo>
                  <a:pt x="86658" y="0"/>
                  <a:pt x="88940" y="9"/>
                </a:quadBezTo>
                <a:quadBezTo>
                  <a:pt x="91223" y="0"/>
                  <a:pt x="93318" y="908"/>
                </a:quadBezTo>
                <a:lnTo>
                  <a:pt x="171105" y="34245"/>
                </a:lnTo>
                <a:close/>
                <a:moveTo>
                  <a:pt x="88940" y="23212"/>
                </a:moveTo>
                <a:lnTo>
                  <a:pt x="22265" y="51787"/>
                </a:lnTo>
                <a:lnTo>
                  <a:pt x="22265" y="100022"/>
                </a:lnTo>
                <a:quadBezTo>
                  <a:pt x="22265" y="134740"/>
                  <a:pt x="43825" y="159379"/>
                </a:quadBezTo>
                <a:quadBezTo>
                  <a:pt x="61738" y="179852"/>
                  <a:pt x="88940" y="188432"/>
                </a:quadBezTo>
                <a:quadBezTo>
                  <a:pt x="116143" y="179852"/>
                  <a:pt x="134056" y="159379"/>
                </a:quadBezTo>
                <a:quadBezTo>
                  <a:pt x="155615" y="134740"/>
                  <a:pt x="155615" y="100022"/>
                </a:quadBezTo>
                <a:lnTo>
                  <a:pt x="155615" y="51787"/>
                </a:lnTo>
                <a:lnTo>
                  <a:pt x="88940" y="23212"/>
                </a:lnTo>
                <a:close/>
              </a:path>
            </a:pathLst>
          </a:custGeom>
          <a:solidFill>
            <a:srgbClr val="34D399"/>
          </a:solidFill>
          <a:ln>
            <a:noFill/>
          </a:ln>
        </p:spPr>
        <p:txBody>
          <a:bodyPr/>
          <a:lstStyle/>
          <a:p>
            <a:endParaRPr lang="en-US" sz="1200"/>
          </a:p>
        </p:txBody>
      </p:sp>
      <p:sp>
        <p:nvSpPr>
          <p:cNvPr id="255" name="Path"/>
          <p:cNvSpPr/>
          <p:nvPr/>
        </p:nvSpPr>
        <p:spPr>
          <a:xfrm>
            <a:off x="6701277" y="2691675"/>
            <a:ext cx="59445" cy="44629"/>
          </a:xfrm>
          <a:custGeom>
            <a:avLst/>
            <a:gdLst/>
            <a:ahLst/>
            <a:cxnLst/>
            <a:rect l="0" t="0" r="r" b="b"/>
            <a:pathLst>
              <a:path w="89168" h="66943">
                <a:moveTo>
                  <a:pt x="19104" y="25614"/>
                </a:moveTo>
                <a:lnTo>
                  <a:pt x="33472" y="39981"/>
                </a:lnTo>
                <a:lnTo>
                  <a:pt x="70064" y="3389"/>
                </a:lnTo>
                <a:quadBezTo>
                  <a:pt x="73263" y="0"/>
                  <a:pt x="77922" y="134"/>
                </a:quadBezTo>
                <a:quadBezTo>
                  <a:pt x="82580" y="0"/>
                  <a:pt x="85779" y="3389"/>
                </a:quadBezTo>
                <a:quadBezTo>
                  <a:pt x="89168" y="6588"/>
                  <a:pt x="89034" y="11247"/>
                </a:quadBezTo>
                <a:quadBezTo>
                  <a:pt x="89168" y="15905"/>
                  <a:pt x="85779" y="19104"/>
                </a:quadBezTo>
                <a:lnTo>
                  <a:pt x="41329" y="63554"/>
                </a:lnTo>
                <a:quadBezTo>
                  <a:pt x="38130" y="66943"/>
                  <a:pt x="33472" y="66809"/>
                </a:quadBezTo>
                <a:quadBezTo>
                  <a:pt x="28813" y="66943"/>
                  <a:pt x="25614" y="63554"/>
                </a:quadBezTo>
                <a:lnTo>
                  <a:pt x="3389" y="41329"/>
                </a:lnTo>
                <a:quadBezTo>
                  <a:pt x="0" y="38130"/>
                  <a:pt x="134" y="33472"/>
                </a:quadBezTo>
                <a:quadBezTo>
                  <a:pt x="0" y="28813"/>
                  <a:pt x="3389" y="25614"/>
                </a:quadBezTo>
                <a:quadBezTo>
                  <a:pt x="6588" y="22225"/>
                  <a:pt x="11247" y="22359"/>
                </a:quadBezTo>
                <a:quadBezTo>
                  <a:pt x="15905" y="22225"/>
                  <a:pt x="19104" y="25614"/>
                </a:quadBezTo>
                <a:close/>
              </a:path>
            </a:pathLst>
          </a:custGeom>
          <a:solidFill>
            <a:srgbClr val="34D399"/>
          </a:solidFill>
          <a:ln>
            <a:noFill/>
          </a:ln>
        </p:spPr>
        <p:txBody>
          <a:bodyPr/>
          <a:lstStyle/>
          <a:p>
            <a:endParaRPr lang="en-US" sz="1200"/>
          </a:p>
        </p:txBody>
      </p:sp>
      <p:sp>
        <p:nvSpPr>
          <p:cNvPr id="256" name="TextBox"/>
          <p:cNvSpPr txBox="1"/>
          <p:nvPr/>
        </p:nvSpPr>
        <p:spPr>
          <a:xfrm>
            <a:off x="7010400" y="2523490"/>
            <a:ext cx="1943735" cy="212090"/>
          </a:xfrm>
          <a:prstGeom prst="rect">
            <a:avLst/>
          </a:prstGeom>
          <a:noFill/>
          <a:ln>
            <a:noFill/>
          </a:ln>
        </p:spPr>
        <p:txBody>
          <a:bodyPr wrap="none" lIns="0" tIns="0" rIns="0" bIns="0"/>
          <a:lstStyle/>
          <a:p>
            <a:r>
              <a:rPr lang="zh-CN" altLang="en-US" sz="1300">
                <a:solidFill>
                  <a:schemeClr val="tx1"/>
                </a:solidFill>
                <a:latin typeface="Arial" panose="020B0604020202020204" pitchFamily="34" charset="0"/>
                <a:ea typeface="黑体-简" panose="02000000000000000000" charset="-122"/>
                <a:cs typeface="Inter Bold"/>
              </a:rPr>
              <a:t>高危可利用漏洞闭环</a:t>
            </a:r>
            <a:r>
              <a:rPr lang="en-US" sz="1300">
                <a:solidFill>
                  <a:schemeClr val="tx1"/>
                </a:solidFill>
                <a:latin typeface="Arial" panose="020B0604020202020204" pitchFamily="34" charset="0"/>
                <a:ea typeface="黑体-简" panose="02000000000000000000" charset="-122"/>
                <a:cs typeface="Inter Bold"/>
              </a:rPr>
              <a:t> </a:t>
            </a:r>
            <a:endParaRPr lang="en-US" sz="1300">
              <a:solidFill>
                <a:schemeClr val="tx1"/>
              </a:solidFill>
              <a:latin typeface="Arial" panose="020B0604020202020204" pitchFamily="34" charset="0"/>
              <a:ea typeface="黑体-简" panose="02000000000000000000" charset="-122"/>
              <a:cs typeface="Inter Bold"/>
            </a:endParaRPr>
          </a:p>
        </p:txBody>
      </p:sp>
      <p:sp>
        <p:nvSpPr>
          <p:cNvPr id="257" name="TextBox"/>
          <p:cNvSpPr txBox="1"/>
          <p:nvPr/>
        </p:nvSpPr>
        <p:spPr>
          <a:xfrm>
            <a:off x="7010400" y="2771140"/>
            <a:ext cx="1800000" cy="139700"/>
          </a:xfrm>
          <a:prstGeom prst="rect">
            <a:avLst/>
          </a:prstGeom>
          <a:noFill/>
          <a:ln>
            <a:noFill/>
          </a:ln>
        </p:spPr>
        <p:txBody>
          <a:bodyPr wrap="none" lIns="0" tIns="0" rIns="0" bIns="0"/>
          <a:lstStyle/>
          <a:p>
            <a:r>
              <a:rPr lang="zh-CN" altLang="en-US" sz="900">
                <a:solidFill>
                  <a:schemeClr val="tx1">
                    <a:lumMod val="85000"/>
                    <a:lumOff val="15000"/>
                  </a:schemeClr>
                </a:solidFill>
                <a:latin typeface="Arial" panose="020B0604020202020204" pitchFamily="34" charset="0"/>
                <a:ea typeface="黑体-简" panose="02000000000000000000" charset="-122"/>
                <a:cs typeface="Inter"/>
              </a:rPr>
              <a:t>策略防护</a:t>
            </a:r>
            <a:r>
              <a:rPr lang="en-US" altLang="zh-CN" sz="900">
                <a:solidFill>
                  <a:schemeClr val="tx1">
                    <a:lumMod val="85000"/>
                    <a:lumOff val="15000"/>
                  </a:schemeClr>
                </a:solidFill>
                <a:latin typeface="Arial" panose="020B0604020202020204" pitchFamily="34" charset="0"/>
                <a:ea typeface="黑体-简" panose="02000000000000000000" charset="-122"/>
                <a:cs typeface="Inter"/>
              </a:rPr>
              <a:t>+</a:t>
            </a:r>
            <a:r>
              <a:rPr lang="zh-CN" altLang="en-US" sz="900">
                <a:solidFill>
                  <a:schemeClr val="tx1">
                    <a:lumMod val="85000"/>
                    <a:lumOff val="15000"/>
                  </a:schemeClr>
                </a:solidFill>
                <a:latin typeface="Arial" panose="020B0604020202020204" pitchFamily="34" charset="0"/>
                <a:ea typeface="黑体-简" panose="02000000000000000000" charset="-122"/>
                <a:cs typeface="Inter"/>
              </a:rPr>
              <a:t>业务修复结合消减风险</a:t>
            </a:r>
            <a:r>
              <a:rPr lang="en-US" sz="900">
                <a:solidFill>
                  <a:schemeClr val="tx1">
                    <a:lumMod val="85000"/>
                    <a:lumOff val="15000"/>
                  </a:schemeClr>
                </a:solidFill>
                <a:latin typeface="Arial" panose="020B0604020202020204" pitchFamily="34" charset="0"/>
                <a:ea typeface="黑体-简" panose="02000000000000000000" charset="-122"/>
                <a:cs typeface="Inter"/>
              </a:rPr>
              <a:t> </a:t>
            </a:r>
            <a:endParaRPr lang="en-US" sz="900">
              <a:solidFill>
                <a:schemeClr val="tx1">
                  <a:lumMod val="85000"/>
                  <a:lumOff val="15000"/>
                </a:schemeClr>
              </a:solidFill>
              <a:latin typeface="Arial" panose="020B0604020202020204" pitchFamily="34" charset="0"/>
              <a:ea typeface="黑体-简" panose="02000000000000000000" charset="-122"/>
              <a:cs typeface="Inter"/>
            </a:endParaRPr>
          </a:p>
        </p:txBody>
      </p:sp>
      <p:sp>
        <p:nvSpPr>
          <p:cNvPr id="258" name="TextBox"/>
          <p:cNvSpPr txBox="1"/>
          <p:nvPr/>
        </p:nvSpPr>
        <p:spPr>
          <a:xfrm>
            <a:off x="9811385" y="2574290"/>
            <a:ext cx="288000" cy="144000"/>
          </a:xfrm>
          <a:prstGeom prst="rect">
            <a:avLst/>
          </a:prstGeom>
          <a:noFill/>
          <a:ln>
            <a:noFill/>
          </a:ln>
        </p:spPr>
        <p:txBody>
          <a:bodyPr wrap="none" lIns="0" tIns="0" rIns="0" bIns="0" anchor="ctr" anchorCtr="0"/>
          <a:lstStyle/>
          <a:p>
            <a:pPr algn="l"/>
            <a:r>
              <a:rPr lang="en-US" sz="700">
                <a:solidFill>
                  <a:srgbClr val="34D399"/>
                </a:solidFill>
                <a:latin typeface="Arial" panose="020B0604020202020204" pitchFamily="34" charset="0"/>
                <a:ea typeface="黑体-简" panose="02000000000000000000" charset="-122"/>
                <a:cs typeface="Inter"/>
              </a:rPr>
              <a:t> </a:t>
            </a:r>
            <a:r>
              <a:rPr lang="zh-CN" altLang="en-US" sz="700">
                <a:solidFill>
                  <a:srgbClr val="34D399"/>
                </a:solidFill>
                <a:latin typeface="Arial" panose="020B0604020202020204" pitchFamily="34" charset="0"/>
                <a:ea typeface="黑体-简" panose="02000000000000000000" charset="-122"/>
                <a:cs typeface="Inter"/>
              </a:rPr>
              <a:t>已防护</a:t>
            </a:r>
            <a:r>
              <a:rPr lang="en-US" sz="700">
                <a:solidFill>
                  <a:srgbClr val="34D399"/>
                </a:solidFill>
                <a:latin typeface="Arial" panose="020B0604020202020204" pitchFamily="34" charset="0"/>
                <a:ea typeface="黑体-简" panose="02000000000000000000" charset="-122"/>
                <a:cs typeface="Inter"/>
              </a:rPr>
              <a:t> </a:t>
            </a:r>
            <a:endParaRPr lang="en-US" sz="700">
              <a:solidFill>
                <a:srgbClr val="34D399"/>
              </a:solidFill>
              <a:latin typeface="Arial" panose="020B0604020202020204" pitchFamily="34" charset="0"/>
              <a:ea typeface="黑体-简" panose="02000000000000000000" charset="-122"/>
              <a:cs typeface="Inter"/>
            </a:endParaRPr>
          </a:p>
        </p:txBody>
      </p:sp>
      <p:sp>
        <p:nvSpPr>
          <p:cNvPr id="259" name="TextBox"/>
          <p:cNvSpPr txBox="1"/>
          <p:nvPr/>
        </p:nvSpPr>
        <p:spPr>
          <a:xfrm>
            <a:off x="8763000" y="2574290"/>
            <a:ext cx="1080770" cy="336550"/>
          </a:xfrm>
          <a:prstGeom prst="rect">
            <a:avLst/>
          </a:prstGeom>
          <a:noFill/>
          <a:ln>
            <a:noFill/>
          </a:ln>
        </p:spPr>
        <p:txBody>
          <a:bodyPr wrap="none" lIns="0" tIns="0" rIns="0" bIns="0"/>
          <a:lstStyle/>
          <a:p>
            <a:pPr algn="r"/>
            <a:r>
              <a:rPr sz="2200">
                <a:solidFill>
                  <a:srgbClr val="10B981"/>
                </a:solidFill>
                <a:latin typeface="Arial" panose="020B0604020202020204" pitchFamily="34" charset="0"/>
                <a:ea typeface="黑体-简" panose="02000000000000000000" charset="-122"/>
                <a:cs typeface="Inter Bold"/>
              </a:rPr>
              <a:t>{{protected_vuln_count}}</a:t>
            </a:r>
            <a:endParaRPr sz="2200">
              <a:solidFill>
                <a:srgbClr val="10B981"/>
              </a:solidFill>
              <a:latin typeface="Arial" panose="020B0604020202020204" pitchFamily="34" charset="0"/>
              <a:ea typeface="黑体-简" panose="02000000000000000000" charset="-122"/>
              <a:cs typeface="Inter Bold"/>
            </a:endParaRPr>
          </a:p>
        </p:txBody>
      </p:sp>
      <p:sp>
        <p:nvSpPr>
          <p:cNvPr id="261" name="Rectangle"/>
          <p:cNvSpPr/>
          <p:nvPr/>
        </p:nvSpPr>
        <p:spPr>
          <a:xfrm>
            <a:off x="6429375" y="2342515"/>
            <a:ext cx="5048250" cy="742950"/>
          </a:xfrm>
          <a:prstGeom prst="roundRect">
            <a:avLst>
              <a:gd name="adj" fmla="val 11538"/>
            </a:avLst>
          </a:prstGeom>
          <a:noFill/>
          <a:ln w="9525">
            <a:solidFill>
              <a:srgbClr val="0FBA82">
                <a:alpha val="30000"/>
              </a:srgbClr>
            </a:solidFill>
            <a:miter lim="400000"/>
          </a:ln>
        </p:spPr>
        <p:txBody>
          <a:bodyPr/>
          <a:lstStyle/>
          <a:p>
            <a:endParaRPr lang="en-US" sz="1200"/>
          </a:p>
        </p:txBody>
      </p:sp>
      <p:sp>
        <p:nvSpPr>
          <p:cNvPr id="262" name="Rectangle"/>
          <p:cNvSpPr/>
          <p:nvPr/>
        </p:nvSpPr>
        <p:spPr>
          <a:xfrm>
            <a:off x="6426200" y="3202940"/>
            <a:ext cx="5054600" cy="749300"/>
          </a:xfrm>
          <a:prstGeom prst="roundRect">
            <a:avLst>
              <a:gd name="adj" fmla="val 11864"/>
            </a:avLst>
          </a:prstGeom>
          <a:noFill/>
          <a:ln>
            <a:noFill/>
          </a:ln>
          <a:extLst>
            <a:ext uri="{909E8E84-426E-40DD-AFC4-6F175D3DCCD1}">
              <a14:hiddenFill xmlns:a14="http://schemas.microsoft.com/office/drawing/2010/main">
                <a:solidFill>
                  <a:srgbClr val="1C2940">
                    <a:alpha val="85000"/>
                  </a:srgbClr>
                </a:solidFill>
              </a14:hiddenFill>
            </a:ext>
          </a:extLst>
        </p:spPr>
        <p:txBody>
          <a:bodyPr/>
          <a:lstStyle/>
          <a:p>
            <a:endParaRPr lang="en-US" sz="1200"/>
          </a:p>
        </p:txBody>
      </p:sp>
      <p:sp>
        <p:nvSpPr>
          <p:cNvPr id="263" name="Rectangle"/>
          <p:cNvSpPr/>
          <p:nvPr/>
        </p:nvSpPr>
        <p:spPr>
          <a:xfrm>
            <a:off x="6553200" y="3399790"/>
            <a:ext cx="355600" cy="355600"/>
          </a:xfrm>
          <a:prstGeom prst="roundRect">
            <a:avLst>
              <a:gd name="adj" fmla="val 25000"/>
            </a:avLst>
          </a:prstGeom>
          <a:solidFill>
            <a:srgbClr val="0FBA82">
              <a:alpha val="15000"/>
            </a:srgbClr>
          </a:solidFill>
          <a:ln>
            <a:noFill/>
          </a:ln>
        </p:spPr>
        <p:txBody>
          <a:bodyPr/>
          <a:lstStyle/>
          <a:p>
            <a:endParaRPr lang="en-US" sz="1200"/>
          </a:p>
        </p:txBody>
      </p:sp>
      <p:sp>
        <p:nvSpPr>
          <p:cNvPr id="264" name="Path"/>
          <p:cNvSpPr/>
          <p:nvPr/>
        </p:nvSpPr>
        <p:spPr>
          <a:xfrm>
            <a:off x="6664235" y="3523157"/>
            <a:ext cx="121177" cy="121177"/>
          </a:xfrm>
          <a:custGeom>
            <a:avLst/>
            <a:gdLst/>
            <a:ahLst/>
            <a:cxnLst/>
            <a:rect l="0" t="0" r="r" b="b"/>
            <a:pathLst>
              <a:path w="181765" h="181765">
                <a:moveTo>
                  <a:pt x="101120" y="2747"/>
                </a:moveTo>
                <a:quadBezTo>
                  <a:pt x="119142" y="0"/>
                  <a:pt x="135287" y="8465"/>
                </a:quadBezTo>
                <a:quadBezTo>
                  <a:pt x="139271" y="10426"/>
                  <a:pt x="140622" y="14655"/>
                </a:quadBezTo>
                <a:quadBezTo>
                  <a:pt x="142188" y="18810"/>
                  <a:pt x="140282" y="22820"/>
                </a:quadBezTo>
                <a:lnTo>
                  <a:pt x="125605" y="55843"/>
                </a:lnTo>
                <a:lnTo>
                  <a:pt x="134571" y="64809"/>
                </a:lnTo>
                <a:lnTo>
                  <a:pt x="155600" y="43780"/>
                </a:lnTo>
                <a:quadBezTo>
                  <a:pt x="158799" y="40391"/>
                  <a:pt x="163458" y="40525"/>
                </a:quadBezTo>
                <a:quadBezTo>
                  <a:pt x="168116" y="40391"/>
                  <a:pt x="171316" y="43780"/>
                </a:quadBezTo>
                <a:quadBezTo>
                  <a:pt x="171911" y="44375"/>
                  <a:pt x="172410" y="45054"/>
                </a:quadBezTo>
                <a:quadBezTo>
                  <a:pt x="172909" y="45732"/>
                  <a:pt x="173300" y="46478"/>
                </a:quadBezTo>
                <a:quadBezTo>
                  <a:pt x="181765" y="62623"/>
                  <a:pt x="179018" y="80644"/>
                </a:quadBezTo>
                <a:quadBezTo>
                  <a:pt x="176271" y="98666"/>
                  <a:pt x="163381" y="111556"/>
                </a:quadBezTo>
                <a:quadBezTo>
                  <a:pt x="150490" y="124447"/>
                  <a:pt x="132469" y="127193"/>
                </a:quadBezTo>
                <a:quadBezTo>
                  <a:pt x="118675" y="129296"/>
                  <a:pt x="105981" y="124830"/>
                </a:quadBezTo>
                <a:lnTo>
                  <a:pt x="52435" y="178376"/>
                </a:lnTo>
                <a:quadBezTo>
                  <a:pt x="50877" y="179946"/>
                  <a:pt x="48830" y="180785"/>
                </a:quadBezTo>
                <a:quadBezTo>
                  <a:pt x="46790" y="181639"/>
                  <a:pt x="44578" y="181631"/>
                </a:quadBezTo>
                <a:lnTo>
                  <a:pt x="11247" y="181630"/>
                </a:lnTo>
                <a:quadBezTo>
                  <a:pt x="6588" y="181765"/>
                  <a:pt x="3389" y="178376"/>
                </a:quadBezTo>
                <a:quadBezTo>
                  <a:pt x="0" y="175176"/>
                  <a:pt x="134" y="170518"/>
                </a:quadBezTo>
                <a:lnTo>
                  <a:pt x="134" y="137187"/>
                </a:lnTo>
                <a:quadBezTo>
                  <a:pt x="126" y="134975"/>
                  <a:pt x="980" y="132934"/>
                </a:quadBezTo>
                <a:quadBezTo>
                  <a:pt x="1819" y="130888"/>
                  <a:pt x="3389" y="129329"/>
                </a:quadBezTo>
                <a:lnTo>
                  <a:pt x="56935" y="75784"/>
                </a:lnTo>
                <a:quadBezTo>
                  <a:pt x="52469" y="63089"/>
                  <a:pt x="54571" y="49296"/>
                </a:quadBezTo>
                <a:quadBezTo>
                  <a:pt x="57318" y="31274"/>
                  <a:pt x="70208" y="18384"/>
                </a:quadBezTo>
                <a:quadBezTo>
                  <a:pt x="83099" y="5494"/>
                  <a:pt x="101120" y="2747"/>
                </a:quadBezTo>
                <a:close/>
                <a:moveTo>
                  <a:pt x="104469" y="24718"/>
                </a:moveTo>
                <a:quadBezTo>
                  <a:pt x="93657" y="26366"/>
                  <a:pt x="85924" y="34099"/>
                </a:quadBezTo>
                <a:quadBezTo>
                  <a:pt x="78190" y="41833"/>
                  <a:pt x="76543" y="52644"/>
                </a:quadBezTo>
                <a:quadBezTo>
                  <a:pt x="74895" y="63456"/>
                  <a:pt x="79973" y="73142"/>
                </a:quadBezTo>
                <a:quadBezTo>
                  <a:pt x="81725" y="76362"/>
                  <a:pt x="81117" y="79977"/>
                </a:quadBezTo>
                <a:quadBezTo>
                  <a:pt x="80621" y="83609"/>
                  <a:pt x="77989" y="86160"/>
                </a:quadBezTo>
                <a:lnTo>
                  <a:pt x="22359" y="141790"/>
                </a:lnTo>
                <a:lnTo>
                  <a:pt x="22359" y="159405"/>
                </a:lnTo>
                <a:lnTo>
                  <a:pt x="39975" y="159405"/>
                </a:lnTo>
                <a:lnTo>
                  <a:pt x="95604" y="103776"/>
                </a:lnTo>
                <a:quadBezTo>
                  <a:pt x="98156" y="101144"/>
                  <a:pt x="101788" y="100648"/>
                </a:quadBezTo>
                <a:quadBezTo>
                  <a:pt x="105403" y="100039"/>
                  <a:pt x="108622" y="101792"/>
                </a:quadBezTo>
                <a:quadBezTo>
                  <a:pt x="118308" y="106870"/>
                  <a:pt x="129120" y="105222"/>
                </a:quadBezTo>
                <a:quadBezTo>
                  <a:pt x="139932" y="103574"/>
                  <a:pt x="147665" y="95841"/>
                </a:quadBezTo>
                <a:quadBezTo>
                  <a:pt x="155399" y="88107"/>
                  <a:pt x="157047" y="77296"/>
                </a:quadBezTo>
                <a:quadBezTo>
                  <a:pt x="157347" y="75323"/>
                  <a:pt x="157424" y="73387"/>
                </a:quadBezTo>
                <a:lnTo>
                  <a:pt x="142429" y="88382"/>
                </a:lnTo>
                <a:quadBezTo>
                  <a:pt x="139230" y="91771"/>
                  <a:pt x="134571" y="91637"/>
                </a:quadBezTo>
                <a:quadBezTo>
                  <a:pt x="129913" y="91771"/>
                  <a:pt x="126713" y="88382"/>
                </a:quadBezTo>
                <a:lnTo>
                  <a:pt x="104493" y="66162"/>
                </a:lnTo>
                <a:quadBezTo>
                  <a:pt x="102012" y="63745"/>
                  <a:pt x="101425" y="60333"/>
                </a:quadBezTo>
                <a:quadBezTo>
                  <a:pt x="100747" y="56936"/>
                  <a:pt x="102196" y="53791"/>
                </a:quadBezTo>
                <a:lnTo>
                  <a:pt x="115095" y="24768"/>
                </a:lnTo>
                <a:quadBezTo>
                  <a:pt x="109925" y="23886"/>
                  <a:pt x="104469" y="24718"/>
                </a:quadBezTo>
                <a:close/>
              </a:path>
            </a:pathLst>
          </a:custGeom>
          <a:solidFill>
            <a:srgbClr val="34D399"/>
          </a:solidFill>
          <a:ln>
            <a:noFill/>
          </a:ln>
        </p:spPr>
        <p:txBody>
          <a:bodyPr/>
          <a:lstStyle/>
          <a:p>
            <a:endParaRPr lang="en-US" sz="1200"/>
          </a:p>
        </p:txBody>
      </p:sp>
      <p:sp>
        <p:nvSpPr>
          <p:cNvPr id="265" name="TextBox"/>
          <p:cNvSpPr txBox="1"/>
          <p:nvPr/>
        </p:nvSpPr>
        <p:spPr>
          <a:xfrm>
            <a:off x="7010400" y="3387090"/>
            <a:ext cx="825500" cy="196850"/>
          </a:xfrm>
          <a:prstGeom prst="rect">
            <a:avLst/>
          </a:prstGeom>
          <a:noFill/>
          <a:ln>
            <a:noFill/>
          </a:ln>
        </p:spPr>
        <p:txBody>
          <a:bodyPr wrap="none" lIns="0" tIns="0" rIns="0" bIns="0"/>
          <a:lstStyle/>
          <a:p>
            <a:r>
              <a:rPr lang="zh-CN" sz="1300">
                <a:solidFill>
                  <a:schemeClr val="tx1"/>
                </a:solidFill>
                <a:latin typeface="Arial" panose="020B0604020202020204" pitchFamily="34" charset="0"/>
                <a:ea typeface="黑体-简" panose="02000000000000000000" charset="-122"/>
                <a:cs typeface="Inter Bold"/>
              </a:rPr>
              <a:t>弱口令整改</a:t>
            </a:r>
            <a:endParaRPr lang="zh-CN" sz="1300">
              <a:solidFill>
                <a:schemeClr val="tx1"/>
              </a:solidFill>
              <a:latin typeface="Arial" panose="020B0604020202020204" pitchFamily="34" charset="0"/>
              <a:ea typeface="黑体-简" panose="02000000000000000000" charset="-122"/>
              <a:cs typeface="Inter Bold"/>
            </a:endParaRPr>
          </a:p>
        </p:txBody>
      </p:sp>
      <p:sp>
        <p:nvSpPr>
          <p:cNvPr id="266" name="TextBox"/>
          <p:cNvSpPr txBox="1"/>
          <p:nvPr/>
        </p:nvSpPr>
        <p:spPr>
          <a:xfrm>
            <a:off x="7010400" y="3634740"/>
            <a:ext cx="1623417" cy="139700"/>
          </a:xfrm>
          <a:prstGeom prst="rect">
            <a:avLst/>
          </a:prstGeom>
          <a:noFill/>
          <a:ln>
            <a:noFill/>
          </a:ln>
        </p:spPr>
        <p:txBody>
          <a:bodyPr wrap="none" lIns="0" tIns="0" rIns="0" bIns="0"/>
          <a:lstStyle/>
          <a:p>
            <a:r>
              <a:rPr lang="en-US" sz="900">
                <a:solidFill>
                  <a:schemeClr val="tx1">
                    <a:lumMod val="85000"/>
                    <a:lumOff val="15000"/>
                  </a:schemeClr>
                </a:solidFill>
                <a:latin typeface="Arial" panose="020B0604020202020204" pitchFamily="34" charset="0"/>
                <a:ea typeface="黑体-简" panose="02000000000000000000" charset="-122"/>
                <a:cs typeface="Inter"/>
              </a:rPr>
              <a:t> </a:t>
            </a:r>
            <a:r>
              <a:rPr lang="zh-CN" altLang="en-US" sz="900">
                <a:solidFill>
                  <a:schemeClr val="tx1">
                    <a:lumMod val="85000"/>
                    <a:lumOff val="15000"/>
                  </a:schemeClr>
                </a:solidFill>
                <a:latin typeface="Arial" panose="020B0604020202020204" pitchFamily="34" charset="0"/>
                <a:ea typeface="黑体-简" panose="02000000000000000000" charset="-122"/>
                <a:cs typeface="Inter"/>
              </a:rPr>
              <a:t>及时同步管理人员加强账户口令</a:t>
            </a:r>
            <a:endParaRPr lang="zh-CN" altLang="en-US" sz="900">
              <a:solidFill>
                <a:schemeClr val="tx1">
                  <a:lumMod val="85000"/>
                  <a:lumOff val="15000"/>
                </a:schemeClr>
              </a:solidFill>
              <a:latin typeface="Arial" panose="020B0604020202020204" pitchFamily="34" charset="0"/>
              <a:ea typeface="黑体-简" panose="02000000000000000000" charset="-122"/>
              <a:cs typeface="Inter"/>
            </a:endParaRPr>
          </a:p>
        </p:txBody>
      </p:sp>
      <p:sp>
        <p:nvSpPr>
          <p:cNvPr id="267" name="TextBox"/>
          <p:cNvSpPr txBox="1"/>
          <p:nvPr/>
        </p:nvSpPr>
        <p:spPr>
          <a:xfrm>
            <a:off x="11167110" y="3418840"/>
            <a:ext cx="266700" cy="107950"/>
          </a:xfrm>
          <a:prstGeom prst="rect">
            <a:avLst/>
          </a:prstGeom>
          <a:noFill/>
          <a:ln>
            <a:noFill/>
          </a:ln>
        </p:spPr>
        <p:txBody>
          <a:bodyPr wrap="none" lIns="0" tIns="0" rIns="0" bIns="0"/>
          <a:lstStyle/>
          <a:p>
            <a:r>
              <a:rPr lang="zh-CN" sz="700">
                <a:solidFill>
                  <a:srgbClr val="34D399"/>
                </a:solidFill>
                <a:latin typeface="Inter"/>
                <a:ea typeface="Inter"/>
                <a:cs typeface="Inter"/>
              </a:rPr>
              <a:t>已整改</a:t>
            </a:r>
            <a:endParaRPr lang="zh-CN" sz="700">
              <a:solidFill>
                <a:srgbClr val="34D399"/>
              </a:solidFill>
              <a:latin typeface="Inter"/>
              <a:ea typeface="Inter"/>
              <a:cs typeface="Inter"/>
            </a:endParaRPr>
          </a:p>
        </p:txBody>
      </p:sp>
      <p:sp>
        <p:nvSpPr>
          <p:cNvPr id="268" name="TextBox"/>
          <p:cNvSpPr txBox="1"/>
          <p:nvPr/>
        </p:nvSpPr>
        <p:spPr>
          <a:xfrm>
            <a:off x="10059035" y="3418840"/>
            <a:ext cx="1080000" cy="336550"/>
          </a:xfrm>
          <a:prstGeom prst="rect">
            <a:avLst/>
          </a:prstGeom>
          <a:noFill/>
          <a:ln>
            <a:noFill/>
          </a:ln>
        </p:spPr>
        <p:txBody>
          <a:bodyPr wrap="none" lIns="0" tIns="0" rIns="0" bIns="0"/>
          <a:lstStyle/>
          <a:p>
            <a:pPr algn="r"/>
            <a:r>
              <a:rPr sz="2200">
                <a:solidFill>
                  <a:srgbClr val="10B981"/>
                </a:solidFill>
                <a:latin typeface="Arial" panose="020B0604020202020204" pitchFamily="34" charset="0"/>
                <a:ea typeface="黑体-简" panose="02000000000000000000" charset="-122"/>
                <a:cs typeface="Inter Bold"/>
              </a:rPr>
              <a:t>{{handled_admin_weak_password_count}}</a:t>
            </a:r>
            <a:endParaRPr sz="2200">
              <a:solidFill>
                <a:srgbClr val="10B981"/>
              </a:solidFill>
              <a:latin typeface="Arial" panose="020B0604020202020204" pitchFamily="34" charset="0"/>
              <a:ea typeface="黑体-简" panose="02000000000000000000" charset="-122"/>
              <a:cs typeface="Inter Bold"/>
            </a:endParaRPr>
          </a:p>
        </p:txBody>
      </p:sp>
      <p:sp>
        <p:nvSpPr>
          <p:cNvPr id="270" name="Rectangle"/>
          <p:cNvSpPr/>
          <p:nvPr/>
        </p:nvSpPr>
        <p:spPr>
          <a:xfrm>
            <a:off x="6429375" y="3206115"/>
            <a:ext cx="5048250" cy="742950"/>
          </a:xfrm>
          <a:prstGeom prst="roundRect">
            <a:avLst>
              <a:gd name="adj" fmla="val 11538"/>
            </a:avLst>
          </a:prstGeom>
          <a:noFill/>
          <a:ln w="9525">
            <a:solidFill>
              <a:srgbClr val="0FBA82">
                <a:alpha val="30000"/>
              </a:srgbClr>
            </a:solidFill>
            <a:miter lim="400000"/>
          </a:ln>
        </p:spPr>
        <p:txBody>
          <a:bodyPr/>
          <a:lstStyle/>
          <a:p>
            <a:endParaRPr lang="en-US" sz="1200"/>
          </a:p>
        </p:txBody>
      </p:sp>
      <p:sp>
        <p:nvSpPr>
          <p:cNvPr id="271" name="Rectangle"/>
          <p:cNvSpPr/>
          <p:nvPr/>
        </p:nvSpPr>
        <p:spPr>
          <a:xfrm>
            <a:off x="6426200" y="4066540"/>
            <a:ext cx="5054600" cy="749300"/>
          </a:xfrm>
          <a:prstGeom prst="roundRect">
            <a:avLst>
              <a:gd name="adj" fmla="val 11864"/>
            </a:avLst>
          </a:prstGeom>
          <a:noFill/>
          <a:ln>
            <a:noFill/>
          </a:ln>
          <a:extLst>
            <a:ext uri="{909E8E84-426E-40DD-AFC4-6F175D3DCCD1}">
              <a14:hiddenFill xmlns:a14="http://schemas.microsoft.com/office/drawing/2010/main">
                <a:solidFill>
                  <a:srgbClr val="1C2940">
                    <a:alpha val="85000"/>
                  </a:srgbClr>
                </a:solidFill>
              </a14:hiddenFill>
            </a:ext>
          </a:extLst>
        </p:spPr>
        <p:txBody>
          <a:bodyPr/>
          <a:lstStyle/>
          <a:p>
            <a:endParaRPr lang="en-US" sz="1200"/>
          </a:p>
        </p:txBody>
      </p:sp>
      <p:sp>
        <p:nvSpPr>
          <p:cNvPr id="272" name="Rectangle"/>
          <p:cNvSpPr/>
          <p:nvPr/>
        </p:nvSpPr>
        <p:spPr>
          <a:xfrm>
            <a:off x="6553200" y="4263390"/>
            <a:ext cx="355600" cy="355600"/>
          </a:xfrm>
          <a:prstGeom prst="roundRect">
            <a:avLst>
              <a:gd name="adj" fmla="val 25000"/>
            </a:avLst>
          </a:prstGeom>
          <a:solidFill>
            <a:srgbClr val="0FBA82">
              <a:alpha val="15000"/>
            </a:srgbClr>
          </a:solidFill>
          <a:ln>
            <a:noFill/>
          </a:ln>
        </p:spPr>
        <p:txBody>
          <a:bodyPr/>
          <a:lstStyle/>
          <a:p>
            <a:endParaRPr lang="en-US" sz="1200"/>
          </a:p>
        </p:txBody>
      </p:sp>
      <p:sp>
        <p:nvSpPr>
          <p:cNvPr id="273" name="Path"/>
          <p:cNvSpPr/>
          <p:nvPr/>
        </p:nvSpPr>
        <p:spPr>
          <a:xfrm>
            <a:off x="6671707" y="4367101"/>
            <a:ext cx="118587" cy="140766"/>
          </a:xfrm>
          <a:custGeom>
            <a:avLst/>
            <a:gdLst/>
            <a:ahLst/>
            <a:cxnLst/>
            <a:rect l="0" t="0" r="r" b="b"/>
            <a:pathLst>
              <a:path w="177881" h="211149">
                <a:moveTo>
                  <a:pt x="171105" y="34245"/>
                </a:moveTo>
                <a:quadBezTo>
                  <a:pt x="174197" y="35526"/>
                  <a:pt x="176005" y="38342"/>
                </a:quadBezTo>
                <a:quadBezTo>
                  <a:pt x="177881" y="41113"/>
                  <a:pt x="177840" y="44459"/>
                </a:quadBezTo>
                <a:lnTo>
                  <a:pt x="177840" y="100022"/>
                </a:lnTo>
                <a:quadBezTo>
                  <a:pt x="177840" y="143091"/>
                  <a:pt x="150782" y="174014"/>
                </a:quadBezTo>
                <a:quadBezTo>
                  <a:pt x="127556" y="200558"/>
                  <a:pt x="91993" y="210719"/>
                </a:quadBezTo>
                <a:quadBezTo>
                  <a:pt x="90497" y="211149"/>
                  <a:pt x="88940" y="211147"/>
                </a:quadBezTo>
                <a:quadBezTo>
                  <a:pt x="87384" y="211149"/>
                  <a:pt x="85888" y="210719"/>
                </a:quadBezTo>
                <a:quadBezTo>
                  <a:pt x="50324" y="200558"/>
                  <a:pt x="27098" y="174014"/>
                </a:quadBezTo>
                <a:quadBezTo>
                  <a:pt x="40" y="143091"/>
                  <a:pt x="40" y="100022"/>
                </a:quadBezTo>
                <a:lnTo>
                  <a:pt x="40" y="44459"/>
                </a:lnTo>
                <a:quadBezTo>
                  <a:pt x="0" y="41113"/>
                  <a:pt x="1876" y="38342"/>
                </a:quadBezTo>
                <a:quadBezTo>
                  <a:pt x="3684" y="35526"/>
                  <a:pt x="6775" y="34245"/>
                </a:quadBezTo>
                <a:lnTo>
                  <a:pt x="84563" y="908"/>
                </a:lnTo>
                <a:quadBezTo>
                  <a:pt x="86658" y="0"/>
                  <a:pt x="88940" y="9"/>
                </a:quadBezTo>
                <a:quadBezTo>
                  <a:pt x="91223" y="0"/>
                  <a:pt x="93318" y="908"/>
                </a:quadBezTo>
                <a:lnTo>
                  <a:pt x="171105" y="34245"/>
                </a:lnTo>
                <a:close/>
                <a:moveTo>
                  <a:pt x="88940" y="23212"/>
                </a:moveTo>
                <a:lnTo>
                  <a:pt x="22265" y="51787"/>
                </a:lnTo>
                <a:lnTo>
                  <a:pt x="22265" y="100022"/>
                </a:lnTo>
                <a:quadBezTo>
                  <a:pt x="22265" y="134740"/>
                  <a:pt x="43825" y="159379"/>
                </a:quadBezTo>
                <a:quadBezTo>
                  <a:pt x="61738" y="179852"/>
                  <a:pt x="88940" y="188432"/>
                </a:quadBezTo>
                <a:quadBezTo>
                  <a:pt x="116143" y="179852"/>
                  <a:pt x="134056" y="159379"/>
                </a:quadBezTo>
                <a:quadBezTo>
                  <a:pt x="155615" y="134740"/>
                  <a:pt x="155615" y="100022"/>
                </a:quadBezTo>
                <a:lnTo>
                  <a:pt x="155615" y="51787"/>
                </a:lnTo>
                <a:lnTo>
                  <a:pt x="88940" y="23212"/>
                </a:lnTo>
                <a:close/>
              </a:path>
            </a:pathLst>
          </a:custGeom>
          <a:solidFill>
            <a:srgbClr val="34D399"/>
          </a:solidFill>
          <a:ln>
            <a:noFill/>
          </a:ln>
        </p:spPr>
        <p:txBody>
          <a:bodyPr/>
          <a:lstStyle/>
          <a:p>
            <a:endParaRPr lang="en-US" sz="1200"/>
          </a:p>
        </p:txBody>
      </p:sp>
      <p:sp>
        <p:nvSpPr>
          <p:cNvPr id="274" name="Path"/>
          <p:cNvSpPr/>
          <p:nvPr/>
        </p:nvSpPr>
        <p:spPr>
          <a:xfrm>
            <a:off x="6693869" y="4404059"/>
            <a:ext cx="74262" cy="74262"/>
          </a:xfrm>
          <a:custGeom>
            <a:avLst/>
            <a:gdLst/>
            <a:ahLst/>
            <a:cxnLst/>
            <a:rect l="0" t="0" r="r" b="b"/>
            <a:pathLst>
              <a:path w="111393" h="111393">
                <a:moveTo>
                  <a:pt x="66809" y="11247"/>
                </a:moveTo>
                <a:lnTo>
                  <a:pt x="66809" y="44584"/>
                </a:lnTo>
                <a:lnTo>
                  <a:pt x="100147" y="44584"/>
                </a:lnTo>
                <a:quadBezTo>
                  <a:pt x="104805" y="44450"/>
                  <a:pt x="108004" y="47839"/>
                </a:quadBezTo>
                <a:quadBezTo>
                  <a:pt x="111393" y="51038"/>
                  <a:pt x="111259" y="55697"/>
                </a:quadBezTo>
                <a:quadBezTo>
                  <a:pt x="111393" y="60355"/>
                  <a:pt x="108004" y="63554"/>
                </a:quadBezTo>
                <a:quadBezTo>
                  <a:pt x="104805" y="66943"/>
                  <a:pt x="100147" y="66809"/>
                </a:quadBezTo>
                <a:lnTo>
                  <a:pt x="66809" y="66809"/>
                </a:lnTo>
                <a:lnTo>
                  <a:pt x="66809" y="100147"/>
                </a:lnTo>
                <a:quadBezTo>
                  <a:pt x="66943" y="104805"/>
                  <a:pt x="63554" y="108004"/>
                </a:quadBezTo>
                <a:quadBezTo>
                  <a:pt x="60355" y="111393"/>
                  <a:pt x="55697" y="111259"/>
                </a:quadBezTo>
                <a:quadBezTo>
                  <a:pt x="51038" y="111393"/>
                  <a:pt x="47839" y="108004"/>
                </a:quadBezTo>
                <a:quadBezTo>
                  <a:pt x="44450" y="104805"/>
                  <a:pt x="44584" y="100147"/>
                </a:quadBezTo>
                <a:lnTo>
                  <a:pt x="44584" y="66809"/>
                </a:lnTo>
                <a:lnTo>
                  <a:pt x="11247" y="66809"/>
                </a:lnTo>
                <a:quadBezTo>
                  <a:pt x="6588" y="66943"/>
                  <a:pt x="3389" y="63554"/>
                </a:quadBezTo>
                <a:quadBezTo>
                  <a:pt x="0" y="60355"/>
                  <a:pt x="134" y="55697"/>
                </a:quadBezTo>
                <a:quadBezTo>
                  <a:pt x="0" y="51038"/>
                  <a:pt x="3389" y="47839"/>
                </a:quadBezTo>
                <a:quadBezTo>
                  <a:pt x="6588" y="44450"/>
                  <a:pt x="11247" y="44584"/>
                </a:quadBezTo>
                <a:lnTo>
                  <a:pt x="44584" y="44584"/>
                </a:lnTo>
                <a:lnTo>
                  <a:pt x="44584" y="11247"/>
                </a:lnTo>
                <a:quadBezTo>
                  <a:pt x="44450" y="6588"/>
                  <a:pt x="47839" y="3389"/>
                </a:quadBezTo>
                <a:quadBezTo>
                  <a:pt x="51038" y="0"/>
                  <a:pt x="55697" y="134"/>
                </a:quadBezTo>
                <a:quadBezTo>
                  <a:pt x="60355" y="0"/>
                  <a:pt x="63554" y="3389"/>
                </a:quadBezTo>
                <a:quadBezTo>
                  <a:pt x="66943" y="6588"/>
                  <a:pt x="66809" y="11247"/>
                </a:quadBezTo>
                <a:close/>
              </a:path>
            </a:pathLst>
          </a:custGeom>
          <a:solidFill>
            <a:srgbClr val="34D399"/>
          </a:solidFill>
          <a:ln>
            <a:noFill/>
          </a:ln>
        </p:spPr>
        <p:txBody>
          <a:bodyPr/>
          <a:lstStyle/>
          <a:p>
            <a:endParaRPr lang="en-US" sz="1200"/>
          </a:p>
        </p:txBody>
      </p:sp>
      <p:sp>
        <p:nvSpPr>
          <p:cNvPr id="275" name="TextBox"/>
          <p:cNvSpPr txBox="1"/>
          <p:nvPr/>
        </p:nvSpPr>
        <p:spPr>
          <a:xfrm>
            <a:off x="7010400" y="4250690"/>
            <a:ext cx="990600" cy="196850"/>
          </a:xfrm>
          <a:prstGeom prst="rect">
            <a:avLst/>
          </a:prstGeom>
          <a:noFill/>
          <a:ln>
            <a:noFill/>
          </a:ln>
        </p:spPr>
        <p:txBody>
          <a:bodyPr wrap="none" lIns="0" tIns="0" rIns="0" bIns="0"/>
          <a:lstStyle/>
          <a:p>
            <a:r>
              <a:rPr lang="zh-CN" sz="1300">
                <a:solidFill>
                  <a:schemeClr val="tx1"/>
                </a:solidFill>
                <a:latin typeface="Arial" panose="020B0604020202020204" pitchFamily="34" charset="0"/>
                <a:ea typeface="黑体-简" panose="02000000000000000000" charset="-122"/>
                <a:cs typeface="Inter Bold"/>
              </a:rPr>
              <a:t>最新漏洞加固</a:t>
            </a:r>
            <a:endParaRPr lang="zh-CN" sz="1300">
              <a:solidFill>
                <a:schemeClr val="tx1"/>
              </a:solidFill>
              <a:latin typeface="Arial" panose="020B0604020202020204" pitchFamily="34" charset="0"/>
              <a:ea typeface="黑体-简" panose="02000000000000000000" charset="-122"/>
              <a:cs typeface="Inter Bold"/>
            </a:endParaRPr>
          </a:p>
        </p:txBody>
      </p:sp>
      <p:sp>
        <p:nvSpPr>
          <p:cNvPr id="276" name="TextBox"/>
          <p:cNvSpPr txBox="1"/>
          <p:nvPr/>
        </p:nvSpPr>
        <p:spPr>
          <a:xfrm>
            <a:off x="7010400" y="4498340"/>
            <a:ext cx="1656000" cy="139700"/>
          </a:xfrm>
          <a:prstGeom prst="rect">
            <a:avLst/>
          </a:prstGeom>
          <a:noFill/>
          <a:ln>
            <a:noFill/>
          </a:ln>
        </p:spPr>
        <p:txBody>
          <a:bodyPr wrap="none" lIns="0" tIns="0" rIns="0" bIns="0"/>
          <a:lstStyle/>
          <a:p>
            <a:r>
              <a:rPr lang="zh-CN" sz="900">
                <a:solidFill>
                  <a:schemeClr val="tx1">
                    <a:lumMod val="85000"/>
                    <a:lumOff val="15000"/>
                  </a:schemeClr>
                </a:solidFill>
                <a:latin typeface="Arial" panose="020B0604020202020204" pitchFamily="34" charset="0"/>
                <a:ea typeface="黑体-简" panose="02000000000000000000" charset="-122"/>
                <a:cs typeface="Inter"/>
              </a:rPr>
              <a:t>及时加固受影响资产</a:t>
            </a:r>
            <a:endParaRPr lang="zh-CN" sz="900">
              <a:solidFill>
                <a:schemeClr val="tx1">
                  <a:lumMod val="85000"/>
                  <a:lumOff val="15000"/>
                </a:schemeClr>
              </a:solidFill>
              <a:latin typeface="Arial" panose="020B0604020202020204" pitchFamily="34" charset="0"/>
              <a:ea typeface="黑体-简" panose="02000000000000000000" charset="-122"/>
              <a:cs typeface="Inter"/>
            </a:endParaRPr>
          </a:p>
        </p:txBody>
      </p:sp>
      <p:sp>
        <p:nvSpPr>
          <p:cNvPr id="277" name="TextBox"/>
          <p:cNvSpPr txBox="1"/>
          <p:nvPr/>
        </p:nvSpPr>
        <p:spPr>
          <a:xfrm>
            <a:off x="11167110" y="4263390"/>
            <a:ext cx="266700" cy="107950"/>
          </a:xfrm>
          <a:prstGeom prst="rect">
            <a:avLst/>
          </a:prstGeom>
          <a:noFill/>
          <a:ln>
            <a:noFill/>
          </a:ln>
        </p:spPr>
        <p:txBody>
          <a:bodyPr wrap="none" lIns="0" tIns="0" rIns="0" bIns="0"/>
          <a:lstStyle/>
          <a:p>
            <a:r>
              <a:rPr lang="zh-CN" sz="700">
                <a:solidFill>
                  <a:srgbClr val="34D399"/>
                </a:solidFill>
                <a:latin typeface="Inter"/>
                <a:ea typeface="Inter"/>
                <a:cs typeface="Inter"/>
              </a:rPr>
              <a:t>已加固</a:t>
            </a:r>
            <a:endParaRPr lang="zh-CN" sz="700">
              <a:solidFill>
                <a:srgbClr val="34D399"/>
              </a:solidFill>
              <a:latin typeface="Inter"/>
              <a:ea typeface="Inter"/>
              <a:cs typeface="Inter"/>
            </a:endParaRPr>
          </a:p>
        </p:txBody>
      </p:sp>
      <p:sp>
        <p:nvSpPr>
          <p:cNvPr id="278" name="TextBox"/>
          <p:cNvSpPr txBox="1"/>
          <p:nvPr/>
        </p:nvSpPr>
        <p:spPr>
          <a:xfrm>
            <a:off x="10059035" y="4263390"/>
            <a:ext cx="1080000" cy="360000"/>
          </a:xfrm>
          <a:prstGeom prst="rect">
            <a:avLst/>
          </a:prstGeom>
          <a:noFill/>
          <a:ln>
            <a:noFill/>
          </a:ln>
        </p:spPr>
        <p:txBody>
          <a:bodyPr wrap="none" lIns="0" tIns="0" rIns="0" bIns="0"/>
          <a:lstStyle/>
          <a:p>
            <a:pPr algn="r"/>
            <a:r>
              <a:rPr lang="en-US" sz="2200">
                <a:solidFill>
                  <a:srgbClr val="10B981"/>
                </a:solidFill>
                <a:latin typeface="Arial" panose="020B0604020202020204" pitchFamily="34" charset="0"/>
                <a:ea typeface="黑体-简" panose="02000000000000000000" charset="-122"/>
                <a:cs typeface="Inter Bold"/>
              </a:rPr>
              <a:t>{{</a:t>
            </a:r>
            <a:r>
              <a:rPr sz="2200">
                <a:solidFill>
                  <a:srgbClr val="10B981"/>
                </a:solidFill>
                <a:latin typeface="Arial" panose="020B0604020202020204" pitchFamily="34" charset="0"/>
                <a:ea typeface="黑体-简" panose="02000000000000000000" charset="-122"/>
                <a:cs typeface="Inter Bold"/>
              </a:rPr>
              <a:t>unpublished_threat_distinct_asset_count</a:t>
            </a:r>
            <a:r>
              <a:rPr lang="en-US" sz="2200">
                <a:solidFill>
                  <a:srgbClr val="10B981"/>
                </a:solidFill>
                <a:latin typeface="Arial" panose="020B0604020202020204" pitchFamily="34" charset="0"/>
                <a:ea typeface="黑体-简" panose="02000000000000000000" charset="-122"/>
                <a:cs typeface="Inter Bold"/>
              </a:rPr>
              <a:t>}}</a:t>
            </a:r>
            <a:endParaRPr lang="en-US" sz="2200">
              <a:solidFill>
                <a:srgbClr val="10B981"/>
              </a:solidFill>
              <a:latin typeface="Arial" panose="020B0604020202020204" pitchFamily="34" charset="0"/>
              <a:ea typeface="黑体-简" panose="02000000000000000000" charset="-122"/>
              <a:cs typeface="Inter Bold"/>
            </a:endParaRPr>
          </a:p>
        </p:txBody>
      </p:sp>
      <p:sp>
        <p:nvSpPr>
          <p:cNvPr id="280" name="Rectangle"/>
          <p:cNvSpPr/>
          <p:nvPr/>
        </p:nvSpPr>
        <p:spPr>
          <a:xfrm>
            <a:off x="6429375" y="4069715"/>
            <a:ext cx="5048250" cy="742950"/>
          </a:xfrm>
          <a:prstGeom prst="roundRect">
            <a:avLst>
              <a:gd name="adj" fmla="val 11538"/>
            </a:avLst>
          </a:prstGeom>
          <a:noFill/>
          <a:ln w="9525">
            <a:solidFill>
              <a:srgbClr val="0FBA82">
                <a:alpha val="30000"/>
              </a:srgbClr>
            </a:solidFill>
            <a:miter lim="400000"/>
          </a:ln>
        </p:spPr>
        <p:txBody>
          <a:bodyPr/>
          <a:lstStyle/>
          <a:p>
            <a:endParaRPr lang="en-US" sz="1200"/>
          </a:p>
        </p:txBody>
      </p:sp>
      <p:sp>
        <p:nvSpPr>
          <p:cNvPr id="281" name="Rectangle"/>
          <p:cNvSpPr/>
          <p:nvPr/>
        </p:nvSpPr>
        <p:spPr>
          <a:xfrm>
            <a:off x="6228080" y="1736725"/>
            <a:ext cx="5451475" cy="3141980"/>
          </a:xfrm>
          <a:prstGeom prst="roundRect">
            <a:avLst>
              <a:gd name="adj" fmla="val 3446"/>
            </a:avLst>
          </a:prstGeom>
          <a:noFill/>
          <a:ln w="14288">
            <a:solidFill>
              <a:srgbClr val="0FBA82">
                <a:alpha val="40000"/>
              </a:srgbClr>
            </a:solidFill>
            <a:miter lim="400000"/>
          </a:ln>
        </p:spPr>
        <p:txBody>
          <a:bodyPr/>
          <a:lstStyle/>
          <a:p>
            <a:endParaRPr lang="en-US" sz="1200"/>
          </a:p>
        </p:txBody>
      </p:sp>
      <p:sp>
        <p:nvSpPr>
          <p:cNvPr id="282" name="Rectangle"/>
          <p:cNvSpPr/>
          <p:nvPr/>
        </p:nvSpPr>
        <p:spPr>
          <a:xfrm>
            <a:off x="838200" y="5245100"/>
            <a:ext cx="50800" cy="50800"/>
          </a:xfrm>
          <a:prstGeom prst="roundRect">
            <a:avLst>
              <a:gd name="adj" fmla="val 50000"/>
            </a:avLst>
          </a:prstGeom>
          <a:solidFill>
            <a:srgbClr val="A85CF5"/>
          </a:solidFill>
          <a:ln>
            <a:noFill/>
          </a:ln>
        </p:spPr>
        <p:txBody>
          <a:bodyPr/>
          <a:lstStyle/>
          <a:p>
            <a:endParaRPr lang="en-US" sz="1200"/>
          </a:p>
        </p:txBody>
      </p:sp>
      <p:sp>
        <p:nvSpPr>
          <p:cNvPr id="283" name="TextBox"/>
          <p:cNvSpPr txBox="1"/>
          <p:nvPr/>
        </p:nvSpPr>
        <p:spPr>
          <a:xfrm>
            <a:off x="965200" y="5181600"/>
            <a:ext cx="1536700" cy="171450"/>
          </a:xfrm>
          <a:prstGeom prst="rect">
            <a:avLst/>
          </a:prstGeom>
          <a:noFill/>
          <a:ln>
            <a:noFill/>
          </a:ln>
        </p:spPr>
        <p:txBody>
          <a:bodyPr wrap="none" lIns="0" tIns="0" rIns="0" bIns="0"/>
          <a:lstStyle/>
          <a:p>
            <a:r>
              <a:rPr lang="zh-CN" sz="1100">
                <a:solidFill>
                  <a:schemeClr val="tx1"/>
                </a:solidFill>
                <a:latin typeface="Arial" panose="020B0604020202020204" pitchFamily="34" charset="0"/>
                <a:ea typeface="黑体-简" panose="02000000000000000000" charset="-122"/>
                <a:cs typeface="Inter Bold"/>
              </a:rPr>
              <a:t>核心系统风险发现与闭环</a:t>
            </a:r>
            <a:endParaRPr lang="zh-CN" sz="1100">
              <a:solidFill>
                <a:schemeClr val="tx1"/>
              </a:solidFill>
              <a:latin typeface="Arial" panose="020B0604020202020204" pitchFamily="34" charset="0"/>
              <a:ea typeface="黑体-简" panose="02000000000000000000" charset="-122"/>
              <a:cs typeface="Inter Bold"/>
            </a:endParaRPr>
          </a:p>
        </p:txBody>
      </p:sp>
      <p:sp>
        <p:nvSpPr>
          <p:cNvPr id="285" name="Rectangle"/>
          <p:cNvSpPr/>
          <p:nvPr/>
        </p:nvSpPr>
        <p:spPr>
          <a:xfrm>
            <a:off x="10502900" y="5238750"/>
            <a:ext cx="63500" cy="63500"/>
          </a:xfrm>
          <a:prstGeom prst="roundRect">
            <a:avLst>
              <a:gd name="adj" fmla="val 20000"/>
            </a:avLst>
          </a:prstGeom>
          <a:solidFill>
            <a:srgbClr val="3B82F5"/>
          </a:solidFill>
          <a:ln>
            <a:noFill/>
          </a:ln>
        </p:spPr>
        <p:txBody>
          <a:bodyPr/>
          <a:lstStyle/>
          <a:p>
            <a:endParaRPr lang="en-US" sz="1200"/>
          </a:p>
        </p:txBody>
      </p:sp>
      <p:sp>
        <p:nvSpPr>
          <p:cNvPr id="286" name="TextBox"/>
          <p:cNvSpPr txBox="1"/>
          <p:nvPr/>
        </p:nvSpPr>
        <p:spPr>
          <a:xfrm>
            <a:off x="10617200" y="5213350"/>
            <a:ext cx="355600" cy="107950"/>
          </a:xfrm>
          <a:prstGeom prst="rect">
            <a:avLst/>
          </a:prstGeom>
          <a:noFill/>
          <a:ln>
            <a:noFill/>
          </a:ln>
        </p:spPr>
        <p:txBody>
          <a:bodyPr wrap="none" lIns="0" tIns="0" rIns="0" bIns="0"/>
          <a:lstStyle/>
          <a:p>
            <a:r>
              <a:rPr lang="zh-CN" sz="700">
                <a:solidFill>
                  <a:srgbClr val="94A3B8"/>
                </a:solidFill>
                <a:latin typeface="Arial" panose="020B0604020202020204" pitchFamily="34" charset="0"/>
                <a:ea typeface="黑体-简" panose="02000000000000000000" charset="-122"/>
                <a:cs typeface="Inter"/>
              </a:rPr>
              <a:t>风险发现</a:t>
            </a:r>
            <a:endParaRPr lang="zh-CN" sz="700">
              <a:solidFill>
                <a:srgbClr val="94A3B8"/>
              </a:solidFill>
              <a:latin typeface="Arial" panose="020B0604020202020204" pitchFamily="34" charset="0"/>
              <a:ea typeface="黑体-简" panose="02000000000000000000" charset="-122"/>
              <a:cs typeface="Inter"/>
            </a:endParaRPr>
          </a:p>
        </p:txBody>
      </p:sp>
      <p:sp>
        <p:nvSpPr>
          <p:cNvPr id="287" name="Rectangle"/>
          <p:cNvSpPr/>
          <p:nvPr/>
        </p:nvSpPr>
        <p:spPr>
          <a:xfrm>
            <a:off x="11099800" y="5238750"/>
            <a:ext cx="63500" cy="63500"/>
          </a:xfrm>
          <a:prstGeom prst="roundRect">
            <a:avLst>
              <a:gd name="adj" fmla="val 20000"/>
            </a:avLst>
          </a:prstGeom>
          <a:solidFill>
            <a:srgbClr val="0FBA82"/>
          </a:solidFill>
          <a:ln>
            <a:noFill/>
          </a:ln>
        </p:spPr>
        <p:txBody>
          <a:bodyPr/>
          <a:lstStyle/>
          <a:p>
            <a:endParaRPr lang="en-US" sz="1200"/>
          </a:p>
        </p:txBody>
      </p:sp>
      <p:sp>
        <p:nvSpPr>
          <p:cNvPr id="288" name="TextBox"/>
          <p:cNvSpPr txBox="1"/>
          <p:nvPr/>
        </p:nvSpPr>
        <p:spPr>
          <a:xfrm>
            <a:off x="11214100" y="5213350"/>
            <a:ext cx="266700" cy="107950"/>
          </a:xfrm>
          <a:prstGeom prst="rect">
            <a:avLst/>
          </a:prstGeom>
          <a:noFill/>
          <a:ln>
            <a:noFill/>
          </a:ln>
        </p:spPr>
        <p:txBody>
          <a:bodyPr wrap="none" lIns="0" tIns="0" rIns="0" bIns="0"/>
          <a:lstStyle/>
          <a:p>
            <a:r>
              <a:rPr lang="zh-CN" sz="700">
                <a:solidFill>
                  <a:srgbClr val="94A3B8"/>
                </a:solidFill>
                <a:latin typeface="Inter"/>
                <a:ea typeface="Inter"/>
                <a:cs typeface="Inter"/>
              </a:rPr>
              <a:t>已闭环</a:t>
            </a:r>
            <a:endParaRPr lang="zh-CN" sz="700">
              <a:solidFill>
                <a:srgbClr val="94A3B8"/>
              </a:solidFill>
              <a:latin typeface="Inter"/>
              <a:ea typeface="Inter"/>
              <a:cs typeface="Inter"/>
            </a:endParaRPr>
          </a:p>
        </p:txBody>
      </p:sp>
      <p:sp>
        <p:nvSpPr>
          <p:cNvPr id="289" name="Rectangle"/>
          <p:cNvSpPr/>
          <p:nvPr/>
        </p:nvSpPr>
        <p:spPr>
          <a:xfrm>
            <a:off x="838200" y="5480050"/>
            <a:ext cx="3479800" cy="609600"/>
          </a:xfrm>
          <a:prstGeom prst="roundRect">
            <a:avLst>
              <a:gd name="adj" fmla="val 12500"/>
            </a:avLst>
          </a:prstGeom>
          <a:noFill/>
          <a:ln>
            <a:noFill/>
          </a:ln>
          <a:extLst>
            <a:ext uri="{909E8E84-426E-40DD-AFC4-6F175D3DCCD1}">
              <a14:hiddenFill xmlns:a14="http://schemas.microsoft.com/office/drawing/2010/main">
                <a:solidFill>
                  <a:srgbClr val="1C2940">
                    <a:alpha val="70000"/>
                  </a:srgbClr>
                </a:solidFill>
              </a14:hiddenFill>
            </a:ext>
          </a:extLst>
        </p:spPr>
        <p:txBody>
          <a:bodyPr/>
          <a:lstStyle/>
          <a:p>
            <a:endParaRPr lang="en-US" sz="1200"/>
          </a:p>
        </p:txBody>
      </p:sp>
      <p:sp>
        <p:nvSpPr>
          <p:cNvPr id="291" name="TextBox"/>
          <p:cNvSpPr txBox="1"/>
          <p:nvPr/>
        </p:nvSpPr>
        <p:spPr>
          <a:xfrm>
            <a:off x="952500" y="5588635"/>
            <a:ext cx="685800" cy="247015"/>
          </a:xfrm>
          <a:prstGeom prst="rect">
            <a:avLst/>
          </a:prstGeom>
          <a:noFill/>
          <a:ln>
            <a:noFill/>
          </a:ln>
        </p:spPr>
        <p:txBody>
          <a:bodyPr wrap="none" lIns="0" tIns="0" rIns="0" bIns="0" anchor="ctr" anchorCtr="0"/>
          <a:lstStyle/>
          <a:p>
            <a:pPr algn="l"/>
            <a:r>
              <a:rPr lang="en-US" sz="1200">
                <a:solidFill>
                  <a:schemeClr val="tx1"/>
                </a:solidFill>
                <a:latin typeface="Arial" panose="020B0604020202020204" pitchFamily="34" charset="0"/>
                <a:ea typeface="黑体-简" panose="02000000000000000000" charset="-122"/>
                <a:cs typeface="Inter Bold"/>
              </a:rPr>
              <a:t>{{core_system_1}}</a:t>
            </a:r>
            <a:endParaRPr lang="en-US" sz="1200">
              <a:solidFill>
                <a:schemeClr val="tx1"/>
              </a:solidFill>
              <a:latin typeface="Arial" panose="020B0604020202020204" pitchFamily="34" charset="0"/>
              <a:ea typeface="黑体-简" panose="02000000000000000000" charset="-122"/>
              <a:cs typeface="Inter Bold"/>
            </a:endParaRPr>
          </a:p>
        </p:txBody>
      </p:sp>
      <p:sp>
        <p:nvSpPr>
          <p:cNvPr id="292" name="TextBox"/>
          <p:cNvSpPr txBox="1"/>
          <p:nvPr/>
        </p:nvSpPr>
        <p:spPr>
          <a:xfrm>
            <a:off x="2773680" y="5588635"/>
            <a:ext cx="260096" cy="171450"/>
          </a:xfrm>
          <a:prstGeom prst="rect">
            <a:avLst/>
          </a:prstGeom>
          <a:noFill/>
          <a:ln>
            <a:noFill/>
          </a:ln>
        </p:spPr>
        <p:txBody>
          <a:bodyPr wrap="none" lIns="0" tIns="0" rIns="0" bIns="0"/>
          <a:lstStyle/>
          <a:p>
            <a:pPr algn="r"/>
            <a:r>
              <a:rPr lang="en-US" sz="1100">
                <a:solidFill>
                  <a:srgbClr val="3B82F6"/>
                </a:solidFill>
                <a:latin typeface="Arial" panose="020B0604020202020204" pitchFamily="34" charset="0"/>
                <a:ea typeface="黑体-简" panose="02000000000000000000" charset="-122"/>
                <a:cs typeface="Inter Bold"/>
              </a:rPr>
              <a:t>{{system1_related_vuln_and_event}}</a:t>
            </a:r>
            <a:endParaRPr lang="en-US" sz="1100">
              <a:solidFill>
                <a:srgbClr val="3B82F6"/>
              </a:solidFill>
              <a:latin typeface="Arial" panose="020B0604020202020204" pitchFamily="34" charset="0"/>
              <a:ea typeface="黑体-简" panose="02000000000000000000" charset="-122"/>
              <a:cs typeface="Inter Bold"/>
            </a:endParaRPr>
          </a:p>
        </p:txBody>
      </p:sp>
      <p:sp>
        <p:nvSpPr>
          <p:cNvPr id="293" name="TextBox"/>
          <p:cNvSpPr txBox="1"/>
          <p:nvPr/>
        </p:nvSpPr>
        <p:spPr>
          <a:xfrm>
            <a:off x="3117850" y="5626100"/>
            <a:ext cx="165100" cy="101600"/>
          </a:xfrm>
          <a:prstGeom prst="rect">
            <a:avLst/>
          </a:prstGeom>
          <a:noFill/>
          <a:ln>
            <a:noFill/>
          </a:ln>
        </p:spPr>
        <p:txBody>
          <a:bodyPr wrap="none" lIns="0" tIns="0" rIns="0" bIns="0"/>
          <a:lstStyle/>
          <a:p>
            <a:r>
              <a:rPr lang="zh-CN" sz="650">
                <a:solidFill>
                  <a:srgbClr val="94A3B8"/>
                </a:solidFill>
                <a:latin typeface="Arial" panose="020B0604020202020204" pitchFamily="34" charset="0"/>
                <a:ea typeface="黑体-简" panose="02000000000000000000" charset="-122"/>
                <a:cs typeface="Inter"/>
              </a:rPr>
              <a:t>发现</a:t>
            </a:r>
            <a:endParaRPr lang="zh-CN" sz="650">
              <a:solidFill>
                <a:srgbClr val="94A3B8"/>
              </a:solidFill>
              <a:latin typeface="Arial" panose="020B0604020202020204" pitchFamily="34" charset="0"/>
              <a:ea typeface="黑体-简" panose="02000000000000000000" charset="-122"/>
              <a:cs typeface="Inter"/>
            </a:endParaRPr>
          </a:p>
        </p:txBody>
      </p:sp>
      <p:sp>
        <p:nvSpPr>
          <p:cNvPr id="294" name="TextBox"/>
          <p:cNvSpPr txBox="1"/>
          <p:nvPr/>
        </p:nvSpPr>
        <p:spPr>
          <a:xfrm>
            <a:off x="3346450" y="5597525"/>
            <a:ext cx="261187" cy="171450"/>
          </a:xfrm>
          <a:prstGeom prst="rect">
            <a:avLst/>
          </a:prstGeom>
          <a:noFill/>
          <a:ln>
            <a:noFill/>
          </a:ln>
        </p:spPr>
        <p:txBody>
          <a:bodyPr wrap="none" lIns="0" tIns="0" rIns="0" bIns="0"/>
          <a:lstStyle/>
          <a:p>
            <a:pPr algn="r"/>
            <a:r>
              <a:rPr lang="en-US" sz="1100">
                <a:solidFill>
                  <a:srgbClr val="10B981"/>
                </a:solidFill>
                <a:latin typeface="Arial" panose="020B0604020202020204" pitchFamily="34" charset="0"/>
                <a:ea typeface="黑体-简" panose="02000000000000000000" charset="-122"/>
                <a:cs typeface="Inter Bold"/>
              </a:rPr>
              <a:t>{{system1_handled_vuln_and_event}}</a:t>
            </a:r>
            <a:endParaRPr lang="en-US" sz="1100">
              <a:solidFill>
                <a:srgbClr val="10B981"/>
              </a:solidFill>
              <a:latin typeface="Arial" panose="020B0604020202020204" pitchFamily="34" charset="0"/>
              <a:ea typeface="黑体-简" panose="02000000000000000000" charset="-122"/>
              <a:cs typeface="Inter Bold"/>
            </a:endParaRPr>
          </a:p>
        </p:txBody>
      </p:sp>
      <p:sp>
        <p:nvSpPr>
          <p:cNvPr id="295" name="TextBox"/>
          <p:cNvSpPr txBox="1"/>
          <p:nvPr/>
        </p:nvSpPr>
        <p:spPr>
          <a:xfrm>
            <a:off x="3676650" y="5626100"/>
            <a:ext cx="165100" cy="101600"/>
          </a:xfrm>
          <a:prstGeom prst="rect">
            <a:avLst/>
          </a:prstGeom>
          <a:noFill/>
          <a:ln>
            <a:noFill/>
          </a:ln>
        </p:spPr>
        <p:txBody>
          <a:bodyPr wrap="none" lIns="0" tIns="0" rIns="0" bIns="0"/>
          <a:lstStyle/>
          <a:p>
            <a:r>
              <a:rPr lang="zh-CN" sz="650">
                <a:solidFill>
                  <a:srgbClr val="94A3B8"/>
                </a:solidFill>
                <a:latin typeface="Arial" panose="020B0604020202020204" pitchFamily="34" charset="0"/>
                <a:ea typeface="黑体-简" panose="02000000000000000000" charset="-122"/>
                <a:cs typeface="Inter"/>
              </a:rPr>
              <a:t>闭环</a:t>
            </a:r>
            <a:endParaRPr lang="zh-CN" sz="650">
              <a:solidFill>
                <a:srgbClr val="94A3B8"/>
              </a:solidFill>
              <a:latin typeface="Arial" panose="020B0604020202020204" pitchFamily="34" charset="0"/>
              <a:ea typeface="黑体-简" panose="02000000000000000000" charset="-122"/>
              <a:cs typeface="Inter"/>
            </a:endParaRPr>
          </a:p>
        </p:txBody>
      </p:sp>
      <p:sp>
        <p:nvSpPr>
          <p:cNvPr id="296" name="TextBox"/>
          <p:cNvSpPr txBox="1"/>
          <p:nvPr/>
        </p:nvSpPr>
        <p:spPr>
          <a:xfrm>
            <a:off x="3962400" y="5626100"/>
            <a:ext cx="298053" cy="120650"/>
          </a:xfrm>
          <a:prstGeom prst="rect">
            <a:avLst/>
          </a:prstGeom>
          <a:noFill/>
          <a:ln>
            <a:noFill/>
          </a:ln>
        </p:spPr>
        <p:txBody>
          <a:bodyPr wrap="none" lIns="0" tIns="0" rIns="0" bIns="0"/>
          <a:lstStyle/>
          <a:p>
            <a:pPr algn="l"/>
            <a:r>
              <a:rPr lang="en-US" sz="800">
                <a:solidFill>
                  <a:srgbClr val="34D399"/>
                </a:solidFill>
                <a:latin typeface="Arial" panose="020B0604020202020204" pitchFamily="34" charset="0"/>
                <a:ea typeface="黑体-简" panose="02000000000000000000" charset="-122"/>
                <a:cs typeface="Inter Bold"/>
              </a:rPr>
              <a:t>{{system1_handled_vuln_ratio}}</a:t>
            </a:r>
            <a:endParaRPr lang="en-US" sz="800">
              <a:solidFill>
                <a:srgbClr val="34D399"/>
              </a:solidFill>
              <a:latin typeface="Arial" panose="020B0604020202020204" pitchFamily="34" charset="0"/>
              <a:ea typeface="黑体-简" panose="02000000000000000000" charset="-122"/>
              <a:cs typeface="Inter Bold"/>
            </a:endParaRPr>
          </a:p>
        </p:txBody>
      </p:sp>
      <p:sp>
        <p:nvSpPr>
          <p:cNvPr id="297" name="Rectangle"/>
          <p:cNvSpPr/>
          <p:nvPr/>
        </p:nvSpPr>
        <p:spPr>
          <a:xfrm>
            <a:off x="952500" y="5911850"/>
            <a:ext cx="3251200" cy="76200"/>
          </a:xfrm>
          <a:prstGeom prst="roundRect">
            <a:avLst>
              <a:gd name="adj" fmla="val 50000"/>
            </a:avLst>
          </a:prstGeom>
          <a:solidFill>
            <a:srgbClr val="3B82F5">
              <a:alpha val="18000"/>
            </a:srgbClr>
          </a:solidFill>
          <a:ln>
            <a:noFill/>
          </a:ln>
        </p:spPr>
        <p:txBody>
          <a:bodyPr/>
          <a:lstStyle/>
          <a:p>
            <a:endParaRPr lang="en-US" sz="1200"/>
          </a:p>
        </p:txBody>
      </p:sp>
      <p:sp>
        <p:nvSpPr>
          <p:cNvPr id="298" name="Rectangle"/>
          <p:cNvSpPr/>
          <p:nvPr/>
        </p:nvSpPr>
        <p:spPr>
          <a:xfrm>
            <a:off x="952500" y="5911850"/>
            <a:ext cx="3028950" cy="76200"/>
          </a:xfrm>
          <a:prstGeom prst="roundRect">
            <a:avLst>
              <a:gd name="adj" fmla="val 50000"/>
            </a:avLst>
          </a:prstGeom>
          <a:solidFill>
            <a:srgbClr val="0FBA82">
              <a:alpha val="90000"/>
            </a:srgbClr>
          </a:solidFill>
          <a:ln>
            <a:noFill/>
          </a:ln>
        </p:spPr>
        <p:txBody>
          <a:bodyPr/>
          <a:lstStyle/>
          <a:p>
            <a:endParaRPr lang="en-US" sz="1200"/>
          </a:p>
        </p:txBody>
      </p:sp>
      <p:sp>
        <p:nvSpPr>
          <p:cNvPr id="299" name="Rectangle"/>
          <p:cNvSpPr/>
          <p:nvPr/>
        </p:nvSpPr>
        <p:spPr>
          <a:xfrm>
            <a:off x="841375" y="5483225"/>
            <a:ext cx="3473450" cy="603250"/>
          </a:xfrm>
          <a:prstGeom prst="roundRect">
            <a:avLst>
              <a:gd name="adj" fmla="val 12105"/>
            </a:avLst>
          </a:prstGeom>
          <a:noFill/>
          <a:ln w="9525">
            <a:solidFill>
              <a:srgbClr val="3B82F5">
                <a:alpha val="30000"/>
              </a:srgbClr>
            </a:solidFill>
            <a:miter lim="400000"/>
          </a:ln>
        </p:spPr>
        <p:txBody>
          <a:bodyPr/>
          <a:lstStyle/>
          <a:p>
            <a:endParaRPr lang="en-US" sz="1200"/>
          </a:p>
        </p:txBody>
      </p:sp>
      <p:sp>
        <p:nvSpPr>
          <p:cNvPr id="300" name="Rectangle"/>
          <p:cNvSpPr/>
          <p:nvPr/>
        </p:nvSpPr>
        <p:spPr>
          <a:xfrm>
            <a:off x="4419600" y="5480050"/>
            <a:ext cx="3479800" cy="609600"/>
          </a:xfrm>
          <a:prstGeom prst="roundRect">
            <a:avLst>
              <a:gd name="adj" fmla="val 12500"/>
            </a:avLst>
          </a:prstGeom>
          <a:noFill/>
          <a:ln>
            <a:noFill/>
          </a:ln>
          <a:extLst>
            <a:ext uri="{909E8E84-426E-40DD-AFC4-6F175D3DCCD1}">
              <a14:hiddenFill xmlns:a14="http://schemas.microsoft.com/office/drawing/2010/main">
                <a:solidFill>
                  <a:srgbClr val="1C2940">
                    <a:alpha val="70000"/>
                  </a:srgbClr>
                </a:solidFill>
              </a14:hiddenFill>
            </a:ext>
          </a:extLst>
        </p:spPr>
        <p:txBody>
          <a:bodyPr/>
          <a:lstStyle/>
          <a:p>
            <a:endParaRPr lang="en-US" sz="1200">
              <a:solidFill>
                <a:schemeClr val="tx1"/>
              </a:solidFill>
            </a:endParaRPr>
          </a:p>
        </p:txBody>
      </p:sp>
      <p:sp>
        <p:nvSpPr>
          <p:cNvPr id="302" name="TextBox"/>
          <p:cNvSpPr txBox="1"/>
          <p:nvPr/>
        </p:nvSpPr>
        <p:spPr>
          <a:xfrm>
            <a:off x="4533900" y="5588635"/>
            <a:ext cx="685800" cy="247015"/>
          </a:xfrm>
          <a:prstGeom prst="rect">
            <a:avLst/>
          </a:prstGeom>
          <a:noFill/>
          <a:ln>
            <a:noFill/>
          </a:ln>
        </p:spPr>
        <p:txBody>
          <a:bodyPr wrap="none" lIns="0" tIns="0" rIns="0" bIns="0" anchor="ctr" anchorCtr="0">
            <a:noAutofit/>
          </a:bodyPr>
          <a:lstStyle/>
          <a:p>
            <a:pPr lvl="0" algn="l">
              <a:buClrTx/>
              <a:buSzTx/>
              <a:buFontTx/>
            </a:pPr>
            <a:r>
              <a:rPr lang="en-US" altLang="zh-CN" sz="1200">
                <a:latin typeface="Arial" panose="020B0604020202020204" pitchFamily="34" charset="0"/>
                <a:ea typeface="黑体-简" panose="02000000000000000000" charset="-122"/>
                <a:cs typeface="Inter Bold"/>
                <a:sym typeface="+mn-ea"/>
              </a:rPr>
              <a:t>{{core_system_2}}</a:t>
            </a:r>
            <a:endParaRPr lang="en-US" altLang="zh-CN" sz="1200">
              <a:latin typeface="Arial" panose="020B0604020202020204" pitchFamily="34" charset="0"/>
              <a:ea typeface="黑体-简" panose="02000000000000000000" charset="-122"/>
              <a:cs typeface="Inter Bold"/>
              <a:sym typeface="+mn-ea"/>
            </a:endParaRPr>
          </a:p>
        </p:txBody>
      </p:sp>
      <p:sp>
        <p:nvSpPr>
          <p:cNvPr id="303" name="TextBox"/>
          <p:cNvSpPr txBox="1"/>
          <p:nvPr/>
        </p:nvSpPr>
        <p:spPr>
          <a:xfrm>
            <a:off x="6394450" y="5608955"/>
            <a:ext cx="263438" cy="171450"/>
          </a:xfrm>
          <a:prstGeom prst="rect">
            <a:avLst/>
          </a:prstGeom>
          <a:noFill/>
          <a:ln>
            <a:noFill/>
          </a:ln>
        </p:spPr>
        <p:txBody>
          <a:bodyPr wrap="none" lIns="0" tIns="0" rIns="0" bIns="0"/>
          <a:lstStyle/>
          <a:p>
            <a:pPr algn="r"/>
            <a:r>
              <a:rPr lang="en-US" sz="1100">
                <a:solidFill>
                  <a:srgbClr val="3B82F6"/>
                </a:solidFill>
                <a:latin typeface="Arial" panose="020B0604020202020204" pitchFamily="34" charset="0"/>
                <a:ea typeface="黑体-简" panose="02000000000000000000" charset="-122"/>
                <a:cs typeface="Inter Bold"/>
              </a:rPr>
              <a:t>{{</a:t>
            </a:r>
            <a:r>
              <a:rPr sz="1100">
                <a:solidFill>
                  <a:srgbClr val="3B82F6"/>
                </a:solidFill>
                <a:latin typeface="Arial" panose="020B0604020202020204" pitchFamily="34" charset="0"/>
                <a:ea typeface="黑体-简" panose="02000000000000000000" charset="-122"/>
                <a:cs typeface="Inter Bold"/>
              </a:rPr>
              <a:t>system2_related_vuln_and_event</a:t>
            </a:r>
            <a:r>
              <a:rPr lang="en-US" sz="1100">
                <a:solidFill>
                  <a:srgbClr val="3B82F6"/>
                </a:solidFill>
                <a:latin typeface="Arial" panose="020B0604020202020204" pitchFamily="34" charset="0"/>
                <a:ea typeface="黑体-简" panose="02000000000000000000" charset="-122"/>
                <a:cs typeface="Inter Bold"/>
              </a:rPr>
              <a:t>}}</a:t>
            </a:r>
            <a:endParaRPr lang="en-US" sz="1100">
              <a:solidFill>
                <a:srgbClr val="3B82F6"/>
              </a:solidFill>
              <a:latin typeface="Arial" panose="020B0604020202020204" pitchFamily="34" charset="0"/>
              <a:ea typeface="黑体-简" panose="02000000000000000000" charset="-122"/>
              <a:cs typeface="Inter Bold"/>
            </a:endParaRPr>
          </a:p>
        </p:txBody>
      </p:sp>
      <p:sp>
        <p:nvSpPr>
          <p:cNvPr id="304" name="TextBox"/>
          <p:cNvSpPr txBox="1"/>
          <p:nvPr/>
        </p:nvSpPr>
        <p:spPr>
          <a:xfrm>
            <a:off x="6724650" y="5626100"/>
            <a:ext cx="165100" cy="101600"/>
          </a:xfrm>
          <a:prstGeom prst="rect">
            <a:avLst/>
          </a:prstGeom>
          <a:noFill/>
          <a:ln>
            <a:noFill/>
          </a:ln>
        </p:spPr>
        <p:txBody>
          <a:bodyPr wrap="none" lIns="0" tIns="0" rIns="0" bIns="0"/>
          <a:lstStyle/>
          <a:p>
            <a:r>
              <a:rPr lang="zh-CN" sz="650">
                <a:solidFill>
                  <a:srgbClr val="94A3B8"/>
                </a:solidFill>
                <a:latin typeface="Arial" panose="020B0604020202020204" pitchFamily="34" charset="0"/>
                <a:ea typeface="黑体-简" panose="02000000000000000000" charset="-122"/>
                <a:cs typeface="Inter"/>
              </a:rPr>
              <a:t>发现</a:t>
            </a:r>
            <a:endParaRPr lang="zh-CN" sz="650">
              <a:solidFill>
                <a:srgbClr val="94A3B8"/>
              </a:solidFill>
              <a:latin typeface="Arial" panose="020B0604020202020204" pitchFamily="34" charset="0"/>
              <a:ea typeface="黑体-简" panose="02000000000000000000" charset="-122"/>
              <a:cs typeface="Inter"/>
            </a:endParaRPr>
          </a:p>
        </p:txBody>
      </p:sp>
      <p:sp>
        <p:nvSpPr>
          <p:cNvPr id="305" name="TextBox"/>
          <p:cNvSpPr txBox="1"/>
          <p:nvPr/>
        </p:nvSpPr>
        <p:spPr>
          <a:xfrm>
            <a:off x="6997065" y="5598160"/>
            <a:ext cx="227967" cy="171450"/>
          </a:xfrm>
          <a:prstGeom prst="rect">
            <a:avLst/>
          </a:prstGeom>
          <a:noFill/>
          <a:ln>
            <a:noFill/>
          </a:ln>
        </p:spPr>
        <p:txBody>
          <a:bodyPr wrap="none" lIns="0" tIns="0" rIns="0" bIns="0"/>
          <a:lstStyle/>
          <a:p>
            <a:pPr algn="r"/>
            <a:r>
              <a:rPr lang="en-US" sz="1100">
                <a:solidFill>
                  <a:srgbClr val="10B981"/>
                </a:solidFill>
                <a:latin typeface="Arial" panose="020B0604020202020204" pitchFamily="34" charset="0"/>
                <a:ea typeface="黑体-简" panose="02000000000000000000" charset="-122"/>
                <a:cs typeface="Inter Bold"/>
              </a:rPr>
              <a:t>{{</a:t>
            </a:r>
            <a:r>
              <a:rPr sz="1100">
                <a:solidFill>
                  <a:srgbClr val="10B981"/>
                </a:solidFill>
                <a:latin typeface="Arial" panose="020B0604020202020204" pitchFamily="34" charset="0"/>
                <a:ea typeface="黑体-简" panose="02000000000000000000" charset="-122"/>
                <a:cs typeface="Inter Bold"/>
              </a:rPr>
              <a:t>system2_handled_vuln_and_event</a:t>
            </a:r>
            <a:r>
              <a:rPr lang="en-US" sz="1100">
                <a:solidFill>
                  <a:srgbClr val="10B981"/>
                </a:solidFill>
                <a:latin typeface="Arial" panose="020B0604020202020204" pitchFamily="34" charset="0"/>
                <a:ea typeface="黑体-简" panose="02000000000000000000" charset="-122"/>
                <a:cs typeface="Inter Bold"/>
              </a:rPr>
              <a:t>}}</a:t>
            </a:r>
            <a:endParaRPr lang="en-US" sz="1100">
              <a:solidFill>
                <a:srgbClr val="10B981"/>
              </a:solidFill>
              <a:latin typeface="Arial" panose="020B0604020202020204" pitchFamily="34" charset="0"/>
              <a:ea typeface="黑体-简" panose="02000000000000000000" charset="-122"/>
              <a:cs typeface="Inter Bold"/>
            </a:endParaRPr>
          </a:p>
        </p:txBody>
      </p:sp>
      <p:sp>
        <p:nvSpPr>
          <p:cNvPr id="306" name="TextBox"/>
          <p:cNvSpPr txBox="1"/>
          <p:nvPr/>
        </p:nvSpPr>
        <p:spPr>
          <a:xfrm>
            <a:off x="7245350" y="5626100"/>
            <a:ext cx="165100" cy="101600"/>
          </a:xfrm>
          <a:prstGeom prst="rect">
            <a:avLst/>
          </a:prstGeom>
          <a:noFill/>
          <a:ln>
            <a:noFill/>
          </a:ln>
        </p:spPr>
        <p:txBody>
          <a:bodyPr wrap="none" lIns="0" tIns="0" rIns="0" bIns="0"/>
          <a:lstStyle/>
          <a:p>
            <a:r>
              <a:rPr lang="zh-CN" sz="650">
                <a:solidFill>
                  <a:srgbClr val="94A3B8"/>
                </a:solidFill>
                <a:latin typeface="Arial" panose="020B0604020202020204" pitchFamily="34" charset="0"/>
                <a:ea typeface="黑体-简" panose="02000000000000000000" charset="-122"/>
                <a:cs typeface="Inter"/>
              </a:rPr>
              <a:t>闭环</a:t>
            </a:r>
            <a:endParaRPr lang="zh-CN" sz="650">
              <a:solidFill>
                <a:srgbClr val="94A3B8"/>
              </a:solidFill>
              <a:latin typeface="Arial" panose="020B0604020202020204" pitchFamily="34" charset="0"/>
              <a:ea typeface="黑体-简" panose="02000000000000000000" charset="-122"/>
              <a:cs typeface="Inter"/>
            </a:endParaRPr>
          </a:p>
        </p:txBody>
      </p:sp>
      <p:sp>
        <p:nvSpPr>
          <p:cNvPr id="307" name="TextBox"/>
          <p:cNvSpPr txBox="1"/>
          <p:nvPr/>
        </p:nvSpPr>
        <p:spPr>
          <a:xfrm>
            <a:off x="7473950" y="5626100"/>
            <a:ext cx="310059" cy="120650"/>
          </a:xfrm>
          <a:prstGeom prst="rect">
            <a:avLst/>
          </a:prstGeom>
          <a:noFill/>
          <a:ln>
            <a:noFill/>
          </a:ln>
        </p:spPr>
        <p:txBody>
          <a:bodyPr wrap="none" lIns="0" tIns="0" rIns="0" bIns="0"/>
          <a:lstStyle/>
          <a:p>
            <a:pPr algn="r"/>
            <a:r>
              <a:rPr lang="en-US" sz="800">
                <a:solidFill>
                  <a:srgbClr val="34D399"/>
                </a:solidFill>
                <a:latin typeface="Arial" panose="020B0604020202020204" pitchFamily="34" charset="0"/>
                <a:ea typeface="黑体-简" panose="02000000000000000000" charset="-122"/>
                <a:cs typeface="Inter Bold"/>
              </a:rPr>
              <a:t>{{</a:t>
            </a:r>
            <a:r>
              <a:rPr sz="800">
                <a:solidFill>
                  <a:srgbClr val="34D399"/>
                </a:solidFill>
                <a:latin typeface="Arial" panose="020B0604020202020204" pitchFamily="34" charset="0"/>
                <a:ea typeface="黑体-简" panose="02000000000000000000" charset="-122"/>
                <a:cs typeface="Inter Bold"/>
              </a:rPr>
              <a:t>system2_handled_vuln_ratio</a:t>
            </a:r>
            <a:r>
              <a:rPr lang="en-US" sz="800">
                <a:solidFill>
                  <a:srgbClr val="34D399"/>
                </a:solidFill>
                <a:latin typeface="Arial" panose="020B0604020202020204" pitchFamily="34" charset="0"/>
                <a:ea typeface="黑体-简" panose="02000000000000000000" charset="-122"/>
                <a:cs typeface="Inter Bold"/>
              </a:rPr>
              <a:t>}}</a:t>
            </a:r>
            <a:endParaRPr lang="en-US" sz="800">
              <a:solidFill>
                <a:srgbClr val="34D399"/>
              </a:solidFill>
              <a:latin typeface="Arial" panose="020B0604020202020204" pitchFamily="34" charset="0"/>
              <a:ea typeface="黑体-简" panose="02000000000000000000" charset="-122"/>
              <a:cs typeface="Inter Bold"/>
            </a:endParaRPr>
          </a:p>
        </p:txBody>
      </p:sp>
      <p:sp>
        <p:nvSpPr>
          <p:cNvPr id="308" name="Rectangle"/>
          <p:cNvSpPr/>
          <p:nvPr/>
        </p:nvSpPr>
        <p:spPr>
          <a:xfrm>
            <a:off x="4533900" y="5911850"/>
            <a:ext cx="3251200" cy="76200"/>
          </a:xfrm>
          <a:prstGeom prst="roundRect">
            <a:avLst>
              <a:gd name="adj" fmla="val 50000"/>
            </a:avLst>
          </a:prstGeom>
          <a:solidFill>
            <a:srgbClr val="3B82F5">
              <a:alpha val="18000"/>
            </a:srgbClr>
          </a:solidFill>
          <a:ln>
            <a:noFill/>
          </a:ln>
        </p:spPr>
        <p:txBody>
          <a:bodyPr/>
          <a:lstStyle/>
          <a:p>
            <a:endParaRPr lang="en-US" sz="1200"/>
          </a:p>
        </p:txBody>
      </p:sp>
      <p:sp>
        <p:nvSpPr>
          <p:cNvPr id="309" name="Rectangle"/>
          <p:cNvSpPr/>
          <p:nvPr/>
        </p:nvSpPr>
        <p:spPr>
          <a:xfrm>
            <a:off x="4533900" y="5911850"/>
            <a:ext cx="2851150" cy="76200"/>
          </a:xfrm>
          <a:prstGeom prst="roundRect">
            <a:avLst>
              <a:gd name="adj" fmla="val 50000"/>
            </a:avLst>
          </a:prstGeom>
          <a:solidFill>
            <a:srgbClr val="0FBA82">
              <a:alpha val="90000"/>
            </a:srgbClr>
          </a:solidFill>
          <a:ln>
            <a:noFill/>
          </a:ln>
        </p:spPr>
        <p:txBody>
          <a:bodyPr/>
          <a:lstStyle/>
          <a:p>
            <a:endParaRPr lang="en-US" sz="1200"/>
          </a:p>
        </p:txBody>
      </p:sp>
      <p:sp>
        <p:nvSpPr>
          <p:cNvPr id="310" name="Rectangle"/>
          <p:cNvSpPr/>
          <p:nvPr/>
        </p:nvSpPr>
        <p:spPr>
          <a:xfrm>
            <a:off x="4422775" y="5483225"/>
            <a:ext cx="3473450" cy="603250"/>
          </a:xfrm>
          <a:prstGeom prst="roundRect">
            <a:avLst>
              <a:gd name="adj" fmla="val 12105"/>
            </a:avLst>
          </a:prstGeom>
          <a:noFill/>
          <a:ln w="9525">
            <a:solidFill>
              <a:srgbClr val="3B82F5">
                <a:alpha val="30000"/>
              </a:srgbClr>
            </a:solidFill>
            <a:miter lim="400000"/>
          </a:ln>
        </p:spPr>
        <p:txBody>
          <a:bodyPr/>
          <a:lstStyle/>
          <a:p>
            <a:endParaRPr lang="en-US" sz="1200"/>
          </a:p>
        </p:txBody>
      </p:sp>
      <p:sp>
        <p:nvSpPr>
          <p:cNvPr id="311" name="Rectangle"/>
          <p:cNvSpPr/>
          <p:nvPr/>
        </p:nvSpPr>
        <p:spPr>
          <a:xfrm>
            <a:off x="8001000" y="5480050"/>
            <a:ext cx="3479800" cy="609600"/>
          </a:xfrm>
          <a:prstGeom prst="roundRect">
            <a:avLst>
              <a:gd name="adj" fmla="val 12500"/>
            </a:avLst>
          </a:prstGeom>
          <a:noFill/>
          <a:ln>
            <a:noFill/>
          </a:ln>
          <a:extLst>
            <a:ext uri="{909E8E84-426E-40DD-AFC4-6F175D3DCCD1}">
              <a14:hiddenFill xmlns:a14="http://schemas.microsoft.com/office/drawing/2010/main">
                <a:solidFill>
                  <a:srgbClr val="1C2940">
                    <a:alpha val="70000"/>
                  </a:srgbClr>
                </a:solidFill>
              </a14:hiddenFill>
            </a:ext>
          </a:extLst>
        </p:spPr>
        <p:txBody>
          <a:bodyPr/>
          <a:lstStyle/>
          <a:p>
            <a:endParaRPr lang="en-US" sz="1200"/>
          </a:p>
        </p:txBody>
      </p:sp>
      <p:sp>
        <p:nvSpPr>
          <p:cNvPr id="313" name="TextBox"/>
          <p:cNvSpPr txBox="1"/>
          <p:nvPr/>
        </p:nvSpPr>
        <p:spPr>
          <a:xfrm>
            <a:off x="8124825" y="5588635"/>
            <a:ext cx="685800" cy="247015"/>
          </a:xfrm>
          <a:prstGeom prst="rect">
            <a:avLst/>
          </a:prstGeom>
          <a:noFill/>
          <a:ln>
            <a:noFill/>
          </a:ln>
        </p:spPr>
        <p:txBody>
          <a:bodyPr wrap="none" lIns="0" tIns="0" rIns="0" bIns="0" anchor="ctr" anchorCtr="0">
            <a:noAutofit/>
          </a:bodyPr>
          <a:lstStyle/>
          <a:p>
            <a:pPr lvl="0" algn="l">
              <a:buClrTx/>
              <a:buSzTx/>
              <a:buFontTx/>
            </a:pPr>
            <a:r>
              <a:rPr lang="en-US" altLang="zh-CN" sz="1200">
                <a:latin typeface="Arial" panose="020B0604020202020204" pitchFamily="34" charset="0"/>
                <a:ea typeface="黑体-简" panose="02000000000000000000" charset="-122"/>
                <a:cs typeface="Inter Bold"/>
                <a:sym typeface="+mn-ea"/>
              </a:rPr>
              <a:t>{{core_system_3}}</a:t>
            </a:r>
            <a:endParaRPr lang="en-US" altLang="zh-CN" sz="1200">
              <a:latin typeface="Arial" panose="020B0604020202020204" pitchFamily="34" charset="0"/>
              <a:ea typeface="黑体-简" panose="02000000000000000000" charset="-122"/>
              <a:cs typeface="Inter Bold"/>
              <a:sym typeface="+mn-ea"/>
            </a:endParaRPr>
          </a:p>
        </p:txBody>
      </p:sp>
      <p:sp>
        <p:nvSpPr>
          <p:cNvPr id="314" name="TextBox"/>
          <p:cNvSpPr txBox="1"/>
          <p:nvPr/>
        </p:nvSpPr>
        <p:spPr>
          <a:xfrm>
            <a:off x="9912350" y="5614670"/>
            <a:ext cx="256139" cy="171450"/>
          </a:xfrm>
          <a:prstGeom prst="rect">
            <a:avLst/>
          </a:prstGeom>
          <a:noFill/>
          <a:ln>
            <a:noFill/>
          </a:ln>
        </p:spPr>
        <p:txBody>
          <a:bodyPr wrap="none" lIns="0" tIns="0" rIns="0" bIns="0"/>
          <a:lstStyle/>
          <a:p>
            <a:pPr algn="r"/>
            <a:r>
              <a:rPr lang="en-US" sz="1100">
                <a:solidFill>
                  <a:srgbClr val="3B82F6"/>
                </a:solidFill>
                <a:latin typeface="Arial" panose="020B0604020202020204" pitchFamily="34" charset="0"/>
                <a:ea typeface="黑体-简" panose="02000000000000000000" charset="-122"/>
                <a:cs typeface="Inter Bold"/>
              </a:rPr>
              <a:t>{{</a:t>
            </a:r>
            <a:r>
              <a:rPr sz="1100">
                <a:solidFill>
                  <a:srgbClr val="3B82F6"/>
                </a:solidFill>
                <a:latin typeface="Arial" panose="020B0604020202020204" pitchFamily="34" charset="0"/>
                <a:ea typeface="黑体-简" panose="02000000000000000000" charset="-122"/>
                <a:cs typeface="Inter Bold"/>
              </a:rPr>
              <a:t>system3_related_vuln_and_event</a:t>
            </a:r>
            <a:r>
              <a:rPr lang="en-US" sz="1100">
                <a:solidFill>
                  <a:srgbClr val="3B82F6"/>
                </a:solidFill>
                <a:latin typeface="Arial" panose="020B0604020202020204" pitchFamily="34" charset="0"/>
                <a:ea typeface="黑体-简" panose="02000000000000000000" charset="-122"/>
                <a:cs typeface="Inter Bold"/>
              </a:rPr>
              <a:t>}}</a:t>
            </a:r>
            <a:endParaRPr lang="en-US" sz="1100">
              <a:solidFill>
                <a:srgbClr val="3B82F6"/>
              </a:solidFill>
              <a:latin typeface="Arial" panose="020B0604020202020204" pitchFamily="34" charset="0"/>
              <a:ea typeface="黑体-简" panose="02000000000000000000" charset="-122"/>
              <a:cs typeface="Inter Bold"/>
            </a:endParaRPr>
          </a:p>
        </p:txBody>
      </p:sp>
      <p:sp>
        <p:nvSpPr>
          <p:cNvPr id="315" name="TextBox"/>
          <p:cNvSpPr txBox="1"/>
          <p:nvPr/>
        </p:nvSpPr>
        <p:spPr>
          <a:xfrm>
            <a:off x="10236200" y="5626100"/>
            <a:ext cx="165100" cy="101600"/>
          </a:xfrm>
          <a:prstGeom prst="rect">
            <a:avLst/>
          </a:prstGeom>
          <a:noFill/>
          <a:ln>
            <a:noFill/>
          </a:ln>
        </p:spPr>
        <p:txBody>
          <a:bodyPr wrap="none" lIns="0" tIns="0" rIns="0" bIns="0"/>
          <a:lstStyle/>
          <a:p>
            <a:r>
              <a:rPr lang="zh-CN" sz="650">
                <a:solidFill>
                  <a:srgbClr val="94A3B8"/>
                </a:solidFill>
                <a:latin typeface="Arial" panose="020B0604020202020204" pitchFamily="34" charset="0"/>
                <a:ea typeface="黑体-简" panose="02000000000000000000" charset="-122"/>
                <a:cs typeface="Inter"/>
              </a:rPr>
              <a:t>发现</a:t>
            </a:r>
            <a:endParaRPr lang="zh-CN" sz="650">
              <a:solidFill>
                <a:srgbClr val="94A3B8"/>
              </a:solidFill>
              <a:latin typeface="Arial" panose="020B0604020202020204" pitchFamily="34" charset="0"/>
              <a:ea typeface="黑体-简" panose="02000000000000000000" charset="-122"/>
              <a:cs typeface="Inter"/>
            </a:endParaRPr>
          </a:p>
        </p:txBody>
      </p:sp>
      <p:sp>
        <p:nvSpPr>
          <p:cNvPr id="316" name="TextBox"/>
          <p:cNvSpPr txBox="1"/>
          <p:nvPr/>
        </p:nvSpPr>
        <p:spPr>
          <a:xfrm>
            <a:off x="10464800" y="5622290"/>
            <a:ext cx="279195" cy="171450"/>
          </a:xfrm>
          <a:prstGeom prst="rect">
            <a:avLst/>
          </a:prstGeom>
          <a:noFill/>
          <a:ln>
            <a:noFill/>
          </a:ln>
        </p:spPr>
        <p:txBody>
          <a:bodyPr wrap="none" lIns="0" tIns="0" rIns="0" bIns="0"/>
          <a:lstStyle/>
          <a:p>
            <a:pPr algn="r"/>
            <a:r>
              <a:rPr lang="en-US" sz="1100">
                <a:solidFill>
                  <a:srgbClr val="10B981"/>
                </a:solidFill>
                <a:latin typeface="Arial" panose="020B0604020202020204" pitchFamily="34" charset="0"/>
                <a:ea typeface="黑体-简" panose="02000000000000000000" charset="-122"/>
                <a:cs typeface="Inter Bold"/>
              </a:rPr>
              <a:t>{{</a:t>
            </a:r>
            <a:r>
              <a:rPr sz="1100">
                <a:solidFill>
                  <a:srgbClr val="10B981"/>
                </a:solidFill>
                <a:latin typeface="Arial" panose="020B0604020202020204" pitchFamily="34" charset="0"/>
                <a:ea typeface="黑体-简" panose="02000000000000000000" charset="-122"/>
                <a:cs typeface="Inter Bold"/>
              </a:rPr>
              <a:t>system3_handled_vuln_and_event</a:t>
            </a:r>
            <a:r>
              <a:rPr lang="en-US" sz="1100">
                <a:solidFill>
                  <a:srgbClr val="10B981"/>
                </a:solidFill>
                <a:latin typeface="Arial" panose="020B0604020202020204" pitchFamily="34" charset="0"/>
                <a:ea typeface="黑体-简" panose="02000000000000000000" charset="-122"/>
                <a:cs typeface="Inter Bold"/>
              </a:rPr>
              <a:t>}}</a:t>
            </a:r>
            <a:endParaRPr lang="en-US" sz="1100">
              <a:solidFill>
                <a:srgbClr val="10B981"/>
              </a:solidFill>
              <a:latin typeface="Arial" panose="020B0604020202020204" pitchFamily="34" charset="0"/>
              <a:ea typeface="黑体-简" panose="02000000000000000000" charset="-122"/>
              <a:cs typeface="Inter Bold"/>
            </a:endParaRPr>
          </a:p>
        </p:txBody>
      </p:sp>
      <p:sp>
        <p:nvSpPr>
          <p:cNvPr id="317" name="TextBox"/>
          <p:cNvSpPr txBox="1"/>
          <p:nvPr/>
        </p:nvSpPr>
        <p:spPr>
          <a:xfrm>
            <a:off x="10807700" y="5626100"/>
            <a:ext cx="165100" cy="101600"/>
          </a:xfrm>
          <a:prstGeom prst="rect">
            <a:avLst/>
          </a:prstGeom>
          <a:noFill/>
          <a:ln>
            <a:noFill/>
          </a:ln>
        </p:spPr>
        <p:txBody>
          <a:bodyPr wrap="none" lIns="0" tIns="0" rIns="0" bIns="0"/>
          <a:lstStyle/>
          <a:p>
            <a:r>
              <a:rPr lang="zh-CN" sz="650">
                <a:solidFill>
                  <a:srgbClr val="94A3B8"/>
                </a:solidFill>
                <a:latin typeface="Arial" panose="020B0604020202020204" pitchFamily="34" charset="0"/>
                <a:ea typeface="黑体-简" panose="02000000000000000000" charset="-122"/>
                <a:cs typeface="Inter"/>
              </a:rPr>
              <a:t>闭环</a:t>
            </a:r>
            <a:endParaRPr lang="zh-CN" sz="650">
              <a:solidFill>
                <a:srgbClr val="94A3B8"/>
              </a:solidFill>
              <a:latin typeface="Arial" panose="020B0604020202020204" pitchFamily="34" charset="0"/>
              <a:ea typeface="黑体-简" panose="02000000000000000000" charset="-122"/>
              <a:cs typeface="Inter"/>
            </a:endParaRPr>
          </a:p>
        </p:txBody>
      </p:sp>
      <p:sp>
        <p:nvSpPr>
          <p:cNvPr id="318" name="TextBox"/>
          <p:cNvSpPr txBox="1"/>
          <p:nvPr/>
        </p:nvSpPr>
        <p:spPr>
          <a:xfrm>
            <a:off x="11036300" y="5626100"/>
            <a:ext cx="328365" cy="120650"/>
          </a:xfrm>
          <a:prstGeom prst="rect">
            <a:avLst/>
          </a:prstGeom>
          <a:noFill/>
          <a:ln>
            <a:noFill/>
          </a:ln>
        </p:spPr>
        <p:txBody>
          <a:bodyPr wrap="none" lIns="0" tIns="0" rIns="0" bIns="0"/>
          <a:lstStyle/>
          <a:p>
            <a:pPr algn="r"/>
            <a:r>
              <a:rPr lang="en-US" sz="800">
                <a:solidFill>
                  <a:srgbClr val="34D399"/>
                </a:solidFill>
                <a:latin typeface="Arial" panose="020B0604020202020204" pitchFamily="34" charset="0"/>
                <a:ea typeface="黑体-简" panose="02000000000000000000" charset="-122"/>
                <a:cs typeface="Inter Bold"/>
              </a:rPr>
              <a:t>{{</a:t>
            </a:r>
            <a:r>
              <a:rPr sz="800">
                <a:solidFill>
                  <a:srgbClr val="34D399"/>
                </a:solidFill>
                <a:latin typeface="Arial" panose="020B0604020202020204" pitchFamily="34" charset="0"/>
                <a:ea typeface="黑体-简" panose="02000000000000000000" charset="-122"/>
                <a:cs typeface="Inter Bold"/>
              </a:rPr>
              <a:t>system3_handled_vuln_ratio</a:t>
            </a:r>
            <a:r>
              <a:rPr lang="en-US" sz="800">
                <a:solidFill>
                  <a:srgbClr val="34D399"/>
                </a:solidFill>
                <a:latin typeface="Arial" panose="020B0604020202020204" pitchFamily="34" charset="0"/>
                <a:ea typeface="黑体-简" panose="02000000000000000000" charset="-122"/>
                <a:cs typeface="Inter Bold"/>
              </a:rPr>
              <a:t>}}</a:t>
            </a:r>
            <a:endParaRPr lang="en-US" sz="800">
              <a:solidFill>
                <a:srgbClr val="34D399"/>
              </a:solidFill>
              <a:latin typeface="Arial" panose="020B0604020202020204" pitchFamily="34" charset="0"/>
              <a:ea typeface="黑体-简" panose="02000000000000000000" charset="-122"/>
              <a:cs typeface="Inter Bold"/>
            </a:endParaRPr>
          </a:p>
        </p:txBody>
      </p:sp>
      <p:sp>
        <p:nvSpPr>
          <p:cNvPr id="319" name="Rectangle"/>
          <p:cNvSpPr/>
          <p:nvPr/>
        </p:nvSpPr>
        <p:spPr>
          <a:xfrm>
            <a:off x="8115300" y="5911850"/>
            <a:ext cx="3251200" cy="76200"/>
          </a:xfrm>
          <a:prstGeom prst="roundRect">
            <a:avLst>
              <a:gd name="adj" fmla="val 50000"/>
            </a:avLst>
          </a:prstGeom>
          <a:solidFill>
            <a:srgbClr val="3B82F5">
              <a:alpha val="18000"/>
            </a:srgbClr>
          </a:solidFill>
          <a:ln>
            <a:noFill/>
          </a:ln>
        </p:spPr>
        <p:txBody>
          <a:bodyPr/>
          <a:lstStyle/>
          <a:p>
            <a:endParaRPr lang="en-US" sz="1200"/>
          </a:p>
        </p:txBody>
      </p:sp>
      <p:sp>
        <p:nvSpPr>
          <p:cNvPr id="320" name="Rectangle"/>
          <p:cNvSpPr/>
          <p:nvPr/>
        </p:nvSpPr>
        <p:spPr>
          <a:xfrm>
            <a:off x="8115300" y="5911850"/>
            <a:ext cx="2743200" cy="76200"/>
          </a:xfrm>
          <a:prstGeom prst="roundRect">
            <a:avLst>
              <a:gd name="adj" fmla="val 50000"/>
            </a:avLst>
          </a:prstGeom>
          <a:solidFill>
            <a:srgbClr val="0FBA82">
              <a:alpha val="90000"/>
            </a:srgbClr>
          </a:solidFill>
          <a:ln>
            <a:noFill/>
          </a:ln>
        </p:spPr>
        <p:txBody>
          <a:bodyPr/>
          <a:lstStyle/>
          <a:p>
            <a:endParaRPr lang="en-US" sz="1200"/>
          </a:p>
        </p:txBody>
      </p:sp>
      <p:sp>
        <p:nvSpPr>
          <p:cNvPr id="321" name="Rectangle"/>
          <p:cNvSpPr/>
          <p:nvPr/>
        </p:nvSpPr>
        <p:spPr>
          <a:xfrm>
            <a:off x="8004175" y="5483225"/>
            <a:ext cx="3473450" cy="603250"/>
          </a:xfrm>
          <a:prstGeom prst="roundRect">
            <a:avLst>
              <a:gd name="adj" fmla="val 12105"/>
            </a:avLst>
          </a:prstGeom>
          <a:noFill/>
          <a:ln w="9525">
            <a:solidFill>
              <a:srgbClr val="3B82F5">
                <a:alpha val="30000"/>
              </a:srgbClr>
            </a:solidFill>
            <a:miter lim="400000"/>
          </a:ln>
        </p:spPr>
        <p:txBody>
          <a:bodyPr/>
          <a:lstStyle/>
          <a:p>
            <a:endParaRPr lang="en-US" sz="1200"/>
          </a:p>
        </p:txBody>
      </p:sp>
      <p:sp>
        <p:nvSpPr>
          <p:cNvPr id="322" name="Rectangle"/>
          <p:cNvSpPr/>
          <p:nvPr/>
        </p:nvSpPr>
        <p:spPr>
          <a:xfrm>
            <a:off x="639763" y="5014913"/>
            <a:ext cx="11039475" cy="1450975"/>
          </a:xfrm>
          <a:prstGeom prst="roundRect">
            <a:avLst>
              <a:gd name="adj" fmla="val 8424"/>
            </a:avLst>
          </a:prstGeom>
          <a:noFill/>
          <a:ln w="14288">
            <a:solidFill>
              <a:srgbClr val="8C5CF5">
                <a:alpha val="40000"/>
              </a:srgbClr>
            </a:solidFill>
            <a:miter lim="400000"/>
          </a:ln>
        </p:spPr>
        <p:txBody>
          <a:bodyPr/>
          <a:lstStyle/>
          <a:p>
            <a:endParaRPr lang="en-US" sz="1200"/>
          </a:p>
        </p:txBody>
      </p:sp>
      <p:sp>
        <p:nvSpPr>
          <p:cNvPr id="323" name="TextBox"/>
          <p:cNvSpPr txBox="1"/>
          <p:nvPr/>
        </p:nvSpPr>
        <p:spPr>
          <a:xfrm>
            <a:off x="4458970" y="2514600"/>
            <a:ext cx="1080000" cy="360000"/>
          </a:xfrm>
          <a:prstGeom prst="rect">
            <a:avLst/>
          </a:prstGeom>
          <a:noFill/>
          <a:ln>
            <a:noFill/>
          </a:ln>
        </p:spPr>
        <p:txBody>
          <a:bodyPr wrap="none" lIns="0" tIns="0" rIns="0" bIns="0">
            <a:noAutofit/>
          </a:bodyPr>
          <a:lstStyle/>
          <a:p>
            <a:pPr lvl="0" algn="r">
              <a:buClrTx/>
              <a:buSzTx/>
              <a:buFontTx/>
            </a:pPr>
            <a:r>
              <a:rPr sz="2200">
                <a:solidFill>
                  <a:srgbClr val="3B82F6"/>
                </a:solidFill>
                <a:latin typeface="Arial" panose="020B0604020202020204" pitchFamily="34" charset="0"/>
                <a:ea typeface="黑体-简" panose="02000000000000000000" charset="-122"/>
                <a:cs typeface="Inter Bold"/>
                <a:sym typeface="+mn-ea"/>
              </a:rPr>
              <a:t>{{high_risk_vuln_distinct_asset_count}}</a:t>
            </a:r>
            <a:endParaRPr sz="2200">
              <a:solidFill>
                <a:srgbClr val="3B82F6"/>
              </a:solidFill>
              <a:latin typeface="Arial" panose="020B0604020202020204" pitchFamily="34" charset="0"/>
              <a:ea typeface="黑体-简" panose="02000000000000000000" charset="-122"/>
              <a:cs typeface="Inter Bold"/>
              <a:sym typeface="+mn-ea"/>
            </a:endParaRPr>
          </a:p>
        </p:txBody>
      </p:sp>
      <p:sp>
        <p:nvSpPr>
          <p:cNvPr id="324" name="TextBox"/>
          <p:cNvSpPr txBox="1"/>
          <p:nvPr/>
        </p:nvSpPr>
        <p:spPr>
          <a:xfrm>
            <a:off x="5523230" y="2527300"/>
            <a:ext cx="342900" cy="139700"/>
          </a:xfrm>
          <a:prstGeom prst="rect">
            <a:avLst/>
          </a:prstGeom>
          <a:noFill/>
          <a:ln>
            <a:noFill/>
          </a:ln>
        </p:spPr>
        <p:txBody>
          <a:bodyPr wrap="none" lIns="0" tIns="0" rIns="0" bIns="0"/>
          <a:lstStyle/>
          <a:p>
            <a:pPr algn="l"/>
            <a:r>
              <a:rPr lang="zh-CN" sz="900">
                <a:solidFill>
                  <a:schemeClr val="tx1"/>
                </a:solidFill>
                <a:latin typeface="Arial" panose="020B0604020202020204" pitchFamily="34" charset="0"/>
                <a:ea typeface="黑体-简" panose="02000000000000000000" charset="-122"/>
                <a:cs typeface="Inter"/>
              </a:rPr>
              <a:t>个资产</a:t>
            </a:r>
            <a:endParaRPr lang="zh-CN" sz="900">
              <a:solidFill>
                <a:schemeClr val="tx1"/>
              </a:solidFill>
              <a:latin typeface="Arial" panose="020B0604020202020204" pitchFamily="34" charset="0"/>
              <a:ea typeface="黑体-简" panose="02000000000000000000" charset="-122"/>
              <a:cs typeface="Inter"/>
            </a:endParaRPr>
          </a:p>
        </p:txBody>
      </p:sp>
      <p:sp>
        <p:nvSpPr>
          <p:cNvPr id="325" name="TextBox"/>
          <p:cNvSpPr txBox="1"/>
          <p:nvPr/>
        </p:nvSpPr>
        <p:spPr>
          <a:xfrm>
            <a:off x="3159125" y="4254500"/>
            <a:ext cx="1155065" cy="336550"/>
          </a:xfrm>
          <a:prstGeom prst="rect">
            <a:avLst/>
          </a:prstGeom>
          <a:noFill/>
          <a:ln>
            <a:noFill/>
          </a:ln>
        </p:spPr>
        <p:txBody>
          <a:bodyPr wrap="none" lIns="0" tIns="0" rIns="0" bIns="0">
            <a:noAutofit/>
          </a:bodyPr>
          <a:lstStyle/>
          <a:p>
            <a:pPr lvl="0" algn="r">
              <a:buClrTx/>
              <a:buSzTx/>
              <a:buFontTx/>
            </a:pPr>
            <a:r>
              <a:rPr sz="2200">
                <a:solidFill>
                  <a:srgbClr val="A855F7"/>
                </a:solidFill>
                <a:latin typeface="Arial" panose="020B0604020202020204" pitchFamily="34" charset="0"/>
                <a:ea typeface="黑体-简" panose="02000000000000000000" charset="-122"/>
                <a:cs typeface="Inter Bold"/>
                <a:sym typeface="+mn-ea"/>
              </a:rPr>
              <a:t>{{unpublished_threat_event_count}}</a:t>
            </a:r>
            <a:endParaRPr sz="2200">
              <a:solidFill>
                <a:srgbClr val="A855F7"/>
              </a:solidFill>
              <a:latin typeface="Arial" panose="020B0604020202020204" pitchFamily="34" charset="0"/>
              <a:ea typeface="黑体-简" panose="02000000000000000000" charset="-122"/>
              <a:cs typeface="Inter Bold"/>
              <a:sym typeface="+mn-ea"/>
            </a:endParaRPr>
          </a:p>
        </p:txBody>
      </p:sp>
      <p:sp>
        <p:nvSpPr>
          <p:cNvPr id="326" name="TextBox"/>
          <p:cNvSpPr txBox="1"/>
          <p:nvPr/>
        </p:nvSpPr>
        <p:spPr>
          <a:xfrm>
            <a:off x="4322445" y="4254500"/>
            <a:ext cx="114300" cy="139700"/>
          </a:xfrm>
          <a:prstGeom prst="rect">
            <a:avLst/>
          </a:prstGeom>
          <a:noFill/>
          <a:ln>
            <a:noFill/>
          </a:ln>
        </p:spPr>
        <p:txBody>
          <a:bodyPr wrap="none" lIns="0" tIns="0" rIns="0" bIns="0"/>
          <a:lstStyle/>
          <a:p>
            <a:r>
              <a:rPr lang="zh-CN" sz="900">
                <a:solidFill>
                  <a:schemeClr val="tx1"/>
                </a:solidFill>
                <a:latin typeface="Arial" panose="020B0604020202020204" pitchFamily="34" charset="0"/>
                <a:ea typeface="黑体-简" panose="02000000000000000000" charset="-122"/>
                <a:cs typeface="Inter"/>
              </a:rPr>
              <a:t>条</a:t>
            </a:r>
            <a:endParaRPr lang="zh-CN" sz="900">
              <a:solidFill>
                <a:schemeClr val="tx1"/>
              </a:solidFill>
              <a:latin typeface="Arial" panose="020B0604020202020204" pitchFamily="34" charset="0"/>
              <a:ea typeface="黑体-简" panose="02000000000000000000" charset="-122"/>
              <a:cs typeface="Inter"/>
            </a:endParaRPr>
          </a:p>
        </p:txBody>
      </p:sp>
      <p:sp>
        <p:nvSpPr>
          <p:cNvPr id="327" name="TextBox"/>
          <p:cNvSpPr txBox="1"/>
          <p:nvPr/>
        </p:nvSpPr>
        <p:spPr>
          <a:xfrm>
            <a:off x="4458970" y="3365500"/>
            <a:ext cx="1080000" cy="360000"/>
          </a:xfrm>
          <a:prstGeom prst="rect">
            <a:avLst/>
          </a:prstGeom>
          <a:noFill/>
          <a:ln>
            <a:noFill/>
          </a:ln>
        </p:spPr>
        <p:txBody>
          <a:bodyPr wrap="none" lIns="0" tIns="0" rIns="0" bIns="0">
            <a:noAutofit/>
          </a:bodyPr>
          <a:lstStyle/>
          <a:p>
            <a:pPr lvl="0" algn="r">
              <a:buClrTx/>
              <a:buSzTx/>
              <a:buFontTx/>
            </a:pPr>
            <a:r>
              <a:rPr sz="2200">
                <a:solidFill>
                  <a:srgbClr val="F59E0B"/>
                </a:solidFill>
                <a:latin typeface="Arial" panose="020B0604020202020204" pitchFamily="34" charset="0"/>
                <a:ea typeface="黑体-简" panose="02000000000000000000" charset="-122"/>
                <a:cs typeface="Inter Bold"/>
                <a:sym typeface="+mn-ea"/>
              </a:rPr>
              <a:t>{{admin_weak_password_distinct_asset_count}}</a:t>
            </a:r>
            <a:endParaRPr sz="2200">
              <a:solidFill>
                <a:srgbClr val="F59E0B"/>
              </a:solidFill>
              <a:latin typeface="Arial" panose="020B0604020202020204" pitchFamily="34" charset="0"/>
              <a:ea typeface="黑体-简" panose="02000000000000000000" charset="-122"/>
              <a:cs typeface="Inter Bold"/>
              <a:sym typeface="+mn-ea"/>
            </a:endParaRPr>
          </a:p>
        </p:txBody>
      </p:sp>
      <p:sp>
        <p:nvSpPr>
          <p:cNvPr id="328" name="TextBox"/>
          <p:cNvSpPr txBox="1"/>
          <p:nvPr/>
        </p:nvSpPr>
        <p:spPr>
          <a:xfrm>
            <a:off x="5523230" y="3378200"/>
            <a:ext cx="342900" cy="139700"/>
          </a:xfrm>
          <a:prstGeom prst="rect">
            <a:avLst/>
          </a:prstGeom>
          <a:noFill/>
          <a:ln>
            <a:noFill/>
          </a:ln>
        </p:spPr>
        <p:txBody>
          <a:bodyPr wrap="none" lIns="0" tIns="0" rIns="0" bIns="0"/>
          <a:lstStyle/>
          <a:p>
            <a:pPr algn="l"/>
            <a:r>
              <a:rPr lang="zh-CN" sz="900">
                <a:solidFill>
                  <a:schemeClr val="tx1"/>
                </a:solidFill>
                <a:latin typeface="Arial" panose="020B0604020202020204" pitchFamily="34" charset="0"/>
                <a:ea typeface="黑体-简" panose="02000000000000000000" charset="-122"/>
                <a:cs typeface="Inter"/>
              </a:rPr>
              <a:t>个资产</a:t>
            </a:r>
            <a:endParaRPr lang="zh-CN" sz="900">
              <a:solidFill>
                <a:schemeClr val="tx1"/>
              </a:solidFill>
              <a:latin typeface="Arial" panose="020B0604020202020204" pitchFamily="34" charset="0"/>
              <a:ea typeface="黑体-简" panose="02000000000000000000" charset="-122"/>
              <a:cs typeface="Inter"/>
            </a:endParaRPr>
          </a:p>
        </p:txBody>
      </p:sp>
      <p:sp>
        <p:nvSpPr>
          <p:cNvPr id="329" name="TextBox"/>
          <p:cNvSpPr txBox="1"/>
          <p:nvPr/>
        </p:nvSpPr>
        <p:spPr>
          <a:xfrm>
            <a:off x="11145810" y="2574290"/>
            <a:ext cx="288000" cy="144000"/>
          </a:xfrm>
          <a:prstGeom prst="rect">
            <a:avLst/>
          </a:prstGeom>
          <a:noFill/>
          <a:ln>
            <a:noFill/>
          </a:ln>
        </p:spPr>
        <p:txBody>
          <a:bodyPr wrap="none" lIns="0" tIns="0" rIns="0" bIns="0" anchor="ctr" anchorCtr="0"/>
          <a:lstStyle/>
          <a:p>
            <a:pPr algn="l"/>
            <a:r>
              <a:rPr lang="zh-CN" altLang="en-US" sz="700">
                <a:solidFill>
                  <a:srgbClr val="34D399"/>
                </a:solidFill>
                <a:latin typeface="Inter"/>
                <a:ea typeface="Inter"/>
                <a:cs typeface="Inter"/>
              </a:rPr>
              <a:t>已</a:t>
            </a:r>
            <a:r>
              <a:rPr lang="zh-CN" altLang="en-US" sz="700">
                <a:solidFill>
                  <a:srgbClr val="34D399"/>
                </a:solidFill>
                <a:latin typeface="Inter"/>
                <a:ea typeface="Inter"/>
                <a:cs typeface="Inter"/>
              </a:rPr>
              <a:t>修复</a:t>
            </a:r>
            <a:endParaRPr lang="zh-CN" altLang="en-US" sz="700">
              <a:solidFill>
                <a:srgbClr val="34D399"/>
              </a:solidFill>
              <a:latin typeface="Inter"/>
              <a:ea typeface="Inter"/>
              <a:cs typeface="Inter"/>
            </a:endParaRPr>
          </a:p>
        </p:txBody>
      </p:sp>
      <p:sp>
        <p:nvSpPr>
          <p:cNvPr id="330" name="TextBox"/>
          <p:cNvSpPr txBox="1"/>
          <p:nvPr/>
        </p:nvSpPr>
        <p:spPr>
          <a:xfrm>
            <a:off x="10059035" y="2574290"/>
            <a:ext cx="1080000" cy="336550"/>
          </a:xfrm>
          <a:prstGeom prst="rect">
            <a:avLst/>
          </a:prstGeom>
          <a:noFill/>
          <a:ln>
            <a:noFill/>
          </a:ln>
        </p:spPr>
        <p:txBody>
          <a:bodyPr wrap="none" lIns="0" tIns="0" rIns="0" bIns="0"/>
          <a:lstStyle/>
          <a:p>
            <a:pPr algn="r"/>
            <a:r>
              <a:rPr sz="2200">
                <a:solidFill>
                  <a:srgbClr val="10B981"/>
                </a:solidFill>
                <a:latin typeface="Arial" panose="020B0604020202020204" pitchFamily="34" charset="0"/>
                <a:ea typeface="黑体-简" panose="02000000000000000000" charset="-122"/>
                <a:cs typeface="Inter Bold"/>
              </a:rPr>
              <a:t>{{fixed_vuln_count}}</a:t>
            </a:r>
            <a:endParaRPr sz="2200">
              <a:solidFill>
                <a:srgbClr val="10B981"/>
              </a:solidFill>
              <a:latin typeface="Arial" panose="020B0604020202020204" pitchFamily="34" charset="0"/>
              <a:ea typeface="黑体-简" panose="02000000000000000000" charset="-122"/>
              <a:cs typeface="Inter Bold"/>
            </a:endParaRPr>
          </a:p>
        </p:txBody>
      </p:sp>
      <p:sp>
        <p:nvSpPr>
          <p:cNvPr id="107" name="Shape 98"/>
          <p:cNvSpPr/>
          <p:nvPr/>
        </p:nvSpPr>
        <p:spPr>
          <a:xfrm>
            <a:off x="502920" y="930910"/>
            <a:ext cx="11192256" cy="475488"/>
          </a:xfrm>
          <a:prstGeom prst="roundRect">
            <a:avLst>
              <a:gd name="adj" fmla="val 15385"/>
            </a:avLst>
          </a:prstGeom>
          <a:solidFill>
            <a:srgbClr val="F4F8FD"/>
          </a:solidFill>
          <a:ln w="11430">
            <a:solidFill>
              <a:srgbClr val="BFD3F0"/>
            </a:solidFill>
            <a:prstDash val="solid"/>
          </a:ln>
          <a:effectLst>
            <a:outerShdw blurRad="88900" dist="25400" dir="8100000" algn="bl" rotWithShape="0">
              <a:srgbClr val="6B87B8">
                <a:alpha val="16000"/>
              </a:srgbClr>
            </a:outerShdw>
          </a:effectLst>
        </p:spPr>
      </p:sp>
      <p:sp>
        <p:nvSpPr>
          <p:cNvPr id="108" name="Shape 99"/>
          <p:cNvSpPr/>
          <p:nvPr/>
        </p:nvSpPr>
        <p:spPr>
          <a:xfrm>
            <a:off x="502920" y="930910"/>
            <a:ext cx="1783080" cy="475488"/>
          </a:xfrm>
          <a:prstGeom prst="rect">
            <a:avLst/>
          </a:prstGeom>
          <a:solidFill>
            <a:srgbClr val="1D4ED8"/>
          </a:solidFill>
        </p:spPr>
      </p:sp>
      <p:sp>
        <p:nvSpPr>
          <p:cNvPr id="109" name="Text 100"/>
          <p:cNvSpPr/>
          <p:nvPr/>
        </p:nvSpPr>
        <p:spPr>
          <a:xfrm>
            <a:off x="658368" y="930910"/>
            <a:ext cx="1554480" cy="475488"/>
          </a:xfrm>
          <a:prstGeom prst="rect">
            <a:avLst/>
          </a:prstGeom>
          <a:noFill/>
        </p:spPr>
        <p:txBody>
          <a:bodyPr wrap="square" lIns="0" tIns="0" rIns="0" bIns="0" rtlCol="0" anchor="ctr"/>
          <a:lstStyle/>
          <a:p>
            <a:pPr marL="0" indent="0">
              <a:buNone/>
            </a:pPr>
            <a:r>
              <a:rPr lang="zh-CN" altLang="en-US" sz="1400" dirty="0">
                <a:solidFill>
                  <a:schemeClr val="bg1"/>
                </a:solidFill>
                <a:latin typeface="Arial Black" panose="020B0A04020102020204" pitchFamily="34" charset="0"/>
                <a:ea typeface="微软雅黑" panose="020B0503020204020204" charset="-122"/>
              </a:rPr>
              <a:t>主动发现及时</a:t>
            </a:r>
            <a:r>
              <a:rPr lang="zh-CN" altLang="en-US" sz="1400" dirty="0">
                <a:solidFill>
                  <a:schemeClr val="bg1"/>
                </a:solidFill>
                <a:latin typeface="Arial Black" panose="020B0A04020102020204" pitchFamily="34" charset="0"/>
                <a:ea typeface="微软雅黑" panose="020B0503020204020204" charset="-122"/>
              </a:rPr>
              <a:t>闭环</a:t>
            </a:r>
            <a:endParaRPr lang="zh-CN" altLang="en-US" sz="1400" dirty="0">
              <a:solidFill>
                <a:schemeClr val="bg1"/>
              </a:solidFill>
              <a:latin typeface="Arial Black" panose="020B0A04020102020204" pitchFamily="34" charset="0"/>
              <a:ea typeface="微软雅黑" panose="020B0503020204020204" charset="-122"/>
            </a:endParaRPr>
          </a:p>
        </p:txBody>
      </p:sp>
      <p:sp>
        <p:nvSpPr>
          <p:cNvPr id="110" name="Shape 101"/>
          <p:cNvSpPr/>
          <p:nvPr/>
        </p:nvSpPr>
        <p:spPr>
          <a:xfrm>
            <a:off x="2286000" y="930910"/>
            <a:ext cx="13716" cy="475488"/>
          </a:xfrm>
          <a:prstGeom prst="rect">
            <a:avLst/>
          </a:prstGeom>
          <a:solidFill>
            <a:srgbClr val="BFD3F0"/>
          </a:solidFill>
        </p:spPr>
      </p:sp>
      <p:sp>
        <p:nvSpPr>
          <p:cNvPr id="23" name="Shape 102"/>
          <p:cNvSpPr/>
          <p:nvPr/>
        </p:nvSpPr>
        <p:spPr>
          <a:xfrm>
            <a:off x="2468880" y="1068070"/>
            <a:ext cx="146304" cy="146304"/>
          </a:xfrm>
          <a:prstGeom prst="ellipse">
            <a:avLst/>
          </a:prstGeom>
          <a:solidFill>
            <a:srgbClr val="10B981"/>
          </a:solidFill>
        </p:spPr>
      </p:sp>
      <p:sp>
        <p:nvSpPr>
          <p:cNvPr id="43" name="Text 103"/>
          <p:cNvSpPr/>
          <p:nvPr/>
        </p:nvSpPr>
        <p:spPr>
          <a:xfrm>
            <a:off x="2670048" y="976630"/>
            <a:ext cx="1536192" cy="402336"/>
          </a:xfrm>
          <a:prstGeom prst="rect">
            <a:avLst/>
          </a:prstGeom>
          <a:noFill/>
        </p:spPr>
        <p:txBody>
          <a:bodyPr wrap="square" lIns="0" tIns="0" rIns="0" bIns="0" rtlCol="0" anchor="ctr"/>
          <a:lstStyle/>
          <a:p>
            <a:pPr marL="0" indent="0">
              <a:lnSpc>
                <a:spcPct val="102000"/>
              </a:lnSpc>
              <a:buNone/>
            </a:pPr>
            <a:r>
              <a:rPr lang="zh-CN" altLang="en-US" sz="1000" b="1" dirty="0">
                <a:solidFill>
                  <a:srgbClr val="0F2A5C"/>
                </a:solidFill>
                <a:latin typeface="Arial Black" panose="020B0A04020102020204" pitchFamily="34" charset="0"/>
                <a:ea typeface="微软雅黑" panose="020B0503020204020204" charset="-122"/>
              </a:rPr>
              <a:t>定期扫描</a:t>
            </a:r>
            <a:endParaRPr lang="zh-CN" altLang="en-US" sz="1000" b="1" dirty="0">
              <a:solidFill>
                <a:srgbClr val="0F2A5C"/>
              </a:solidFill>
              <a:latin typeface="Arial Black" panose="020B0A04020102020204" pitchFamily="34" charset="0"/>
              <a:ea typeface="微软雅黑" panose="020B0503020204020204" charset="-122"/>
            </a:endParaRPr>
          </a:p>
          <a:p>
            <a:pPr marL="0" indent="0">
              <a:lnSpc>
                <a:spcPct val="102000"/>
              </a:lnSpc>
              <a:buNone/>
            </a:pPr>
            <a:r>
              <a:rPr lang="zh-CN" altLang="en-US" sz="850" dirty="0">
                <a:solidFill>
                  <a:srgbClr val="5A6B8C"/>
                </a:solidFill>
                <a:latin typeface="Arial Black" panose="020B0A04020102020204" pitchFamily="34" charset="0"/>
                <a:ea typeface="微软雅黑" panose="020B0503020204020204" charset="-122"/>
              </a:rPr>
              <a:t>发现</a:t>
            </a:r>
            <a:r>
              <a:rPr lang="zh-CN" altLang="en-US" sz="850" dirty="0">
                <a:solidFill>
                  <a:srgbClr val="5A6B8C"/>
                </a:solidFill>
                <a:latin typeface="Arial Black" panose="020B0A04020102020204" pitchFamily="34" charset="0"/>
                <a:ea typeface="微软雅黑" panose="020B0503020204020204" charset="-122"/>
              </a:rPr>
              <a:t>已知漏洞</a:t>
            </a:r>
            <a:endParaRPr lang="zh-CN" altLang="en-US" sz="850" dirty="0">
              <a:solidFill>
                <a:srgbClr val="5A6B8C"/>
              </a:solidFill>
              <a:latin typeface="Arial Black" panose="020B0A04020102020204" pitchFamily="34" charset="0"/>
              <a:ea typeface="微软雅黑" panose="020B0503020204020204" charset="-122"/>
            </a:endParaRPr>
          </a:p>
        </p:txBody>
      </p:sp>
      <p:sp>
        <p:nvSpPr>
          <p:cNvPr id="44" name="Shape 104"/>
          <p:cNvSpPr/>
          <p:nvPr/>
        </p:nvSpPr>
        <p:spPr>
          <a:xfrm>
            <a:off x="4297680" y="1068070"/>
            <a:ext cx="146304" cy="146304"/>
          </a:xfrm>
          <a:prstGeom prst="ellipse">
            <a:avLst/>
          </a:prstGeom>
          <a:solidFill>
            <a:srgbClr val="10B981"/>
          </a:solidFill>
        </p:spPr>
      </p:sp>
      <p:sp>
        <p:nvSpPr>
          <p:cNvPr id="82" name="Text 105"/>
          <p:cNvSpPr/>
          <p:nvPr/>
        </p:nvSpPr>
        <p:spPr>
          <a:xfrm>
            <a:off x="4498848" y="976630"/>
            <a:ext cx="1536192" cy="402336"/>
          </a:xfrm>
          <a:prstGeom prst="rect">
            <a:avLst/>
          </a:prstGeom>
          <a:noFill/>
        </p:spPr>
        <p:txBody>
          <a:bodyPr wrap="square" lIns="0" tIns="0" rIns="0" bIns="0" rtlCol="0" anchor="ctr"/>
          <a:lstStyle/>
          <a:p>
            <a:pPr marL="0" algn="l">
              <a:lnSpc>
                <a:spcPct val="102000"/>
              </a:lnSpc>
              <a:buClrTx/>
              <a:buSzTx/>
              <a:buFontTx/>
              <a:buNone/>
            </a:pPr>
            <a:r>
              <a:rPr lang="zh-CN" altLang="en-US" sz="1000" b="1" dirty="0">
                <a:solidFill>
                  <a:srgbClr val="0F2A5C"/>
                </a:solidFill>
                <a:latin typeface="Arial Black" panose="020B0A04020102020204" pitchFamily="34" charset="0"/>
                <a:ea typeface="微软雅黑" panose="020B0503020204020204" charset="-122"/>
              </a:rPr>
              <a:t>研判分析</a:t>
            </a:r>
            <a:endParaRPr lang="zh-CN" altLang="en-US" sz="1000" b="1" dirty="0">
              <a:solidFill>
                <a:srgbClr val="0F2A5C"/>
              </a:solidFill>
              <a:latin typeface="Arial Black" panose="020B0A04020102020204" pitchFamily="34" charset="0"/>
              <a:ea typeface="微软雅黑" panose="020B0503020204020204" charset="-122"/>
            </a:endParaRPr>
          </a:p>
          <a:p>
            <a:pPr marL="0" indent="0">
              <a:lnSpc>
                <a:spcPct val="102000"/>
              </a:lnSpc>
              <a:buNone/>
            </a:pPr>
            <a:r>
              <a:rPr lang="zh-CN" altLang="en-US" sz="850" dirty="0">
                <a:solidFill>
                  <a:srgbClr val="5A6B8C"/>
                </a:solidFill>
                <a:latin typeface="Arial Black" panose="020B0A04020102020204" pitchFamily="34" charset="0"/>
                <a:ea typeface="微软雅黑" panose="020B0503020204020204" charset="-122"/>
              </a:rPr>
              <a:t>定位高危可利用</a:t>
            </a:r>
            <a:r>
              <a:rPr lang="zh-CN" altLang="en-US" sz="850" dirty="0">
                <a:solidFill>
                  <a:srgbClr val="5A6B8C"/>
                </a:solidFill>
                <a:latin typeface="Arial Black" panose="020B0A04020102020204" pitchFamily="34" charset="0"/>
                <a:ea typeface="微软雅黑" panose="020B0503020204020204" charset="-122"/>
              </a:rPr>
              <a:t>漏洞</a:t>
            </a:r>
            <a:endParaRPr lang="zh-CN" altLang="en-US" sz="850" dirty="0">
              <a:solidFill>
                <a:srgbClr val="5A6B8C"/>
              </a:solidFill>
              <a:latin typeface="Arial Black" panose="020B0A04020102020204" pitchFamily="34" charset="0"/>
              <a:ea typeface="微软雅黑" panose="020B0503020204020204" charset="-122"/>
            </a:endParaRPr>
          </a:p>
        </p:txBody>
      </p:sp>
      <p:sp>
        <p:nvSpPr>
          <p:cNvPr id="83" name="Shape 106"/>
          <p:cNvSpPr/>
          <p:nvPr/>
        </p:nvSpPr>
        <p:spPr>
          <a:xfrm>
            <a:off x="6126480" y="1068070"/>
            <a:ext cx="146304" cy="146304"/>
          </a:xfrm>
          <a:prstGeom prst="ellipse">
            <a:avLst/>
          </a:prstGeom>
          <a:solidFill>
            <a:srgbClr val="10B981"/>
          </a:solidFill>
        </p:spPr>
      </p:sp>
      <p:sp>
        <p:nvSpPr>
          <p:cNvPr id="84" name="Text 107"/>
          <p:cNvSpPr/>
          <p:nvPr/>
        </p:nvSpPr>
        <p:spPr>
          <a:xfrm>
            <a:off x="6327648" y="976630"/>
            <a:ext cx="1536192" cy="402336"/>
          </a:xfrm>
          <a:prstGeom prst="rect">
            <a:avLst/>
          </a:prstGeom>
          <a:noFill/>
        </p:spPr>
        <p:txBody>
          <a:bodyPr wrap="square" lIns="0" tIns="0" rIns="0" bIns="0" rtlCol="0" anchor="ctr"/>
          <a:lstStyle/>
          <a:p>
            <a:pPr marL="0" algn="l">
              <a:lnSpc>
                <a:spcPct val="102000"/>
              </a:lnSpc>
              <a:buClrTx/>
              <a:buSzTx/>
              <a:buFontTx/>
              <a:buNone/>
            </a:pPr>
            <a:r>
              <a:rPr lang="zh-CN" altLang="en-US" sz="1000" b="1" dirty="0">
                <a:solidFill>
                  <a:srgbClr val="0F2A5C"/>
                </a:solidFill>
                <a:latin typeface="Arial Black" panose="020B0A04020102020204" pitchFamily="34" charset="0"/>
                <a:ea typeface="微软雅黑" panose="020B0503020204020204" charset="-122"/>
                <a:sym typeface="+mn-ea"/>
              </a:rPr>
              <a:t>流量监测识别</a:t>
            </a:r>
            <a:endParaRPr lang="zh-CN" altLang="en-US" sz="1000" b="1" dirty="0">
              <a:solidFill>
                <a:srgbClr val="0F2A5C"/>
              </a:solidFill>
              <a:latin typeface="Arial Black" panose="020B0A04020102020204" pitchFamily="34" charset="0"/>
              <a:ea typeface="微软雅黑" panose="020B0503020204020204" charset="-122"/>
            </a:endParaRPr>
          </a:p>
          <a:p>
            <a:pPr marL="0" indent="0">
              <a:lnSpc>
                <a:spcPct val="102000"/>
              </a:lnSpc>
              <a:buNone/>
            </a:pPr>
            <a:r>
              <a:rPr lang="zh-CN" altLang="en-US" sz="1000" dirty="0">
                <a:solidFill>
                  <a:srgbClr val="5A6B8C"/>
                </a:solidFill>
                <a:latin typeface="Arial Black" panose="020B0A04020102020204" pitchFamily="34" charset="0"/>
                <a:ea typeface="微软雅黑" panose="020B0503020204020204" charset="-122"/>
                <a:sym typeface="+mn-ea"/>
              </a:rPr>
              <a:t>弱口令</a:t>
            </a:r>
            <a:r>
              <a:rPr lang="en-US" altLang="zh-CN" sz="1000" dirty="0">
                <a:solidFill>
                  <a:srgbClr val="5A6B8C"/>
                </a:solidFill>
                <a:latin typeface="Arial Black" panose="020B0A04020102020204" pitchFamily="34" charset="0"/>
                <a:ea typeface="微软雅黑" panose="020B0503020204020204" charset="-122"/>
                <a:sym typeface="+mn-ea"/>
              </a:rPr>
              <a:t>+</a:t>
            </a:r>
            <a:r>
              <a:rPr lang="zh-CN" altLang="en-US" sz="1000" dirty="0">
                <a:solidFill>
                  <a:srgbClr val="5A6B8C"/>
                </a:solidFill>
                <a:latin typeface="Arial Black" panose="020B0A04020102020204" pitchFamily="34" charset="0"/>
                <a:ea typeface="微软雅黑" panose="020B0503020204020204" charset="-122"/>
                <a:sym typeface="+mn-ea"/>
              </a:rPr>
              <a:t>业务弱点</a:t>
            </a:r>
            <a:endParaRPr lang="en-US" sz="1000" dirty="0">
              <a:latin typeface="Arial Black" panose="020B0A04020102020204" pitchFamily="34" charset="0"/>
              <a:ea typeface="微软雅黑" panose="020B0503020204020204" charset="-122"/>
            </a:endParaRPr>
          </a:p>
        </p:txBody>
      </p:sp>
      <p:sp>
        <p:nvSpPr>
          <p:cNvPr id="85" name="Shape 108"/>
          <p:cNvSpPr/>
          <p:nvPr/>
        </p:nvSpPr>
        <p:spPr>
          <a:xfrm>
            <a:off x="7955280" y="1068070"/>
            <a:ext cx="146304" cy="146304"/>
          </a:xfrm>
          <a:prstGeom prst="ellipse">
            <a:avLst/>
          </a:prstGeom>
          <a:solidFill>
            <a:srgbClr val="10B981"/>
          </a:solidFill>
        </p:spPr>
      </p:sp>
      <p:sp>
        <p:nvSpPr>
          <p:cNvPr id="86" name="Text 109"/>
          <p:cNvSpPr/>
          <p:nvPr/>
        </p:nvSpPr>
        <p:spPr>
          <a:xfrm>
            <a:off x="8156448" y="976630"/>
            <a:ext cx="1536192" cy="402336"/>
          </a:xfrm>
          <a:prstGeom prst="rect">
            <a:avLst/>
          </a:prstGeom>
          <a:noFill/>
        </p:spPr>
        <p:txBody>
          <a:bodyPr wrap="square" lIns="0" tIns="0" rIns="0" bIns="0" rtlCol="0" anchor="ctr"/>
          <a:lstStyle/>
          <a:p>
            <a:pPr marL="0" indent="0">
              <a:lnSpc>
                <a:spcPct val="102000"/>
              </a:lnSpc>
              <a:buNone/>
            </a:pPr>
            <a:r>
              <a:rPr lang="zh-CN" altLang="en-US" sz="1000" b="1" dirty="0">
                <a:solidFill>
                  <a:srgbClr val="0F2A5C"/>
                </a:solidFill>
                <a:latin typeface="Arial Black" panose="020B0A04020102020204" pitchFamily="34" charset="0"/>
                <a:ea typeface="微软雅黑" panose="020B0503020204020204" charset="-122"/>
              </a:rPr>
              <a:t>最新漏洞情报</a:t>
            </a:r>
            <a:endParaRPr lang="zh-CN" altLang="en-US" sz="1000" b="1" dirty="0">
              <a:solidFill>
                <a:srgbClr val="0F2A5C"/>
              </a:solidFill>
              <a:latin typeface="Arial Black" panose="020B0A04020102020204" pitchFamily="34" charset="0"/>
              <a:ea typeface="微软雅黑" panose="020B0503020204020204" charset="-122"/>
            </a:endParaRPr>
          </a:p>
          <a:p>
            <a:pPr marL="0" indent="0">
              <a:lnSpc>
                <a:spcPct val="102000"/>
              </a:lnSpc>
              <a:buNone/>
            </a:pPr>
            <a:r>
              <a:rPr lang="zh-CN" altLang="en-US" sz="850" dirty="0">
                <a:solidFill>
                  <a:srgbClr val="5A6B8C"/>
                </a:solidFill>
                <a:latin typeface="Arial Black" panose="020B0A04020102020204" pitchFamily="34" charset="0"/>
                <a:ea typeface="微软雅黑" panose="020B0503020204020204" charset="-122"/>
              </a:rPr>
              <a:t>快速排查受影响</a:t>
            </a:r>
            <a:r>
              <a:rPr lang="zh-CN" altLang="en-US" sz="850" dirty="0">
                <a:solidFill>
                  <a:srgbClr val="5A6B8C"/>
                </a:solidFill>
                <a:latin typeface="Arial Black" panose="020B0A04020102020204" pitchFamily="34" charset="0"/>
                <a:ea typeface="微软雅黑" panose="020B0503020204020204" charset="-122"/>
              </a:rPr>
              <a:t>资产</a:t>
            </a:r>
            <a:endParaRPr lang="zh-CN" altLang="en-US" sz="850" dirty="0">
              <a:solidFill>
                <a:srgbClr val="5A6B8C"/>
              </a:solidFill>
              <a:latin typeface="Arial Black" panose="020B0A04020102020204" pitchFamily="34" charset="0"/>
              <a:ea typeface="微软雅黑" panose="020B0503020204020204" charset="-122"/>
            </a:endParaRPr>
          </a:p>
        </p:txBody>
      </p:sp>
      <p:sp>
        <p:nvSpPr>
          <p:cNvPr id="87" name="Shape 110"/>
          <p:cNvSpPr/>
          <p:nvPr/>
        </p:nvSpPr>
        <p:spPr>
          <a:xfrm>
            <a:off x="9784080" y="1068070"/>
            <a:ext cx="146304" cy="146304"/>
          </a:xfrm>
          <a:prstGeom prst="ellipse">
            <a:avLst/>
          </a:prstGeom>
          <a:solidFill>
            <a:srgbClr val="10B981"/>
          </a:solidFill>
        </p:spPr>
      </p:sp>
      <p:sp>
        <p:nvSpPr>
          <p:cNvPr id="88" name="Text 111"/>
          <p:cNvSpPr/>
          <p:nvPr/>
        </p:nvSpPr>
        <p:spPr>
          <a:xfrm>
            <a:off x="9985248" y="976630"/>
            <a:ext cx="1536192" cy="402336"/>
          </a:xfrm>
          <a:prstGeom prst="rect">
            <a:avLst/>
          </a:prstGeom>
          <a:noFill/>
        </p:spPr>
        <p:txBody>
          <a:bodyPr wrap="square" lIns="0" tIns="0" rIns="0" bIns="0" rtlCol="0" anchor="ctr"/>
          <a:lstStyle/>
          <a:p>
            <a:pPr marL="0" indent="0">
              <a:lnSpc>
                <a:spcPct val="102000"/>
              </a:lnSpc>
              <a:buNone/>
            </a:pPr>
            <a:r>
              <a:rPr lang="zh-CN" altLang="en-US" sz="1000" b="1" dirty="0">
                <a:solidFill>
                  <a:srgbClr val="0F2A5C"/>
                </a:solidFill>
                <a:latin typeface="Arial Black" panose="020B0A04020102020204" pitchFamily="34" charset="0"/>
                <a:ea typeface="微软雅黑" panose="020B0503020204020204" charset="-122"/>
              </a:rPr>
              <a:t>策略防护+业务加固</a:t>
            </a:r>
            <a:endParaRPr lang="zh-CN" altLang="en-US" sz="1000" b="1" dirty="0">
              <a:solidFill>
                <a:srgbClr val="0F2A5C"/>
              </a:solidFill>
              <a:latin typeface="Arial Black" panose="020B0A04020102020204" pitchFamily="34" charset="0"/>
              <a:ea typeface="微软雅黑" panose="020B0503020204020204" charset="-122"/>
            </a:endParaRPr>
          </a:p>
          <a:p>
            <a:pPr marL="0" indent="0">
              <a:lnSpc>
                <a:spcPct val="102000"/>
              </a:lnSpc>
              <a:buNone/>
            </a:pPr>
            <a:r>
              <a:rPr lang="zh-CN" altLang="en-US" sz="850" dirty="0">
                <a:solidFill>
                  <a:srgbClr val="5A6B8C"/>
                </a:solidFill>
                <a:latin typeface="Arial Black" panose="020B0A04020102020204" pitchFamily="34" charset="0"/>
                <a:ea typeface="微软雅黑" panose="020B0503020204020204" charset="-122"/>
              </a:rPr>
              <a:t>协同消减</a:t>
            </a:r>
            <a:r>
              <a:rPr lang="zh-CN" altLang="en-US" sz="850" dirty="0">
                <a:solidFill>
                  <a:srgbClr val="5A6B8C"/>
                </a:solidFill>
                <a:latin typeface="Arial Black" panose="020B0A04020102020204" pitchFamily="34" charset="0"/>
                <a:ea typeface="微软雅黑" panose="020B0503020204020204" charset="-122"/>
              </a:rPr>
              <a:t>风险</a:t>
            </a:r>
            <a:endParaRPr lang="zh-CN" altLang="en-US" sz="850" dirty="0">
              <a:solidFill>
                <a:srgbClr val="5A6B8C"/>
              </a:solidFill>
              <a:latin typeface="Arial Black" panose="020B0A04020102020204" pitchFamily="34" charset="0"/>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24" name="组合 23"/>
          <p:cNvGrpSpPr/>
          <p:nvPr/>
        </p:nvGrpSpPr>
        <p:grpSpPr>
          <a:xfrm>
            <a:off x="224790" y="289878"/>
            <a:ext cx="4279900" cy="327025"/>
            <a:chOff x="533" y="646"/>
            <a:chExt cx="6740" cy="515"/>
          </a:xfrm>
        </p:grpSpPr>
        <p:grpSp>
          <p:nvGrpSpPr>
            <p:cNvPr id="25" name="组合 24"/>
            <p:cNvGrpSpPr/>
            <p:nvPr/>
          </p:nvGrpSpPr>
          <p:grpSpPr>
            <a:xfrm rot="0">
              <a:off x="533" y="672"/>
              <a:ext cx="582" cy="420"/>
              <a:chOff x="533" y="672"/>
              <a:chExt cx="582" cy="420"/>
            </a:xfrm>
          </p:grpSpPr>
          <p:sp>
            <p:nvSpPr>
              <p:cNvPr id="26"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27"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8"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保护业务</a:t>
              </a:r>
              <a:r>
                <a:rPr lang="zh-CN" alt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安全典型事例</a:t>
              </a:r>
              <a:endParaRPr lang="en-US" sz="1900">
                <a:latin typeface="Arial Black" panose="020B0A04020102020204" pitchFamily="34" charset="0"/>
                <a:ea typeface="微软雅黑" panose="020B0503020204020204" charset="-122"/>
              </a:endParaRPr>
            </a:p>
            <a:p>
              <a:pPr algn="l" rtl="0" eaLnBrk="0">
                <a:lnSpc>
                  <a:spcPct val="101000"/>
                </a:lnSpc>
              </a:pP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sp>
        <p:nvSpPr>
          <p:cNvPr id="29" name="textbox 158"/>
          <p:cNvSpPr/>
          <p:nvPr/>
        </p:nvSpPr>
        <p:spPr>
          <a:xfrm>
            <a:off x="3480435" y="306070"/>
            <a:ext cx="1430655" cy="267970"/>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风险预防</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sp>
        <p:nvSpPr>
          <p:cNvPr id="20" name="Text 1"/>
          <p:cNvSpPr/>
          <p:nvPr/>
        </p:nvSpPr>
        <p:spPr>
          <a:xfrm>
            <a:off x="428625" y="1155065"/>
            <a:ext cx="5760000" cy="576000"/>
          </a:xfrm>
          <a:prstGeom prst="rect">
            <a:avLst/>
          </a:prstGeom>
          <a:solidFill>
            <a:srgbClr val="E6514E"/>
          </a:solidFill>
        </p:spPr>
        <p:txBody>
          <a:bodyPr wrap="square" lIns="0" tIns="0" rIns="0" bIns="0" rtlCol="0" anchor="ctr"/>
          <a:lstStyle/>
          <a:p>
            <a:pPr marL="0" indent="0" algn="ctr">
              <a:buNone/>
            </a:pPr>
            <a:r>
              <a:rPr lang="zh-CN" altLang="en-US" sz="1400" dirty="0">
                <a:solidFill>
                  <a:srgbClr val="FFFFFF"/>
                </a:solidFill>
                <a:latin typeface="Heiti SC Light" panose="02000000000000000000" charset="-122"/>
                <a:ea typeface="Heiti SC Light" panose="02000000000000000000" charset="-122"/>
                <a:cs typeface="微软雅黑" panose="020B0503020204020204" pitchFamily="34" charset="-120"/>
              </a:rPr>
              <a:t>监控系统存在未授权访问</a:t>
            </a:r>
            <a:r>
              <a:rPr lang="zh-CN" altLang="en-US" sz="1400" dirty="0">
                <a:solidFill>
                  <a:srgbClr val="FFFFFF"/>
                </a:solidFill>
                <a:latin typeface="Heiti SC Light" panose="02000000000000000000" charset="-122"/>
                <a:ea typeface="Heiti SC Light" panose="02000000000000000000" charset="-122"/>
                <a:cs typeface="微软雅黑" panose="020B0503020204020204" pitchFamily="34" charset="-120"/>
              </a:rPr>
              <a:t>漏洞</a:t>
            </a:r>
            <a:endParaRPr lang="zh-CN" altLang="en-US" sz="1400" dirty="0">
              <a:solidFill>
                <a:srgbClr val="FFFFFF"/>
              </a:solidFill>
              <a:latin typeface="Heiti SC Light" panose="02000000000000000000" charset="-122"/>
              <a:ea typeface="Heiti SC Light" panose="02000000000000000000" charset="-122"/>
              <a:cs typeface="微软雅黑" panose="020B0503020204020204" pitchFamily="34" charset="-120"/>
            </a:endParaRPr>
          </a:p>
        </p:txBody>
      </p:sp>
      <p:sp>
        <p:nvSpPr>
          <p:cNvPr id="21" name="Text 2"/>
          <p:cNvSpPr/>
          <p:nvPr/>
        </p:nvSpPr>
        <p:spPr>
          <a:xfrm>
            <a:off x="428625" y="1731010"/>
            <a:ext cx="5760000" cy="4896000"/>
          </a:xfrm>
          <a:prstGeom prst="rect">
            <a:avLst/>
          </a:prstGeom>
          <a:solidFill>
            <a:srgbClr val="FDF1F1"/>
          </a:solidFill>
        </p:spPr>
        <p:txBody>
          <a:bodyPr wrap="square" lIns="283464" tIns="137160" rIns="283464" bIns="137160" rtlCol="0" anchor="t"/>
          <a:lstStyle/>
          <a:p>
            <a:pPr marL="0" indent="0">
              <a:lnSpc>
                <a:spcPts val="1600"/>
              </a:lnSpc>
              <a:buNone/>
            </a:pPr>
            <a:r>
              <a:rPr lang="zh-CN" altLang="en-US" sz="1200" b="1" dirty="0">
                <a:solidFill>
                  <a:srgbClr val="14161A"/>
                </a:solidFill>
                <a:latin typeface="Heiti SC Medium" panose="02000000000000000000" charset="-122"/>
                <a:ea typeface="Heiti SC Medium" panose="02000000000000000000" charset="-122"/>
                <a:cs typeface="Heiti SC Medium" panose="02000000000000000000" charset="-122"/>
              </a:rPr>
              <a:t>通过监测分析，识别出监控系统存在未授权访问漏洞，经验证攻击者可以利用此漏洞直接控制单位公共区域摄像头，窃取国家机密</a:t>
            </a:r>
            <a:r>
              <a:rPr lang="zh-CN" altLang="en-US" sz="1200" b="1" dirty="0">
                <a:solidFill>
                  <a:srgbClr val="14161A"/>
                </a:solidFill>
                <a:latin typeface="Heiti SC Medium" panose="02000000000000000000" charset="-122"/>
                <a:ea typeface="Heiti SC Medium" panose="02000000000000000000" charset="-122"/>
                <a:cs typeface="Heiti SC Medium" panose="02000000000000000000" charset="-122"/>
              </a:rPr>
              <a:t>信息。</a:t>
            </a:r>
            <a:r>
              <a:rPr lang="en-US" sz="1000" b="1" dirty="0">
                <a:solidFill>
                  <a:srgbClr val="14161A"/>
                </a:solidFill>
                <a:latin typeface="Heiti SC Light" panose="02000000000000000000" charset="-122"/>
                <a:ea typeface="Heiti SC Light" panose="02000000000000000000" charset="-122"/>
                <a:cs typeface="Heiti SC Light" panose="02000000000000000000" charset="-122"/>
              </a:rPr>
              <a:t>
</a:t>
            </a:r>
            <a:endParaRPr lang="en-US" sz="10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【发现时间】：</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2025-9-11 05:48</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影响资产</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en-US" sz="1200" dirty="0">
                <a:solidFill>
                  <a:srgbClr val="666666"/>
                </a:solidFill>
                <a:latin typeface="Heiti SC Light" panose="02000000000000000000" charset="-122"/>
                <a:ea typeface="Heiti SC Light" panose="02000000000000000000" charset="-122"/>
                <a:cs typeface="Heiti SC Light" panose="02000000000000000000" charset="-122"/>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XX.XX.XX.XX</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XX</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资产</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en-US" altLang="zh-CN" sz="12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风险危害</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：监控系统可被未经授权即可被访问，控制园区摄像头，窃取国家机密信息，一旦泄露将会导致组织面临国家安全部门处罚</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【影响范围</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：监控系统被控制，</a:t>
            </a:r>
            <a:r>
              <a:rPr lang="zh-CN" altLang="en-US" sz="1200" b="1" dirty="0">
                <a:latin typeface="Heiti SC Light" panose="02000000000000000000" charset="-122"/>
                <a:ea typeface="Heiti SC Light" panose="02000000000000000000" charset="-122"/>
                <a:cs typeface="Heiti SC Light" panose="02000000000000000000" charset="-122"/>
              </a:rPr>
              <a:t>敏感信息窃取</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sym typeface="+mn-ea"/>
              </a:rPr>
              <a:t>风险处置</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endParaRPr lang="en-US" sz="1200" dirty="0">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altLang="en-US" sz="1200" dirty="0">
                <a:solidFill>
                  <a:srgbClr val="14161A"/>
                </a:solidFill>
                <a:latin typeface="Heiti SC Light" panose="02000000000000000000" charset="-122"/>
                <a:ea typeface="Heiti SC Light" panose="02000000000000000000" charset="-122"/>
                <a:cs typeface="微软雅黑" panose="020B0503020204020204" pitchFamily="34" charset="-120"/>
                <a:sym typeface="+mn-ea"/>
              </a:rPr>
              <a:t>云端服务经理</a:t>
            </a:r>
            <a:r>
              <a:rPr lang="zh-CN" altLang="en-US" sz="1200" dirty="0">
                <a:solidFill>
                  <a:srgbClr val="666666"/>
                </a:solidFill>
                <a:latin typeface="Heiti SC Light" panose="02000000000000000000" charset="-122"/>
                <a:ea typeface="Heiti SC Light" panose="02000000000000000000" charset="-122"/>
                <a:cs typeface="Heiti SC Light" panose="02000000000000000000" charset="-122"/>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发现漏洞之后立即同步到服务群，并验证漏洞利用危害，提供漏洞防护和加固建议方案，通过边界防火墙</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设备；</a:t>
            </a:r>
            <a:endParaRPr lang="en-US" altLang="en-US" sz="1200" b="1"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「客户单位</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对接人姓名</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latin typeface="Heiti SC Light" panose="02000000000000000000" charset="-122"/>
                <a:ea typeface="Heiti SC Light" panose="02000000000000000000" charset="-122"/>
                <a:cs typeface="Heiti SC Light" panose="02000000000000000000" charset="-122"/>
                <a:sym typeface="+mn-ea"/>
              </a:rPr>
              <a:t>：创建漏洞通告工单，分发给业务负责人，同步督促业务方开展漏洞整改加固</a:t>
            </a:r>
            <a:r>
              <a:rPr lang="zh-CN" sz="1200" dirty="0">
                <a:latin typeface="Heiti SC Light" panose="02000000000000000000" charset="-122"/>
                <a:ea typeface="Heiti SC Light" panose="02000000000000000000" charset="-122"/>
                <a:cs typeface="Heiti SC Light" panose="02000000000000000000" charset="-122"/>
                <a:sym typeface="+mn-ea"/>
              </a:rPr>
              <a:t>；</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「线下驻场</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渠道工程师</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进行了攻击</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IP</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封堵、</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PC</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网络链接断开的初步遏制</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endParaRPr>
          </a:p>
        </p:txBody>
      </p:sp>
      <p:pic>
        <p:nvPicPr>
          <p:cNvPr id="22" name="Image 0" descr="/opt/sangfor/app/report-generation/soar/apps/report_generation/front/threat-management-report/static/images/quarterly-report/event-manage/finished.png"/>
          <p:cNvPicPr>
            <a:picLocks noChangeAspect="1"/>
          </p:cNvPicPr>
          <p:nvPr/>
        </p:nvPicPr>
        <p:blipFill>
          <a:blip r:embed="rId4"/>
          <a:stretch>
            <a:fillRect/>
          </a:stretch>
        </p:blipFill>
        <p:spPr>
          <a:xfrm>
            <a:off x="4544314" y="4698238"/>
            <a:ext cx="1088136" cy="877824"/>
          </a:xfrm>
          <a:prstGeom prst="rect">
            <a:avLst/>
          </a:prstGeom>
        </p:spPr>
      </p:pic>
      <p:graphicFrame>
        <p:nvGraphicFramePr>
          <p:cNvPr id="47" name="表格 46"/>
          <p:cNvGraphicFramePr/>
          <p:nvPr>
            <p:custDataLst>
              <p:tags r:id="rId5"/>
            </p:custDataLst>
          </p:nvPr>
        </p:nvGraphicFramePr>
        <p:xfrm>
          <a:off x="6257290" y="1155065"/>
          <a:ext cx="5535295" cy="5471795"/>
        </p:xfrm>
        <a:graphic>
          <a:graphicData uri="http://schemas.openxmlformats.org/drawingml/2006/table">
            <a:tbl>
              <a:tblPr firstRow="1" lastCol="1" bandCol="1">
                <a:tableStyleId>{0126E9F6-41A6-44B7-8387-491034A24550}</a:tableStyleId>
              </a:tblPr>
              <a:tblGrid>
                <a:gridCol w="883285"/>
                <a:gridCol w="4652010"/>
              </a:tblGrid>
              <a:tr h="85725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潜在损失维度</a:t>
                      </a:r>
                      <a:endParaRPr lang="zh-CN" altLang="en-US" sz="1200">
                        <a:solidFill>
                          <a:schemeClr val="tx1"/>
                        </a:solidFill>
                        <a:latin typeface="Heiti SC Light" panose="02000000000000000000" charset="-122"/>
                        <a:ea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5">
                        <a:lumMod val="60000"/>
                        <a:lumOff val="40000"/>
                      </a:schemeClr>
                    </a:solidFill>
                  </a:tcPr>
                </a:tc>
                <a:tc>
                  <a:txBody>
                    <a:bodyPr/>
                    <a:p>
                      <a:pPr algn="ctr">
                        <a:lnSpc>
                          <a:spcPct val="150000"/>
                        </a:lnSpc>
                        <a:buNone/>
                      </a:pPr>
                      <a:r>
                        <a:rPr lang="zh-CN" altLang="en-US" sz="1200">
                          <a:solidFill>
                            <a:schemeClr val="tx1"/>
                          </a:solidFill>
                          <a:latin typeface="Heiti SC Light" panose="02000000000000000000" charset="-122"/>
                          <a:ea typeface="Heiti SC Light" panose="02000000000000000000" charset="-122"/>
                          <a:sym typeface="+mn-ea"/>
                        </a:rPr>
                        <a:t>主机外联成功将被感染银狐木马</a:t>
                      </a:r>
                      <a:r>
                        <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，利用主机的即时通讯软件在单位内部执行诈骗，或以内部员工合法身份窃取内部</a:t>
                      </a:r>
                      <a:r>
                        <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敏感数据</a:t>
                      </a:r>
                      <a:endPar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3">
                        <a:lumMod val="20000"/>
                        <a:lumOff val="80000"/>
                      </a:schemeClr>
                    </a:solidFill>
                  </a:tcPr>
                </a:tc>
              </a:tr>
              <a:tr h="1301115">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潜在损失规避评估</a:t>
                      </a:r>
                      <a:endParaRPr lang="zh-CN" altLang="en-US" sz="1200">
                        <a:solidFill>
                          <a:schemeClr val="tx1"/>
                        </a:solidFill>
                        <a:latin typeface="Heiti SC Light" panose="02000000000000000000" charset="-122"/>
                        <a:ea typeface="Heiti SC Light" panose="02000000000000000000" charset="-122"/>
                      </a:endParaRPr>
                    </a:p>
                    <a:p>
                      <a:pPr algn="ctr">
                        <a:buNone/>
                      </a:pPr>
                      <a:r>
                        <a:rPr lang="zh-CN" altLang="en-US" sz="1200">
                          <a:solidFill>
                            <a:schemeClr val="tx1"/>
                          </a:solidFill>
                          <a:latin typeface="Heiti SC Light" panose="02000000000000000000" charset="-122"/>
                          <a:ea typeface="Heiti SC Light" panose="02000000000000000000" charset="-122"/>
                          <a:sym typeface="+mn-ea"/>
                        </a:rPr>
                        <a:t>（影响面）</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algn="ctr">
                        <a:lnSpc>
                          <a:spcPct val="150000"/>
                        </a:lnSpc>
                        <a:buNone/>
                      </a:pP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600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起银狐外联</a:t>
                      </a: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*2000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元</a:t>
                      </a:r>
                      <a:endParaRPr lang="zh-CN" altLang="en-US" sz="1200">
                        <a:solidFill>
                          <a:srgbClr val="FF0000"/>
                        </a:solidFill>
                        <a:latin typeface="Heiti SC Light" panose="02000000000000000000" charset="-122"/>
                        <a:ea typeface="Heiti SC Light" panose="02000000000000000000" charset="-122"/>
                        <a:cs typeface="Heiti SC Light" panose="02000000000000000000" charset="-122"/>
                      </a:endParaRPr>
                    </a:p>
                    <a:p>
                      <a:pPr algn="ctr">
                        <a:lnSpc>
                          <a:spcPct val="150000"/>
                        </a:lnSpc>
                        <a:buNone/>
                      </a:pP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≈120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万元</a:t>
                      </a:r>
                      <a:endParaRPr lang="zh-CN" altLang="en-US" sz="1200">
                        <a:solidFill>
                          <a:schemeClr val="tx1"/>
                        </a:solidFill>
                        <a:latin typeface="Heiti SC Light" panose="02000000000000000000" charset="-122"/>
                        <a:ea typeface="Heiti SC Light" panose="02000000000000000000" charset="-122"/>
                        <a:cs typeface="Heiti SC Light" panose="02000000000000000000" charset="-122"/>
                      </a:endParaRPr>
                    </a:p>
                    <a:p>
                      <a:pPr algn="ctr">
                        <a:lnSpc>
                          <a:spcPct val="150000"/>
                        </a:lnSpc>
                        <a:buSzTx/>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（基于深信服安全运营中心2025年统计，平均每起</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algn="ctr">
                        <a:lnSpc>
                          <a:spcPct val="150000"/>
                        </a:lnSpc>
                        <a:buSzTx/>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银狐木马攻击造成的个人损失约2000元；）</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r h="331343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实际案例损失情况</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indent="0" algn="l">
                        <a:lnSpc>
                          <a:spcPct val="150000"/>
                        </a:lnSpc>
                        <a:buClrTx/>
                        <a:buSzTx/>
                        <a:buFont typeface="+mj-lt"/>
                        <a:buNone/>
                      </a:pP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2024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年，上海某央企子公司单位，接收到国家安全部门通报，单位某处摄像头监控画面被泄露到外网，引起国家安全部门高度重视，对应企业相关人员连夜摸排，最终确认为下属单位部署的监控系统存在越权漏洞，被境外黑客利用，控制摄像头监控画面传输到外网，涉嫌泄露机密信息，经过大量的调查分析，摸排自监控系统上线以来的所有监控画面，确认没有拍到敏感信息画面，才得以平息</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事态。</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事件影响：该企业被国家安全部门严肃通告，未履行好企业信息安全保护基本职责，一旦被境外势力利用，单位负责人将涉嫌泄露国家机密信息、危害国家安全</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罪</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bl>
          </a:graphicData>
        </a:graphic>
      </p:graphicFrame>
      <p:sp>
        <p:nvSpPr>
          <p:cNvPr id="3" name="文本框 2"/>
          <p:cNvSpPr txBox="1"/>
          <p:nvPr/>
        </p:nvSpPr>
        <p:spPr>
          <a:xfrm>
            <a:off x="599440" y="682625"/>
            <a:ext cx="6096000" cy="229870"/>
          </a:xfrm>
          <a:prstGeom prst="rect">
            <a:avLst/>
          </a:prstGeom>
          <a:noFill/>
        </p:spPr>
        <p:txBody>
          <a:bodyPr wrap="square" rtlCol="0" anchor="t">
            <a:spAutoFit/>
          </a:bodyPr>
          <a:p>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TIPs</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选择跟保护核心业务相关，并且跟用户共同协作完成处置的典型风险</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预防样例</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endPar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a:solidFill>
                    <a:srgbClr val="262626"/>
                  </a:solidFill>
                  <a:latin typeface="Arial Black" panose="020B0A04020102020204" pitchFamily="34" charset="0"/>
                  <a:ea typeface="微软雅黑" panose="020B0503020204020204" charset="-122"/>
                  <a:cs typeface="Noto Sans SC"/>
                  <a:sym typeface="Noto Sans SC"/>
                </a:rPr>
                <a:t>降低被通报</a:t>
              </a:r>
              <a:r>
                <a:rPr lang="zh-CN" altLang="en-US" sz="1900" b="1">
                  <a:solidFill>
                    <a:srgbClr val="262626"/>
                  </a:solidFill>
                  <a:latin typeface="Arial Black" panose="020B0A04020102020204" pitchFamily="34" charset="0"/>
                  <a:ea typeface="微软雅黑" panose="020B0503020204020204" charset="-122"/>
                  <a:cs typeface="Noto Sans SC"/>
                  <a:sym typeface="Noto Sans SC"/>
                </a:rPr>
                <a:t>风险</a:t>
              </a: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693" name="圆角矩形 692"/>
          <p:cNvSpPr/>
          <p:nvPr>
            <p:custDataLst>
              <p:tags r:id="rId4"/>
            </p:custDataLst>
          </p:nvPr>
        </p:nvSpPr>
        <p:spPr>
          <a:xfrm>
            <a:off x="638923" y="1416050"/>
            <a:ext cx="11041672" cy="677537"/>
          </a:xfrm>
          <a:prstGeom prst="roundRect">
            <a:avLst/>
          </a:prstGeom>
          <a:solidFill>
            <a:schemeClr val="accent5">
              <a:lumMod val="40000"/>
              <a:lumOff val="60000"/>
            </a:schemeClr>
          </a:solidFill>
          <a:ln>
            <a:noFill/>
          </a:ln>
          <a:effectLst>
            <a:outerShdw blurRad="114300" dist="88900" dir="2700000" algn="tl"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lnSpc>
                <a:spcPct val="140000"/>
              </a:lnSpc>
            </a:pPr>
            <a:r>
              <a:rPr lang="zh-CN" altLang="en-US" sz="1400" b="1">
                <a:solidFill>
                  <a:schemeClr val="tx1"/>
                </a:solidFill>
                <a:uFillTx/>
                <a:latin typeface="Heiti SC Light" panose="02000000000000000000" charset="-122"/>
                <a:ea typeface="Heiti SC Light" panose="02000000000000000000" charset="-122"/>
                <a:cs typeface="Heiti SC Light" panose="02000000000000000000" charset="-122"/>
              </a:rPr>
              <a:t>通过持续的脆弱性风险管理和</a:t>
            </a:r>
            <a:r>
              <a:rPr lang="en-US" altLang="zh-CN" sz="1400" b="1">
                <a:solidFill>
                  <a:schemeClr val="tx1"/>
                </a:solidFill>
                <a:uFillTx/>
                <a:latin typeface="Heiti SC Light" panose="02000000000000000000" charset="-122"/>
                <a:ea typeface="Heiti SC Light" panose="02000000000000000000" charset="-122"/>
                <a:cs typeface="Heiti SC Light" panose="02000000000000000000" charset="-122"/>
              </a:rPr>
              <a:t>7*24H</a:t>
            </a:r>
            <a:r>
              <a:rPr lang="zh-CN" altLang="en-US" sz="1400" b="1">
                <a:solidFill>
                  <a:schemeClr val="tx1"/>
                </a:solidFill>
                <a:uFillTx/>
                <a:latin typeface="Heiti SC Light" panose="02000000000000000000" charset="-122"/>
                <a:ea typeface="Heiti SC Light" panose="02000000000000000000" charset="-122"/>
                <a:cs typeface="Heiti SC Light" panose="02000000000000000000" charset="-122"/>
              </a:rPr>
              <a:t>的威胁监测与遏制，发现并协助缓解了</a:t>
            </a:r>
            <a:r>
              <a:rPr lang="en-US" altLang="zh-CN" sz="1400" b="1">
                <a:solidFill>
                  <a:srgbClr val="4C61E7"/>
                </a:solidFill>
                <a:uFillTx/>
                <a:latin typeface="Heiti SC Light" panose="02000000000000000000" charset="-122"/>
                <a:ea typeface="Heiti SC Light" panose="02000000000000000000" charset="-122"/>
                <a:cs typeface="Heiti SC Light" panose="02000000000000000000" charset="-122"/>
              </a:rPr>
              <a:t>{{notified_risk_total}}</a:t>
            </a:r>
            <a:r>
              <a:rPr lang="zh-CN" altLang="en-US" sz="1400" b="1">
                <a:solidFill>
                  <a:schemeClr val="tx1"/>
                </a:solidFill>
                <a:uFillTx/>
                <a:latin typeface="Heiti SC Light" panose="02000000000000000000" charset="-122"/>
                <a:ea typeface="Heiti SC Light" panose="02000000000000000000" charset="-122"/>
                <a:cs typeface="Heiti SC Light" panose="02000000000000000000" charset="-122"/>
              </a:rPr>
              <a:t>潜在的被通报风险。通过快速溯源与闭环整改，结合专业书面回函高效应对了</a:t>
            </a:r>
            <a:r>
              <a:rPr lang="en-US" altLang="zh-CN" sz="1400" b="1" kern="0" dirty="0">
                <a:ln>
                  <a:noFill/>
                  <a:prstDash val="sysDot"/>
                </a:ln>
                <a:solidFill>
                  <a:srgbClr val="4C61E7"/>
                </a:solidFill>
                <a:latin typeface="Heiti SC Light" panose="02000000000000000000" charset="-122"/>
                <a:ea typeface="Heiti SC Light" panose="02000000000000000000" charset="-122"/>
                <a:cs typeface="Heiti SC Light" panose="02000000000000000000" charset="-122"/>
                <a:sym typeface="+mn-ea"/>
              </a:rPr>
              <a:t>{{current_report_cycle_notify_count}}</a:t>
            </a:r>
            <a:r>
              <a:rPr lang="zh-CN" altLang="en-US" sz="1400" b="1">
                <a:solidFill>
                  <a:schemeClr val="tx1"/>
                </a:solidFill>
                <a:uFillTx/>
                <a:latin typeface="Heiti SC Light" panose="02000000000000000000" charset="-122"/>
                <a:ea typeface="Heiti SC Light" panose="02000000000000000000" charset="-122"/>
                <a:cs typeface="Heiti SC Light" panose="02000000000000000000" charset="-122"/>
              </a:rPr>
              <a:t>，提升了单位面向监管机构和上级单位安全问题通报的响应</a:t>
            </a:r>
            <a:r>
              <a:rPr lang="zh-CN" altLang="en-US" sz="1400" b="1">
                <a:solidFill>
                  <a:schemeClr val="tx1"/>
                </a:solidFill>
                <a:uFillTx/>
                <a:latin typeface="Heiti SC Light" panose="02000000000000000000" charset="-122"/>
                <a:ea typeface="Heiti SC Light" panose="02000000000000000000" charset="-122"/>
                <a:cs typeface="Heiti SC Light" panose="02000000000000000000" charset="-122"/>
              </a:rPr>
              <a:t>效率。</a:t>
            </a:r>
            <a:endParaRPr lang="zh-CN" altLang="en-US" sz="1400" b="1">
              <a:solidFill>
                <a:schemeClr val="tx1"/>
              </a:solidFill>
              <a:uFillTx/>
              <a:latin typeface="Heiti SC Light" panose="02000000000000000000" charset="-122"/>
              <a:ea typeface="Heiti SC Light" panose="02000000000000000000" charset="-122"/>
              <a:cs typeface="Heiti SC Light" panose="02000000000000000000" charset="-122"/>
            </a:endParaRPr>
          </a:p>
        </p:txBody>
      </p:sp>
      <p:pic>
        <p:nvPicPr>
          <p:cNvPr id="696" name="图片 695" descr="盾牌"/>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rcRect/>
          <a:stretch>
            <a:fillRect/>
          </a:stretch>
        </p:blipFill>
        <p:spPr>
          <a:xfrm>
            <a:off x="2241283" y="2587405"/>
            <a:ext cx="398965" cy="399559"/>
          </a:xfrm>
          <a:prstGeom prst="rect">
            <a:avLst/>
          </a:prstGeom>
          <a:effectLst>
            <a:outerShdw blurRad="127000" dist="63500" dir="5400000" algn="t" rotWithShape="0">
              <a:schemeClr val="accent5">
                <a:lumMod val="75000"/>
                <a:alpha val="10000"/>
              </a:schemeClr>
            </a:outerShdw>
          </a:effectLst>
        </p:spPr>
      </p:pic>
      <p:pic>
        <p:nvPicPr>
          <p:cNvPr id="697" name="图片 696" descr="维修"/>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rcRect/>
          <a:stretch>
            <a:fillRect/>
          </a:stretch>
        </p:blipFill>
        <p:spPr>
          <a:xfrm>
            <a:off x="5979056" y="2605953"/>
            <a:ext cx="362421" cy="361823"/>
          </a:xfrm>
          <a:prstGeom prst="rect">
            <a:avLst/>
          </a:prstGeom>
          <a:effectLst>
            <a:outerShdw blurRad="127000" dist="63500" dir="5400000" algn="t" rotWithShape="0">
              <a:schemeClr val="accent6">
                <a:lumMod val="75000"/>
                <a:alpha val="10000"/>
              </a:schemeClr>
            </a:outerShdw>
          </a:effectLst>
        </p:spPr>
      </p:pic>
      <p:sp>
        <p:nvSpPr>
          <p:cNvPr id="698" name="圆角矩形 697"/>
          <p:cNvSpPr/>
          <p:nvPr>
            <p:custDataLst>
              <p:tags r:id="rId11"/>
            </p:custDataLst>
          </p:nvPr>
        </p:nvSpPr>
        <p:spPr>
          <a:xfrm>
            <a:off x="625475" y="3545360"/>
            <a:ext cx="3630580" cy="2690295"/>
          </a:xfrm>
          <a:prstGeom prst="roundRect">
            <a:avLst>
              <a:gd name="adj" fmla="val 3023"/>
            </a:avLst>
          </a:prstGeom>
          <a:solidFill>
            <a:schemeClr val="accent5">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144145" rIns="144145" rtlCol="0" anchor="t" anchorCtr="0"/>
          <a:lstStyle/>
          <a:p>
            <a:pPr indent="0" algn="l" fontAlgn="auto">
              <a:lnSpc>
                <a:spcPct val="140000"/>
              </a:lnSpc>
              <a:buFont typeface="+mj-lt"/>
              <a:buNone/>
            </a:pPr>
            <a:r>
              <a:rPr lang="zh-CN" altLang="en-US" sz="1200" b="1" kern="0" dirty="0">
                <a:ln>
                  <a:noFill/>
                  <a:prstDash val="sysDot"/>
                </a:ln>
                <a:solidFill>
                  <a:schemeClr val="tx1"/>
                </a:solidFill>
                <a:latin typeface="Heiti SC Medium" panose="02000000000000000000" charset="-122"/>
                <a:ea typeface="Heiti SC Medium" panose="02000000000000000000" charset="-122"/>
                <a:cs typeface="Heiti SC Medium" panose="02000000000000000000" charset="-122"/>
                <a:sym typeface="+mn-ea"/>
              </a:rPr>
              <a:t>开展</a:t>
            </a:r>
            <a:r>
              <a:rPr lang="en-US" altLang="zh-CN" sz="1200" b="1" kern="0" dirty="0">
                <a:ln>
                  <a:noFill/>
                  <a:prstDash val="sysDot"/>
                </a:ln>
                <a:solidFill>
                  <a:srgbClr val="4C61E7"/>
                </a:solidFill>
                <a:latin typeface="Heiti SC Medium" panose="02000000000000000000" charset="-122"/>
                <a:ea typeface="Heiti SC Medium" panose="02000000000000000000" charset="-122"/>
                <a:cs typeface="Heiti SC Medium" panose="02000000000000000000" charset="-122"/>
                <a:sym typeface="+mn-ea"/>
              </a:rPr>
              <a:t>{{missed_scan_count}}</a:t>
            </a:r>
            <a:r>
              <a:rPr lang="zh-CN" altLang="en-US" sz="1200" b="1" kern="0" dirty="0">
                <a:ln>
                  <a:noFill/>
                  <a:prstDash val="sysDot"/>
                </a:ln>
                <a:solidFill>
                  <a:schemeClr val="tx1">
                    <a:lumMod val="85000"/>
                    <a:lumOff val="15000"/>
                  </a:schemeClr>
                </a:solidFill>
                <a:latin typeface="Heiti SC Medium" panose="02000000000000000000" charset="-122"/>
                <a:ea typeface="Heiti SC Medium" panose="02000000000000000000" charset="-122"/>
                <a:cs typeface="Heiti SC Medium" panose="02000000000000000000" charset="-122"/>
                <a:sym typeface="+mn-ea"/>
              </a:rPr>
              <a:t>次漏洞扫描与漏洞优先级分析，提供针对性加固建议，对互联网资产漏洞潜在的被通报风险做到主动识别和有效防御，总共减少了</a:t>
            </a:r>
            <a:r>
              <a:rPr lang="en-US" altLang="zh-CN" sz="1200" b="1" kern="0" dirty="0">
                <a:ln>
                  <a:noFill/>
                  <a:prstDash val="sysDot"/>
                </a:ln>
                <a:solidFill>
                  <a:srgbClr val="4C61E7"/>
                </a:solidFill>
                <a:latin typeface="Heiti SC Medium" panose="02000000000000000000" charset="-122"/>
                <a:ea typeface="Heiti SC Medium" panose="02000000000000000000" charset="-122"/>
                <a:cs typeface="Heiti SC Medium" panose="02000000000000000000" charset="-122"/>
                <a:sym typeface="+mn-ea"/>
              </a:rPr>
              <a:t>{{closed_vulnerability_total}}</a:t>
            </a:r>
            <a:r>
              <a:rPr lang="zh-CN" altLang="en-US" sz="1200" b="1" kern="0" dirty="0">
                <a:ln>
                  <a:noFill/>
                  <a:prstDash val="sysDot"/>
                </a:ln>
                <a:solidFill>
                  <a:schemeClr val="tx1">
                    <a:lumMod val="85000"/>
                    <a:lumOff val="15000"/>
                  </a:schemeClr>
                </a:solidFill>
                <a:latin typeface="Heiti SC Medium" panose="02000000000000000000" charset="-122"/>
                <a:ea typeface="Heiti SC Medium" panose="02000000000000000000" charset="-122"/>
                <a:cs typeface="Heiti SC Medium" panose="02000000000000000000" charset="-122"/>
                <a:sym typeface="+mn-ea"/>
              </a:rPr>
              <a:t>个漏洞被通报风险。</a:t>
            </a:r>
            <a:endParaRPr lang="zh-CN" altLang="en-US" sz="1200" b="1" kern="0" dirty="0">
              <a:ln>
                <a:noFill/>
                <a:prstDash val="sysDot"/>
              </a:ln>
              <a:solidFill>
                <a:schemeClr val="tx1">
                  <a:lumMod val="85000"/>
                  <a:lumOff val="15000"/>
                </a:schemeClr>
              </a:solidFill>
              <a:latin typeface="Heiti SC Medium" panose="02000000000000000000" charset="-122"/>
              <a:ea typeface="Heiti SC Medium" panose="02000000000000000000" charset="-122"/>
              <a:cs typeface="Heiti SC Medium" panose="02000000000000000000" charset="-122"/>
              <a:sym typeface="+mn-ea"/>
            </a:endParaRPr>
          </a:p>
          <a:p>
            <a:pPr marL="228600" indent="-228600" algn="l" fontAlgn="auto">
              <a:lnSpc>
                <a:spcPct val="140000"/>
              </a:lnSpc>
              <a:buFont typeface="+mj-lt"/>
              <a:buAutoNum type="arabicPeriod"/>
            </a:pP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通过联动下一代防火墙的防护规则或者访问控制策略实现了</a:t>
            </a:r>
            <a:r>
              <a:rPr lang="en-US" altLang="zh-CN" sz="1200" kern="0" dirty="0">
                <a:ln>
                  <a:noFill/>
                  <a:prstDash val="sysDot"/>
                </a:ln>
                <a:solidFill>
                  <a:srgbClr val="4C61E7"/>
                </a:solidFill>
                <a:latin typeface="Heiti SC Light" panose="02000000000000000000" charset="-122"/>
                <a:ea typeface="Heiti SC Light" panose="02000000000000000000" charset="-122"/>
                <a:cs typeface="Heiti SC Light" panose="02000000000000000000" charset="-122"/>
                <a:sym typeface="+mn-ea"/>
              </a:rPr>
              <a:t>{{protected_vulnerability_count}}</a:t>
            </a: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个漏洞的有效保护</a:t>
            </a:r>
            <a:r>
              <a:rPr lang="en-US" altLang="zh-CN" sz="1200" kern="0" dirty="0">
                <a:ln>
                  <a:noFill/>
                  <a:prstDash val="sysDot"/>
                </a:ln>
                <a:solidFill>
                  <a:srgbClr val="4C61E7"/>
                </a:solidFill>
                <a:latin typeface="Heiti SC Light" panose="02000000000000000000" charset="-122"/>
                <a:ea typeface="Heiti SC Light" panose="02000000000000000000" charset="-122"/>
                <a:cs typeface="Heiti SC Light" panose="02000000000000000000" charset="-122"/>
                <a:sym typeface="+mn-ea"/>
              </a:rPr>
              <a:t>{{blocked_external_connection_times}</a:t>
            </a:r>
            <a:r>
              <a:rPr lang="en-US" altLang="zh-CN" sz="1200" kern="0" dirty="0">
                <a:ln>
                  <a:noFill/>
                  <a:prstDash val="sysDot"/>
                </a:ln>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次</a:t>
            </a: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a:t>
            </a:r>
            <a:endPar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endParaRPr>
          </a:p>
          <a:p>
            <a:pPr marL="228600" indent="-228600" algn="l" fontAlgn="auto">
              <a:lnSpc>
                <a:spcPct val="140000"/>
              </a:lnSpc>
              <a:buFont typeface="+mj-lt"/>
              <a:buAutoNum type="arabicPeriod"/>
            </a:pP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协同业务运维，修复了</a:t>
            </a:r>
            <a:r>
              <a:rPr lang="en-US" altLang="zh-CN" sz="1200" kern="0" dirty="0">
                <a:ln>
                  <a:noFill/>
                  <a:prstDash val="sysDot"/>
                </a:ln>
                <a:solidFill>
                  <a:srgbClr val="4C61E7"/>
                </a:solidFill>
                <a:latin typeface="Heiti SC Light" panose="02000000000000000000" charset="-122"/>
                <a:ea typeface="Heiti SC Light" panose="02000000000000000000" charset="-122"/>
                <a:cs typeface="Heiti SC Light" panose="02000000000000000000" charset="-122"/>
                <a:sym typeface="+mn-ea"/>
              </a:rPr>
              <a:t>{{fixed_vulnerability_count}}</a:t>
            </a: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个漏洞。</a:t>
            </a:r>
            <a:endPar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endParaRPr>
          </a:p>
          <a:p>
            <a:pPr marL="228600" indent="-228600" algn="l" fontAlgn="auto">
              <a:lnSpc>
                <a:spcPct val="140000"/>
              </a:lnSpc>
              <a:buFont typeface="+mj-lt"/>
              <a:buAutoNum type="arabicPeriod"/>
            </a:pPr>
            <a:r>
              <a:rPr lang="zh-CN" altLang="en-US" sz="1200">
                <a:solidFill>
                  <a:schemeClr val="tx1"/>
                </a:solidFill>
                <a:latin typeface="Arial" panose="020B0604020202020204" pitchFamily="34" charset="0"/>
                <a:ea typeface="黑体-简" panose="02000000000000000000" charset="-122"/>
                <a:cs typeface="Heiti SC Light" panose="02000000000000000000" charset="-122"/>
                <a:sym typeface="Noto Sans SC"/>
              </a:rPr>
              <a:t>发现并调优</a:t>
            </a:r>
            <a:r>
              <a:rPr lang="en-US" sz="1200">
                <a:solidFill>
                  <a:srgbClr val="4C61E7"/>
                </a:solidFill>
                <a:latin typeface="Heiti SC Light" panose="02000000000000000000" charset="-122"/>
                <a:ea typeface="Heiti SC Light" panose="02000000000000000000" charset="-122"/>
                <a:cs typeface="Heiti SC Light" panose="02000000000000000000" charset="-122"/>
                <a:sym typeface="Noto Sans SC"/>
              </a:rPr>
              <a:t>{{</a:t>
            </a:r>
            <a:r>
              <a:rPr lang="en-US" altLang="zh-CN" sz="1200">
                <a:solidFill>
                  <a:srgbClr val="4C61E7"/>
                </a:solidFill>
                <a:latin typeface="Heiti SC Light" panose="02000000000000000000" charset="-122"/>
                <a:ea typeface="Heiti SC Light" panose="02000000000000000000" charset="-122"/>
                <a:cs typeface="Heiti SC Light" panose="02000000000000000000" charset="-122"/>
                <a:sym typeface="Noto Sans SC"/>
              </a:rPr>
              <a:t>security_policy_optimize_count</a:t>
            </a:r>
            <a:r>
              <a:rPr lang="en-US" sz="1200">
                <a:solidFill>
                  <a:srgbClr val="4C61E7"/>
                </a:solidFill>
                <a:latin typeface="Heiti SC Light" panose="02000000000000000000" charset="-122"/>
                <a:ea typeface="Heiti SC Light" panose="02000000000000000000" charset="-122"/>
                <a:cs typeface="Heiti SC Light" panose="02000000000000000000" charset="-122"/>
                <a:sym typeface="Noto Sans SC"/>
              </a:rPr>
              <a:t>}</a:t>
            </a:r>
            <a:r>
              <a:rPr lang="en-US" altLang="zh-CN" sz="1200">
                <a:solidFill>
                  <a:srgbClr val="4C61E7"/>
                </a:solidFill>
                <a:latin typeface="Heiti SC Light" panose="02000000000000000000" charset="-122"/>
                <a:ea typeface="Heiti SC Light" panose="02000000000000000000" charset="-122"/>
                <a:cs typeface="Heiti SC Light" panose="02000000000000000000" charset="-122"/>
                <a:sym typeface="Noto Sans SC"/>
              </a:rPr>
              <a:t>}</a:t>
            </a:r>
            <a:r>
              <a:rPr lang="zh-CN" altLang="en-US" sz="1200">
                <a:solidFill>
                  <a:schemeClr val="tx1"/>
                </a:solidFill>
                <a:latin typeface="Arial" panose="020B0604020202020204" pitchFamily="34" charset="0"/>
                <a:ea typeface="黑体-简" panose="02000000000000000000" charset="-122"/>
                <a:cs typeface="Heiti SC Light" panose="02000000000000000000" charset="-122"/>
                <a:sym typeface="Noto Sans SC"/>
              </a:rPr>
              <a:t>项异常策略</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cs typeface="Heiti SC Light" panose="02000000000000000000" charset="-122"/>
                <a:sym typeface="+mn-ea"/>
              </a:rPr>
              <a:t>，保持安全防护组件的规则库及时更新和策略有效</a:t>
            </a:r>
            <a:endPar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endParaRPr>
          </a:p>
          <a:p>
            <a:pPr marL="228600" indent="-228600" algn="l" fontAlgn="auto">
              <a:lnSpc>
                <a:spcPct val="140000"/>
              </a:lnSpc>
              <a:buFont typeface="+mj-lt"/>
              <a:buAutoNum type="arabicPeriod"/>
            </a:pPr>
            <a:endPar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endParaRPr>
          </a:p>
        </p:txBody>
      </p:sp>
      <p:sp>
        <p:nvSpPr>
          <p:cNvPr id="699" name="圆角矩形 698"/>
          <p:cNvSpPr/>
          <p:nvPr>
            <p:custDataLst>
              <p:tags r:id="rId12"/>
            </p:custDataLst>
          </p:nvPr>
        </p:nvSpPr>
        <p:spPr>
          <a:xfrm>
            <a:off x="4345070" y="3545360"/>
            <a:ext cx="3630393" cy="2690295"/>
          </a:xfrm>
          <a:prstGeom prst="roundRect">
            <a:avLst>
              <a:gd name="adj" fmla="val 3737"/>
            </a:avLst>
          </a:prstGeom>
          <a:solidFill>
            <a:schemeClr val="accent6">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rIns="144145" numCol="1" spcCol="0" rtlCol="0" fromWordArt="0" anchor="t" anchorCtr="0" forceAA="0" compatLnSpc="1">
            <a:noAutofit/>
          </a:bodyPr>
          <a:lstStyle/>
          <a:p>
            <a:pPr lvl="0" algn="l">
              <a:lnSpc>
                <a:spcPct val="140000"/>
              </a:lnSpc>
              <a:buClrTx/>
              <a:buSzTx/>
              <a:buFontTx/>
            </a:pPr>
            <a:r>
              <a:rPr lang="en-US" sz="1200" b="1" kern="0" dirty="0">
                <a:ln>
                  <a:noFill/>
                  <a:prstDash val="sysDot"/>
                </a:ln>
                <a:solidFill>
                  <a:schemeClr val="tx1">
                    <a:lumMod val="85000"/>
                    <a:lumOff val="15000"/>
                  </a:schemeClr>
                </a:solidFill>
                <a:latin typeface="Heiti SC Medium" panose="02000000000000000000" charset="-122"/>
                <a:ea typeface="Heiti SC Medium" panose="02000000000000000000" charset="-122"/>
                <a:cs typeface="Heiti SC Medium" panose="02000000000000000000" charset="-122"/>
                <a:sym typeface="+mn-ea"/>
              </a:rPr>
              <a:t>7*24H</a:t>
            </a:r>
            <a:r>
              <a:rPr lang="zh-CN" altLang="en-US" sz="1200" b="1" kern="0" dirty="0">
                <a:ln>
                  <a:noFill/>
                  <a:prstDash val="sysDot"/>
                </a:ln>
                <a:solidFill>
                  <a:schemeClr val="tx1">
                    <a:lumMod val="85000"/>
                    <a:lumOff val="15000"/>
                  </a:schemeClr>
                </a:solidFill>
                <a:latin typeface="Heiti SC Medium" panose="02000000000000000000" charset="-122"/>
                <a:ea typeface="Heiti SC Medium" panose="02000000000000000000" charset="-122"/>
                <a:cs typeface="Heiti SC Medium" panose="02000000000000000000" charset="-122"/>
                <a:sym typeface="+mn-ea"/>
              </a:rPr>
              <a:t>持续监测安全防护策略有效性和恶意外联威胁的实时监测处置，人机协同避免了</a:t>
            </a:r>
            <a:r>
              <a:rPr lang="en-US" altLang="zh-CN" sz="1200" b="1" kern="0" dirty="0">
                <a:ln>
                  <a:noFill/>
                  <a:prstDash val="sysDot"/>
                </a:ln>
                <a:solidFill>
                  <a:srgbClr val="4C61E7"/>
                </a:solidFill>
                <a:latin typeface="Heiti SC Medium" panose="02000000000000000000" charset="-122"/>
                <a:ea typeface="Heiti SC Medium" panose="02000000000000000000" charset="-122"/>
                <a:cs typeface="Heiti SC Medium" panose="02000000000000000000" charset="-122"/>
                <a:sym typeface="+mn-ea"/>
              </a:rPr>
              <a:t>{{external_notify_risk_times}}</a:t>
            </a:r>
            <a:r>
              <a:rPr lang="zh-CN" altLang="en-US" sz="1200" b="1" kern="0" dirty="0">
                <a:ln>
                  <a:noFill/>
                  <a:prstDash val="sysDot"/>
                </a:ln>
                <a:solidFill>
                  <a:schemeClr val="tx1">
                    <a:lumMod val="85000"/>
                    <a:lumOff val="15000"/>
                  </a:schemeClr>
                </a:solidFill>
                <a:latin typeface="Heiti SC Medium" panose="02000000000000000000" charset="-122"/>
                <a:ea typeface="Heiti SC Medium" panose="02000000000000000000" charset="-122"/>
                <a:cs typeface="Heiti SC Medium" panose="02000000000000000000" charset="-122"/>
                <a:sym typeface="+mn-ea"/>
              </a:rPr>
              <a:t>次恶意外联通报风险。</a:t>
            </a:r>
            <a:endParaRPr lang="zh-CN" altLang="en-US" sz="1200" b="1" kern="0" dirty="0">
              <a:ln>
                <a:noFill/>
                <a:prstDash val="sysDot"/>
              </a:ln>
              <a:solidFill>
                <a:schemeClr val="tx1">
                  <a:lumMod val="85000"/>
                  <a:lumOff val="15000"/>
                </a:schemeClr>
              </a:solidFill>
              <a:latin typeface="Heiti SC Medium" panose="02000000000000000000" charset="-122"/>
              <a:ea typeface="Heiti SC Medium" panose="02000000000000000000" charset="-122"/>
              <a:cs typeface="Heiti SC Medium" panose="02000000000000000000" charset="-122"/>
              <a:sym typeface="+mn-ea"/>
            </a:endParaRPr>
          </a:p>
          <a:p>
            <a:pPr marL="228600" indent="-228600" algn="l" fontAlgn="auto">
              <a:lnSpc>
                <a:spcPct val="140000"/>
              </a:lnSpc>
              <a:buFont typeface="+mj-lt"/>
              <a:buAutoNum type="arabicPeriod"/>
            </a:pP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cs typeface="Heiti SC Light" panose="02000000000000000000" charset="-122"/>
                <a:sym typeface="+mn-ea"/>
              </a:rPr>
              <a:t>精准识别并联动防火墙自动阻断恶意外联</a:t>
            </a:r>
            <a:r>
              <a:rPr lang="en-US" altLang="zh-CN" sz="1200" kern="0" dirty="0">
                <a:ln>
                  <a:noFill/>
                  <a:prstDash val="sysDot"/>
                </a:ln>
                <a:solidFill>
                  <a:srgbClr val="4C61E7"/>
                </a:solidFill>
                <a:latin typeface="Heiti SC Light" panose="02000000000000000000" charset="-122"/>
                <a:ea typeface="Heiti SC Light" panose="02000000000000000000" charset="-122"/>
                <a:cs typeface="Heiti SC Light" panose="02000000000000000000" charset="-122"/>
                <a:sym typeface="+mn-ea"/>
              </a:rPr>
              <a:t>{{blocked_external_connection_times}}</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cs typeface="Heiti SC Light" panose="02000000000000000000" charset="-122"/>
                <a:sym typeface="+mn-ea"/>
              </a:rPr>
              <a:t>次；</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cs typeface="Heiti SC Light" panose="02000000000000000000" charset="-122"/>
              <a:sym typeface="+mn-ea"/>
            </a:endParaRPr>
          </a:p>
          <a:p>
            <a:pPr marL="228600" indent="-228600" algn="l" fontAlgn="auto">
              <a:lnSpc>
                <a:spcPct val="140000"/>
              </a:lnSpc>
              <a:buFont typeface="+mj-lt"/>
              <a:buAutoNum type="arabicPeriod"/>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cs typeface="Heiti SC Light" panose="02000000000000000000" charset="-122"/>
                <a:sym typeface="+mn-ea"/>
              </a:rPr>
              <a:t>7*24</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cs typeface="Heiti SC Light" panose="02000000000000000000" charset="-122"/>
                <a:sym typeface="+mn-ea"/>
              </a:rPr>
              <a:t>小时全天候监测，专家分析补充发现了</a:t>
            </a:r>
            <a:r>
              <a:rPr lang="en-US" altLang="zh-CN" sz="1200" kern="0" dirty="0">
                <a:ln>
                  <a:noFill/>
                  <a:prstDash val="sysDot"/>
                </a:ln>
                <a:solidFill>
                  <a:srgbClr val="4C61E7"/>
                </a:solidFill>
                <a:latin typeface="Heiti SC Light" panose="02000000000000000000" charset="-122"/>
                <a:ea typeface="Heiti SC Light" panose="02000000000000000000" charset="-122"/>
                <a:cs typeface="Heiti SC Light" panose="02000000000000000000" charset="-122"/>
                <a:sym typeface="+mn-ea"/>
              </a:rPr>
              <a:t>{{malicious_external_alert_count}}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cs typeface="Heiti SC Light" panose="02000000000000000000" charset="-122"/>
                <a:sym typeface="+mn-ea"/>
              </a:rPr>
              <a:t>次恶意外联告警并补充处置</a:t>
            </a:r>
            <a:endPar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endParaRPr>
          </a:p>
        </p:txBody>
      </p:sp>
      <p:sp>
        <p:nvSpPr>
          <p:cNvPr id="700" name="圆角矩形 699"/>
          <p:cNvSpPr/>
          <p:nvPr>
            <p:custDataLst>
              <p:tags r:id="rId13"/>
            </p:custDataLst>
          </p:nvPr>
        </p:nvSpPr>
        <p:spPr>
          <a:xfrm>
            <a:off x="8050617" y="3546000"/>
            <a:ext cx="3630393" cy="2690295"/>
          </a:xfrm>
          <a:prstGeom prst="roundRect">
            <a:avLst>
              <a:gd name="adj" fmla="val 3023"/>
            </a:avLst>
          </a:prstGeom>
          <a:solidFill>
            <a:schemeClr val="accent5">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rIns="144145" numCol="1" spcCol="0" rtlCol="0" fromWordArt="0" anchor="t" anchorCtr="0" forceAA="0" compatLnSpc="1">
            <a:noAutofit/>
          </a:bodyPr>
          <a:lstStyle/>
          <a:p>
            <a:pPr lvl="0" algn="l">
              <a:lnSpc>
                <a:spcPct val="140000"/>
              </a:lnSpc>
              <a:buClrTx/>
              <a:buSzTx/>
              <a:buFontTx/>
            </a:pPr>
            <a:r>
              <a:rPr lang="zh-CN" altLang="en-US" sz="1200" b="1" kern="0" dirty="0">
                <a:ln>
                  <a:noFill/>
                  <a:prstDash val="sysDot"/>
                </a:ln>
                <a:solidFill>
                  <a:schemeClr val="tx1">
                    <a:lumMod val="85000"/>
                    <a:lumOff val="15000"/>
                  </a:schemeClr>
                </a:solidFill>
                <a:latin typeface="Heiti SC Medium" panose="02000000000000000000" charset="-122"/>
                <a:ea typeface="Heiti SC Medium" panose="02000000000000000000" charset="-122"/>
                <a:cs typeface="Heiti SC Medium" panose="02000000000000000000" charset="-122"/>
                <a:sym typeface="+mn-ea"/>
              </a:rPr>
              <a:t>接收并排查了</a:t>
            </a:r>
            <a:r>
              <a:rPr lang="en-US" altLang="zh-CN" sz="1200" b="1" kern="0" dirty="0">
                <a:ln>
                  <a:noFill/>
                  <a:prstDash val="sysDot"/>
                </a:ln>
                <a:solidFill>
                  <a:srgbClr val="4C61E7"/>
                </a:solidFill>
                <a:latin typeface="Heiti SC Medium" panose="02000000000000000000" charset="-122"/>
                <a:ea typeface="Heiti SC Medium" panose="02000000000000000000" charset="-122"/>
                <a:cs typeface="Heiti SC Medium" panose="02000000000000000000" charset="-122"/>
                <a:sym typeface="+mn-ea"/>
              </a:rPr>
              <a:t>{</a:t>
            </a:r>
            <a:r>
              <a:rPr lang="en-US" altLang="zh-CN" sz="1200" b="1">
                <a:solidFill>
                  <a:srgbClr val="4C61E7"/>
                </a:solidFill>
                <a:uFillTx/>
                <a:latin typeface="Heiti SC Medium" panose="02000000000000000000" charset="-122"/>
                <a:ea typeface="Heiti SC Medium" panose="02000000000000000000" charset="-122"/>
                <a:cs typeface="Heiti SC Medium" panose="02000000000000000000" charset="-122"/>
                <a:sym typeface="+mn-ea"/>
              </a:rPr>
              <a:t>{current_report_cycle_notify_count}</a:t>
            </a:r>
            <a:r>
              <a:rPr lang="en-US" altLang="zh-CN" sz="1200" b="1" kern="0" dirty="0">
                <a:ln>
                  <a:noFill/>
                  <a:prstDash val="sysDot"/>
                </a:ln>
                <a:solidFill>
                  <a:srgbClr val="4C61E7"/>
                </a:solidFill>
                <a:latin typeface="Heiti SC Medium" panose="02000000000000000000" charset="-122"/>
                <a:ea typeface="Heiti SC Medium" panose="02000000000000000000" charset="-122"/>
                <a:cs typeface="Heiti SC Medium" panose="02000000000000000000" charset="-122"/>
                <a:sym typeface="+mn-ea"/>
              </a:rPr>
              <a:t>}</a:t>
            </a:r>
            <a:r>
              <a:rPr lang="zh-CN" altLang="en-US" sz="1200" b="1" kern="0" dirty="0">
                <a:ln>
                  <a:noFill/>
                  <a:prstDash val="sysDot"/>
                </a:ln>
                <a:solidFill>
                  <a:schemeClr val="tx1"/>
                </a:solidFill>
                <a:latin typeface="Heiti SC Medium" panose="02000000000000000000" charset="-122"/>
                <a:ea typeface="Heiti SC Medium" panose="02000000000000000000" charset="-122"/>
                <a:cs typeface="Heiti SC Medium" panose="02000000000000000000" charset="-122"/>
                <a:sym typeface="+mn-ea"/>
              </a:rPr>
              <a:t>次被通报问题，排查结果和响应时效均达到预期。</a:t>
            </a:r>
            <a:endParaRPr lang="zh-CN" altLang="en-US" sz="1200" b="1" kern="0" dirty="0">
              <a:ln>
                <a:noFill/>
                <a:prstDash val="sysDot"/>
              </a:ln>
              <a:solidFill>
                <a:schemeClr val="tx1">
                  <a:lumMod val="85000"/>
                  <a:lumOff val="15000"/>
                </a:schemeClr>
              </a:solidFill>
              <a:latin typeface="Heiti SC Medium" panose="02000000000000000000" charset="-122"/>
              <a:ea typeface="Heiti SC Medium" panose="02000000000000000000" charset="-122"/>
              <a:cs typeface="Heiti SC Medium" panose="02000000000000000000" charset="-122"/>
              <a:sym typeface="+mn-ea"/>
            </a:endParaRPr>
          </a:p>
          <a:p>
            <a:pPr lvl="0" algn="l">
              <a:lnSpc>
                <a:spcPct val="140000"/>
              </a:lnSpc>
              <a:buClrTx/>
              <a:buSzTx/>
              <a:buFontTx/>
            </a:pPr>
            <a:endPar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endParaRPr>
          </a:p>
          <a:p>
            <a:pPr marL="228600" lvl="0" indent="-228600" algn="l">
              <a:lnSpc>
                <a:spcPct val="140000"/>
              </a:lnSpc>
              <a:buClrTx/>
              <a:buSzTx/>
              <a:buFont typeface="+mj-lt"/>
              <a:buAutoNum type="arabicPeriod"/>
            </a:pP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针对被通报问题场景，构建</a:t>
            </a:r>
            <a:r>
              <a:rPr lang="en-US" altLang="zh-CN"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a:t>
            </a: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接收</a:t>
            </a:r>
            <a:r>
              <a:rPr lang="en-US" altLang="zh-CN"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a:t>
            </a: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溯源</a:t>
            </a:r>
            <a:r>
              <a:rPr lang="en-US" altLang="zh-CN"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a:t>
            </a: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处置</a:t>
            </a:r>
            <a:r>
              <a:rPr lang="en-US" altLang="zh-CN"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a:t>
            </a: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回函</a:t>
            </a:r>
            <a:r>
              <a:rPr lang="en-US" altLang="zh-CN"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a:t>
            </a: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归档</a:t>
            </a:r>
            <a:r>
              <a:rPr lang="en-US" altLang="zh-CN"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a:t>
            </a: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的全链路标准作业程序（</a:t>
            </a:r>
            <a:r>
              <a:rPr lang="en-US" altLang="zh-CN"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SOP</a:t>
            </a:r>
            <a:r>
              <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rPr>
              <a:t>），确保即便面对突发情况也能极速响应，完全满足监管回函时效与质量要求。</a:t>
            </a:r>
            <a:endPar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endParaRPr>
          </a:p>
          <a:p>
            <a:pPr lvl="0" algn="l">
              <a:lnSpc>
                <a:spcPct val="140000"/>
              </a:lnSpc>
              <a:buClrTx/>
              <a:buSzTx/>
              <a:buFontTx/>
            </a:pPr>
            <a:endParaRPr lang="zh-CN" altLang="en-US" sz="1200" kern="0" dirty="0">
              <a:ln>
                <a:noFill/>
                <a:prstDash val="sysDot"/>
              </a:ln>
              <a:solidFill>
                <a:schemeClr val="tx1">
                  <a:lumMod val="85000"/>
                  <a:lumOff val="15000"/>
                </a:schemeClr>
              </a:solidFill>
              <a:latin typeface="Heiti SC Light" panose="02000000000000000000" charset="-122"/>
              <a:ea typeface="Heiti SC Light" panose="02000000000000000000" charset="-122"/>
              <a:cs typeface="Heiti SC Light" panose="02000000000000000000" charset="-122"/>
              <a:sym typeface="+mn-ea"/>
            </a:endParaRPr>
          </a:p>
        </p:txBody>
      </p:sp>
      <p:sp>
        <p:nvSpPr>
          <p:cNvPr id="701" name="文本框 700"/>
          <p:cNvSpPr txBox="1"/>
          <p:nvPr>
            <p:custDataLst>
              <p:tags r:id="rId14"/>
            </p:custDataLst>
          </p:nvPr>
        </p:nvSpPr>
        <p:spPr>
          <a:xfrm>
            <a:off x="900156" y="3070189"/>
            <a:ext cx="3081220" cy="391876"/>
          </a:xfrm>
          <a:prstGeom prst="rect">
            <a:avLst/>
          </a:prstGeom>
          <a:noFill/>
        </p:spPr>
        <p:txBody>
          <a:bodyPr wrap="square" lIns="0" tIns="0" rIns="0" bIns="0" rtlCol="0" anchor="ctr" anchorCtr="0">
            <a:noAutofit/>
          </a:bodyPr>
          <a:lstStyle/>
          <a:p>
            <a:pPr algn="ctr"/>
            <a:r>
              <a:rPr lang="zh-CN" altLang="en-US" sz="1200" b="1">
                <a:solidFill>
                  <a:schemeClr val="accent5">
                    <a:lumMod val="75000"/>
                  </a:schemeClr>
                </a:solidFill>
                <a:latin typeface="Arial Black" panose="020B0A04020102020204" pitchFamily="34" charset="0"/>
                <a:ea typeface="微软雅黑" panose="020B0503020204020204" charset="-122"/>
                <a:sym typeface="+mn-ea"/>
              </a:rPr>
              <a:t>事前通报风险预防</a:t>
            </a:r>
            <a:endParaRPr lang="zh-CN" altLang="en-US" sz="1200" b="1">
              <a:solidFill>
                <a:schemeClr val="accent5">
                  <a:lumMod val="75000"/>
                </a:schemeClr>
              </a:solidFill>
              <a:latin typeface="Heiti SC Light" panose="02000000000000000000" charset="-122"/>
              <a:ea typeface="Heiti SC Light" panose="02000000000000000000" charset="-122"/>
              <a:sym typeface="+mn-ea"/>
            </a:endParaRPr>
          </a:p>
        </p:txBody>
      </p:sp>
      <p:sp>
        <p:nvSpPr>
          <p:cNvPr id="702" name="文本框 701"/>
          <p:cNvSpPr txBox="1"/>
          <p:nvPr>
            <p:custDataLst>
              <p:tags r:id="rId15"/>
            </p:custDataLst>
          </p:nvPr>
        </p:nvSpPr>
        <p:spPr>
          <a:xfrm>
            <a:off x="4619656" y="3070189"/>
            <a:ext cx="3081220" cy="391876"/>
          </a:xfrm>
          <a:prstGeom prst="rect">
            <a:avLst/>
          </a:prstGeom>
          <a:noFill/>
        </p:spPr>
        <p:txBody>
          <a:bodyPr wrap="square" lIns="0" tIns="0" rIns="0" bIns="0" rtlCol="0" anchor="ctr" anchorCtr="0">
            <a:noAutofit/>
          </a:bodyPr>
          <a:lstStyle/>
          <a:p>
            <a:pPr algn="ctr"/>
            <a:r>
              <a:rPr lang="zh-CN" altLang="en-US" sz="1200" b="1">
                <a:solidFill>
                  <a:schemeClr val="accent6">
                    <a:lumMod val="75000"/>
                  </a:schemeClr>
                </a:solidFill>
                <a:latin typeface="Arial Black" panose="020B0A04020102020204" pitchFamily="34" charset="0"/>
                <a:ea typeface="微软雅黑" panose="020B0503020204020204" charset="-122"/>
                <a:sym typeface="+mn-ea"/>
              </a:rPr>
              <a:t>事中监测和响应遏制</a:t>
            </a:r>
            <a:endParaRPr lang="zh-CN" altLang="en-US" sz="1200" b="1">
              <a:solidFill>
                <a:schemeClr val="accent6">
                  <a:lumMod val="75000"/>
                </a:schemeClr>
              </a:solidFill>
              <a:latin typeface="Heiti SC Light" panose="02000000000000000000" charset="-122"/>
              <a:ea typeface="Heiti SC Light" panose="02000000000000000000" charset="-122"/>
              <a:sym typeface="+mn-ea"/>
            </a:endParaRPr>
          </a:p>
        </p:txBody>
      </p:sp>
      <p:sp>
        <p:nvSpPr>
          <p:cNvPr id="703" name="文本框 702"/>
          <p:cNvSpPr txBox="1"/>
          <p:nvPr>
            <p:custDataLst>
              <p:tags r:id="rId16"/>
            </p:custDataLst>
          </p:nvPr>
        </p:nvSpPr>
        <p:spPr>
          <a:xfrm>
            <a:off x="8325204" y="3070189"/>
            <a:ext cx="3081220" cy="391876"/>
          </a:xfrm>
          <a:prstGeom prst="rect">
            <a:avLst/>
          </a:prstGeom>
          <a:noFill/>
        </p:spPr>
        <p:txBody>
          <a:bodyPr wrap="square" lIns="0" tIns="0" rIns="0" bIns="0" rtlCol="0" anchor="ctr" anchorCtr="0">
            <a:noAutofit/>
          </a:bodyPr>
          <a:lstStyle/>
          <a:p>
            <a:pPr algn="ctr"/>
            <a:r>
              <a:rPr lang="zh-CN" altLang="en-US" sz="1200" b="1">
                <a:solidFill>
                  <a:schemeClr val="accent5">
                    <a:lumMod val="75000"/>
                  </a:schemeClr>
                </a:solidFill>
                <a:latin typeface="Arial Black" panose="020B0A04020102020204" pitchFamily="34" charset="0"/>
                <a:ea typeface="微软雅黑" panose="020B0503020204020204" charset="-122"/>
                <a:sym typeface="+mn-ea"/>
              </a:rPr>
              <a:t>事后被通报问题排查与回函</a:t>
            </a:r>
            <a:endParaRPr lang="zh-CN" altLang="en-US" sz="1200" b="1">
              <a:solidFill>
                <a:schemeClr val="accent5">
                  <a:lumMod val="75000"/>
                </a:schemeClr>
              </a:solidFill>
              <a:latin typeface="Heiti SC Light" panose="02000000000000000000" charset="-122"/>
              <a:ea typeface="Heiti SC Light" panose="02000000000000000000" charset="-122"/>
              <a:sym typeface="+mn-ea"/>
            </a:endParaRPr>
          </a:p>
        </p:txBody>
      </p:sp>
      <p:pic>
        <p:nvPicPr>
          <p:cNvPr id="704" name="图片 703" descr="职业资格"/>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a:stretch>
            <a:fillRect/>
          </a:stretch>
        </p:blipFill>
        <p:spPr>
          <a:xfrm>
            <a:off x="9666354" y="2588022"/>
            <a:ext cx="398919" cy="398325"/>
          </a:xfrm>
          <a:prstGeom prst="rect">
            <a:avLst/>
          </a:prstGeom>
          <a:effectLst>
            <a:outerShdw blurRad="127000" dist="63500" dir="5400000" algn="t" rotWithShape="0">
              <a:schemeClr val="accent5">
                <a:lumMod val="75000"/>
                <a:alpha val="10000"/>
              </a:schemeClr>
            </a:outerShdw>
          </a:effectLst>
        </p:spPr>
      </p:pic>
    </p:spTree>
    <p:custDataLst>
      <p:tags r:id="rId20"/>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custDataLst>
              <p:tags r:id="rId1"/>
            </p:custDataLst>
          </p:nvPr>
        </p:nvGraphicFramePr>
        <p:xfrm>
          <a:off x="353695" y="782955"/>
          <a:ext cx="10979150" cy="5911850"/>
        </p:xfrm>
        <a:graphic>
          <a:graphicData uri="http://schemas.openxmlformats.org/drawingml/2006/table">
            <a:tbl>
              <a:tblPr firstRow="1">
                <a:tableStyleId>{BB45DE53-469D-4D13-8DD3-590A0C94434D}</a:tableStyleId>
              </a:tblPr>
              <a:tblGrid>
                <a:gridCol w="1393190"/>
                <a:gridCol w="1941195"/>
                <a:gridCol w="2731770"/>
                <a:gridCol w="2237740"/>
                <a:gridCol w="2675255"/>
              </a:tblGrid>
              <a:tr h="425450">
                <a:tc>
                  <a:txBody>
                    <a:bodyPr/>
                    <a:p>
                      <a:pPr algn="ctr">
                        <a:buNone/>
                      </a:pPr>
                      <a:r>
                        <a:rPr lang="zh-CN" altLang="en-US" sz="1200">
                          <a:latin typeface="Arial" panose="020B0604020202020204" pitchFamily="34" charset="0"/>
                          <a:ea typeface="黑体-简" panose="02000000000000000000" charset="-122"/>
                        </a:rPr>
                        <a:t>通告场景</a:t>
                      </a:r>
                      <a:endParaRPr lang="zh-CN" altLang="en-US" sz="1200">
                        <a:latin typeface="Arial" panose="020B0604020202020204" pitchFamily="34" charset="0"/>
                        <a:ea typeface="黑体-简" panose="02000000000000000000" charset="-122"/>
                      </a:endParaRPr>
                    </a:p>
                  </a:txBody>
                  <a:tcPr anchor="ctr" anchorCtr="0"/>
                </a:tc>
                <a:tc>
                  <a:txBody>
                    <a:bodyPr/>
                    <a:p>
                      <a:pPr algn="ctr" fontAlgn="ctr">
                        <a:buNone/>
                      </a:pPr>
                      <a:r>
                        <a:rPr lang="zh-CN" altLang="en-US" sz="1200">
                          <a:latin typeface="Arial" panose="020B0604020202020204" pitchFamily="34" charset="0"/>
                          <a:ea typeface="黑体-简" panose="02000000000000000000" charset="-122"/>
                          <a:sym typeface="+mn-ea"/>
                        </a:rPr>
                        <a:t>预估降低被通报风险次数</a:t>
                      </a:r>
                      <a:endParaRPr lang="zh-CN" altLang="en-US" sz="1200">
                        <a:latin typeface="Arial" panose="020B0604020202020204" pitchFamily="34" charset="0"/>
                        <a:ea typeface="黑体-简" panose="02000000000000000000" charset="-122"/>
                        <a:sym typeface="+mn-ea"/>
                      </a:endParaRPr>
                    </a:p>
                  </a:txBody>
                  <a:tcPr anchor="ctr" anchorCtr="0"/>
                </a:tc>
                <a:tc>
                  <a:txBody>
                    <a:bodyPr/>
                    <a:p>
                      <a:pPr algn="ctr">
                        <a:buNone/>
                      </a:pPr>
                      <a:r>
                        <a:rPr lang="en-US" altLang="zh-CN" sz="1200">
                          <a:latin typeface="Arial" panose="020B0604020202020204" pitchFamily="34" charset="0"/>
                          <a:ea typeface="黑体-简" panose="02000000000000000000" charset="-122"/>
                        </a:rPr>
                        <a:t>   </a:t>
                      </a:r>
                      <a:r>
                        <a:rPr lang="zh-CN" altLang="en-US" sz="1200">
                          <a:latin typeface="Arial" panose="020B0604020202020204" pitchFamily="34" charset="0"/>
                          <a:ea typeface="黑体-简" panose="02000000000000000000" charset="-122"/>
                        </a:rPr>
                        <a:t>事前提前预防</a:t>
                      </a:r>
                      <a:endParaRPr lang="zh-CN" altLang="en-US" sz="1200">
                        <a:latin typeface="Arial" panose="020B0604020202020204" pitchFamily="34" charset="0"/>
                        <a:ea typeface="黑体-简" panose="02000000000000000000" charset="-122"/>
                      </a:endParaRPr>
                    </a:p>
                  </a:txBody>
                  <a:tcPr anchor="ctr" anchorCtr="0"/>
                </a:tc>
                <a:tc>
                  <a:txBody>
                    <a:bodyPr/>
                    <a:p>
                      <a:pPr algn="ctr">
                        <a:buNone/>
                      </a:pPr>
                      <a:r>
                        <a:rPr lang="zh-CN" altLang="en-US" sz="1200">
                          <a:latin typeface="Arial" panose="020B0604020202020204" pitchFamily="34" charset="0"/>
                          <a:ea typeface="黑体-简" panose="02000000000000000000" charset="-122"/>
                        </a:rPr>
                        <a:t>事中</a:t>
                      </a:r>
                      <a:r>
                        <a:rPr lang="en-US" altLang="zh-CN" sz="1200">
                          <a:latin typeface="Arial" panose="020B0604020202020204" pitchFamily="34" charset="0"/>
                          <a:ea typeface="黑体-简" panose="02000000000000000000" charset="-122"/>
                        </a:rPr>
                        <a:t>7*24</a:t>
                      </a:r>
                      <a:r>
                        <a:rPr lang="zh-CN" altLang="en-US" sz="1200">
                          <a:latin typeface="Arial" panose="020B0604020202020204" pitchFamily="34" charset="0"/>
                          <a:ea typeface="黑体-简" panose="02000000000000000000" charset="-122"/>
                        </a:rPr>
                        <a:t>小时监测</a:t>
                      </a:r>
                      <a:endParaRPr lang="zh-CN" altLang="en-US" sz="1200">
                        <a:latin typeface="Arial" panose="020B0604020202020204" pitchFamily="34" charset="0"/>
                        <a:ea typeface="黑体-简" panose="02000000000000000000" charset="-122"/>
                      </a:endParaRPr>
                    </a:p>
                  </a:txBody>
                  <a:tcPr anchor="ctr" anchorCtr="0"/>
                </a:tc>
                <a:tc>
                  <a:txBody>
                    <a:bodyPr/>
                    <a:p>
                      <a:pPr algn="ctr">
                        <a:buNone/>
                      </a:pPr>
                      <a:r>
                        <a:rPr lang="zh-CN" altLang="en-US" sz="1200">
                          <a:latin typeface="Arial" panose="020B0604020202020204" pitchFamily="34" charset="0"/>
                          <a:ea typeface="黑体-简" panose="02000000000000000000" charset="-122"/>
                        </a:rPr>
                        <a:t>事后排查</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回函</a:t>
                      </a:r>
                      <a:endParaRPr lang="zh-CN" altLang="en-US" sz="1200">
                        <a:latin typeface="Arial" panose="020B0604020202020204" pitchFamily="34" charset="0"/>
                        <a:ea typeface="黑体-简" panose="02000000000000000000" charset="-122"/>
                      </a:endParaRPr>
                    </a:p>
                  </a:txBody>
                  <a:tcPr anchor="ctr" anchorCtr="0"/>
                </a:tc>
              </a:tr>
              <a:tr h="822960">
                <a:tc>
                  <a:txBody>
                    <a:bodyPr/>
                    <a:p>
                      <a:pPr algn="ctr">
                        <a:buNone/>
                      </a:pPr>
                      <a:r>
                        <a:rPr lang="zh-CN" altLang="en-US" sz="1200">
                          <a:latin typeface="Arial" panose="020B0604020202020204" pitchFamily="34" charset="0"/>
                          <a:ea typeface="黑体-简" panose="02000000000000000000" charset="-122"/>
                        </a:rPr>
                        <a:t>总计</a:t>
                      </a:r>
                      <a:endParaRPr lang="zh-CN" altLang="en-US" sz="1200">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None/>
                      </a:pPr>
                      <a:r>
                        <a:rPr sz="1600" b="1">
                          <a:latin typeface="Arial" panose="020B0604020202020204" pitchFamily="34" charset="0"/>
                          <a:ea typeface="黑体-简" panose="02000000000000000000" charset="-122"/>
                        </a:rPr>
                        <a:t>{{estimated_reported_risk_reduction_count}}</a:t>
                      </a:r>
                      <a:r>
                        <a:rPr lang="zh-CN" altLang="en-US" sz="1600" b="1">
                          <a:latin typeface="Arial" panose="020B0604020202020204" pitchFamily="34" charset="0"/>
                          <a:ea typeface="黑体-简" panose="02000000000000000000" charset="-122"/>
                        </a:rPr>
                        <a:t>次</a:t>
                      </a:r>
                      <a:endParaRPr lang="zh-CN" altLang="en-US" sz="1600" b="1">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None/>
                      </a:pPr>
                      <a:endParaRPr lang="zh-CN" altLang="en-US" sz="1200">
                        <a:ea typeface="黑体-简" panose="02000000000000000000" charset="-122"/>
                      </a:endParaRPr>
                    </a:p>
                  </a:txBody>
                  <a:tcPr anchor="ctr" anchorCtr="0"/>
                </a:tc>
                <a:tc>
                  <a:txBody>
                    <a:bodyPr/>
                    <a:p>
                      <a:pPr algn="ctr">
                        <a:buNone/>
                      </a:pPr>
                      <a:endParaRPr lang="zh-CN" altLang="en-US" sz="1200">
                        <a:ea typeface="黑体-简" panose="02000000000000000000" charset="-122"/>
                      </a:endParaRPr>
                    </a:p>
                  </a:txBody>
                  <a:tcPr anchor="ctr" anchorCtr="0"/>
                </a:tc>
                <a:tc>
                  <a:txBody>
                    <a:bodyPr/>
                    <a:p>
                      <a:pPr algn="ctr">
                        <a:buNone/>
                      </a:pPr>
                      <a:r>
                        <a:rPr lang="zh-CN" altLang="en-US" sz="1200">
                          <a:latin typeface="Arial" panose="020B0604020202020204" pitchFamily="34" charset="0"/>
                          <a:ea typeface="黑体-简" panose="02000000000000000000" charset="-122"/>
                          <a:sym typeface="+mn-ea"/>
                        </a:rPr>
                        <a:t>配合闭环</a:t>
                      </a:r>
                      <a:r>
                        <a:rPr lang="en-US" altLang="zh-CN" sz="1200">
                          <a:highlight>
                            <a:srgbClr val="FFFF00"/>
                          </a:highlight>
                          <a:latin typeface="Arial" panose="020B0604020202020204" pitchFamily="34" charset="0"/>
                          <a:ea typeface="黑体-简" panose="02000000000000000000" charset="-122"/>
                          <a:sym typeface="+mn-ea"/>
                        </a:rPr>
                        <a:t>XXX</a:t>
                      </a:r>
                      <a:r>
                        <a:rPr lang="zh-CN" altLang="en-US" sz="1200">
                          <a:highlight>
                            <a:srgbClr val="FFFF00"/>
                          </a:highlight>
                          <a:latin typeface="Arial" panose="020B0604020202020204" pitchFamily="34" charset="0"/>
                          <a:ea typeface="黑体-简" panose="02000000000000000000" charset="-122"/>
                          <a:sym typeface="+mn-ea"/>
                        </a:rPr>
                        <a:t>次</a:t>
                      </a:r>
                      <a:r>
                        <a:rPr lang="zh-CN" altLang="en-US" sz="1200">
                          <a:latin typeface="Arial" panose="020B0604020202020204" pitchFamily="34" charset="0"/>
                          <a:ea typeface="黑体-简" panose="02000000000000000000" charset="-122"/>
                          <a:sym typeface="+mn-ea"/>
                        </a:rPr>
                        <a:t>通告</a:t>
                      </a:r>
                      <a:endParaRPr lang="zh-CN" altLang="en-US" sz="1200">
                        <a:ea typeface="黑体-简" panose="02000000000000000000" charset="-122"/>
                      </a:endParaRPr>
                    </a:p>
                  </a:txBody>
                  <a:tcPr anchor="ctr" anchorCtr="0"/>
                </a:tc>
              </a:tr>
              <a:tr h="1005840">
                <a:tc>
                  <a:txBody>
                    <a:bodyPr/>
                    <a:p>
                      <a:pPr algn="ctr">
                        <a:buNone/>
                      </a:pPr>
                      <a:r>
                        <a:rPr lang="zh-CN" altLang="en-US" sz="1200">
                          <a:latin typeface="Arial" panose="020B0604020202020204" pitchFamily="34" charset="0"/>
                          <a:ea typeface="黑体-简" panose="02000000000000000000" charset="-122"/>
                        </a:rPr>
                        <a:t>高危漏洞</a:t>
                      </a:r>
                      <a:endParaRPr lang="zh-CN" altLang="en-US" sz="1200">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ClrTx/>
                        <a:buSzTx/>
                        <a:buFontTx/>
                        <a:buNone/>
                      </a:pPr>
                      <a:r>
                        <a:rPr sz="1200">
                          <a:latin typeface="Arial" panose="020B0604020202020204" pitchFamily="34" charset="0"/>
                          <a:ea typeface="黑体-简" panose="02000000000000000000" charset="-122"/>
                        </a:rPr>
                        <a:t>{{estimated_reported_risk_reduction_count_high_risk_vuln}}</a:t>
                      </a:r>
                      <a:r>
                        <a:rPr lang="zh-CN" altLang="en-US" sz="1200">
                          <a:latin typeface="Arial" panose="020B0604020202020204" pitchFamily="34" charset="0"/>
                          <a:ea typeface="黑体-简" panose="02000000000000000000" charset="-122"/>
                        </a:rPr>
                        <a:t>次</a:t>
                      </a:r>
                      <a:endParaRPr lang="zh-CN" altLang="en-US" sz="1200">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None/>
                      </a:pPr>
                      <a:r>
                        <a:rPr lang="en-US" altLang="zh-CN" sz="1200">
                          <a:latin typeface="Arial" panose="020B0604020202020204" pitchFamily="34" charset="0"/>
                          <a:ea typeface="黑体-简" panose="02000000000000000000" charset="-122"/>
                        </a:rPr>
                        <a:t> </a:t>
                      </a:r>
                      <a:r>
                        <a:rPr lang="zh-CN" altLang="en-US" sz="1200">
                          <a:latin typeface="Arial" panose="020B0604020202020204" pitchFamily="34" charset="0"/>
                          <a:ea typeface="黑体-简" panose="02000000000000000000" charset="-122"/>
                        </a:rPr>
                        <a:t>主动扫描总共识别</a:t>
                      </a:r>
                      <a:r>
                        <a:rPr sz="1200">
                          <a:latin typeface="Arial" panose="020B0604020202020204" pitchFamily="34" charset="0"/>
                          <a:ea typeface="黑体-简" panose="02000000000000000000" charset="-122"/>
                        </a:rPr>
                        <a:t>{{high_risk_vuln_count}}</a:t>
                      </a:r>
                      <a:r>
                        <a:rPr lang="zh-CN" altLang="en-US" sz="1200">
                          <a:latin typeface="Arial" panose="020B0604020202020204" pitchFamily="34" charset="0"/>
                          <a:ea typeface="黑体-简" panose="02000000000000000000" charset="-122"/>
                        </a:rPr>
                        <a:t>个漏洞</a:t>
                      </a:r>
                      <a:endParaRPr lang="zh-CN" altLang="en-US" sz="1200">
                        <a:latin typeface="Arial" panose="020B0604020202020204" pitchFamily="34" charset="0"/>
                        <a:ea typeface="黑体-简" panose="02000000000000000000" charset="-122"/>
                      </a:endParaRPr>
                    </a:p>
                    <a:p>
                      <a:pPr algn="ctr">
                        <a:buNone/>
                      </a:pPr>
                      <a:r>
                        <a:rPr lang="zh-CN" altLang="en-US" sz="1200">
                          <a:latin typeface="Arial" panose="020B0604020202020204" pitchFamily="34" charset="0"/>
                          <a:ea typeface="黑体-简" panose="02000000000000000000" charset="-122"/>
                          <a:sym typeface="+mn-ea"/>
                        </a:rPr>
                        <a:t>威胁情报命中</a:t>
                      </a:r>
                      <a:r>
                        <a:rPr sz="1200">
                          <a:latin typeface="Arial" panose="020B0604020202020204" pitchFamily="34" charset="0"/>
                          <a:ea typeface="黑体-简" panose="02000000000000000000" charset="-122"/>
                          <a:sym typeface="+mn-ea"/>
                        </a:rPr>
                        <a:t>{{unpublished_threat_distinct_asset_count}}</a:t>
                      </a:r>
                      <a:r>
                        <a:rPr lang="zh-CN" altLang="en-US" sz="1200">
                          <a:latin typeface="Arial" panose="020B0604020202020204" pitchFamily="34" charset="0"/>
                          <a:ea typeface="黑体-简" panose="02000000000000000000" charset="-122"/>
                          <a:sym typeface="+mn-ea"/>
                        </a:rPr>
                        <a:t>个</a:t>
                      </a:r>
                      <a:r>
                        <a:rPr lang="zh-CN" altLang="en-US" sz="1200">
                          <a:latin typeface="Arial" panose="020B0604020202020204" pitchFamily="34" charset="0"/>
                          <a:ea typeface="黑体-简" panose="02000000000000000000" charset="-122"/>
                          <a:sym typeface="+mn-ea"/>
                        </a:rPr>
                        <a:t>最新漏洞影响</a:t>
                      </a:r>
                      <a:r>
                        <a:rPr lang="zh-CN" altLang="en-US" sz="1200">
                          <a:latin typeface="Arial" panose="020B0604020202020204" pitchFamily="34" charset="0"/>
                          <a:ea typeface="黑体-简" panose="02000000000000000000" charset="-122"/>
                          <a:sym typeface="+mn-ea"/>
                        </a:rPr>
                        <a:t>资产</a:t>
                      </a:r>
                      <a:endParaRPr lang="zh-CN" altLang="en-US" sz="1200">
                        <a:latin typeface="Arial" panose="020B0604020202020204" pitchFamily="34" charset="0"/>
                        <a:ea typeface="黑体-简" panose="02000000000000000000" charset="-122"/>
                      </a:endParaRPr>
                    </a:p>
                  </a:txBody>
                  <a:tcPr anchor="ctr" anchorCtr="0"/>
                </a:tc>
                <a:tc>
                  <a:txBody>
                    <a:bodyPr/>
                    <a:p>
                      <a:pPr algn="ctr">
                        <a:buClrTx/>
                        <a:buSzTx/>
                        <a:buFontTx/>
                        <a:buNone/>
                      </a:pPr>
                      <a:r>
                        <a:rPr lang="en-US" altLang="zh-CN" sz="1200">
                          <a:latin typeface="Arial" panose="020B0604020202020204" pitchFamily="34" charset="0"/>
                          <a:ea typeface="黑体-简" panose="02000000000000000000" charset="-122"/>
                        </a:rPr>
                        <a:t>/</a:t>
                      </a:r>
                      <a:endParaRPr lang="en-US" altLang="zh-CN" sz="1200">
                        <a:latin typeface="Arial" panose="020B0604020202020204" pitchFamily="34" charset="0"/>
                        <a:ea typeface="黑体-简" panose="02000000000000000000" charset="-122"/>
                      </a:endParaRPr>
                    </a:p>
                  </a:txBody>
                  <a:tcPr anchor="ctr" anchorCtr="0"/>
                </a:tc>
                <a:tc>
                  <a:txBody>
                    <a:bodyPr/>
                    <a:p>
                      <a:pPr algn="ctr">
                        <a:buNone/>
                      </a:pPr>
                      <a:r>
                        <a:rPr lang="zh-CN" altLang="en-US" sz="1200">
                          <a:latin typeface="Arial" panose="020B0604020202020204" pitchFamily="34" charset="0"/>
                          <a:ea typeface="黑体-简" panose="02000000000000000000" charset="-122"/>
                        </a:rPr>
                        <a:t>业务侧配合修复了</a:t>
                      </a:r>
                      <a:r>
                        <a:rPr sz="1200">
                          <a:latin typeface="Arial" panose="020B0604020202020204" pitchFamily="34" charset="0"/>
                          <a:ea typeface="黑体-简" panose="02000000000000000000" charset="-122"/>
                        </a:rPr>
                        <a:t>{{fixed_vuln_count}}</a:t>
                      </a:r>
                      <a:r>
                        <a:rPr lang="zh-CN" altLang="en-US" sz="1200">
                          <a:latin typeface="Arial" panose="020B0604020202020204" pitchFamily="34" charset="0"/>
                          <a:ea typeface="黑体-简" panose="02000000000000000000" charset="-122"/>
                        </a:rPr>
                        <a:t>个漏洞（扫描出漏洞+情报命中漏洞）</a:t>
                      </a:r>
                      <a:endParaRPr lang="zh-CN" altLang="en-US" sz="1200">
                        <a:latin typeface="Arial" panose="020B0604020202020204" pitchFamily="34" charset="0"/>
                        <a:ea typeface="黑体-简" panose="02000000000000000000" charset="-122"/>
                      </a:endParaRPr>
                    </a:p>
                    <a:p>
                      <a:pPr algn="ctr">
                        <a:buNone/>
                      </a:pPr>
                      <a:r>
                        <a:rPr lang="zh-CN" altLang="en-US" sz="1200">
                          <a:latin typeface="Arial" panose="020B0604020202020204" pitchFamily="34" charset="0"/>
                          <a:ea typeface="黑体-简" panose="02000000000000000000" charset="-122"/>
                          <a:sym typeface="+mn-ea"/>
                        </a:rPr>
                        <a:t>配合闭环</a:t>
                      </a:r>
                      <a:r>
                        <a:rPr lang="en-US" altLang="zh-CN" sz="1200">
                          <a:highlight>
                            <a:srgbClr val="FFFF00"/>
                          </a:highlight>
                          <a:latin typeface="Arial" panose="020B0604020202020204" pitchFamily="34" charset="0"/>
                          <a:ea typeface="黑体-简" panose="02000000000000000000" charset="-122"/>
                          <a:sym typeface="+mn-ea"/>
                        </a:rPr>
                        <a:t>XXX</a:t>
                      </a:r>
                      <a:r>
                        <a:rPr lang="zh-CN" altLang="en-US" sz="1200">
                          <a:highlight>
                            <a:srgbClr val="FFFF00"/>
                          </a:highlight>
                          <a:latin typeface="Arial" panose="020B0604020202020204" pitchFamily="34" charset="0"/>
                          <a:ea typeface="黑体-简" panose="02000000000000000000" charset="-122"/>
                          <a:sym typeface="+mn-ea"/>
                        </a:rPr>
                        <a:t>次</a:t>
                      </a:r>
                      <a:r>
                        <a:rPr lang="zh-CN" altLang="en-US" sz="1200">
                          <a:latin typeface="Arial" panose="020B0604020202020204" pitchFamily="34" charset="0"/>
                          <a:ea typeface="黑体-简" panose="02000000000000000000" charset="-122"/>
                          <a:sym typeface="+mn-ea"/>
                        </a:rPr>
                        <a:t>通告</a:t>
                      </a:r>
                      <a:endParaRPr lang="zh-CN" altLang="en-US" sz="1200">
                        <a:latin typeface="Arial" panose="020B0604020202020204" pitchFamily="34" charset="0"/>
                        <a:ea typeface="黑体-简" panose="02000000000000000000" charset="-122"/>
                      </a:endParaRPr>
                    </a:p>
                  </a:txBody>
                  <a:tcPr anchor="ctr" anchorCtr="0"/>
                </a:tc>
              </a:tr>
              <a:tr h="640080">
                <a:tc>
                  <a:txBody>
                    <a:bodyPr/>
                    <a:p>
                      <a:pPr algn="ctr">
                        <a:buNone/>
                      </a:pPr>
                      <a:r>
                        <a:rPr lang="zh-CN" altLang="en-US" sz="1200">
                          <a:latin typeface="Arial" panose="020B0604020202020204" pitchFamily="34" charset="0"/>
                          <a:ea typeface="黑体-简" panose="02000000000000000000" charset="-122"/>
                        </a:rPr>
                        <a:t>高危端口</a:t>
                      </a:r>
                      <a:endParaRPr lang="zh-CN" altLang="en-US" sz="1200">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ClrTx/>
                        <a:buSzTx/>
                        <a:buFontTx/>
                        <a:buNone/>
                      </a:pPr>
                      <a:r>
                        <a:rPr sz="1200">
                          <a:latin typeface="Arial" panose="020B0604020202020204" pitchFamily="34" charset="0"/>
                          <a:ea typeface="黑体-简" panose="02000000000000000000" charset="-122"/>
                        </a:rPr>
                        <a:t>{{estimated_reported_risk_reduction_count_high_risk_port}}</a:t>
                      </a:r>
                      <a:r>
                        <a:rPr lang="zh-CN" altLang="en-US" sz="1200">
                          <a:latin typeface="Arial" panose="020B0604020202020204" pitchFamily="34" charset="0"/>
                          <a:ea typeface="黑体-简" panose="02000000000000000000" charset="-122"/>
                        </a:rPr>
                        <a:t>次</a:t>
                      </a:r>
                      <a:endParaRPr lang="zh-CN" altLang="en-US" sz="1200">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ClrTx/>
                        <a:buSzTx/>
                        <a:buFontTx/>
                        <a:buNone/>
                      </a:pP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sym typeface="+mn-ea"/>
                      </a:endParaRPr>
                    </a:p>
                  </a:txBody>
                  <a:tcPr anchor="ctr" anchorCtr="0"/>
                </a:tc>
                <a:tc>
                  <a:txBody>
                    <a:bodyPr/>
                    <a:p>
                      <a:pPr algn="ctr">
                        <a:buClrTx/>
                        <a:buSzTx/>
                        <a:buFontTx/>
                        <a:buNone/>
                      </a:pP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sym typeface="+mn-ea"/>
                      </a:endParaRPr>
                    </a:p>
                  </a:txBody>
                  <a:tcPr anchor="ctr" anchorCtr="0"/>
                </a:tc>
                <a:tc>
                  <a:txBody>
                    <a:bodyPr/>
                    <a:p>
                      <a:pPr algn="ctr">
                        <a:buClrTx/>
                        <a:buSzTx/>
                        <a:buFontTx/>
                        <a:buNone/>
                      </a:pP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sym typeface="+mn-ea"/>
                      </a:endParaRPr>
                    </a:p>
                  </a:txBody>
                  <a:tcPr anchor="ctr" anchorCtr="0"/>
                </a:tc>
              </a:tr>
              <a:tr h="1188720">
                <a:tc>
                  <a:txBody>
                    <a:bodyPr/>
                    <a:p>
                      <a:pPr algn="ctr">
                        <a:buNone/>
                      </a:pPr>
                      <a:r>
                        <a:rPr lang="zh-CN" altLang="en-US" sz="1200">
                          <a:latin typeface="Arial" panose="020B0604020202020204" pitchFamily="34" charset="0"/>
                          <a:ea typeface="黑体-简" panose="02000000000000000000" charset="-122"/>
                        </a:rPr>
                        <a:t>弱密码</a:t>
                      </a:r>
                      <a:endParaRPr lang="zh-CN" altLang="en-US" sz="1200">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ClrTx/>
                        <a:buSzTx/>
                        <a:buFontTx/>
                        <a:buNone/>
                      </a:pPr>
                      <a:r>
                        <a:rPr sz="1200">
                          <a:latin typeface="Arial" panose="020B0604020202020204" pitchFamily="34" charset="0"/>
                          <a:ea typeface="黑体-简" panose="02000000000000000000" charset="-122"/>
                        </a:rPr>
                        <a:t>{{estimated_reported_risk_reduction_count_weak_password}}</a:t>
                      </a:r>
                      <a:r>
                        <a:rPr lang="zh-CN" altLang="en-US" sz="1200">
                          <a:latin typeface="Arial" panose="020B0604020202020204" pitchFamily="34" charset="0"/>
                          <a:ea typeface="黑体-简" panose="02000000000000000000" charset="-122"/>
                        </a:rPr>
                        <a:t>次</a:t>
                      </a:r>
                      <a:endParaRPr lang="zh-CN" altLang="en-US" sz="1200">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None/>
                      </a:pPr>
                      <a:r>
                        <a:rPr lang="zh-CN" altLang="en-US" sz="1200">
                          <a:latin typeface="Arial" panose="020B0604020202020204" pitchFamily="34" charset="0"/>
                          <a:ea typeface="黑体-简" panose="02000000000000000000" charset="-122"/>
                        </a:rPr>
                        <a:t>流量监测发现</a:t>
                      </a:r>
                      <a:r>
                        <a:rPr sz="1200">
                          <a:latin typeface="Arial" panose="020B0604020202020204" pitchFamily="34" charset="0"/>
                          <a:ea typeface="黑体-简" panose="02000000000000000000" charset="-122"/>
                        </a:rPr>
                        <a:t>{{weak_password_table_weak_pwd_count}}</a:t>
                      </a:r>
                      <a:r>
                        <a:rPr lang="zh-CN" altLang="en-US" sz="1200">
                          <a:latin typeface="Arial" panose="020B0604020202020204" pitchFamily="34" charset="0"/>
                          <a:ea typeface="黑体-简" panose="02000000000000000000" charset="-122"/>
                        </a:rPr>
                        <a:t>个</a:t>
                      </a:r>
                      <a:r>
                        <a:rPr lang="zh-CN" altLang="en-US" sz="1200">
                          <a:latin typeface="Arial" panose="020B0604020202020204" pitchFamily="34" charset="0"/>
                          <a:ea typeface="黑体-简" panose="02000000000000000000" charset="-122"/>
                        </a:rPr>
                        <a:t>弱密码；</a:t>
                      </a:r>
                      <a:endParaRPr lang="zh-CN" altLang="en-US" sz="1200">
                        <a:latin typeface="Arial" panose="020B0604020202020204" pitchFamily="34" charset="0"/>
                        <a:ea typeface="黑体-简" panose="02000000000000000000" charset="-122"/>
                      </a:endParaRPr>
                    </a:p>
                    <a:p>
                      <a:pPr algn="ctr">
                        <a:buNone/>
                      </a:pPr>
                      <a:r>
                        <a:rPr lang="zh-CN" altLang="en-US" sz="1200">
                          <a:latin typeface="Arial" panose="020B0604020202020204" pitchFamily="34" charset="0"/>
                          <a:ea typeface="黑体-简" panose="02000000000000000000" charset="-122"/>
                        </a:rPr>
                        <a:t>扫描识别</a:t>
                      </a:r>
                      <a:r>
                        <a:rPr sz="1200">
                          <a:latin typeface="Arial" panose="020B0604020202020204" pitchFamily="34" charset="0"/>
                          <a:ea typeface="黑体-简" panose="02000000000000000000" charset="-122"/>
                        </a:rPr>
                        <a:t>{{vuln_table_weak_pwd_count}}</a:t>
                      </a:r>
                      <a:r>
                        <a:rPr lang="zh-CN" altLang="en-US" sz="1200">
                          <a:latin typeface="Arial" panose="020B0604020202020204" pitchFamily="34" charset="0"/>
                          <a:ea typeface="黑体-简" panose="02000000000000000000" charset="-122"/>
                        </a:rPr>
                        <a:t>个弱密码</a:t>
                      </a:r>
                      <a:endParaRPr lang="zh-CN" altLang="en-US" sz="1200">
                        <a:latin typeface="Arial" panose="020B0604020202020204" pitchFamily="34" charset="0"/>
                        <a:ea typeface="黑体-简" panose="02000000000000000000" charset="-122"/>
                      </a:endParaRPr>
                    </a:p>
                  </a:txBody>
                  <a:tcPr anchor="ctr" anchorCtr="0"/>
                </a:tc>
                <a:tc>
                  <a:txBody>
                    <a:bodyPr/>
                    <a:p>
                      <a:pPr algn="ctr">
                        <a:buClrTx/>
                        <a:buSzTx/>
                        <a:buFontTx/>
                        <a:buNone/>
                      </a:pP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sym typeface="+mn-ea"/>
                      </a:endParaRPr>
                    </a:p>
                  </a:txBody>
                  <a:tcPr anchor="ctr" anchorCtr="0"/>
                </a:tc>
                <a:tc>
                  <a:txBody>
                    <a:bodyPr/>
                    <a:p>
                      <a:pPr algn="ctr">
                        <a:buNone/>
                      </a:pPr>
                      <a:r>
                        <a:rPr lang="zh-CN" altLang="en-US" sz="1200">
                          <a:latin typeface="Arial" panose="020B0604020202020204" pitchFamily="34" charset="0"/>
                          <a:ea typeface="黑体-简" panose="02000000000000000000" charset="-122"/>
                        </a:rPr>
                        <a:t>业务侧配合整改</a:t>
                      </a:r>
                      <a:r>
                        <a:rPr sz="1200">
                          <a:latin typeface="Arial" panose="020B0604020202020204" pitchFamily="34" charset="0"/>
                          <a:ea typeface="黑体-简" panose="02000000000000000000" charset="-122"/>
                        </a:rPr>
                        <a:t>{{processed_weak_pwd_count}}</a:t>
                      </a:r>
                      <a:r>
                        <a:rPr lang="zh-CN" altLang="en-US" sz="1200">
                          <a:latin typeface="Arial" panose="020B0604020202020204" pitchFamily="34" charset="0"/>
                          <a:ea typeface="黑体-简" panose="02000000000000000000" charset="-122"/>
                        </a:rPr>
                        <a:t>个弱密码（</a:t>
                      </a:r>
                      <a:r>
                        <a:rPr lang="en-US" altLang="zh-CN" sz="1200">
                          <a:highlight>
                            <a:srgbClr val="FFFF00"/>
                          </a:highlight>
                          <a:latin typeface="Arial" panose="020B0604020202020204" pitchFamily="34" charset="0"/>
                          <a:ea typeface="黑体-简" panose="02000000000000000000" charset="-122"/>
                        </a:rPr>
                        <a:t>XX</a:t>
                      </a:r>
                      <a:r>
                        <a:rPr lang="zh-CN" altLang="en-US" sz="1200">
                          <a:highlight>
                            <a:srgbClr val="FFFF00"/>
                          </a:highlight>
                          <a:latin typeface="Arial" panose="020B0604020202020204" pitchFamily="34" charset="0"/>
                          <a:ea typeface="黑体-简" panose="02000000000000000000" charset="-122"/>
                        </a:rPr>
                        <a:t>核心业务系统占</a:t>
                      </a:r>
                      <a:r>
                        <a:rPr sz="1200">
                          <a:highlight>
                            <a:srgbClr val="FFFF00"/>
                          </a:highlight>
                          <a:latin typeface="Arial" panose="020B0604020202020204" pitchFamily="34" charset="0"/>
                          <a:ea typeface="黑体-简" panose="02000000000000000000" charset="-122"/>
                        </a:rPr>
                        <a:t>{{core_business_system_processed_weak_pwd_count}}</a:t>
                      </a:r>
                      <a:r>
                        <a:rPr lang="zh-CN" altLang="en-US" sz="1200">
                          <a:highlight>
                            <a:srgbClr val="FFFF00"/>
                          </a:highlight>
                          <a:latin typeface="Arial" panose="020B0604020202020204" pitchFamily="34" charset="0"/>
                          <a:ea typeface="黑体-简" panose="02000000000000000000" charset="-122"/>
                        </a:rPr>
                        <a:t>个</a:t>
                      </a:r>
                      <a:r>
                        <a:rPr lang="zh-CN" altLang="en-US" sz="1200">
                          <a:latin typeface="Arial" panose="020B0604020202020204" pitchFamily="34" charset="0"/>
                          <a:ea typeface="黑体-简" panose="02000000000000000000" charset="-122"/>
                        </a:rPr>
                        <a:t>）</a:t>
                      </a:r>
                      <a:endParaRPr lang="zh-CN" altLang="en-US" sz="1200">
                        <a:latin typeface="Arial" panose="020B0604020202020204" pitchFamily="34" charset="0"/>
                        <a:ea typeface="黑体-简" panose="02000000000000000000" charset="-122"/>
                      </a:endParaRPr>
                    </a:p>
                  </a:txBody>
                  <a:tcPr anchor="ctr" anchorCtr="0"/>
                </a:tc>
              </a:tr>
              <a:tr h="1188720">
                <a:tc>
                  <a:txBody>
                    <a:bodyPr/>
                    <a:p>
                      <a:pPr algn="ctr">
                        <a:buNone/>
                      </a:pPr>
                      <a:r>
                        <a:rPr lang="zh-CN" altLang="en-US" sz="1200">
                          <a:latin typeface="Arial" panose="020B0604020202020204" pitchFamily="34" charset="0"/>
                          <a:ea typeface="黑体-简" panose="02000000000000000000" charset="-122"/>
                        </a:rPr>
                        <a:t>恶意外连</a:t>
                      </a:r>
                      <a:endParaRPr lang="zh-CN" altLang="en-US" sz="1200">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None/>
                      </a:pPr>
                      <a:r>
                        <a:rPr sz="1200">
                          <a:latin typeface="Arial" panose="020B0604020202020204" pitchFamily="34" charset="0"/>
                          <a:ea typeface="黑体-简" panose="02000000000000000000" charset="-122"/>
                        </a:rPr>
                        <a:t>{{estimated_reported_risk_reduction_count_malicious_external_connection}}</a:t>
                      </a:r>
                      <a:r>
                        <a:rPr lang="zh-CN" altLang="en-US" sz="1200">
                          <a:latin typeface="Arial" panose="020B0604020202020204" pitchFamily="34" charset="0"/>
                          <a:ea typeface="黑体-简" panose="02000000000000000000" charset="-122"/>
                        </a:rPr>
                        <a:t>次</a:t>
                      </a:r>
                      <a:endParaRPr lang="zh-CN" altLang="en-US" sz="1200">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None/>
                      </a:pPr>
                      <a:r>
                        <a:rPr lang="zh-CN" altLang="en-US" sz="1200">
                          <a:latin typeface="Arial" panose="020B0604020202020204" pitchFamily="34" charset="0"/>
                          <a:ea typeface="黑体-简" panose="02000000000000000000" charset="-122"/>
                        </a:rPr>
                        <a:t>  edr策略调优、恶意文件自动拦截</a:t>
                      </a:r>
                      <a:endParaRPr lang="zh-CN" altLang="en-US" sz="1200">
                        <a:latin typeface="Arial" panose="020B0604020202020204" pitchFamily="34" charset="0"/>
                        <a:ea typeface="黑体-简" panose="02000000000000000000" charset="-122"/>
                      </a:endParaRPr>
                    </a:p>
                  </a:txBody>
                  <a:tcPr anchor="ctr" anchorCtr="0"/>
                </a:tc>
                <a:tc>
                  <a:txBody>
                    <a:bodyPr/>
                    <a:p>
                      <a:pPr algn="ctr">
                        <a:buClrTx/>
                        <a:buSzTx/>
                        <a:buNone/>
                      </a:pP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通告并处置木马事件</a:t>
                      </a:r>
                      <a:r>
                        <a:rPr sz="1200">
                          <a:latin typeface="Arial" panose="020B0604020202020204" pitchFamily="34" charset="0"/>
                          <a:ea typeface="黑体-简" panose="02000000000000000000" charset="-122"/>
                          <a:sym typeface="+mn-ea"/>
                        </a:rPr>
                        <a:t>{{notified_processed_trojan_event_count}}</a:t>
                      </a:r>
                      <a:r>
                        <a:rPr lang="zh-CN" altLang="en-US" sz="1200">
                          <a:latin typeface="Arial" panose="020B0604020202020204" pitchFamily="34" charset="0"/>
                          <a:ea typeface="黑体-简" panose="02000000000000000000" charset="-122"/>
                          <a:sym typeface="+mn-ea"/>
                        </a:rPr>
                        <a:t>起</a:t>
                      </a:r>
                      <a:endParaRPr lang="zh-CN" altLang="en-US" sz="1200">
                        <a:latin typeface="Arial" panose="020B0604020202020204" pitchFamily="34" charset="0"/>
                        <a:ea typeface="黑体-简" panose="02000000000000000000" charset="-122"/>
                      </a:endParaRPr>
                    </a:p>
                    <a:p>
                      <a:pPr algn="ctr">
                        <a:buClrTx/>
                        <a:buSzTx/>
                        <a:buNone/>
                      </a:pP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sym typeface="+mn-ea"/>
                        </a:rPr>
                        <a:t>EDR</a:t>
                      </a:r>
                      <a:r>
                        <a:rPr lang="zh-CN" altLang="en-US" sz="1200">
                          <a:latin typeface="Arial" panose="020B0604020202020204" pitchFamily="34" charset="0"/>
                          <a:ea typeface="黑体-简" panose="02000000000000000000" charset="-122"/>
                          <a:sym typeface="+mn-ea"/>
                        </a:rPr>
                        <a:t>识别并处置处置</a:t>
                      </a:r>
                      <a:r>
                        <a:rPr sz="1200">
                          <a:latin typeface="Arial" panose="020B0604020202020204" pitchFamily="34" charset="0"/>
                          <a:ea typeface="黑体-简" panose="02000000000000000000" charset="-122"/>
                        </a:rPr>
                        <a:t>{{edr_identified_processed_count}}</a:t>
                      </a:r>
                      <a:r>
                        <a:rPr lang="zh-CN" altLang="en-US" sz="1200">
                          <a:latin typeface="Arial" panose="020B0604020202020204" pitchFamily="34" charset="0"/>
                          <a:ea typeface="黑体-简" panose="02000000000000000000" charset="-122"/>
                        </a:rPr>
                        <a:t>个病毒威胁文件</a:t>
                      </a:r>
                      <a:endParaRPr lang="zh-CN" altLang="en-US" sz="1200">
                        <a:latin typeface="Arial" panose="020B0604020202020204" pitchFamily="34" charset="0"/>
                        <a:ea typeface="黑体-简" panose="02000000000000000000" charset="-122"/>
                      </a:endParaRPr>
                    </a:p>
                  </a:txBody>
                  <a:tcPr anchor="ctr" anchorCtr="0"/>
                </a:tc>
                <a:tc>
                  <a:txBody>
                    <a:bodyPr/>
                    <a:p>
                      <a:pPr algn="ctr">
                        <a:buNone/>
                      </a:pPr>
                      <a:r>
                        <a:rPr lang="zh-CN" altLang="en-US" sz="1200">
                          <a:latin typeface="Arial" panose="020B0604020202020204" pitchFamily="34" charset="0"/>
                          <a:ea typeface="黑体-简" panose="02000000000000000000" charset="-122"/>
                        </a:rPr>
                        <a:t>业务侧配合闭环</a:t>
                      </a:r>
                      <a:r>
                        <a:rPr sz="1200">
                          <a:latin typeface="Arial" panose="020B0604020202020204" pitchFamily="34" charset="0"/>
                          <a:ea typeface="黑体-简" panose="02000000000000000000" charset="-122"/>
                        </a:rPr>
                        <a:t>{{closed_security_hazard_count}}</a:t>
                      </a:r>
                      <a:r>
                        <a:rPr lang="zh-CN" altLang="en-US" sz="1200">
                          <a:latin typeface="Arial" panose="020B0604020202020204" pitchFamily="34" charset="0"/>
                          <a:ea typeface="黑体-简" panose="02000000000000000000" charset="-122"/>
                        </a:rPr>
                        <a:t>个安全隐患</a:t>
                      </a:r>
                      <a:endParaRPr lang="zh-CN" altLang="en-US" sz="1200">
                        <a:latin typeface="Arial" panose="020B0604020202020204" pitchFamily="34" charset="0"/>
                        <a:ea typeface="黑体-简" panose="02000000000000000000" charset="-122"/>
                      </a:endParaRPr>
                    </a:p>
                    <a:p>
                      <a:pPr algn="ctr">
                        <a:buNone/>
                      </a:pPr>
                      <a:r>
                        <a:rPr lang="zh-CN" altLang="en-US" sz="1200">
                          <a:latin typeface="Arial" panose="020B0604020202020204" pitchFamily="34" charset="0"/>
                          <a:ea typeface="黑体-简" panose="02000000000000000000" charset="-122"/>
                          <a:sym typeface="+mn-ea"/>
                        </a:rPr>
                        <a:t>配合闭环</a:t>
                      </a:r>
                      <a:r>
                        <a:rPr lang="en-US" altLang="zh-CN" sz="1200">
                          <a:highlight>
                            <a:srgbClr val="FFFF00"/>
                          </a:highlight>
                          <a:latin typeface="Arial" panose="020B0604020202020204" pitchFamily="34" charset="0"/>
                          <a:ea typeface="黑体-简" panose="02000000000000000000" charset="-122"/>
                          <a:sym typeface="+mn-ea"/>
                        </a:rPr>
                        <a:t>XXX</a:t>
                      </a:r>
                      <a:r>
                        <a:rPr lang="zh-CN" altLang="en-US" sz="1200">
                          <a:highlight>
                            <a:srgbClr val="FFFF00"/>
                          </a:highlight>
                          <a:latin typeface="Arial" panose="020B0604020202020204" pitchFamily="34" charset="0"/>
                          <a:ea typeface="黑体-简" panose="02000000000000000000" charset="-122"/>
                          <a:sym typeface="+mn-ea"/>
                        </a:rPr>
                        <a:t>次</a:t>
                      </a:r>
                      <a:r>
                        <a:rPr lang="zh-CN" altLang="en-US" sz="1200">
                          <a:latin typeface="Arial" panose="020B0604020202020204" pitchFamily="34" charset="0"/>
                          <a:ea typeface="黑体-简" panose="02000000000000000000" charset="-122"/>
                          <a:sym typeface="+mn-ea"/>
                        </a:rPr>
                        <a:t>通告</a:t>
                      </a:r>
                      <a:endParaRPr lang="zh-CN" altLang="en-US" sz="1200">
                        <a:latin typeface="Arial" panose="020B0604020202020204" pitchFamily="34" charset="0"/>
                        <a:ea typeface="黑体-简" panose="02000000000000000000" charset="-122"/>
                      </a:endParaRPr>
                    </a:p>
                  </a:txBody>
                  <a:tcPr anchor="ctr" anchorCtr="0"/>
                </a:tc>
              </a:tr>
              <a:tr h="640080">
                <a:tc>
                  <a:txBody>
                    <a:bodyPr/>
                    <a:p>
                      <a:pPr algn="ctr">
                        <a:buNone/>
                      </a:pPr>
                      <a:r>
                        <a:rPr lang="zh-CN" altLang="en-US" sz="1200">
                          <a:latin typeface="Arial" panose="020B0604020202020204" pitchFamily="34" charset="0"/>
                          <a:ea typeface="黑体-简" panose="02000000000000000000" charset="-122"/>
                        </a:rPr>
                        <a:t>网站不良内容</a:t>
                      </a:r>
                      <a:endParaRPr lang="zh-CN" altLang="en-US" sz="1200">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None/>
                      </a:pPr>
                      <a:r>
                        <a:rPr sz="1200">
                          <a:latin typeface="Arial" panose="020B0604020202020204" pitchFamily="34" charset="0"/>
                          <a:ea typeface="黑体-简" panose="02000000000000000000" charset="-122"/>
                        </a:rPr>
                        <a:t>{{estimated_reported_risk_reduction_count_bad_website_content}}</a:t>
                      </a:r>
                      <a:r>
                        <a:rPr lang="zh-CN" altLang="en-US" sz="1200">
                          <a:latin typeface="Arial" panose="020B0604020202020204" pitchFamily="34" charset="0"/>
                          <a:ea typeface="黑体-简" panose="02000000000000000000" charset="-122"/>
                        </a:rPr>
                        <a:t>次</a:t>
                      </a:r>
                      <a:endParaRPr lang="zh-CN" altLang="en-US" sz="1200">
                        <a:latin typeface="Arial" panose="020B0604020202020204" pitchFamily="34" charset="0"/>
                        <a:ea typeface="黑体-简" panose="02000000000000000000" charset="-122"/>
                      </a:endParaRPr>
                    </a:p>
                  </a:txBody>
                  <a:tcPr anchor="ctr" anchorCtr="0">
                    <a:solidFill>
                      <a:schemeClr val="accent1">
                        <a:lumMod val="20000"/>
                        <a:lumOff val="80000"/>
                      </a:schemeClr>
                    </a:solidFill>
                  </a:tcPr>
                </a:tc>
                <a:tc>
                  <a:txBody>
                    <a:bodyPr/>
                    <a:p>
                      <a:pPr algn="ctr">
                        <a:buNone/>
                      </a:pPr>
                      <a:r>
                        <a:rPr lang="en-US" altLang="zh-CN" sz="1200">
                          <a:latin typeface="Arial" panose="020B0604020202020204" pitchFamily="34" charset="0"/>
                          <a:ea typeface="黑体-简" panose="02000000000000000000" charset="-122"/>
                        </a:rPr>
                        <a:t>/</a:t>
                      </a:r>
                      <a:endParaRPr lang="en-US" altLang="zh-CN" sz="1200">
                        <a:latin typeface="Arial" panose="020B0604020202020204" pitchFamily="34" charset="0"/>
                        <a:ea typeface="黑体-简" panose="02000000000000000000" charset="-122"/>
                      </a:endParaRPr>
                    </a:p>
                  </a:txBody>
                  <a:tcPr anchor="ctr" anchorCtr="0"/>
                </a:tc>
                <a:tc>
                  <a:txBody>
                    <a:bodyPr/>
                    <a:p>
                      <a:pPr algn="ctr">
                        <a:buNone/>
                      </a:pPr>
                      <a:r>
                        <a:rPr lang="en-US" altLang="zh-CN" sz="1200">
                          <a:latin typeface="Arial" panose="020B0604020202020204" pitchFamily="34" charset="0"/>
                          <a:ea typeface="黑体-简" panose="02000000000000000000" charset="-122"/>
                        </a:rPr>
                        <a:t>/</a:t>
                      </a:r>
                      <a:endParaRPr lang="en-US" altLang="zh-CN" sz="1200">
                        <a:latin typeface="Arial" panose="020B0604020202020204" pitchFamily="34" charset="0"/>
                        <a:ea typeface="黑体-简" panose="02000000000000000000" charset="-122"/>
                      </a:endParaRPr>
                    </a:p>
                  </a:txBody>
                  <a:tcPr anchor="ctr" anchorCtr="0"/>
                </a:tc>
                <a:tc>
                  <a:txBody>
                    <a:bodyPr/>
                    <a:p>
                      <a:pPr algn="ctr">
                        <a:buClrTx/>
                        <a:buSzTx/>
                        <a:buFontTx/>
                        <a:buNone/>
                      </a:pP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sym typeface="+mn-ea"/>
                      </a:endParaRPr>
                    </a:p>
                  </a:txBody>
                  <a:tcPr anchor="ctr" anchorCtr="0"/>
                </a:tc>
              </a:tr>
            </a:tbl>
          </a:graphicData>
        </a:graphic>
      </p:graphicFrame>
      <p:grpSp>
        <p:nvGrpSpPr>
          <p:cNvPr id="4" name="组合 3"/>
          <p:cNvGrpSpPr/>
          <p:nvPr/>
        </p:nvGrpSpPr>
        <p:grpSpPr>
          <a:xfrm rot="0">
            <a:off x="224790" y="306705"/>
            <a:ext cx="369570" cy="266700"/>
            <a:chOff x="533" y="672"/>
            <a:chExt cx="582" cy="420"/>
          </a:xfrm>
        </p:grpSpPr>
        <p:sp>
          <p:nvSpPr>
            <p:cNvPr id="5"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sp>
          <p:nvSpPr>
            <p:cNvPr id="7"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grpSp>
      <p:sp>
        <p:nvSpPr>
          <p:cNvPr id="16" name="textbox 158"/>
          <p:cNvSpPr/>
          <p:nvPr/>
        </p:nvSpPr>
        <p:spPr>
          <a:xfrm>
            <a:off x="740410" y="347980"/>
            <a:ext cx="9503410" cy="34353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安全考核与通告应对看板</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rot="0">
            <a:off x="224790" y="306705"/>
            <a:ext cx="369570" cy="266700"/>
            <a:chOff x="533" y="672"/>
            <a:chExt cx="582" cy="420"/>
          </a:xfrm>
        </p:grpSpPr>
        <p:sp>
          <p:nvSpPr>
            <p:cNvPr id="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sp>
          <p:nvSpPr>
            <p:cNvPr id="5"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grpSp>
      <p:sp>
        <p:nvSpPr>
          <p:cNvPr id="16" name="textbox 158"/>
          <p:cNvSpPr/>
          <p:nvPr/>
        </p:nvSpPr>
        <p:spPr>
          <a:xfrm>
            <a:off x="740410" y="347980"/>
            <a:ext cx="7640955" cy="34353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核心</a:t>
            </a:r>
            <a:r>
              <a:rPr 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工作目标</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2</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：重要时期</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0</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重大事件</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pic>
        <p:nvPicPr>
          <p:cNvPr id="63" name="图片 62"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grpSp>
        <p:nvGrpSpPr>
          <p:cNvPr id="125" name="组合 124"/>
          <p:cNvGrpSpPr/>
          <p:nvPr/>
        </p:nvGrpSpPr>
        <p:grpSpPr>
          <a:xfrm>
            <a:off x="852170" y="1021080"/>
            <a:ext cx="10556240" cy="1647190"/>
            <a:chOff x="1342" y="1608"/>
            <a:chExt cx="16624" cy="2594"/>
          </a:xfrm>
        </p:grpSpPr>
        <p:grpSp>
          <p:nvGrpSpPr>
            <p:cNvPr id="3" name="组合 2" descr="7b0a202020202274657874626f78223a20227b5c2269645c223a32303334383533362c5c227469645c223a5c225c227d220a7d0a"/>
            <p:cNvGrpSpPr/>
            <p:nvPr>
              <p:custDataLst>
                <p:tags r:id="rId4"/>
              </p:custDataLst>
            </p:nvPr>
          </p:nvGrpSpPr>
          <p:grpSpPr>
            <a:xfrm>
              <a:off x="1342" y="1608"/>
              <a:ext cx="16624" cy="2594"/>
              <a:chOff x="3067050" y="1761966"/>
              <a:chExt cx="6057900" cy="3684815"/>
            </a:xfrm>
          </p:grpSpPr>
          <p:grpSp>
            <p:nvGrpSpPr>
              <p:cNvPr id="7" name="组合 6"/>
              <p:cNvGrpSpPr/>
              <p:nvPr/>
            </p:nvGrpSpPr>
            <p:grpSpPr>
              <a:xfrm>
                <a:off x="3067050" y="1761966"/>
                <a:ext cx="6057900" cy="3684815"/>
                <a:chOff x="3064668" y="1247616"/>
                <a:chExt cx="6057900" cy="3684815"/>
              </a:xfrm>
            </p:grpSpPr>
            <p:grpSp>
              <p:nvGrpSpPr>
                <p:cNvPr id="8" name="组合 7"/>
                <p:cNvGrpSpPr/>
                <p:nvPr/>
              </p:nvGrpSpPr>
              <p:grpSpPr>
                <a:xfrm>
                  <a:off x="3064668" y="1247616"/>
                  <a:ext cx="6057900" cy="479210"/>
                  <a:chOff x="3064668" y="1247616"/>
                  <a:chExt cx="6057900" cy="479210"/>
                </a:xfrm>
              </p:grpSpPr>
              <p:sp>
                <p:nvSpPr>
                  <p:cNvPr id="39" name="任意多边形: 形状 9"/>
                  <p:cNvSpPr/>
                  <p:nvPr/>
                </p:nvSpPr>
                <p:spPr>
                  <a:xfrm rot="5400000">
                    <a:off x="3038475" y="148393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0" name="任意多边形: 形状 10"/>
                  <p:cNvSpPr/>
                  <p:nvPr/>
                </p:nvSpPr>
                <p:spPr>
                  <a:xfrm rot="5400000">
                    <a:off x="3146425" y="148097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1" name="任意多边形: 形状 11"/>
                  <p:cNvSpPr/>
                  <p:nvPr/>
                </p:nvSpPr>
                <p:spPr>
                  <a:xfrm flipV="1">
                    <a:off x="3064668" y="1425682"/>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3">
                    <a:schemeClr val="accent5"/>
                  </a:lnRef>
                  <a:fillRef idx="0">
                    <a:srgbClr val="FFFFFF"/>
                  </a:fillRef>
                  <a:effectRef idx="0">
                    <a:srgbClr val="FFFFFF"/>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nvGrpSpPr>
                <p:cNvPr id="9" name="组合 8"/>
                <p:cNvGrpSpPr/>
                <p:nvPr/>
              </p:nvGrpSpPr>
              <p:grpSpPr>
                <a:xfrm>
                  <a:off x="3064668" y="4456181"/>
                  <a:ext cx="6057900" cy="476250"/>
                  <a:chOff x="3064668" y="4456181"/>
                  <a:chExt cx="6057900" cy="476250"/>
                </a:xfrm>
              </p:grpSpPr>
              <p:sp>
                <p:nvSpPr>
                  <p:cNvPr id="46" name="任意多边形: 形状 6"/>
                  <p:cNvSpPr/>
                  <p:nvPr/>
                </p:nvSpPr>
                <p:spPr>
                  <a:xfrm rot="5400000">
                    <a:off x="86518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1" name="任意多边形: 形状 7"/>
                  <p:cNvSpPr/>
                  <p:nvPr/>
                </p:nvSpPr>
                <p:spPr>
                  <a:xfrm rot="5400000">
                    <a:off x="85502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2" name="任意多边形: 形状 8"/>
                  <p:cNvSpPr/>
                  <p:nvPr/>
                </p:nvSpPr>
                <p:spPr>
                  <a:xfrm flipV="1">
                    <a:off x="3064668" y="4694304"/>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2">
                    <a:schemeClr val="accent6"/>
                  </a:lnRef>
                  <a:fillRef idx="0">
                    <a:schemeClr val="accent6"/>
                  </a:fillRef>
                  <a:effectRef idx="1">
                    <a:schemeClr val="accent6"/>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sp>
            <p:nvSpPr>
              <p:cNvPr id="53" name="文本框 52"/>
              <p:cNvSpPr txBox="1"/>
              <p:nvPr/>
            </p:nvSpPr>
            <p:spPr>
              <a:xfrm>
                <a:off x="3121711" y="3194901"/>
                <a:ext cx="5948943" cy="1775247"/>
              </a:xfrm>
              <a:prstGeom prst="rect">
                <a:avLst/>
              </a:prstGeom>
              <a:noFill/>
            </p:spPr>
            <p:txBody>
              <a:bodyPr wrap="square" rtlCol="0" anchor="ctr"/>
              <a:lstStyle/>
              <a:p>
                <a:pPr indent="457200" algn="just">
                  <a:lnSpc>
                    <a:spcPct val="150000"/>
                  </a:lnSpc>
                </a:pPr>
                <a:r>
                  <a:rPr lang="zh-CN" sz="1400" kern="1200" dirty="0">
                    <a:solidFill>
                      <a:schemeClr val="tx1"/>
                    </a:solidFill>
                    <a:effectLst/>
                    <a:latin typeface="Arial" panose="020B0604020202020204" pitchFamily="34" charset="0"/>
                    <a:ea typeface="黑体-简" panose="02000000000000000000" charset="-122"/>
                    <a:cs typeface="+mn-cs"/>
                    <a:sym typeface="+mn-ea"/>
                  </a:rPr>
                  <a:t>在重要时期云端团队实时</a:t>
                </a:r>
                <a:r>
                  <a:rPr lang="en-US" altLang="zh-CN" sz="1400" kern="1200" dirty="0">
                    <a:solidFill>
                      <a:schemeClr val="tx1"/>
                    </a:solidFill>
                    <a:effectLst/>
                    <a:latin typeface="Arial" panose="020B0604020202020204" pitchFamily="34" charset="0"/>
                    <a:ea typeface="黑体-简" panose="02000000000000000000" charset="-122"/>
                    <a:cs typeface="+mn-cs"/>
                    <a:sym typeface="+mn-ea"/>
                  </a:rPr>
                  <a:t>7x24</a:t>
                </a:r>
                <a:r>
                  <a:rPr lang="zh-CN" altLang="en-US" sz="1400" kern="1200" dirty="0">
                    <a:solidFill>
                      <a:schemeClr val="tx1"/>
                    </a:solidFill>
                    <a:effectLst/>
                    <a:latin typeface="Arial" panose="020B0604020202020204" pitchFamily="34" charset="0"/>
                    <a:ea typeface="黑体-简" panose="02000000000000000000" charset="-122"/>
                    <a:cs typeface="+mn-cs"/>
                    <a:sym typeface="+mn-ea"/>
                  </a:rPr>
                  <a:t>小时对设备的安全日志进行实时分析研判，对安全威胁进行持续对抗，每日通报安全态势情况，顺利保障重要时期（</a:t>
                </a:r>
                <a:r>
                  <a:rPr lang="en-US" altLang="zh-CN" sz="1400" kern="1200" dirty="0">
                    <a:solidFill>
                      <a:srgbClr val="4C61E7"/>
                    </a:solidFill>
                    <a:effectLst/>
                    <a:latin typeface="Arial" panose="020B0604020202020204" pitchFamily="34" charset="0"/>
                    <a:ea typeface="黑体-简" panose="02000000000000000000" charset="-122"/>
                    <a:cs typeface="+mn-cs"/>
                    <a:sym typeface="+mn-ea"/>
                  </a:rPr>
                  <a:t>{{critical_protection_periods_text}}</a:t>
                </a:r>
                <a:r>
                  <a:rPr lang="zh-CN" altLang="en-US" sz="1400" kern="1200" dirty="0">
                    <a:solidFill>
                      <a:schemeClr val="tx1"/>
                    </a:solidFill>
                    <a:effectLst/>
                    <a:latin typeface="Arial" panose="020B0604020202020204" pitchFamily="34" charset="0"/>
                    <a:ea typeface="黑体-简" panose="02000000000000000000" charset="-122"/>
                    <a:cs typeface="+mn-cs"/>
                    <a:sym typeface="+mn-ea"/>
                  </a:rPr>
                  <a:t>）未出现重大安全事件或事故。</a:t>
                </a:r>
                <a:endParaRPr lang="zh-CN" altLang="en-US" sz="1400" kern="1200" dirty="0">
                  <a:solidFill>
                    <a:schemeClr val="tx1"/>
                  </a:solidFill>
                  <a:effectLst/>
                  <a:latin typeface="Arial" panose="020B0604020202020204" pitchFamily="34" charset="0"/>
                  <a:ea typeface="黑体-简" panose="02000000000000000000" charset="-122"/>
                  <a:cs typeface="+mn-cs"/>
                  <a:sym typeface="+mn-ea"/>
                </a:endParaRPr>
              </a:p>
            </p:txBody>
          </p:sp>
        </p:grpSp>
        <p:sp>
          <p:nvSpPr>
            <p:cNvPr id="69" name="文本框 68"/>
            <p:cNvSpPr txBox="1"/>
            <p:nvPr/>
          </p:nvSpPr>
          <p:spPr>
            <a:xfrm>
              <a:off x="1492" y="2037"/>
              <a:ext cx="9600" cy="580"/>
            </a:xfrm>
            <a:prstGeom prst="rect">
              <a:avLst/>
            </a:prstGeom>
            <a:noFill/>
          </p:spPr>
          <p:txBody>
            <a:bodyPr wrap="square" rtlCol="0" anchor="t">
              <a:spAutoFit/>
            </a:bodyPr>
            <a:p>
              <a:pPr marL="0" algn="l">
                <a:lnSpc>
                  <a:spcPct val="100000"/>
                </a:lnSpc>
                <a:buClrTx/>
                <a:buSzTx/>
                <a:buFontTx/>
                <a:buNone/>
              </a:pPr>
              <a:r>
                <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重保期间</a:t>
              </a:r>
              <a:r>
                <a:rPr lang="en-US" altLang="zh-CN"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未发生攻击成功事件，</a:t>
              </a:r>
              <a:r>
                <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安全威胁风险可控</a:t>
              </a:r>
              <a:endPar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endParaRPr>
            </a:p>
          </p:txBody>
        </p:sp>
      </p:grpSp>
      <p:pic>
        <p:nvPicPr>
          <p:cNvPr id="124" name="图片 123"/>
          <p:cNvPicPr>
            <a:picLocks noChangeAspect="1"/>
          </p:cNvPicPr>
          <p:nvPr/>
        </p:nvPicPr>
        <p:blipFill>
          <a:blip r:embed="rId5"/>
          <a:stretch>
            <a:fillRect/>
          </a:stretch>
        </p:blipFill>
        <p:spPr>
          <a:xfrm>
            <a:off x="6339840" y="3027680"/>
            <a:ext cx="5069205" cy="2606675"/>
          </a:xfrm>
          <a:prstGeom prst="rect">
            <a:avLst/>
          </a:prstGeom>
        </p:spPr>
      </p:pic>
      <p:sp>
        <p:nvSpPr>
          <p:cNvPr id="1844" name="wps右边框"/>
          <p:cNvSpPr/>
          <p:nvPr>
            <p:custDataLst>
              <p:tags r:id="rId6"/>
            </p:custDataLst>
          </p:nvPr>
        </p:nvSpPr>
        <p:spPr>
          <a:xfrm>
            <a:off x="2974975" y="3169920"/>
            <a:ext cx="2568575" cy="575945"/>
          </a:xfrm>
          <a:custGeom>
            <a:avLst/>
            <a:gdLst>
              <a:gd name="connsiteX0" fmla="*/ 0 w 914400"/>
              <a:gd name="connsiteY0" fmla="*/ 0 h 612648"/>
              <a:gd name="connsiteX1" fmla="*/ 914400 w 914400"/>
              <a:gd name="connsiteY1" fmla="*/ 0 h 612648"/>
              <a:gd name="connsiteX2" fmla="*/ 914400 w 914400"/>
              <a:gd name="connsiteY2" fmla="*/ 612648 h 612648"/>
              <a:gd name="connsiteX3" fmla="*/ 0 w 914400"/>
              <a:gd name="connsiteY3" fmla="*/ 612648 h 612648"/>
              <a:gd name="connsiteX4" fmla="*/ 0 w 914400"/>
              <a:gd name="connsiteY4" fmla="*/ 0 h 612648"/>
              <a:gd name="connsiteX0-1" fmla="*/ 2377 w 914400"/>
              <a:gd name="connsiteY0-2" fmla="*/ 7713 h 612648"/>
              <a:gd name="connsiteX1-3" fmla="*/ 916302 w 914400"/>
              <a:gd name="connsiteY1-4" fmla="*/ 1048 h 612648"/>
              <a:gd name="connsiteX0-5" fmla="*/ 0 w 916302"/>
              <a:gd name="connsiteY0-6" fmla="*/ 0 h 612648"/>
              <a:gd name="connsiteX1-7" fmla="*/ 914400 w 916302"/>
              <a:gd name="connsiteY1-8" fmla="*/ 0 h 612648"/>
              <a:gd name="connsiteX2-9" fmla="*/ 914400 w 916302"/>
              <a:gd name="connsiteY2-10" fmla="*/ 612648 h 612648"/>
              <a:gd name="connsiteX3-11" fmla="*/ 457200 w 916302"/>
              <a:gd name="connsiteY3-12" fmla="*/ 612624 h 612648"/>
              <a:gd name="connsiteX4-13" fmla="*/ 0 w 916302"/>
              <a:gd name="connsiteY4-14" fmla="*/ 612648 h 612648"/>
              <a:gd name="connsiteX5" fmla="*/ 0 w 916302"/>
              <a:gd name="connsiteY5" fmla="*/ 0 h 612648"/>
              <a:gd name="connsiteX0-15" fmla="*/ 2377 w 916302"/>
              <a:gd name="connsiteY0-16" fmla="*/ 7713 h 612648"/>
              <a:gd name="connsiteX1-17" fmla="*/ 916302 w 916302"/>
              <a:gd name="connsiteY1-18" fmla="*/ 1048 h 612648"/>
              <a:gd name="connsiteX0-19" fmla="*/ 0 w 914400"/>
              <a:gd name="connsiteY0-20" fmla="*/ 0 h 612648"/>
              <a:gd name="connsiteX1-21" fmla="*/ 914400 w 914400"/>
              <a:gd name="connsiteY1-22" fmla="*/ 0 h 612648"/>
              <a:gd name="connsiteX2-23" fmla="*/ 914400 w 914400"/>
              <a:gd name="connsiteY2-24" fmla="*/ 612648 h 612648"/>
              <a:gd name="connsiteX3-25" fmla="*/ 0 w 914400"/>
              <a:gd name="connsiteY3-26" fmla="*/ 612648 h 612648"/>
              <a:gd name="connsiteX4-27" fmla="*/ 0 w 914400"/>
              <a:gd name="connsiteY4-28" fmla="*/ 0 h 612648"/>
              <a:gd name="connsiteX0-29" fmla="*/ 914400 w 914400"/>
              <a:gd name="connsiteY0-30" fmla="*/ 0 h 612648"/>
              <a:gd name="connsiteX1-31" fmla="*/ 914400 w 914400"/>
              <a:gd name="connsiteY1-32" fmla="*/ 612648 h 612648"/>
            </a:gdLst>
            <a:ahLst/>
            <a:cxnLst>
              <a:cxn ang="0">
                <a:pos x="connsiteX0-1" y="connsiteY0-2"/>
              </a:cxn>
              <a:cxn ang="0">
                <a:pos x="connsiteX1-3" y="connsiteY1-4"/>
              </a:cxn>
            </a:cxnLst>
            <a:rect l="l" t="t" r="r" b="b"/>
            <a:pathLst>
              <a:path w="914400" h="612648" stroke="0" extrusionOk="0">
                <a:moveTo>
                  <a:pt x="0" y="0"/>
                </a:moveTo>
                <a:lnTo>
                  <a:pt x="914400" y="0"/>
                </a:lnTo>
                <a:lnTo>
                  <a:pt x="914400" y="612648"/>
                </a:lnTo>
                <a:lnTo>
                  <a:pt x="0" y="612648"/>
                </a:lnTo>
                <a:lnTo>
                  <a:pt x="0" y="0"/>
                </a:lnTo>
                <a:close/>
              </a:path>
              <a:path w="914400" h="612648" fill="none" extrusionOk="0">
                <a:moveTo>
                  <a:pt x="914400" y="0"/>
                </a:moveTo>
                <a:lnTo>
                  <a:pt x="914400" y="612648"/>
                </a:lnTo>
              </a:path>
            </a:pathLst>
          </a:custGeom>
          <a:gradFill>
            <a:gsLst>
              <a:gs pos="0">
                <a:schemeClr val="accent5">
                  <a:lumMod val="20000"/>
                  <a:lumOff val="80000"/>
                  <a:alpha val="8000"/>
                </a:schemeClr>
              </a:gs>
              <a:gs pos="13000">
                <a:schemeClr val="accent5">
                  <a:lumMod val="20000"/>
                  <a:lumOff val="80000"/>
                  <a:alpha val="25000"/>
                </a:schemeClr>
              </a:gs>
              <a:gs pos="100000">
                <a:schemeClr val="accent5">
                  <a:lumMod val="20000"/>
                  <a:lumOff val="80000"/>
                  <a:alpha val="69000"/>
                </a:schemeClr>
              </a:gs>
            </a:gsLst>
            <a:lin ang="0" scaled="0"/>
          </a:gra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rIns="215900" numCol="1" spcCol="0" rtlCol="0" fromWordArt="0" anchor="ctr" anchorCtr="0" forceAA="0" compatLnSpc="1">
            <a:noAutofit/>
          </a:bodyPr>
          <a:lstStyle/>
          <a:p>
            <a:pPr lvl="0" algn="r">
              <a:buClrTx/>
              <a:buSzTx/>
              <a:buFontTx/>
            </a:pPr>
            <a:r>
              <a:rPr lang="zh-CN" altLang="en-US" sz="2000" kern="0" dirty="0">
                <a:ln>
                  <a:noFill/>
                  <a:prstDash val="sysDot"/>
                </a:ln>
                <a:solidFill>
                  <a:schemeClr val="tx1">
                    <a:lumMod val="85000"/>
                    <a:lumOff val="15000"/>
                  </a:schemeClr>
                </a:solidFill>
                <a:latin typeface="+mn-ea"/>
                <a:sym typeface="+mn-ea"/>
              </a:rPr>
              <a:t>安全日志数</a:t>
            </a:r>
            <a:endParaRPr lang="zh-CN" altLang="en-US" sz="2000" kern="0" dirty="0">
              <a:ln>
                <a:noFill/>
                <a:prstDash val="sysDot"/>
              </a:ln>
              <a:solidFill>
                <a:schemeClr val="tx1">
                  <a:lumMod val="85000"/>
                  <a:lumOff val="15000"/>
                </a:schemeClr>
              </a:solidFill>
              <a:latin typeface="+mn-ea"/>
              <a:sym typeface="+mn-ea"/>
            </a:endParaRPr>
          </a:p>
        </p:txBody>
      </p:sp>
      <p:sp>
        <p:nvSpPr>
          <p:cNvPr id="1845" name="wps右边框"/>
          <p:cNvSpPr/>
          <p:nvPr>
            <p:custDataLst>
              <p:tags r:id="rId7"/>
            </p:custDataLst>
          </p:nvPr>
        </p:nvSpPr>
        <p:spPr>
          <a:xfrm>
            <a:off x="2799715" y="3900805"/>
            <a:ext cx="2744470" cy="575945"/>
          </a:xfrm>
          <a:custGeom>
            <a:avLst/>
            <a:gdLst>
              <a:gd name="connsiteX0" fmla="*/ 0 w 914400"/>
              <a:gd name="connsiteY0" fmla="*/ 0 h 612648"/>
              <a:gd name="connsiteX1" fmla="*/ 914400 w 914400"/>
              <a:gd name="connsiteY1" fmla="*/ 0 h 612648"/>
              <a:gd name="connsiteX2" fmla="*/ 914400 w 914400"/>
              <a:gd name="connsiteY2" fmla="*/ 612648 h 612648"/>
              <a:gd name="connsiteX3" fmla="*/ 0 w 914400"/>
              <a:gd name="connsiteY3" fmla="*/ 612648 h 612648"/>
              <a:gd name="connsiteX4" fmla="*/ 0 w 914400"/>
              <a:gd name="connsiteY4" fmla="*/ 0 h 612648"/>
              <a:gd name="connsiteX0-1" fmla="*/ 2377 w 914400"/>
              <a:gd name="connsiteY0-2" fmla="*/ 7713 h 612648"/>
              <a:gd name="connsiteX1-3" fmla="*/ 916302 w 914400"/>
              <a:gd name="connsiteY1-4" fmla="*/ 1048 h 612648"/>
              <a:gd name="connsiteX0-5" fmla="*/ 0 w 916302"/>
              <a:gd name="connsiteY0-6" fmla="*/ 0 h 612648"/>
              <a:gd name="connsiteX1-7" fmla="*/ 914400 w 916302"/>
              <a:gd name="connsiteY1-8" fmla="*/ 0 h 612648"/>
              <a:gd name="connsiteX2-9" fmla="*/ 914400 w 916302"/>
              <a:gd name="connsiteY2-10" fmla="*/ 612648 h 612648"/>
              <a:gd name="connsiteX3-11" fmla="*/ 457200 w 916302"/>
              <a:gd name="connsiteY3-12" fmla="*/ 612624 h 612648"/>
              <a:gd name="connsiteX4-13" fmla="*/ 0 w 916302"/>
              <a:gd name="connsiteY4-14" fmla="*/ 612648 h 612648"/>
              <a:gd name="connsiteX5" fmla="*/ 0 w 916302"/>
              <a:gd name="connsiteY5" fmla="*/ 0 h 612648"/>
              <a:gd name="connsiteX0-15" fmla="*/ 2377 w 916302"/>
              <a:gd name="connsiteY0-16" fmla="*/ 7713 h 612648"/>
              <a:gd name="connsiteX1-17" fmla="*/ 916302 w 916302"/>
              <a:gd name="connsiteY1-18" fmla="*/ 1048 h 612648"/>
              <a:gd name="connsiteX0-19" fmla="*/ 0 w 914400"/>
              <a:gd name="connsiteY0-20" fmla="*/ 0 h 612648"/>
              <a:gd name="connsiteX1-21" fmla="*/ 914400 w 914400"/>
              <a:gd name="connsiteY1-22" fmla="*/ 0 h 612648"/>
              <a:gd name="connsiteX2-23" fmla="*/ 914400 w 914400"/>
              <a:gd name="connsiteY2-24" fmla="*/ 612648 h 612648"/>
              <a:gd name="connsiteX3-25" fmla="*/ 0 w 914400"/>
              <a:gd name="connsiteY3-26" fmla="*/ 612648 h 612648"/>
              <a:gd name="connsiteX4-27" fmla="*/ 0 w 914400"/>
              <a:gd name="connsiteY4-28" fmla="*/ 0 h 612648"/>
              <a:gd name="connsiteX0-29" fmla="*/ 914400 w 914400"/>
              <a:gd name="connsiteY0-30" fmla="*/ 0 h 612648"/>
              <a:gd name="connsiteX1-31" fmla="*/ 914400 w 914400"/>
              <a:gd name="connsiteY1-32" fmla="*/ 612648 h 612648"/>
            </a:gdLst>
            <a:ahLst/>
            <a:cxnLst>
              <a:cxn ang="0">
                <a:pos x="connsiteX0-1" y="connsiteY0-2"/>
              </a:cxn>
              <a:cxn ang="0">
                <a:pos x="connsiteX1-3" y="connsiteY1-4"/>
              </a:cxn>
            </a:cxnLst>
            <a:rect l="l" t="t" r="r" b="b"/>
            <a:pathLst>
              <a:path w="914400" h="612648" stroke="0" extrusionOk="0">
                <a:moveTo>
                  <a:pt x="0" y="0"/>
                </a:moveTo>
                <a:lnTo>
                  <a:pt x="914400" y="0"/>
                </a:lnTo>
                <a:lnTo>
                  <a:pt x="914400" y="612648"/>
                </a:lnTo>
                <a:lnTo>
                  <a:pt x="0" y="612648"/>
                </a:lnTo>
                <a:lnTo>
                  <a:pt x="0" y="0"/>
                </a:lnTo>
                <a:close/>
              </a:path>
              <a:path w="914400" h="612648" fill="none" extrusionOk="0">
                <a:moveTo>
                  <a:pt x="914400" y="0"/>
                </a:moveTo>
                <a:lnTo>
                  <a:pt x="914400" y="612648"/>
                </a:lnTo>
              </a:path>
            </a:pathLst>
          </a:custGeom>
          <a:gradFill>
            <a:gsLst>
              <a:gs pos="0">
                <a:schemeClr val="accent6">
                  <a:lumMod val="20000"/>
                  <a:lumOff val="80000"/>
                  <a:alpha val="8000"/>
                </a:schemeClr>
              </a:gs>
              <a:gs pos="13000">
                <a:schemeClr val="accent6">
                  <a:lumMod val="20000"/>
                  <a:lumOff val="80000"/>
                  <a:alpha val="25000"/>
                </a:schemeClr>
              </a:gs>
              <a:gs pos="100000">
                <a:schemeClr val="accent6">
                  <a:lumMod val="20000"/>
                  <a:lumOff val="80000"/>
                  <a:alpha val="69000"/>
                </a:schemeClr>
              </a:gs>
            </a:gsLst>
            <a:lin ang="0" scaled="0"/>
          </a:grad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rIns="215900" numCol="1" spcCol="0" rtlCol="0" fromWordArt="0" anchor="ctr" anchorCtr="0" forceAA="0" compatLnSpc="1">
            <a:noAutofit/>
          </a:bodyPr>
          <a:lstStyle/>
          <a:p>
            <a:pPr lvl="0" algn="r">
              <a:buClrTx/>
              <a:buSzTx/>
              <a:buFontTx/>
            </a:pPr>
            <a:r>
              <a:rPr lang="zh-CN" altLang="en-US" sz="2000" kern="0" dirty="0">
                <a:ln>
                  <a:noFill/>
                  <a:prstDash val="sysDot"/>
                </a:ln>
                <a:solidFill>
                  <a:schemeClr val="tx1">
                    <a:lumMod val="85000"/>
                    <a:lumOff val="15000"/>
                  </a:schemeClr>
                </a:solidFill>
                <a:latin typeface="+mn-ea"/>
                <a:sym typeface="+mn-ea"/>
              </a:rPr>
              <a:t>安全告警数</a:t>
            </a:r>
            <a:endParaRPr lang="zh-CN" altLang="en-US" sz="2000" kern="0" dirty="0">
              <a:ln>
                <a:noFill/>
                <a:prstDash val="sysDot"/>
              </a:ln>
              <a:solidFill>
                <a:schemeClr val="tx1">
                  <a:lumMod val="85000"/>
                  <a:lumOff val="15000"/>
                </a:schemeClr>
              </a:solidFill>
              <a:latin typeface="+mn-ea"/>
              <a:sym typeface="+mn-ea"/>
            </a:endParaRPr>
          </a:p>
        </p:txBody>
      </p:sp>
      <p:sp>
        <p:nvSpPr>
          <p:cNvPr id="1846" name="wps右边框"/>
          <p:cNvSpPr/>
          <p:nvPr>
            <p:custDataLst>
              <p:tags r:id="rId8"/>
            </p:custDataLst>
          </p:nvPr>
        </p:nvSpPr>
        <p:spPr>
          <a:xfrm>
            <a:off x="2423160" y="4631690"/>
            <a:ext cx="3121025" cy="575945"/>
          </a:xfrm>
          <a:custGeom>
            <a:avLst/>
            <a:gdLst>
              <a:gd name="connsiteX0" fmla="*/ 0 w 914400"/>
              <a:gd name="connsiteY0" fmla="*/ 0 h 612648"/>
              <a:gd name="connsiteX1" fmla="*/ 914400 w 914400"/>
              <a:gd name="connsiteY1" fmla="*/ 0 h 612648"/>
              <a:gd name="connsiteX2" fmla="*/ 914400 w 914400"/>
              <a:gd name="connsiteY2" fmla="*/ 612648 h 612648"/>
              <a:gd name="connsiteX3" fmla="*/ 0 w 914400"/>
              <a:gd name="connsiteY3" fmla="*/ 612648 h 612648"/>
              <a:gd name="connsiteX4" fmla="*/ 0 w 914400"/>
              <a:gd name="connsiteY4" fmla="*/ 0 h 612648"/>
              <a:gd name="connsiteX0-1" fmla="*/ 2377 w 914400"/>
              <a:gd name="connsiteY0-2" fmla="*/ 7713 h 612648"/>
              <a:gd name="connsiteX1-3" fmla="*/ 916302 w 914400"/>
              <a:gd name="connsiteY1-4" fmla="*/ 1048 h 612648"/>
              <a:gd name="connsiteX0-5" fmla="*/ 0 w 916302"/>
              <a:gd name="connsiteY0-6" fmla="*/ 0 h 612648"/>
              <a:gd name="connsiteX1-7" fmla="*/ 914400 w 916302"/>
              <a:gd name="connsiteY1-8" fmla="*/ 0 h 612648"/>
              <a:gd name="connsiteX2-9" fmla="*/ 914400 w 916302"/>
              <a:gd name="connsiteY2-10" fmla="*/ 612648 h 612648"/>
              <a:gd name="connsiteX3-11" fmla="*/ 457200 w 916302"/>
              <a:gd name="connsiteY3-12" fmla="*/ 612624 h 612648"/>
              <a:gd name="connsiteX4-13" fmla="*/ 0 w 916302"/>
              <a:gd name="connsiteY4-14" fmla="*/ 612648 h 612648"/>
              <a:gd name="connsiteX5" fmla="*/ 0 w 916302"/>
              <a:gd name="connsiteY5" fmla="*/ 0 h 612648"/>
              <a:gd name="connsiteX0-15" fmla="*/ 2377 w 916302"/>
              <a:gd name="connsiteY0-16" fmla="*/ 7713 h 612648"/>
              <a:gd name="connsiteX1-17" fmla="*/ 916302 w 916302"/>
              <a:gd name="connsiteY1-18" fmla="*/ 1048 h 612648"/>
              <a:gd name="connsiteX0-19" fmla="*/ 0 w 914400"/>
              <a:gd name="connsiteY0-20" fmla="*/ 0 h 612648"/>
              <a:gd name="connsiteX1-21" fmla="*/ 914400 w 914400"/>
              <a:gd name="connsiteY1-22" fmla="*/ 0 h 612648"/>
              <a:gd name="connsiteX2-23" fmla="*/ 914400 w 914400"/>
              <a:gd name="connsiteY2-24" fmla="*/ 612648 h 612648"/>
              <a:gd name="connsiteX3-25" fmla="*/ 0 w 914400"/>
              <a:gd name="connsiteY3-26" fmla="*/ 612648 h 612648"/>
              <a:gd name="connsiteX4-27" fmla="*/ 0 w 914400"/>
              <a:gd name="connsiteY4-28" fmla="*/ 0 h 612648"/>
              <a:gd name="connsiteX0-29" fmla="*/ 914400 w 914400"/>
              <a:gd name="connsiteY0-30" fmla="*/ 0 h 612648"/>
              <a:gd name="connsiteX1-31" fmla="*/ 914400 w 914400"/>
              <a:gd name="connsiteY1-32" fmla="*/ 612648 h 612648"/>
            </a:gdLst>
            <a:ahLst/>
            <a:cxnLst>
              <a:cxn ang="0">
                <a:pos x="connsiteX0-1" y="connsiteY0-2"/>
              </a:cxn>
              <a:cxn ang="0">
                <a:pos x="connsiteX1-3" y="connsiteY1-4"/>
              </a:cxn>
            </a:cxnLst>
            <a:rect l="l" t="t" r="r" b="b"/>
            <a:pathLst>
              <a:path w="914400" h="612648" stroke="0" extrusionOk="0">
                <a:moveTo>
                  <a:pt x="0" y="0"/>
                </a:moveTo>
                <a:lnTo>
                  <a:pt x="914400" y="0"/>
                </a:lnTo>
                <a:lnTo>
                  <a:pt x="914400" y="612648"/>
                </a:lnTo>
                <a:lnTo>
                  <a:pt x="0" y="612648"/>
                </a:lnTo>
                <a:lnTo>
                  <a:pt x="0" y="0"/>
                </a:lnTo>
                <a:close/>
              </a:path>
              <a:path w="914400" h="612648" fill="none" extrusionOk="0">
                <a:moveTo>
                  <a:pt x="914400" y="0"/>
                </a:moveTo>
                <a:lnTo>
                  <a:pt x="914400" y="612648"/>
                </a:lnTo>
              </a:path>
            </a:pathLst>
          </a:custGeom>
          <a:gradFill>
            <a:gsLst>
              <a:gs pos="0">
                <a:schemeClr val="accent5">
                  <a:lumMod val="20000"/>
                  <a:lumOff val="80000"/>
                  <a:alpha val="8000"/>
                </a:schemeClr>
              </a:gs>
              <a:gs pos="13000">
                <a:schemeClr val="accent5">
                  <a:lumMod val="20000"/>
                  <a:lumOff val="80000"/>
                  <a:alpha val="25000"/>
                </a:schemeClr>
              </a:gs>
              <a:gs pos="100000">
                <a:schemeClr val="accent5">
                  <a:lumMod val="20000"/>
                  <a:lumOff val="80000"/>
                  <a:alpha val="69000"/>
                </a:schemeClr>
              </a:gs>
            </a:gsLst>
            <a:lin ang="0" scaled="0"/>
          </a:grad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rIns="215900" numCol="1" spcCol="0" rtlCol="0" fromWordArt="0" anchor="ctr" anchorCtr="0" forceAA="0" compatLnSpc="1">
            <a:noAutofit/>
          </a:bodyPr>
          <a:lstStyle/>
          <a:p>
            <a:pPr lvl="0" algn="r">
              <a:buClrTx/>
              <a:buSzTx/>
              <a:buFontTx/>
            </a:pPr>
            <a:r>
              <a:rPr lang="zh-CN" altLang="en-US" sz="2000" kern="0" dirty="0">
                <a:ln>
                  <a:noFill/>
                  <a:prstDash val="sysDot"/>
                </a:ln>
                <a:solidFill>
                  <a:schemeClr val="tx1">
                    <a:lumMod val="85000"/>
                    <a:lumOff val="15000"/>
                  </a:schemeClr>
                </a:solidFill>
                <a:latin typeface="+mn-ea"/>
                <a:sym typeface="+mn-ea"/>
              </a:rPr>
              <a:t>威胁事件数</a:t>
            </a:r>
            <a:endParaRPr lang="zh-CN" altLang="en-US" sz="2000" kern="0" dirty="0">
              <a:ln>
                <a:noFill/>
                <a:prstDash val="sysDot"/>
              </a:ln>
              <a:solidFill>
                <a:schemeClr val="tx1">
                  <a:lumMod val="85000"/>
                  <a:lumOff val="15000"/>
                </a:schemeClr>
              </a:solidFill>
              <a:latin typeface="+mn-ea"/>
              <a:sym typeface="+mn-ea"/>
            </a:endParaRPr>
          </a:p>
        </p:txBody>
      </p:sp>
      <p:sp>
        <p:nvSpPr>
          <p:cNvPr id="1847" name="wps右边框"/>
          <p:cNvSpPr/>
          <p:nvPr>
            <p:custDataLst>
              <p:tags r:id="rId9"/>
            </p:custDataLst>
          </p:nvPr>
        </p:nvSpPr>
        <p:spPr>
          <a:xfrm>
            <a:off x="2518410" y="5362575"/>
            <a:ext cx="3025140" cy="575945"/>
          </a:xfrm>
          <a:custGeom>
            <a:avLst/>
            <a:gdLst>
              <a:gd name="connsiteX0" fmla="*/ 0 w 914400"/>
              <a:gd name="connsiteY0" fmla="*/ 0 h 612648"/>
              <a:gd name="connsiteX1" fmla="*/ 914400 w 914400"/>
              <a:gd name="connsiteY1" fmla="*/ 0 h 612648"/>
              <a:gd name="connsiteX2" fmla="*/ 914400 w 914400"/>
              <a:gd name="connsiteY2" fmla="*/ 612648 h 612648"/>
              <a:gd name="connsiteX3" fmla="*/ 0 w 914400"/>
              <a:gd name="connsiteY3" fmla="*/ 612648 h 612648"/>
              <a:gd name="connsiteX4" fmla="*/ 0 w 914400"/>
              <a:gd name="connsiteY4" fmla="*/ 0 h 612648"/>
              <a:gd name="connsiteX0-1" fmla="*/ 2377 w 914400"/>
              <a:gd name="connsiteY0-2" fmla="*/ 7713 h 612648"/>
              <a:gd name="connsiteX1-3" fmla="*/ 916302 w 914400"/>
              <a:gd name="connsiteY1-4" fmla="*/ 1048 h 612648"/>
              <a:gd name="connsiteX0-5" fmla="*/ 0 w 916302"/>
              <a:gd name="connsiteY0-6" fmla="*/ 0 h 612648"/>
              <a:gd name="connsiteX1-7" fmla="*/ 914400 w 916302"/>
              <a:gd name="connsiteY1-8" fmla="*/ 0 h 612648"/>
              <a:gd name="connsiteX2-9" fmla="*/ 914400 w 916302"/>
              <a:gd name="connsiteY2-10" fmla="*/ 612648 h 612648"/>
              <a:gd name="connsiteX3-11" fmla="*/ 457200 w 916302"/>
              <a:gd name="connsiteY3-12" fmla="*/ 612624 h 612648"/>
              <a:gd name="connsiteX4-13" fmla="*/ 0 w 916302"/>
              <a:gd name="connsiteY4-14" fmla="*/ 612648 h 612648"/>
              <a:gd name="connsiteX5" fmla="*/ 0 w 916302"/>
              <a:gd name="connsiteY5" fmla="*/ 0 h 612648"/>
              <a:gd name="connsiteX0-15" fmla="*/ 2377 w 916302"/>
              <a:gd name="connsiteY0-16" fmla="*/ 7713 h 612648"/>
              <a:gd name="connsiteX1-17" fmla="*/ 916302 w 916302"/>
              <a:gd name="connsiteY1-18" fmla="*/ 1048 h 612648"/>
              <a:gd name="connsiteX0-19" fmla="*/ 0 w 914400"/>
              <a:gd name="connsiteY0-20" fmla="*/ 0 h 612648"/>
              <a:gd name="connsiteX1-21" fmla="*/ 914400 w 914400"/>
              <a:gd name="connsiteY1-22" fmla="*/ 0 h 612648"/>
              <a:gd name="connsiteX2-23" fmla="*/ 914400 w 914400"/>
              <a:gd name="connsiteY2-24" fmla="*/ 612648 h 612648"/>
              <a:gd name="connsiteX3-25" fmla="*/ 0 w 914400"/>
              <a:gd name="connsiteY3-26" fmla="*/ 612648 h 612648"/>
              <a:gd name="connsiteX4-27" fmla="*/ 0 w 914400"/>
              <a:gd name="connsiteY4-28" fmla="*/ 0 h 612648"/>
              <a:gd name="connsiteX0-29" fmla="*/ 914400 w 914400"/>
              <a:gd name="connsiteY0-30" fmla="*/ 0 h 612648"/>
              <a:gd name="connsiteX1-31" fmla="*/ 914400 w 914400"/>
              <a:gd name="connsiteY1-32" fmla="*/ 612648 h 612648"/>
            </a:gdLst>
            <a:ahLst/>
            <a:cxnLst>
              <a:cxn ang="0">
                <a:pos x="connsiteX0-1" y="connsiteY0-2"/>
              </a:cxn>
              <a:cxn ang="0">
                <a:pos x="connsiteX1-3" y="connsiteY1-4"/>
              </a:cxn>
            </a:cxnLst>
            <a:rect l="l" t="t" r="r" b="b"/>
            <a:pathLst>
              <a:path w="914400" h="612648" stroke="0" extrusionOk="0">
                <a:moveTo>
                  <a:pt x="0" y="0"/>
                </a:moveTo>
                <a:lnTo>
                  <a:pt x="914400" y="0"/>
                </a:lnTo>
                <a:lnTo>
                  <a:pt x="914400" y="612648"/>
                </a:lnTo>
                <a:lnTo>
                  <a:pt x="0" y="612648"/>
                </a:lnTo>
                <a:lnTo>
                  <a:pt x="0" y="0"/>
                </a:lnTo>
                <a:close/>
              </a:path>
              <a:path w="914400" h="612648" fill="none" extrusionOk="0">
                <a:moveTo>
                  <a:pt x="914400" y="0"/>
                </a:moveTo>
                <a:lnTo>
                  <a:pt x="914400" y="612648"/>
                </a:lnTo>
              </a:path>
            </a:pathLst>
          </a:custGeom>
          <a:gradFill>
            <a:gsLst>
              <a:gs pos="0">
                <a:schemeClr val="accent6">
                  <a:lumMod val="20000"/>
                  <a:lumOff val="80000"/>
                  <a:alpha val="8000"/>
                </a:schemeClr>
              </a:gs>
              <a:gs pos="13000">
                <a:schemeClr val="accent6">
                  <a:lumMod val="20000"/>
                  <a:lumOff val="80000"/>
                  <a:alpha val="25000"/>
                </a:schemeClr>
              </a:gs>
              <a:gs pos="100000">
                <a:schemeClr val="accent6">
                  <a:lumMod val="20000"/>
                  <a:lumOff val="80000"/>
                  <a:alpha val="69000"/>
                </a:schemeClr>
              </a:gs>
            </a:gsLst>
            <a:lin ang="0" scaled="0"/>
          </a:grad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rIns="215900" numCol="1" spcCol="0" rtlCol="0" fromWordArt="0" anchor="ctr" anchorCtr="0" forceAA="0" compatLnSpc="1">
            <a:noAutofit/>
          </a:bodyPr>
          <a:lstStyle/>
          <a:p>
            <a:pPr algn="r"/>
            <a:r>
              <a:rPr lang="zh-CN" altLang="en-US" sz="2000" kern="0" dirty="0">
                <a:ln>
                  <a:noFill/>
                  <a:prstDash val="sysDot"/>
                </a:ln>
                <a:solidFill>
                  <a:schemeClr val="tx1">
                    <a:lumMod val="85000"/>
                    <a:lumOff val="15000"/>
                  </a:schemeClr>
                </a:solidFill>
                <a:latin typeface="+mn-ea"/>
                <a:sym typeface="+mn-ea"/>
              </a:rPr>
              <a:t>重大事故数</a:t>
            </a:r>
            <a:endParaRPr lang="zh-CN" altLang="en-US" sz="2000" kern="0" dirty="0">
              <a:ln>
                <a:noFill/>
                <a:prstDash val="sysDot"/>
              </a:ln>
              <a:solidFill>
                <a:schemeClr val="tx1">
                  <a:lumMod val="85000"/>
                  <a:lumOff val="15000"/>
                </a:schemeClr>
              </a:solidFill>
              <a:latin typeface="+mn-ea"/>
              <a:sym typeface="+mn-ea"/>
            </a:endParaRPr>
          </a:p>
        </p:txBody>
      </p:sp>
      <p:sp>
        <p:nvSpPr>
          <p:cNvPr id="1848" name="任意多边形 1847"/>
          <p:cNvSpPr/>
          <p:nvPr>
            <p:custDataLst>
              <p:tags r:id="rId10"/>
            </p:custDataLst>
          </p:nvPr>
        </p:nvSpPr>
        <p:spPr>
          <a:xfrm flipV="1">
            <a:off x="1821180" y="5387975"/>
            <a:ext cx="838200" cy="535305"/>
          </a:xfrm>
          <a:custGeom>
            <a:avLst/>
            <a:gdLst>
              <a:gd name="connsiteX0" fmla="*/ 0 w 6535"/>
              <a:gd name="connsiteY0" fmla="*/ 1841 h 1841"/>
              <a:gd name="connsiteX1" fmla="*/ 667 w 6535"/>
              <a:gd name="connsiteY1" fmla="*/ 401 h 1841"/>
              <a:gd name="connsiteX2" fmla="*/ 5868 w 6535"/>
              <a:gd name="connsiteY2" fmla="*/ 401 h 1841"/>
              <a:gd name="connsiteX3" fmla="*/ 6535 w 6535"/>
              <a:gd name="connsiteY3" fmla="*/ 1841 h 1841"/>
              <a:gd name="connsiteX4" fmla="*/ 0 w 6535"/>
              <a:gd name="connsiteY4" fmla="*/ 1841 h 1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5" h="1841">
                <a:moveTo>
                  <a:pt x="0" y="1841"/>
                </a:moveTo>
                <a:lnTo>
                  <a:pt x="667" y="401"/>
                </a:lnTo>
                <a:cubicBezTo>
                  <a:pt x="1985" y="-290"/>
                  <a:pt x="5427" y="48"/>
                  <a:pt x="5868" y="401"/>
                </a:cubicBezTo>
                <a:lnTo>
                  <a:pt x="6535" y="1841"/>
                </a:lnTo>
                <a:lnTo>
                  <a:pt x="0" y="1841"/>
                </a:lnTo>
                <a:close/>
              </a:path>
            </a:pathLst>
          </a:custGeom>
          <a:gradFill>
            <a:gsLst>
              <a:gs pos="0">
                <a:schemeClr val="accent6">
                  <a:lumMod val="20000"/>
                  <a:lumOff val="80000"/>
                  <a:alpha val="100000"/>
                </a:schemeClr>
              </a:gs>
              <a:gs pos="63000">
                <a:schemeClr val="accent6">
                  <a:alpha val="100000"/>
                </a:schemeClr>
              </a:gs>
            </a:gsLst>
            <a:lin ang="8100000" scaled="0"/>
          </a:gradFill>
          <a:ln>
            <a:noFill/>
          </a:ln>
          <a:effectLst>
            <a:outerShdw blurRad="38100" dist="19050" dir="5400000" algn="t" rotWithShape="0">
              <a:schemeClr val="accent6">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323850" bIns="10795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2800" b="1" spc="300">
              <a:solidFill>
                <a:schemeClr val="bg1"/>
              </a:solidFill>
              <a:effectLst>
                <a:innerShdw blurRad="63500" dist="50800" dir="18900000">
                  <a:schemeClr val="accent6">
                    <a:lumMod val="50000"/>
                    <a:alpha val="25000"/>
                  </a:schemeClr>
                </a:innerShdw>
              </a:effectLst>
              <a:uFillTx/>
              <a:sym typeface="+mn-ea"/>
            </a:endParaRPr>
          </a:p>
        </p:txBody>
      </p:sp>
      <p:sp>
        <p:nvSpPr>
          <p:cNvPr id="1849" name="椭圆 1848"/>
          <p:cNvSpPr/>
          <p:nvPr>
            <p:custDataLst>
              <p:tags r:id="rId11"/>
            </p:custDataLst>
          </p:nvPr>
        </p:nvSpPr>
        <p:spPr>
          <a:xfrm>
            <a:off x="1821090" y="5274002"/>
            <a:ext cx="840171" cy="195580"/>
          </a:xfrm>
          <a:prstGeom prst="ellipse">
            <a:avLst/>
          </a:prstGeom>
          <a:gradFill>
            <a:gsLst>
              <a:gs pos="62000">
                <a:schemeClr val="accent6">
                  <a:lumMod val="75000"/>
                  <a:alpha val="100000"/>
                </a:schemeClr>
              </a:gs>
              <a:gs pos="100000">
                <a:schemeClr val="accent6">
                  <a:lumMod val="60000"/>
                  <a:lumOff val="40000"/>
                  <a:alpha val="100000"/>
                </a:schemeClr>
              </a:gs>
            </a:gsLst>
            <a:lin ang="19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4572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850" name="任意多边形 1849"/>
          <p:cNvSpPr/>
          <p:nvPr>
            <p:custDataLst>
              <p:tags r:id="rId12"/>
            </p:custDataLst>
          </p:nvPr>
        </p:nvSpPr>
        <p:spPr>
          <a:xfrm flipV="1">
            <a:off x="1610360" y="4711065"/>
            <a:ext cx="1261110" cy="633095"/>
          </a:xfrm>
          <a:custGeom>
            <a:avLst/>
            <a:gdLst>
              <a:gd name="connsiteX0" fmla="*/ 0 w 6535"/>
              <a:gd name="connsiteY0" fmla="*/ 1841 h 1841"/>
              <a:gd name="connsiteX1" fmla="*/ 667 w 6535"/>
              <a:gd name="connsiteY1" fmla="*/ 401 h 1841"/>
              <a:gd name="connsiteX2" fmla="*/ 5868 w 6535"/>
              <a:gd name="connsiteY2" fmla="*/ 401 h 1841"/>
              <a:gd name="connsiteX3" fmla="*/ 6535 w 6535"/>
              <a:gd name="connsiteY3" fmla="*/ 1841 h 1841"/>
              <a:gd name="connsiteX4" fmla="*/ 0 w 6535"/>
              <a:gd name="connsiteY4" fmla="*/ 1841 h 1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5" h="1841">
                <a:moveTo>
                  <a:pt x="0" y="1841"/>
                </a:moveTo>
                <a:lnTo>
                  <a:pt x="667" y="401"/>
                </a:lnTo>
                <a:cubicBezTo>
                  <a:pt x="1985" y="-290"/>
                  <a:pt x="5427" y="48"/>
                  <a:pt x="5868" y="401"/>
                </a:cubicBezTo>
                <a:lnTo>
                  <a:pt x="6535" y="1841"/>
                </a:lnTo>
                <a:lnTo>
                  <a:pt x="0" y="1841"/>
                </a:lnTo>
                <a:close/>
              </a:path>
            </a:pathLst>
          </a:custGeom>
          <a:gradFill>
            <a:gsLst>
              <a:gs pos="0">
                <a:schemeClr val="accent5">
                  <a:lumMod val="20000"/>
                  <a:lumOff val="80000"/>
                  <a:alpha val="100000"/>
                </a:schemeClr>
              </a:gs>
              <a:gs pos="63000">
                <a:schemeClr val="accent5">
                  <a:alpha val="100000"/>
                </a:schemeClr>
              </a:gs>
            </a:gsLst>
            <a:lin ang="8100000" scaled="0"/>
          </a:gradFill>
          <a:ln>
            <a:noFill/>
          </a:ln>
          <a:effectLst>
            <a:outerShdw blurRad="38100" dist="19050" dir="5400000" algn="t" rotWithShape="0">
              <a:schemeClr val="accent5">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323850" bIns="10795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2800" b="1" spc="300">
              <a:solidFill>
                <a:schemeClr val="bg1"/>
              </a:solidFill>
              <a:effectLst>
                <a:innerShdw blurRad="63500" dist="50800" dir="18900000">
                  <a:schemeClr val="accent5">
                    <a:lumMod val="50000"/>
                    <a:alpha val="25000"/>
                  </a:schemeClr>
                </a:innerShdw>
              </a:effectLst>
              <a:uFillTx/>
              <a:sym typeface="+mn-ea"/>
            </a:endParaRPr>
          </a:p>
        </p:txBody>
      </p:sp>
      <p:sp>
        <p:nvSpPr>
          <p:cNvPr id="1851" name="椭圆 1850"/>
          <p:cNvSpPr/>
          <p:nvPr>
            <p:custDataLst>
              <p:tags r:id="rId13"/>
            </p:custDataLst>
          </p:nvPr>
        </p:nvSpPr>
        <p:spPr>
          <a:xfrm>
            <a:off x="1609315" y="4584392"/>
            <a:ext cx="1263337" cy="288290"/>
          </a:xfrm>
          <a:prstGeom prst="ellipse">
            <a:avLst/>
          </a:prstGeom>
          <a:gradFill>
            <a:gsLst>
              <a:gs pos="62000">
                <a:schemeClr val="accent5">
                  <a:lumMod val="75000"/>
                  <a:alpha val="100000"/>
                </a:schemeClr>
              </a:gs>
              <a:gs pos="100000">
                <a:schemeClr val="accent5">
                  <a:lumMod val="60000"/>
                  <a:lumOff val="40000"/>
                  <a:alpha val="100000"/>
                </a:schemeClr>
              </a:gs>
            </a:gsLst>
            <a:lin ang="19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4572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852" name="任意多边形 1851"/>
          <p:cNvSpPr/>
          <p:nvPr>
            <p:custDataLst>
              <p:tags r:id="rId14"/>
            </p:custDataLst>
          </p:nvPr>
        </p:nvSpPr>
        <p:spPr>
          <a:xfrm flipV="1">
            <a:off x="1321435" y="3994150"/>
            <a:ext cx="1838325" cy="708660"/>
          </a:xfrm>
          <a:custGeom>
            <a:avLst/>
            <a:gdLst>
              <a:gd name="connsiteX0" fmla="*/ 0 w 6535"/>
              <a:gd name="connsiteY0" fmla="*/ 1841 h 1841"/>
              <a:gd name="connsiteX1" fmla="*/ 667 w 6535"/>
              <a:gd name="connsiteY1" fmla="*/ 401 h 1841"/>
              <a:gd name="connsiteX2" fmla="*/ 5868 w 6535"/>
              <a:gd name="connsiteY2" fmla="*/ 401 h 1841"/>
              <a:gd name="connsiteX3" fmla="*/ 6535 w 6535"/>
              <a:gd name="connsiteY3" fmla="*/ 1841 h 1841"/>
              <a:gd name="connsiteX4" fmla="*/ 0 w 6535"/>
              <a:gd name="connsiteY4" fmla="*/ 1841 h 1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5" h="1841">
                <a:moveTo>
                  <a:pt x="0" y="1841"/>
                </a:moveTo>
                <a:lnTo>
                  <a:pt x="667" y="401"/>
                </a:lnTo>
                <a:cubicBezTo>
                  <a:pt x="1985" y="-290"/>
                  <a:pt x="5427" y="48"/>
                  <a:pt x="5868" y="401"/>
                </a:cubicBezTo>
                <a:lnTo>
                  <a:pt x="6535" y="1841"/>
                </a:lnTo>
                <a:lnTo>
                  <a:pt x="0" y="1841"/>
                </a:lnTo>
                <a:close/>
              </a:path>
            </a:pathLst>
          </a:custGeom>
          <a:gradFill>
            <a:gsLst>
              <a:gs pos="0">
                <a:schemeClr val="accent6">
                  <a:lumMod val="20000"/>
                  <a:lumOff val="80000"/>
                  <a:alpha val="100000"/>
                </a:schemeClr>
              </a:gs>
              <a:gs pos="63000">
                <a:schemeClr val="accent6">
                  <a:alpha val="100000"/>
                </a:schemeClr>
              </a:gs>
            </a:gsLst>
            <a:lin ang="8100000" scaled="0"/>
          </a:gradFill>
          <a:ln>
            <a:noFill/>
          </a:ln>
          <a:effectLst>
            <a:outerShdw blurRad="38100" dist="19050" dir="5400000" algn="t" rotWithShape="0">
              <a:schemeClr val="accent6">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323850" bIns="10795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2800" b="1" spc="300">
              <a:solidFill>
                <a:schemeClr val="bg1"/>
              </a:solidFill>
              <a:effectLst>
                <a:innerShdw blurRad="63500" dist="50800" dir="18900000">
                  <a:schemeClr val="accent6">
                    <a:lumMod val="50000"/>
                    <a:alpha val="25000"/>
                  </a:schemeClr>
                </a:innerShdw>
              </a:effectLst>
              <a:uFillTx/>
              <a:sym typeface="+mn-ea"/>
            </a:endParaRPr>
          </a:p>
        </p:txBody>
      </p:sp>
      <p:sp>
        <p:nvSpPr>
          <p:cNvPr id="1853" name="椭圆 1852"/>
          <p:cNvSpPr/>
          <p:nvPr>
            <p:custDataLst>
              <p:tags r:id="rId15"/>
            </p:custDataLst>
          </p:nvPr>
        </p:nvSpPr>
        <p:spPr>
          <a:xfrm>
            <a:off x="1321300" y="3830647"/>
            <a:ext cx="1840521" cy="378460"/>
          </a:xfrm>
          <a:prstGeom prst="ellipse">
            <a:avLst/>
          </a:prstGeom>
          <a:gradFill>
            <a:gsLst>
              <a:gs pos="62000">
                <a:schemeClr val="accent6">
                  <a:lumMod val="75000"/>
                  <a:alpha val="100000"/>
                </a:schemeClr>
              </a:gs>
              <a:gs pos="100000">
                <a:schemeClr val="accent6">
                  <a:lumMod val="60000"/>
                  <a:lumOff val="40000"/>
                  <a:alpha val="100000"/>
                </a:schemeClr>
              </a:gs>
            </a:gsLst>
            <a:lin ang="19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4572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lt1"/>
              </a:solidFill>
              <a:sym typeface="+mn-ea"/>
            </a:endParaRPr>
          </a:p>
        </p:txBody>
      </p:sp>
      <p:sp>
        <p:nvSpPr>
          <p:cNvPr id="1854" name="任意多边形 1853"/>
          <p:cNvSpPr/>
          <p:nvPr>
            <p:custDataLst>
              <p:tags r:id="rId16"/>
            </p:custDataLst>
          </p:nvPr>
        </p:nvSpPr>
        <p:spPr>
          <a:xfrm flipV="1">
            <a:off x="986155" y="3170555"/>
            <a:ext cx="2510790" cy="862965"/>
          </a:xfrm>
          <a:custGeom>
            <a:avLst/>
            <a:gdLst>
              <a:gd name="connsiteX0" fmla="*/ 0 w 6535"/>
              <a:gd name="connsiteY0" fmla="*/ 1841 h 1841"/>
              <a:gd name="connsiteX1" fmla="*/ 667 w 6535"/>
              <a:gd name="connsiteY1" fmla="*/ 401 h 1841"/>
              <a:gd name="connsiteX2" fmla="*/ 5868 w 6535"/>
              <a:gd name="connsiteY2" fmla="*/ 401 h 1841"/>
              <a:gd name="connsiteX3" fmla="*/ 6535 w 6535"/>
              <a:gd name="connsiteY3" fmla="*/ 1841 h 1841"/>
              <a:gd name="connsiteX4" fmla="*/ 0 w 6535"/>
              <a:gd name="connsiteY4" fmla="*/ 1841 h 1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5" h="1841">
                <a:moveTo>
                  <a:pt x="0" y="1841"/>
                </a:moveTo>
                <a:lnTo>
                  <a:pt x="667" y="401"/>
                </a:lnTo>
                <a:cubicBezTo>
                  <a:pt x="1985" y="-290"/>
                  <a:pt x="5427" y="48"/>
                  <a:pt x="5868" y="401"/>
                </a:cubicBezTo>
                <a:lnTo>
                  <a:pt x="6535" y="1841"/>
                </a:lnTo>
                <a:lnTo>
                  <a:pt x="0" y="1841"/>
                </a:lnTo>
                <a:close/>
              </a:path>
            </a:pathLst>
          </a:custGeom>
          <a:gradFill>
            <a:gsLst>
              <a:gs pos="0">
                <a:schemeClr val="accent5">
                  <a:lumMod val="20000"/>
                  <a:lumOff val="80000"/>
                  <a:alpha val="100000"/>
                </a:schemeClr>
              </a:gs>
              <a:gs pos="63000">
                <a:schemeClr val="accent5">
                  <a:alpha val="100000"/>
                </a:schemeClr>
              </a:gs>
            </a:gsLst>
            <a:lin ang="8100000" scaled="0"/>
          </a:gradFill>
          <a:ln>
            <a:noFill/>
          </a:ln>
          <a:effectLst>
            <a:outerShdw blurRad="38100" dist="19050" dir="5400000" algn="t" rotWithShape="0">
              <a:schemeClr val="accent5">
                <a:lumMod val="75000"/>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323850" bIns="10795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en-US" altLang="zh-CN" sz="2800" b="1" spc="300">
              <a:solidFill>
                <a:schemeClr val="bg1"/>
              </a:solidFill>
              <a:effectLst>
                <a:innerShdw blurRad="63500" dist="50800" dir="18900000">
                  <a:schemeClr val="accent5">
                    <a:lumMod val="50000"/>
                    <a:alpha val="25000"/>
                  </a:schemeClr>
                </a:innerShdw>
              </a:effectLst>
              <a:uFillTx/>
              <a:sym typeface="+mn-ea"/>
            </a:endParaRPr>
          </a:p>
        </p:txBody>
      </p:sp>
      <p:sp>
        <p:nvSpPr>
          <p:cNvPr id="1855" name="椭圆 1854"/>
          <p:cNvSpPr/>
          <p:nvPr>
            <p:custDataLst>
              <p:tags r:id="rId17"/>
            </p:custDataLst>
          </p:nvPr>
        </p:nvSpPr>
        <p:spPr>
          <a:xfrm>
            <a:off x="983615" y="2905666"/>
            <a:ext cx="2515892" cy="486698"/>
          </a:xfrm>
          <a:prstGeom prst="ellipse">
            <a:avLst/>
          </a:prstGeom>
          <a:gradFill>
            <a:gsLst>
              <a:gs pos="0">
                <a:schemeClr val="accent5">
                  <a:lumMod val="20000"/>
                  <a:lumOff val="80000"/>
                  <a:alpha val="100000"/>
                </a:schemeClr>
              </a:gs>
              <a:gs pos="100000">
                <a:schemeClr val="accent5">
                  <a:lumMod val="40000"/>
                  <a:lumOff val="60000"/>
                  <a:alpha val="10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1856" name="椭圆 1855"/>
          <p:cNvSpPr/>
          <p:nvPr>
            <p:custDataLst>
              <p:tags r:id="rId18"/>
            </p:custDataLst>
          </p:nvPr>
        </p:nvSpPr>
        <p:spPr>
          <a:xfrm>
            <a:off x="1500299" y="2960579"/>
            <a:ext cx="1442383" cy="333450"/>
          </a:xfrm>
          <a:prstGeom prst="ellipse">
            <a:avLst/>
          </a:prstGeom>
          <a:gradFill>
            <a:gsLst>
              <a:gs pos="0">
                <a:schemeClr val="accent5">
                  <a:lumMod val="20000"/>
                  <a:lumOff val="80000"/>
                  <a:alpha val="100000"/>
                </a:schemeClr>
              </a:gs>
              <a:gs pos="100000">
                <a:schemeClr val="accent5">
                  <a:lumMod val="40000"/>
                  <a:lumOff val="60000"/>
                  <a:alpha val="100000"/>
                </a:schemeClr>
              </a:gs>
            </a:gsLst>
            <a:lin ang="16140000" scaled="0"/>
          </a:gradFill>
          <a:ln>
            <a:noFill/>
          </a:ln>
          <a:effectLst>
            <a:innerShdw blurRad="292100" dist="152400" dir="13500000">
              <a:schemeClr val="accent5">
                <a:lumMod val="50000"/>
                <a:alpha val="18000"/>
              </a:schemeClr>
            </a:inn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lt1"/>
              </a:solidFill>
              <a:sym typeface="+mn-ea"/>
            </a:endParaRPr>
          </a:p>
        </p:txBody>
      </p:sp>
      <p:sp>
        <p:nvSpPr>
          <p:cNvPr id="1858" name="矩形 1857"/>
          <p:cNvSpPr/>
          <p:nvPr>
            <p:custDataLst>
              <p:tags r:id="rId19"/>
            </p:custDataLst>
          </p:nvPr>
        </p:nvSpPr>
        <p:spPr>
          <a:xfrm>
            <a:off x="-222885" y="3267710"/>
            <a:ext cx="4988560" cy="589915"/>
          </a:xfrm>
          <a:prstGeom prst="rect">
            <a:avLst/>
          </a:prstGeom>
          <a:noFill/>
        </p:spPr>
        <p:txBody>
          <a:bodyPr wrap="square" lIns="0" tIns="0" rIns="0" bIns="0" rtlCol="0" anchor="b" anchorCtr="0">
            <a:noAutofit/>
          </a:bodyPr>
          <a:p>
            <a:pPr algn="ctr">
              <a:spcBef>
                <a:spcPct val="0"/>
              </a:spcBef>
              <a:spcAft>
                <a:spcPct val="0"/>
              </a:spcAft>
            </a:pPr>
            <a:r>
              <a:rPr lang="zh-CN" altLang="en-US" b="1" spc="300" dirty="0">
                <a:solidFill>
                  <a:schemeClr val="bg1">
                    <a:alpha val="60000"/>
                  </a:schemeClr>
                </a:solidFill>
                <a:uFillTx/>
                <a:latin typeface="+中文正文" charset="0"/>
                <a:cs typeface="+mn-ea"/>
                <a:sym typeface="+mn-ea"/>
              </a:rPr>
              <a:t>{{critical_period_security_log_count}}</a:t>
            </a:r>
            <a:endParaRPr lang="en-US" altLang="zh-CN" b="1" spc="300" dirty="0">
              <a:solidFill>
                <a:schemeClr val="bg1">
                  <a:alpha val="60000"/>
                </a:schemeClr>
              </a:solidFill>
              <a:uFillTx/>
              <a:latin typeface="+中文正文" charset="0"/>
              <a:cs typeface="+mn-ea"/>
              <a:sym typeface="+mn-ea"/>
            </a:endParaRPr>
          </a:p>
        </p:txBody>
      </p:sp>
      <p:sp>
        <p:nvSpPr>
          <p:cNvPr id="1859" name="矩形 1858"/>
          <p:cNvSpPr/>
          <p:nvPr>
            <p:custDataLst>
              <p:tags r:id="rId20"/>
            </p:custDataLst>
          </p:nvPr>
        </p:nvSpPr>
        <p:spPr>
          <a:xfrm>
            <a:off x="-658495" y="4079240"/>
            <a:ext cx="5753735" cy="535305"/>
          </a:xfrm>
          <a:prstGeom prst="rect">
            <a:avLst/>
          </a:prstGeom>
          <a:noFill/>
        </p:spPr>
        <p:txBody>
          <a:bodyPr wrap="square" lIns="0" tIns="0" rIns="0" bIns="0" rtlCol="0" anchor="b" anchorCtr="0">
            <a:noAutofit/>
          </a:bodyPr>
          <a:p>
            <a:pPr algn="ctr">
              <a:spcBef>
                <a:spcPct val="0"/>
              </a:spcBef>
              <a:spcAft>
                <a:spcPct val="0"/>
              </a:spcAft>
            </a:pPr>
            <a:r>
              <a:rPr lang="zh-CN" altLang="en-US" b="1" spc="300" dirty="0">
                <a:solidFill>
                  <a:schemeClr val="bg1">
                    <a:alpha val="70000"/>
                  </a:schemeClr>
                </a:solidFill>
                <a:uFillTx/>
                <a:latin typeface="+中文正文" charset="0"/>
                <a:cs typeface="+mn-ea"/>
                <a:sym typeface="+mn-ea"/>
              </a:rPr>
              <a:t>{{critical_period_alert_count}}</a:t>
            </a:r>
            <a:endParaRPr lang="en-US" altLang="zh-CN" b="1" spc="300" dirty="0">
              <a:solidFill>
                <a:schemeClr val="bg1">
                  <a:alpha val="70000"/>
                </a:schemeClr>
              </a:solidFill>
              <a:uFillTx/>
              <a:latin typeface="+中文正文" charset="0"/>
              <a:cs typeface="+mn-ea"/>
              <a:sym typeface="+mn-ea"/>
            </a:endParaRPr>
          </a:p>
        </p:txBody>
      </p:sp>
      <p:sp>
        <p:nvSpPr>
          <p:cNvPr id="1860" name="矩形 1859"/>
          <p:cNvSpPr/>
          <p:nvPr>
            <p:custDataLst>
              <p:tags r:id="rId21"/>
            </p:custDataLst>
          </p:nvPr>
        </p:nvSpPr>
        <p:spPr>
          <a:xfrm>
            <a:off x="198755" y="4709795"/>
            <a:ext cx="4131310" cy="535305"/>
          </a:xfrm>
          <a:prstGeom prst="rect">
            <a:avLst/>
          </a:prstGeom>
          <a:noFill/>
        </p:spPr>
        <p:txBody>
          <a:bodyPr wrap="square" lIns="0" tIns="0" rIns="0" bIns="0" rtlCol="0" anchor="b" anchorCtr="0">
            <a:noAutofit/>
          </a:bodyPr>
          <a:p>
            <a:pPr algn="ctr">
              <a:spcBef>
                <a:spcPct val="0"/>
              </a:spcBef>
              <a:spcAft>
                <a:spcPct val="0"/>
              </a:spcAft>
            </a:pPr>
            <a:r>
              <a:rPr lang="zh-CN" altLang="en-US" b="1" spc="300" dirty="0">
                <a:solidFill>
                  <a:schemeClr val="bg1">
                    <a:alpha val="70000"/>
                  </a:schemeClr>
                </a:solidFill>
                <a:uFillTx/>
                <a:latin typeface="+中文正文" charset="0"/>
                <a:cs typeface="+mn-ea"/>
                <a:sym typeface="+mn-ea"/>
              </a:rPr>
              <a:t>{{critical_period_incident_count}}</a:t>
            </a:r>
            <a:endParaRPr lang="zh-CN" altLang="en-US" b="1" spc="300" dirty="0">
              <a:solidFill>
                <a:schemeClr val="bg1">
                  <a:alpha val="70000"/>
                </a:schemeClr>
              </a:solidFill>
              <a:uFillTx/>
              <a:latin typeface="+中文正文" charset="0"/>
              <a:cs typeface="+mn-ea"/>
              <a:sym typeface="+mn-ea"/>
            </a:endParaRPr>
          </a:p>
        </p:txBody>
      </p:sp>
      <p:sp>
        <p:nvSpPr>
          <p:cNvPr id="1861" name="矩形 1860"/>
          <p:cNvSpPr/>
          <p:nvPr>
            <p:custDataLst>
              <p:tags r:id="rId22"/>
            </p:custDataLst>
          </p:nvPr>
        </p:nvSpPr>
        <p:spPr>
          <a:xfrm>
            <a:off x="986155" y="5499100"/>
            <a:ext cx="2175510" cy="378460"/>
          </a:xfrm>
          <a:prstGeom prst="rect">
            <a:avLst/>
          </a:prstGeom>
          <a:noFill/>
        </p:spPr>
        <p:txBody>
          <a:bodyPr wrap="square" lIns="0" tIns="0" rIns="0" bIns="0" rtlCol="0" anchor="ctr" anchorCtr="0">
            <a:noAutofit/>
          </a:bodyPr>
          <a:p>
            <a:pPr algn="ctr">
              <a:spcBef>
                <a:spcPct val="0"/>
              </a:spcBef>
              <a:spcAft>
                <a:spcPct val="0"/>
              </a:spcAft>
            </a:pPr>
            <a:r>
              <a:rPr lang="zh-CN" altLang="en-US" b="1" spc="300" dirty="0">
                <a:solidFill>
                  <a:schemeClr val="bg1">
                    <a:alpha val="60000"/>
                  </a:schemeClr>
                </a:solidFill>
                <a:uFillTx/>
                <a:latin typeface="+中文正文" charset="0"/>
                <a:cs typeface="+mn-ea"/>
                <a:sym typeface="+mn-ea"/>
              </a:rPr>
              <a:t>{{major_accident_count}}</a:t>
            </a:r>
            <a:endParaRPr lang="zh-CN" altLang="en-US" b="1" spc="300" dirty="0">
              <a:solidFill>
                <a:schemeClr val="bg1">
                  <a:alpha val="60000"/>
                </a:schemeClr>
              </a:solidFill>
              <a:uFillTx/>
              <a:latin typeface="+中文正文" charset="0"/>
              <a:cs typeface="+mn-ea"/>
              <a:sym typeface="+mn-ea"/>
            </a:endParaRPr>
          </a:p>
        </p:txBody>
      </p:sp>
    </p:spTree>
    <p:custDataLst>
      <p:tags r:id="rId2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rot="0">
            <a:off x="224790" y="306705"/>
            <a:ext cx="369570" cy="266700"/>
            <a:chOff x="533" y="672"/>
            <a:chExt cx="582" cy="420"/>
          </a:xfrm>
        </p:grpSpPr>
        <p:sp>
          <p:nvSpPr>
            <p:cNvPr id="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sp>
          <p:nvSpPr>
            <p:cNvPr id="5"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grpSp>
      <p:sp>
        <p:nvSpPr>
          <p:cNvPr id="16" name="textbox 158"/>
          <p:cNvSpPr/>
          <p:nvPr/>
        </p:nvSpPr>
        <p:spPr>
          <a:xfrm>
            <a:off x="740410" y="347980"/>
            <a:ext cx="7640955" cy="34353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攻防演习防守保障</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pic>
        <p:nvPicPr>
          <p:cNvPr id="63" name="图片 62"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18" name="椭圆 17"/>
          <p:cNvSpPr/>
          <p:nvPr>
            <p:custDataLst>
              <p:tags r:id="rId4"/>
            </p:custDataLst>
          </p:nvPr>
        </p:nvSpPr>
        <p:spPr>
          <a:xfrm>
            <a:off x="4980940" y="3144997"/>
            <a:ext cx="2192338" cy="2192338"/>
          </a:xfrm>
          <a:prstGeom prst="ellipse">
            <a:avLst/>
          </a:prstGeom>
          <a:noFill/>
          <a:ln w="19050">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kumimoji="1" lang="zh-CN" altLang="en-US">
              <a:solidFill>
                <a:srgbClr val="FF0000"/>
              </a:solidFill>
            </a:endParaRPr>
          </a:p>
        </p:txBody>
      </p:sp>
      <p:sp>
        <p:nvSpPr>
          <p:cNvPr id="19" name="椭圆 11"/>
          <p:cNvSpPr>
            <a:spLocks noChangeArrowheads="1"/>
          </p:cNvSpPr>
          <p:nvPr>
            <p:custDataLst>
              <p:tags r:id="rId5"/>
            </p:custDataLst>
          </p:nvPr>
        </p:nvSpPr>
        <p:spPr bwMode="auto">
          <a:xfrm>
            <a:off x="6531928" y="2960847"/>
            <a:ext cx="890587" cy="876300"/>
          </a:xfrm>
          <a:prstGeom prst="ellipse">
            <a:avLst/>
          </a:prstGeom>
          <a:solidFill>
            <a:srgbClr val="00479D"/>
          </a:solidFill>
          <a:ln>
            <a:solidFill>
              <a:srgbClr val="F0F7F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kumimoji="1" lang="zh-CN" altLang="en-US">
              <a:solidFill>
                <a:srgbClr val="FF0000"/>
              </a:solidFill>
            </a:endParaRPr>
          </a:p>
        </p:txBody>
      </p:sp>
      <p:pic>
        <p:nvPicPr>
          <p:cNvPr id="26" name="图片 3"/>
          <p:cNvPicPr>
            <a:picLocks noChangeAspect="1" noChangeArrowheads="1"/>
          </p:cNvPicPr>
          <p:nvPr>
            <p:custDataLst>
              <p:tags r:id="rId6"/>
            </p:custDataLst>
          </p:nvPr>
        </p:nvPicPr>
        <p:blipFill>
          <a:blip r:embed="rId7">
            <a:extLst>
              <a:ext uri="{28A0092B-C50C-407E-A947-70E740481C1C}">
                <a14:useLocalDpi xmlns:a14="http://schemas.microsoft.com/office/drawing/2010/main" val="0"/>
              </a:ext>
            </a:extLst>
          </a:blip>
          <a:srcRect/>
          <a:stretch>
            <a:fillRect/>
          </a:stretch>
        </p:blipFill>
        <p:spPr bwMode="auto">
          <a:xfrm>
            <a:off x="6816090" y="3183097"/>
            <a:ext cx="3222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椭圆 11"/>
          <p:cNvSpPr>
            <a:spLocks noChangeArrowheads="1"/>
          </p:cNvSpPr>
          <p:nvPr>
            <p:custDataLst>
              <p:tags r:id="rId8"/>
            </p:custDataLst>
          </p:nvPr>
        </p:nvSpPr>
        <p:spPr bwMode="auto">
          <a:xfrm>
            <a:off x="6531928" y="4645185"/>
            <a:ext cx="890587" cy="876300"/>
          </a:xfrm>
          <a:prstGeom prst="ellipse">
            <a:avLst/>
          </a:prstGeom>
          <a:solidFill>
            <a:srgbClr val="00479D"/>
          </a:solidFill>
          <a:ln>
            <a:solidFill>
              <a:srgbClr val="F0F7F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kumimoji="1" lang="zh-CN" altLang="en-US">
              <a:solidFill>
                <a:srgbClr val="FF0000"/>
              </a:solidFill>
            </a:endParaRPr>
          </a:p>
        </p:txBody>
      </p:sp>
      <p:sp>
        <p:nvSpPr>
          <p:cNvPr id="28" name="椭圆 11"/>
          <p:cNvSpPr>
            <a:spLocks noChangeArrowheads="1"/>
          </p:cNvSpPr>
          <p:nvPr>
            <p:custDataLst>
              <p:tags r:id="rId9"/>
            </p:custDataLst>
          </p:nvPr>
        </p:nvSpPr>
        <p:spPr bwMode="auto">
          <a:xfrm>
            <a:off x="4736465" y="4645185"/>
            <a:ext cx="890588" cy="876300"/>
          </a:xfrm>
          <a:prstGeom prst="ellipse">
            <a:avLst/>
          </a:prstGeom>
          <a:solidFill>
            <a:srgbClr val="00479D"/>
          </a:solidFill>
          <a:ln>
            <a:solidFill>
              <a:srgbClr val="F0F7F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kumimoji="1" lang="zh-CN" altLang="en-US">
              <a:solidFill>
                <a:srgbClr val="FF0000"/>
              </a:solidFill>
            </a:endParaRPr>
          </a:p>
        </p:txBody>
      </p:sp>
      <p:sp>
        <p:nvSpPr>
          <p:cNvPr id="29" name="椭圆 28"/>
          <p:cNvSpPr>
            <a:spLocks noChangeArrowheads="1"/>
          </p:cNvSpPr>
          <p:nvPr>
            <p:custDataLst>
              <p:tags r:id="rId10"/>
            </p:custDataLst>
          </p:nvPr>
        </p:nvSpPr>
        <p:spPr bwMode="auto">
          <a:xfrm>
            <a:off x="4736465" y="2981485"/>
            <a:ext cx="890588" cy="876300"/>
          </a:xfrm>
          <a:prstGeom prst="ellipse">
            <a:avLst/>
          </a:prstGeom>
          <a:solidFill>
            <a:srgbClr val="00479D"/>
          </a:solidFill>
          <a:ln>
            <a:solidFill>
              <a:srgbClr val="F0F7F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pPr>
            <a:endParaRPr kumimoji="1" lang="zh-CN" altLang="en-US">
              <a:solidFill>
                <a:srgbClr val="FF0000"/>
              </a:solidFill>
            </a:endParaRPr>
          </a:p>
        </p:txBody>
      </p:sp>
      <p:pic>
        <p:nvPicPr>
          <p:cNvPr id="30" name="图片 7"/>
          <p:cNvPicPr>
            <a:picLocks noChangeAspect="1" noChangeArrowheads="1"/>
          </p:cNvPicPr>
          <p:nvPr>
            <p:custDataLst>
              <p:tags r:id="rId11"/>
            </p:custDataLst>
          </p:nvPr>
        </p:nvPicPr>
        <p:blipFill>
          <a:blip r:embed="rId12">
            <a:extLst>
              <a:ext uri="{28A0092B-C50C-407E-A947-70E740481C1C}">
                <a14:useLocalDpi xmlns:a14="http://schemas.microsoft.com/office/drawing/2010/main" val="0"/>
              </a:ext>
            </a:extLst>
          </a:blip>
          <a:srcRect/>
          <a:stretch>
            <a:fillRect/>
          </a:stretch>
        </p:blipFill>
        <p:spPr bwMode="auto">
          <a:xfrm>
            <a:off x="4984115" y="3246597"/>
            <a:ext cx="395288"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图片 8"/>
          <p:cNvPicPr>
            <a:picLocks noChangeAspect="1" noChangeArrowheads="1"/>
          </p:cNvPicPr>
          <p:nvPr>
            <p:custDataLst>
              <p:tags r:id="rId13"/>
            </p:custDataLst>
          </p:nvPr>
        </p:nvPicPr>
        <p:blipFill>
          <a:blip r:embed="rId14">
            <a:extLst>
              <a:ext uri="{28A0092B-C50C-407E-A947-70E740481C1C}">
                <a14:useLocalDpi xmlns:a14="http://schemas.microsoft.com/office/drawing/2010/main" val="0"/>
              </a:ext>
            </a:extLst>
          </a:blip>
          <a:srcRect/>
          <a:stretch>
            <a:fillRect/>
          </a:stretch>
        </p:blipFill>
        <p:spPr bwMode="auto">
          <a:xfrm>
            <a:off x="4980940" y="4883310"/>
            <a:ext cx="4016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图片 9"/>
          <p:cNvPicPr>
            <a:picLocks noChangeAspect="1" noChangeArrowheads="1"/>
          </p:cNvPicPr>
          <p:nvPr>
            <p:custDataLst>
              <p:tags r:id="rId15"/>
            </p:custDataLst>
          </p:nvPr>
        </p:nvPicPr>
        <p:blipFill>
          <a:blip r:embed="rId16">
            <a:extLst>
              <a:ext uri="{28A0092B-C50C-407E-A947-70E740481C1C}">
                <a14:useLocalDpi xmlns:a14="http://schemas.microsoft.com/office/drawing/2010/main" val="0"/>
              </a:ext>
            </a:extLst>
          </a:blip>
          <a:srcRect/>
          <a:stretch>
            <a:fillRect/>
          </a:stretch>
        </p:blipFill>
        <p:spPr bwMode="auto">
          <a:xfrm>
            <a:off x="6770053" y="4876960"/>
            <a:ext cx="414337"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矩形 14"/>
          <p:cNvSpPr>
            <a:spLocks noChangeArrowheads="1"/>
          </p:cNvSpPr>
          <p:nvPr>
            <p:custDataLst>
              <p:tags r:id="rId17"/>
            </p:custDataLst>
          </p:nvPr>
        </p:nvSpPr>
        <p:spPr bwMode="auto">
          <a:xfrm>
            <a:off x="505290" y="5038909"/>
            <a:ext cx="4238025"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l" eaLnBrk="1" hangingPunct="1">
              <a:lnSpc>
                <a:spcPct val="150000"/>
              </a:lnSpc>
              <a:spcBef>
                <a:spcPct val="0"/>
              </a:spcBef>
              <a:buFontTx/>
              <a:buNone/>
            </a:pPr>
            <a:r>
              <a:rPr lang="zh-CN" altLang="en-US" sz="1200">
                <a:latin typeface="Arial" panose="020B0604020202020204" pitchFamily="34" charset="0"/>
                <a:ea typeface="黑体-简" panose="02000000000000000000" charset="-122"/>
                <a:sym typeface="+mn-ea"/>
              </a:rPr>
              <a:t>线上</a:t>
            </a:r>
            <a:r>
              <a:rPr lang="en-US" altLang="zh-CN" sz="1200">
                <a:latin typeface="Arial" panose="020B0604020202020204" pitchFamily="34" charset="0"/>
                <a:ea typeface="黑体-简" panose="02000000000000000000" charset="-122"/>
                <a:sym typeface="+mn-ea"/>
              </a:rPr>
              <a:t>MSS</a:t>
            </a:r>
            <a:r>
              <a:rPr lang="zh-CN" altLang="en-US" sz="1200">
                <a:latin typeface="Arial" panose="020B0604020202020204" pitchFamily="34" charset="0"/>
                <a:ea typeface="黑体-简" panose="02000000000000000000" charset="-122"/>
                <a:sym typeface="+mn-ea"/>
              </a:rPr>
              <a:t>团队协同用户，基于</a:t>
            </a:r>
            <a:r>
              <a:rPr lang="en-US" altLang="zh-CN" sz="1200">
                <a:latin typeface="Arial" panose="020B0604020202020204" pitchFamily="34" charset="0"/>
                <a:ea typeface="黑体-简" panose="02000000000000000000" charset="-122"/>
                <a:sym typeface="+mn-ea"/>
              </a:rPr>
              <a:t>XDR</a:t>
            </a:r>
            <a:r>
              <a:rPr lang="zh-CN" altLang="en-US" sz="1200">
                <a:latin typeface="Arial" panose="020B0604020202020204" pitchFamily="34" charset="0"/>
                <a:ea typeface="黑体-简" panose="02000000000000000000" charset="-122"/>
                <a:sym typeface="+mn-ea"/>
              </a:rPr>
              <a:t>安全中台和运营</a:t>
            </a:r>
            <a:r>
              <a:rPr lang="en-US" altLang="zh-CN" sz="1200">
                <a:latin typeface="Arial" panose="020B0604020202020204" pitchFamily="34" charset="0"/>
                <a:ea typeface="黑体-简" panose="02000000000000000000" charset="-122"/>
                <a:sym typeface="+mn-ea"/>
              </a:rPr>
              <a:t>GPT</a:t>
            </a:r>
            <a:r>
              <a:rPr lang="zh-CN" altLang="en-US" sz="1200">
                <a:latin typeface="Arial" panose="020B0604020202020204" pitchFamily="34" charset="0"/>
                <a:ea typeface="黑体-简" panose="02000000000000000000" charset="-122"/>
                <a:sym typeface="+mn-ea"/>
              </a:rPr>
              <a:t>大幅提高实战攻防中的调查和溯源效率，在布防报告、实战溯源分析报告等都取得较好成果，其中通过</a:t>
            </a:r>
            <a:r>
              <a:rPr lang="en-US" altLang="zh-CN" sz="1200" b="1">
                <a:highlight>
                  <a:srgbClr val="FFFF00"/>
                </a:highlight>
                <a:latin typeface="Arial" panose="020B0604020202020204" pitchFamily="34" charset="0"/>
                <a:ea typeface="黑体-简" panose="02000000000000000000" charset="-122"/>
                <a:sym typeface="+mn-ea"/>
              </a:rPr>
              <a:t>AI</a:t>
            </a:r>
            <a:r>
              <a:rPr lang="zh-CN" altLang="en-US" sz="1200" b="1">
                <a:highlight>
                  <a:srgbClr val="FFFF00"/>
                </a:highlight>
                <a:latin typeface="Arial" panose="020B0604020202020204" pitchFamily="34" charset="0"/>
                <a:ea typeface="黑体-简" panose="02000000000000000000" charset="-122"/>
                <a:sym typeface="+mn-ea"/>
              </a:rPr>
              <a:t>加持的防守体系技战法完成</a:t>
            </a:r>
            <a:r>
              <a:rPr lang="en-US" altLang="zh-CN" sz="1200" b="1">
                <a:highlight>
                  <a:srgbClr val="FFFF00"/>
                </a:highlight>
                <a:latin typeface="Arial" panose="020B0604020202020204" pitchFamily="34" charset="0"/>
                <a:ea typeface="黑体-简" panose="02000000000000000000" charset="-122"/>
                <a:sym typeface="+mn-ea"/>
              </a:rPr>
              <a:t>300</a:t>
            </a:r>
            <a:r>
              <a:rPr lang="zh-CN" altLang="en-US" sz="1200" b="1">
                <a:highlight>
                  <a:srgbClr val="FFFF00"/>
                </a:highlight>
                <a:latin typeface="Arial" panose="020B0604020202020204" pitchFamily="34" charset="0"/>
                <a:ea typeface="黑体-简" panose="02000000000000000000" charset="-122"/>
                <a:sym typeface="+mn-ea"/>
              </a:rPr>
              <a:t>分加分，最终荣获优秀防守单位</a:t>
            </a:r>
            <a:r>
              <a:rPr lang="zh-CN" altLang="en-US" sz="1200" b="1">
                <a:latin typeface="Arial" panose="020B0604020202020204" pitchFamily="34" charset="0"/>
                <a:ea typeface="黑体-简" panose="02000000000000000000" charset="-122"/>
                <a:sym typeface="+mn-ea"/>
              </a:rPr>
              <a:t>。</a:t>
            </a:r>
            <a:endParaRPr lang="zh-CN" altLang="en-US" sz="1200" dirty="0">
              <a:solidFill>
                <a:schemeClr val="tx1"/>
              </a:solidFill>
              <a:latin typeface="Arial" panose="020B0604020202020204" pitchFamily="34" charset="0"/>
              <a:ea typeface="黑体-简" panose="02000000000000000000" charset="-122"/>
            </a:endParaRPr>
          </a:p>
        </p:txBody>
      </p:sp>
      <p:sp>
        <p:nvSpPr>
          <p:cNvPr id="34" name="矩形 15"/>
          <p:cNvSpPr>
            <a:spLocks noChangeArrowheads="1"/>
          </p:cNvSpPr>
          <p:nvPr>
            <p:custDataLst>
              <p:tags r:id="rId18"/>
            </p:custDataLst>
          </p:nvPr>
        </p:nvSpPr>
        <p:spPr bwMode="auto">
          <a:xfrm>
            <a:off x="423420" y="4697255"/>
            <a:ext cx="412794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eaLnBrk="1" hangingPunct="1">
              <a:lnSpc>
                <a:spcPct val="150000"/>
              </a:lnSpc>
              <a:spcBef>
                <a:spcPct val="0"/>
              </a:spcBef>
              <a:buFontTx/>
              <a:buNone/>
            </a:pPr>
            <a:r>
              <a:rPr lang="zh-CN" altLang="en-US" sz="1600" b="1" noProof="0" dirty="0">
                <a:solidFill>
                  <a:schemeClr val="tx1">
                    <a:lumMod val="85000"/>
                    <a:lumOff val="15000"/>
                  </a:schemeClr>
                </a:solidFill>
                <a:uLnTx/>
                <a:latin typeface="Arial" panose="020B0604020202020204" pitchFamily="34" charset="0"/>
                <a:ea typeface="黑体-简" panose="02000000000000000000" charset="-122"/>
              </a:rPr>
              <a:t>实战阶段：</a:t>
            </a:r>
            <a:r>
              <a:rPr lang="en-US" altLang="zh-CN" sz="1600" b="1" noProof="0" dirty="0">
                <a:solidFill>
                  <a:schemeClr val="tx1">
                    <a:lumMod val="85000"/>
                    <a:lumOff val="15000"/>
                  </a:schemeClr>
                </a:solidFill>
                <a:uLnTx/>
                <a:latin typeface="Arial" panose="020B0604020202020204" pitchFamily="34" charset="0"/>
                <a:ea typeface="黑体-简" panose="02000000000000000000" charset="-122"/>
                <a:sym typeface="+mn-ea"/>
              </a:rPr>
              <a:t>AI</a:t>
            </a:r>
            <a:r>
              <a:rPr lang="zh-CN" altLang="en-US" sz="1600" b="1" noProof="0" dirty="0">
                <a:solidFill>
                  <a:schemeClr val="tx1">
                    <a:lumMod val="85000"/>
                    <a:lumOff val="15000"/>
                  </a:schemeClr>
                </a:solidFill>
                <a:uLnTx/>
                <a:latin typeface="Arial" panose="020B0604020202020204" pitchFamily="34" charset="0"/>
                <a:ea typeface="黑体-简" panose="02000000000000000000" charset="-122"/>
                <a:sym typeface="+mn-ea"/>
              </a:rPr>
              <a:t>运营加持，实现演习成果跃升</a:t>
            </a:r>
            <a:endParaRPr lang="zh-CN" altLang="en-US" sz="1600" b="1" noProof="0" dirty="0">
              <a:solidFill>
                <a:schemeClr val="tx1">
                  <a:lumMod val="85000"/>
                  <a:lumOff val="15000"/>
                </a:schemeClr>
              </a:solidFill>
              <a:uLnTx/>
              <a:latin typeface="Arial" panose="020B0604020202020204" pitchFamily="34" charset="0"/>
              <a:ea typeface="黑体-简" panose="02000000000000000000" charset="-122"/>
            </a:endParaRPr>
          </a:p>
        </p:txBody>
      </p:sp>
      <p:sp>
        <p:nvSpPr>
          <p:cNvPr id="35" name="矩形 16"/>
          <p:cNvSpPr>
            <a:spLocks noChangeArrowheads="1"/>
          </p:cNvSpPr>
          <p:nvPr>
            <p:custDataLst>
              <p:tags r:id="rId19"/>
            </p:custDataLst>
          </p:nvPr>
        </p:nvSpPr>
        <p:spPr bwMode="auto">
          <a:xfrm>
            <a:off x="601345" y="2559050"/>
            <a:ext cx="3975100" cy="203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Tx/>
              <a:buNone/>
            </a:pPr>
            <a:r>
              <a:rPr lang="zh-CN" altLang="en-US" sz="1200" b="1">
                <a:solidFill>
                  <a:schemeClr val="tx1"/>
                </a:solidFill>
                <a:latin typeface="Arial" panose="020B0604020202020204" pitchFamily="34" charset="0"/>
                <a:ea typeface="黑体-简" panose="02000000000000000000" charset="-122"/>
              </a:rPr>
              <a:t>线上</a:t>
            </a:r>
            <a:r>
              <a:rPr lang="zh-CN" altLang="en-US" sz="1200">
                <a:solidFill>
                  <a:schemeClr val="tx1"/>
                </a:solidFill>
                <a:latin typeface="Arial" panose="020B0604020202020204" pitchFamily="34" charset="0"/>
                <a:ea typeface="黑体-简" panose="02000000000000000000" charset="-122"/>
              </a:rPr>
              <a:t>：云端团队</a:t>
            </a:r>
            <a:r>
              <a:rPr lang="zh-CN" altLang="en-US" sz="1200" b="1" dirty="0">
                <a:latin typeface="Arial" panose="020B0604020202020204" pitchFamily="34" charset="0"/>
                <a:ea typeface="黑体-简" panose="02000000000000000000" charset="-122"/>
                <a:sym typeface="+mn-ea"/>
              </a:rPr>
              <a:t>完成了</a:t>
            </a:r>
            <a:r>
              <a:rPr lang="en-US" altLang="zh-CN" sz="1200" b="1" dirty="0">
                <a:latin typeface="Arial" panose="020B0604020202020204" pitchFamily="34" charset="0"/>
                <a:ea typeface="黑体-简" panose="02000000000000000000" charset="-122"/>
                <a:sym typeface="+mn-ea"/>
              </a:rPr>
              <a:t>{{exposure_surface_count}}</a:t>
            </a:r>
            <a:r>
              <a:rPr lang="zh-CN" altLang="en-US" sz="1200" b="1">
                <a:solidFill>
                  <a:schemeClr val="tx1"/>
                </a:solidFill>
                <a:latin typeface="Arial" panose="020B0604020202020204" pitchFamily="34" charset="0"/>
                <a:ea typeface="黑体-简" panose="02000000000000000000" charset="-122"/>
              </a:rPr>
              <a:t>互联网暴露面和潜在攻击入口的梳理、{{reinforced_high_medium_risk_vulnerability_count}}个高中危漏洞加固</a:t>
            </a:r>
            <a:r>
              <a:rPr lang="zh-CN" altLang="en-US" sz="1200">
                <a:solidFill>
                  <a:schemeClr val="tx1"/>
                </a:solidFill>
                <a:latin typeface="Arial" panose="020B0604020202020204" pitchFamily="34" charset="0"/>
                <a:ea typeface="黑体-简" panose="02000000000000000000" charset="-122"/>
              </a:rPr>
              <a:t>。</a:t>
            </a:r>
            <a:endParaRPr lang="zh-CN" altLang="en-US" sz="1200">
              <a:solidFill>
                <a:schemeClr val="tx1"/>
              </a:solidFill>
              <a:latin typeface="Arial" panose="020B0604020202020204" pitchFamily="34" charset="0"/>
              <a:ea typeface="黑体-简" panose="02000000000000000000" charset="-122"/>
            </a:endParaRPr>
          </a:p>
          <a:p>
            <a:pPr eaLnBrk="1" hangingPunct="1">
              <a:lnSpc>
                <a:spcPct val="150000"/>
              </a:lnSpc>
              <a:spcBef>
                <a:spcPct val="0"/>
              </a:spcBef>
              <a:buFontTx/>
              <a:buNone/>
            </a:pPr>
            <a:r>
              <a:rPr lang="zh-CN" altLang="en-US" sz="1200" b="1">
                <a:solidFill>
                  <a:schemeClr val="tx1"/>
                </a:solidFill>
                <a:latin typeface="Arial" panose="020B0604020202020204" pitchFamily="34" charset="0"/>
                <a:ea typeface="黑体-简" panose="02000000000000000000" charset="-122"/>
              </a:rPr>
              <a:t>线下</a:t>
            </a:r>
            <a:r>
              <a:rPr lang="zh-CN" altLang="en-US" sz="1200">
                <a:solidFill>
                  <a:schemeClr val="tx1"/>
                </a:solidFill>
                <a:latin typeface="Arial" panose="020B0604020202020204" pitchFamily="34" charset="0"/>
                <a:ea typeface="黑体-简" panose="02000000000000000000" charset="-122"/>
              </a:rPr>
              <a:t>：</a:t>
            </a:r>
            <a:r>
              <a:rPr lang="zh-CN" altLang="en-US" sz="1200" b="1">
                <a:solidFill>
                  <a:schemeClr val="tx1"/>
                </a:solidFill>
                <a:highlight>
                  <a:srgbClr val="FFFF00"/>
                </a:highlight>
                <a:latin typeface="Arial" panose="020B0604020202020204" pitchFamily="34" charset="0"/>
                <a:ea typeface="黑体-简" panose="02000000000000000000" charset="-122"/>
              </a:rPr>
              <a:t>协助XX</a:t>
            </a:r>
            <a:r>
              <a:rPr lang="zh-CN" altLang="en-US" sz="1200">
                <a:solidFill>
                  <a:schemeClr val="tx1"/>
                </a:solidFill>
                <a:latin typeface="Arial" panose="020B0604020202020204" pitchFamily="34" charset="0"/>
                <a:ea typeface="黑体-简" panose="02000000000000000000" charset="-122"/>
              </a:rPr>
              <a:t>，对线上排查发现的暴露面和漏洞进行</a:t>
            </a:r>
            <a:r>
              <a:rPr lang="zh-CN" altLang="en-US" sz="1200">
                <a:latin typeface="Arial" panose="020B0604020202020204" pitchFamily="34" charset="0"/>
                <a:ea typeface="黑体-简" panose="02000000000000000000" charset="-122"/>
                <a:sym typeface="+mn-ea"/>
              </a:rPr>
              <a:t>收敛和</a:t>
            </a:r>
            <a:r>
              <a:rPr lang="zh-CN" altLang="en-US" sz="1200">
                <a:solidFill>
                  <a:schemeClr val="tx1"/>
                </a:solidFill>
                <a:latin typeface="Arial" panose="020B0604020202020204" pitchFamily="34" charset="0"/>
                <a:ea typeface="黑体-简" panose="02000000000000000000" charset="-122"/>
              </a:rPr>
              <a:t>加固修复，</a:t>
            </a:r>
            <a:r>
              <a:rPr lang="zh-CN" altLang="en-US" sz="1200" b="1">
                <a:solidFill>
                  <a:schemeClr val="tx1"/>
                </a:solidFill>
                <a:latin typeface="Arial" panose="020B0604020202020204" pitchFamily="34" charset="0"/>
                <a:ea typeface="黑体-简" panose="02000000000000000000" charset="-122"/>
                <a:sym typeface="+mn-ea"/>
              </a:rPr>
              <a:t>在不影响业务前提下，大幅收敛暴露面，减少攻击队入侵可能</a:t>
            </a:r>
            <a:r>
              <a:rPr lang="zh-CN" altLang="en-US" sz="1200">
                <a:solidFill>
                  <a:schemeClr val="tx1"/>
                </a:solidFill>
                <a:latin typeface="Arial" panose="020B0604020202020204" pitchFamily="34" charset="0"/>
                <a:ea typeface="黑体-简" panose="02000000000000000000" charset="-122"/>
                <a:sym typeface="+mn-ea"/>
              </a:rPr>
              <a:t>。</a:t>
            </a:r>
            <a:endParaRPr lang="zh-CN" altLang="en-US" sz="1200">
              <a:solidFill>
                <a:schemeClr val="tx1"/>
              </a:solidFill>
              <a:latin typeface="Arial" panose="020B0604020202020204" pitchFamily="34" charset="0"/>
              <a:ea typeface="黑体-简" panose="02000000000000000000" charset="-122"/>
              <a:sym typeface="+mn-ea"/>
            </a:endParaRPr>
          </a:p>
        </p:txBody>
      </p:sp>
      <p:sp>
        <p:nvSpPr>
          <p:cNvPr id="36" name="矩形 17"/>
          <p:cNvSpPr>
            <a:spLocks noChangeArrowheads="1"/>
          </p:cNvSpPr>
          <p:nvPr>
            <p:custDataLst>
              <p:tags r:id="rId20"/>
            </p:custDataLst>
          </p:nvPr>
        </p:nvSpPr>
        <p:spPr bwMode="auto">
          <a:xfrm>
            <a:off x="225983" y="2193767"/>
            <a:ext cx="421806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eaLnBrk="1" hangingPunct="1">
              <a:lnSpc>
                <a:spcPct val="150000"/>
              </a:lnSpc>
              <a:spcBef>
                <a:spcPct val="0"/>
              </a:spcBef>
              <a:buFontTx/>
              <a:buNone/>
            </a:pPr>
            <a:r>
              <a:rPr lang="zh-CN" altLang="en-US" sz="1600" b="1" noProof="0" dirty="0">
                <a:solidFill>
                  <a:schemeClr val="tx1">
                    <a:lumMod val="85000"/>
                    <a:lumOff val="15000"/>
                  </a:schemeClr>
                </a:solidFill>
                <a:uLnTx/>
                <a:latin typeface="Arial" panose="020B0604020202020204" pitchFamily="34" charset="0"/>
                <a:ea typeface="黑体-简" panose="02000000000000000000" charset="-122"/>
              </a:rPr>
              <a:t>备战阶段：摸清家底，安全加固筑牢防线</a:t>
            </a:r>
            <a:endParaRPr lang="zh-CN" altLang="en-US" sz="1600" b="1" noProof="0" dirty="0">
              <a:solidFill>
                <a:schemeClr val="tx1">
                  <a:lumMod val="85000"/>
                  <a:lumOff val="15000"/>
                </a:schemeClr>
              </a:solidFill>
              <a:uLnTx/>
              <a:latin typeface="Arial" panose="020B0604020202020204" pitchFamily="34" charset="0"/>
              <a:ea typeface="黑体-简" panose="02000000000000000000" charset="-122"/>
            </a:endParaRPr>
          </a:p>
        </p:txBody>
      </p:sp>
      <p:sp>
        <p:nvSpPr>
          <p:cNvPr id="37" name="矩形 12"/>
          <p:cNvSpPr>
            <a:spLocks noChangeArrowheads="1"/>
          </p:cNvSpPr>
          <p:nvPr/>
        </p:nvSpPr>
        <p:spPr bwMode="auto">
          <a:xfrm>
            <a:off x="7579677" y="5044631"/>
            <a:ext cx="3722687" cy="1198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Tx/>
              <a:buNone/>
            </a:pPr>
            <a:r>
              <a:rPr lang="zh-CN" altLang="en-US" sz="1200">
                <a:solidFill>
                  <a:schemeClr val="tx1"/>
                </a:solidFill>
                <a:latin typeface="Arial" panose="020B0604020202020204" pitchFamily="34" charset="0"/>
                <a:ea typeface="黑体-简" panose="02000000000000000000" charset="-122"/>
              </a:rPr>
              <a:t>通过本次攻防演练暴露的问题，结合前期排查情况，明确单位安全防护上仍然存在的薄弱点，并为后续的安全运营和安全建设中指明方向，真正</a:t>
            </a:r>
            <a:r>
              <a:rPr lang="zh-CN" altLang="en-US" sz="1200" b="1">
                <a:solidFill>
                  <a:schemeClr val="tx1"/>
                </a:solidFill>
                <a:latin typeface="Arial" panose="020B0604020202020204" pitchFamily="34" charset="0"/>
                <a:ea typeface="黑体-简" panose="02000000000000000000" charset="-122"/>
              </a:rPr>
              <a:t>实现以攻促防、提升集团的安全水位线</a:t>
            </a:r>
            <a:r>
              <a:rPr lang="zh-CN" altLang="en-US" sz="1200">
                <a:solidFill>
                  <a:schemeClr val="tx1"/>
                </a:solidFill>
                <a:latin typeface="Arial" panose="020B0604020202020204" pitchFamily="34" charset="0"/>
                <a:ea typeface="黑体-简" panose="02000000000000000000" charset="-122"/>
              </a:rPr>
              <a:t>。</a:t>
            </a:r>
            <a:endParaRPr lang="zh-CN" altLang="en-US" sz="1200">
              <a:solidFill>
                <a:schemeClr val="tx1"/>
              </a:solidFill>
              <a:latin typeface="Arial" panose="020B0604020202020204" pitchFamily="34" charset="0"/>
              <a:ea typeface="黑体-简" panose="02000000000000000000" charset="-122"/>
            </a:endParaRPr>
          </a:p>
        </p:txBody>
      </p:sp>
      <p:sp>
        <p:nvSpPr>
          <p:cNvPr id="38" name="文本框 37"/>
          <p:cNvSpPr txBox="1"/>
          <p:nvPr/>
        </p:nvSpPr>
        <p:spPr>
          <a:xfrm>
            <a:off x="7666355" y="2592070"/>
            <a:ext cx="3723640" cy="1405890"/>
          </a:xfrm>
          <a:prstGeom prst="rect">
            <a:avLst/>
          </a:prstGeom>
          <a:noFill/>
        </p:spPr>
        <p:txBody>
          <a:bodyPr wrap="square" lIns="0" tIns="0" rIns="0" bIns="0" rtlCol="0">
            <a:noAutofit/>
          </a:bodyPr>
          <a:lstStyle/>
          <a:p>
            <a:pPr algn="l" eaLnBrk="1" hangingPunct="1">
              <a:lnSpc>
                <a:spcPct val="150000"/>
              </a:lnSpc>
              <a:spcBef>
                <a:spcPct val="0"/>
              </a:spcBef>
              <a:buFontTx/>
              <a:buNone/>
            </a:pPr>
            <a:r>
              <a:rPr lang="zh-CN" altLang="en-US" sz="1200" dirty="0">
                <a:solidFill>
                  <a:schemeClr val="tx1"/>
                </a:solidFill>
                <a:latin typeface="Arial" panose="020B0604020202020204" pitchFamily="34" charset="0"/>
                <a:ea typeface="黑体-简" panose="02000000000000000000" charset="-122"/>
                <a:sym typeface="+mn-ea"/>
              </a:rPr>
              <a:t>线上云端团队</a:t>
            </a:r>
            <a:r>
              <a:rPr lang="zh-CN" altLang="en-US" sz="1200" b="1">
                <a:solidFill>
                  <a:schemeClr val="tx1"/>
                </a:solidFill>
                <a:latin typeface="Arial" panose="020B0604020202020204" pitchFamily="34" charset="0"/>
                <a:ea typeface="黑体-简" panose="02000000000000000000" charset="-122"/>
                <a:sym typeface="+mn-ea"/>
              </a:rPr>
              <a:t>共完成{{defense_event_count}}起安全事件通报</a:t>
            </a:r>
            <a:r>
              <a:rPr lang="zh-CN" altLang="en-US" sz="1200">
                <a:solidFill>
                  <a:schemeClr val="tx1"/>
                </a:solidFill>
                <a:latin typeface="Arial" panose="020B0604020202020204" pitchFamily="34" charset="0"/>
                <a:ea typeface="黑体-简" panose="02000000000000000000" charset="-122"/>
                <a:sym typeface="+mn-ea"/>
              </a:rPr>
              <a:t>（含</a:t>
            </a:r>
            <a:r>
              <a:rPr lang="zh-CN" altLang="en-US" sz="1200">
                <a:solidFill>
                  <a:schemeClr val="tx1"/>
                </a:solidFill>
                <a:latin typeface="Arial" panose="020B0604020202020204" pitchFamily="34" charset="0"/>
                <a:ea typeface="黑体-简" panose="02000000000000000000" charset="-122"/>
                <a:sym typeface="Noto Sans SC"/>
              </a:rPr>
              <a:t>7起高危管理员弱口令事件</a:t>
            </a:r>
            <a:r>
              <a:rPr lang="zh-CN" altLang="en-US" sz="1200">
                <a:latin typeface="Arial" panose="020B0604020202020204" pitchFamily="34" charset="0"/>
                <a:ea typeface="黑体-简" panose="02000000000000000000" charset="-122"/>
                <a:sym typeface="+mn-ea"/>
              </a:rPr>
              <a:t>）</a:t>
            </a:r>
            <a:r>
              <a:rPr lang="zh-CN" altLang="en-US" sz="1200" b="1">
                <a:latin typeface="Arial" panose="020B0604020202020204" pitchFamily="34" charset="0"/>
                <a:ea typeface="黑体-简" panose="02000000000000000000" charset="-122"/>
                <a:sym typeface="+mn-ea"/>
              </a:rPr>
              <a:t>，</a:t>
            </a:r>
            <a:r>
              <a:rPr lang="zh-CN" altLang="en-US" sz="1200" b="1">
                <a:highlight>
                  <a:srgbClr val="FFFF00"/>
                </a:highlight>
                <a:latin typeface="Arial" panose="020B0604020202020204" pitchFamily="34" charset="0"/>
                <a:ea typeface="黑体-简" panose="02000000000000000000" charset="-122"/>
                <a:sym typeface="+mn-ea"/>
              </a:rPr>
              <a:t>联合</a:t>
            </a:r>
            <a:r>
              <a:rPr lang="zh-CN" altLang="en-US" sz="1200" b="1" dirty="0">
                <a:highlight>
                  <a:srgbClr val="FFFF00"/>
                </a:highlight>
                <a:latin typeface="Arial" panose="020B0604020202020204" pitchFamily="34" charset="0"/>
                <a:ea typeface="黑体-简" panose="02000000000000000000" charset="-122"/>
                <a:sym typeface="+mn-ea"/>
              </a:rPr>
              <a:t>XX和现场值守人员</a:t>
            </a:r>
            <a:r>
              <a:rPr lang="zh-CN" sz="1200" b="1" dirty="0">
                <a:latin typeface="Arial" panose="020B0604020202020204" pitchFamily="34" charset="0"/>
                <a:ea typeface="黑体-简" panose="02000000000000000000" charset="-122"/>
                <a:sym typeface="+mn-ea"/>
              </a:rPr>
              <a:t>开展应急溯源和处置加固协同，</a:t>
            </a:r>
            <a:r>
              <a:rPr lang="zh-CN" sz="1200" dirty="0">
                <a:latin typeface="Arial" panose="020B0604020202020204" pitchFamily="34" charset="0"/>
                <a:ea typeface="黑体-简" panose="02000000000000000000" charset="-122"/>
                <a:sym typeface="+mn-ea"/>
              </a:rPr>
              <a:t>输出报告</a:t>
            </a:r>
            <a:r>
              <a:rPr lang="zh-CN" sz="1200" b="1" dirty="0">
                <a:highlight>
                  <a:srgbClr val="FFFF00"/>
                </a:highlight>
                <a:latin typeface="Arial" panose="020B0604020202020204" pitchFamily="34" charset="0"/>
                <a:ea typeface="黑体-简" panose="02000000000000000000" charset="-122"/>
                <a:sym typeface="+mn-ea"/>
              </a:rPr>
              <a:t>针对部分扣分完成了回血</a:t>
            </a:r>
            <a:r>
              <a:rPr lang="zh-CN" altLang="en-US" sz="1200" b="1">
                <a:highlight>
                  <a:srgbClr val="FFFF00"/>
                </a:highlight>
                <a:latin typeface="Arial" panose="020B0604020202020204" pitchFamily="34" charset="0"/>
                <a:ea typeface="黑体-简" panose="02000000000000000000" charset="-122"/>
                <a:sym typeface="+mn-ea"/>
              </a:rPr>
              <a:t>（全量分数追回）</a:t>
            </a:r>
            <a:r>
              <a:rPr lang="zh-CN" altLang="en-US" sz="1200" b="1">
                <a:latin typeface="Arial" panose="020B0604020202020204" pitchFamily="34" charset="0"/>
                <a:ea typeface="黑体-简" panose="02000000000000000000" charset="-122"/>
                <a:sym typeface="+mn-ea"/>
              </a:rPr>
              <a:t>，</a:t>
            </a:r>
            <a:r>
              <a:rPr lang="zh-CN" altLang="en-US" sz="1200">
                <a:solidFill>
                  <a:schemeClr val="tx1"/>
                </a:solidFill>
                <a:latin typeface="Arial" panose="020B0604020202020204" pitchFamily="34" charset="0"/>
                <a:ea typeface="黑体-简" panose="02000000000000000000" charset="-122"/>
                <a:sym typeface="+mn-ea"/>
              </a:rPr>
              <a:t>有效支撑了攻防成绩的保障。</a:t>
            </a:r>
            <a:endParaRPr lang="zh-CN" altLang="en-US" sz="1200" b="1" kern="0">
              <a:solidFill>
                <a:schemeClr val="tx1"/>
              </a:solidFill>
              <a:latin typeface="Arial" panose="020B0604020202020204" pitchFamily="34" charset="0"/>
              <a:ea typeface="黑体-简" panose="02000000000000000000" charset="-122"/>
            </a:endParaRPr>
          </a:p>
        </p:txBody>
      </p:sp>
      <p:sp>
        <p:nvSpPr>
          <p:cNvPr id="44" name="矩形 13"/>
          <p:cNvSpPr>
            <a:spLocks noChangeArrowheads="1"/>
          </p:cNvSpPr>
          <p:nvPr/>
        </p:nvSpPr>
        <p:spPr bwMode="auto">
          <a:xfrm>
            <a:off x="7573963" y="4697255"/>
            <a:ext cx="48371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Tx/>
              <a:buNone/>
            </a:pPr>
            <a:r>
              <a:rPr lang="zh-CN" altLang="en-US" sz="1600" b="1" noProof="0" dirty="0">
                <a:solidFill>
                  <a:schemeClr val="tx1">
                    <a:lumMod val="85000"/>
                    <a:lumOff val="15000"/>
                  </a:schemeClr>
                </a:solidFill>
                <a:uLnTx/>
                <a:latin typeface="Arial" panose="020B0604020202020204" pitchFamily="34" charset="0"/>
                <a:ea typeface="黑体-简" panose="02000000000000000000" charset="-122"/>
              </a:rPr>
              <a:t>总结阶段：以攻促防，助力提升安全水位线</a:t>
            </a:r>
            <a:endParaRPr lang="zh-CN" altLang="en-US" sz="1600" b="1" noProof="0" dirty="0">
              <a:solidFill>
                <a:schemeClr val="tx1">
                  <a:lumMod val="85000"/>
                  <a:lumOff val="15000"/>
                </a:schemeClr>
              </a:solidFill>
              <a:uLnTx/>
              <a:latin typeface="Arial" panose="020B0604020202020204" pitchFamily="34" charset="0"/>
              <a:ea typeface="黑体-简" panose="02000000000000000000" charset="-122"/>
            </a:endParaRPr>
          </a:p>
        </p:txBody>
      </p:sp>
      <p:sp>
        <p:nvSpPr>
          <p:cNvPr id="45" name="矩形 13"/>
          <p:cNvSpPr>
            <a:spLocks noChangeArrowheads="1"/>
          </p:cNvSpPr>
          <p:nvPr/>
        </p:nvSpPr>
        <p:spPr bwMode="auto">
          <a:xfrm>
            <a:off x="7574597" y="2188997"/>
            <a:ext cx="4629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Tx/>
              <a:buNone/>
            </a:pPr>
            <a:r>
              <a:rPr lang="zh-CN" altLang="en-US" sz="1600" b="1" noProof="0" dirty="0">
                <a:solidFill>
                  <a:schemeClr val="tx1">
                    <a:lumMod val="85000"/>
                    <a:lumOff val="15000"/>
                  </a:schemeClr>
                </a:solidFill>
                <a:uLnTx/>
                <a:latin typeface="Arial" panose="020B0604020202020204" pitchFamily="34" charset="0"/>
                <a:ea typeface="黑体-简" panose="02000000000000000000" charset="-122"/>
              </a:rPr>
              <a:t>实战阶段：</a:t>
            </a:r>
            <a:r>
              <a:rPr lang="zh-CN" altLang="en-US" sz="1600" b="1" noProof="0" dirty="0">
                <a:solidFill>
                  <a:schemeClr val="tx1">
                    <a:lumMod val="85000"/>
                    <a:lumOff val="15000"/>
                  </a:schemeClr>
                </a:solidFill>
                <a:uLnTx/>
                <a:latin typeface="Arial" panose="020B0604020202020204" pitchFamily="34" charset="0"/>
                <a:ea typeface="黑体-简" panose="02000000000000000000" charset="-122"/>
                <a:sym typeface="+mn-ea"/>
              </a:rPr>
              <a:t>云地协同，有效实现攻击对抗</a:t>
            </a:r>
            <a:endParaRPr lang="zh-CN" altLang="en-US" sz="1600" b="1" noProof="0" dirty="0">
              <a:solidFill>
                <a:schemeClr val="tx1">
                  <a:lumMod val="85000"/>
                  <a:lumOff val="15000"/>
                </a:schemeClr>
              </a:solidFill>
              <a:uLnTx/>
              <a:latin typeface="Arial" panose="020B0604020202020204" pitchFamily="34" charset="0"/>
              <a:ea typeface="黑体-简" panose="02000000000000000000" charset="-122"/>
            </a:endParaRPr>
          </a:p>
        </p:txBody>
      </p:sp>
      <p:grpSp>
        <p:nvGrpSpPr>
          <p:cNvPr id="3" name="组合 2" descr="7b0a202020202274657874626f78223a20227b5c2269645c223a32303334383533362c5c227469645c223a5c225c227d220a7d0a"/>
          <p:cNvGrpSpPr/>
          <p:nvPr>
            <p:custDataLst>
              <p:tags r:id="rId21"/>
            </p:custDataLst>
          </p:nvPr>
        </p:nvGrpSpPr>
        <p:grpSpPr>
          <a:xfrm>
            <a:off x="852170" y="714063"/>
            <a:ext cx="10556240" cy="1175697"/>
            <a:chOff x="3067050" y="1761966"/>
            <a:chExt cx="6057900" cy="3684815"/>
          </a:xfrm>
        </p:grpSpPr>
        <p:grpSp>
          <p:nvGrpSpPr>
            <p:cNvPr id="7" name="组合 6"/>
            <p:cNvGrpSpPr/>
            <p:nvPr/>
          </p:nvGrpSpPr>
          <p:grpSpPr>
            <a:xfrm>
              <a:off x="3067050" y="1761966"/>
              <a:ext cx="6057900" cy="3684815"/>
              <a:chOff x="3064668" y="1247616"/>
              <a:chExt cx="6057900" cy="3684815"/>
            </a:xfrm>
          </p:grpSpPr>
          <p:grpSp>
            <p:nvGrpSpPr>
              <p:cNvPr id="8" name="组合 7"/>
              <p:cNvGrpSpPr/>
              <p:nvPr/>
            </p:nvGrpSpPr>
            <p:grpSpPr>
              <a:xfrm>
                <a:off x="3064668" y="1247616"/>
                <a:ext cx="6057900" cy="479210"/>
                <a:chOff x="3064668" y="1247616"/>
                <a:chExt cx="6057900" cy="479210"/>
              </a:xfrm>
            </p:grpSpPr>
            <p:sp>
              <p:nvSpPr>
                <p:cNvPr id="39" name="任意多边形: 形状 9"/>
                <p:cNvSpPr/>
                <p:nvPr/>
              </p:nvSpPr>
              <p:spPr>
                <a:xfrm rot="5400000">
                  <a:off x="3038475" y="148393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0" name="任意多边形: 形状 10"/>
                <p:cNvSpPr/>
                <p:nvPr/>
              </p:nvSpPr>
              <p:spPr>
                <a:xfrm rot="5400000">
                  <a:off x="3146425" y="148097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1" name="任意多边形: 形状 11"/>
                <p:cNvSpPr/>
                <p:nvPr/>
              </p:nvSpPr>
              <p:spPr>
                <a:xfrm flipV="1">
                  <a:off x="3064668" y="1425682"/>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3">
                  <a:schemeClr val="accent5"/>
                </a:lnRef>
                <a:fillRef idx="0">
                  <a:srgbClr val="FFFFFF"/>
                </a:fillRef>
                <a:effectRef idx="0">
                  <a:srgbClr val="FFFFFF"/>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nvGrpSpPr>
              <p:cNvPr id="9" name="组合 8"/>
              <p:cNvGrpSpPr/>
              <p:nvPr/>
            </p:nvGrpSpPr>
            <p:grpSpPr>
              <a:xfrm>
                <a:off x="3064668" y="4456181"/>
                <a:ext cx="6057900" cy="476250"/>
                <a:chOff x="3064668" y="4456181"/>
                <a:chExt cx="6057900" cy="476250"/>
              </a:xfrm>
            </p:grpSpPr>
            <p:sp>
              <p:nvSpPr>
                <p:cNvPr id="46" name="任意多边形: 形状 6"/>
                <p:cNvSpPr/>
                <p:nvPr/>
              </p:nvSpPr>
              <p:spPr>
                <a:xfrm rot="5400000">
                  <a:off x="86518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1" name="任意多边形: 形状 7"/>
                <p:cNvSpPr/>
                <p:nvPr/>
              </p:nvSpPr>
              <p:spPr>
                <a:xfrm rot="5400000">
                  <a:off x="85502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2" name="任意多边形: 形状 8"/>
                <p:cNvSpPr/>
                <p:nvPr/>
              </p:nvSpPr>
              <p:spPr>
                <a:xfrm flipV="1">
                  <a:off x="3064668" y="4694304"/>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2">
                  <a:schemeClr val="accent6"/>
                </a:lnRef>
                <a:fillRef idx="0">
                  <a:schemeClr val="accent6"/>
                </a:fillRef>
                <a:effectRef idx="1">
                  <a:schemeClr val="accent6"/>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sp>
          <p:nvSpPr>
            <p:cNvPr id="53" name="文本框 52"/>
            <p:cNvSpPr txBox="1"/>
            <p:nvPr/>
          </p:nvSpPr>
          <p:spPr>
            <a:xfrm>
              <a:off x="3325779" y="2156023"/>
              <a:ext cx="5571781" cy="2746459"/>
            </a:xfrm>
            <a:prstGeom prst="rect">
              <a:avLst/>
            </a:prstGeom>
            <a:noFill/>
          </p:spPr>
          <p:txBody>
            <a:bodyPr wrap="square" rtlCol="0" anchor="ctr"/>
            <a:lstStyle/>
            <a:p>
              <a:pPr algn="just">
                <a:lnSpc>
                  <a:spcPct val="170000"/>
                </a:lnSpc>
              </a:pPr>
              <a:r>
                <a:rPr lang="zh-CN" altLang="en-US" sz="1200" dirty="0">
                  <a:highlight>
                    <a:srgbClr val="FFFF00"/>
                  </a:highlight>
                  <a:latin typeface="Arial" panose="020B0604020202020204" pitchFamily="34" charset="0"/>
                  <a:ea typeface="黑体-简" panose="02000000000000000000" charset="-122"/>
                  <a:sym typeface="+mn-ea"/>
                </a:rPr>
                <a:t>省级攻防演习</a:t>
              </a:r>
              <a:r>
                <a:rPr lang="zh-CN" altLang="en-US" sz="1200" dirty="0">
                  <a:latin typeface="Arial" panose="020B0604020202020204" pitchFamily="34" charset="0"/>
                  <a:ea typeface="黑体-简" panose="02000000000000000000" charset="-122"/>
                  <a:sym typeface="+mn-ea"/>
                </a:rPr>
                <a:t>，是服务方与用户每年安全工作中最关键的时点，也是检验双方工作成果的实战考验；过去一年围绕攻防演习的效果保障目标，</a:t>
              </a:r>
              <a:r>
                <a:rPr lang="zh-CN" altLang="en-US" sz="1200" b="1" dirty="0">
                  <a:latin typeface="Arial" panose="020B0604020202020204" pitchFamily="34" charset="0"/>
                  <a:ea typeface="黑体-简" panose="02000000000000000000" charset="-122"/>
                  <a:sym typeface="+mn-ea"/>
                </a:rPr>
                <a:t>双方共同在备战阶段的差距摸排、战线收敛</a:t>
              </a:r>
              <a:r>
                <a:rPr lang="en-US" altLang="zh-CN" sz="1200" b="1" dirty="0">
                  <a:latin typeface="Arial" panose="020B0604020202020204" pitchFamily="34" charset="0"/>
                  <a:ea typeface="黑体-简" panose="02000000000000000000" charset="-122"/>
                  <a:sym typeface="+mn-ea"/>
                </a:rPr>
                <a:t>&amp;</a:t>
              </a:r>
              <a:r>
                <a:rPr lang="zh-CN" altLang="en-US" sz="1200" b="1" dirty="0">
                  <a:latin typeface="Arial" panose="020B0604020202020204" pitchFamily="34" charset="0"/>
                  <a:ea typeface="黑体-简" panose="02000000000000000000" charset="-122"/>
                  <a:sym typeface="+mn-ea"/>
                </a:rPr>
                <a:t>安全加固、实战阶段的云地协同值守、溯源排查和报告输出、以及战后的整体总结等工作中砥砺配合，</a:t>
              </a:r>
              <a:r>
                <a:rPr lang="zh-CN" altLang="en-US" sz="1200" b="1" dirty="0">
                  <a:highlight>
                    <a:srgbClr val="FFFF00"/>
                  </a:highlight>
                  <a:latin typeface="Arial" panose="020B0604020202020204" pitchFamily="34" charset="0"/>
                  <a:ea typeface="黑体-简" panose="02000000000000000000" charset="-122"/>
                  <a:sym typeface="+mn-ea"/>
                </a:rPr>
                <a:t>最终获得了“</a:t>
              </a:r>
              <a:r>
                <a:rPr lang="en-US" altLang="zh-CN" sz="1200" b="1" dirty="0">
                  <a:highlight>
                    <a:srgbClr val="FFFF00"/>
                  </a:highlight>
                  <a:latin typeface="Arial" panose="020B0604020202020204" pitchFamily="34" charset="0"/>
                  <a:ea typeface="黑体-简" panose="02000000000000000000" charset="-122"/>
                  <a:sym typeface="+mn-ea"/>
                </a:rPr>
                <a:t> </a:t>
              </a:r>
              <a:r>
                <a:rPr lang="zh-CN" altLang="en-US" sz="1200" b="1" dirty="0">
                  <a:highlight>
                    <a:srgbClr val="FFFF00"/>
                  </a:highlight>
                  <a:latin typeface="Arial" panose="020B0604020202020204" pitchFamily="34" charset="0"/>
                  <a:ea typeface="黑体-简" panose="02000000000000000000" charset="-122"/>
                  <a:sym typeface="+mn-ea"/>
                </a:rPr>
                <a:t>优秀防守单位”</a:t>
              </a:r>
              <a:r>
                <a:rPr lang="en-US" altLang="zh-CN" sz="1200" b="1" dirty="0">
                  <a:highlight>
                    <a:srgbClr val="FFFF00"/>
                  </a:highlight>
                  <a:latin typeface="Arial" panose="020B0604020202020204" pitchFamily="34" charset="0"/>
                  <a:ea typeface="黑体-简" panose="02000000000000000000" charset="-122"/>
                  <a:sym typeface="+mn-ea"/>
                </a:rPr>
                <a:t> </a:t>
              </a:r>
              <a:r>
                <a:rPr lang="zh-CN" altLang="en-US" sz="1200" b="1" dirty="0">
                  <a:highlight>
                    <a:srgbClr val="FFFF00"/>
                  </a:highlight>
                  <a:latin typeface="Arial" panose="020B0604020202020204" pitchFamily="34" charset="0"/>
                  <a:ea typeface="黑体-简" panose="02000000000000000000" charset="-122"/>
                  <a:sym typeface="+mn-ea"/>
                </a:rPr>
                <a:t>的好成绩</a:t>
              </a:r>
              <a:r>
                <a:rPr lang="zh-CN" altLang="en-US" sz="1200" dirty="0">
                  <a:latin typeface="Arial" panose="020B0604020202020204" pitchFamily="34" charset="0"/>
                  <a:ea typeface="黑体-简" panose="02000000000000000000" charset="-122"/>
                  <a:sym typeface="+mn-ea"/>
                </a:rPr>
                <a:t>；</a:t>
              </a:r>
              <a:endParaRPr lang="zh-CN" altLang="en-US" sz="1200" kern="1200" dirty="0">
                <a:solidFill>
                  <a:schemeClr val="tx1"/>
                </a:solidFill>
                <a:effectLst/>
                <a:latin typeface="Arial" panose="020B0604020202020204" pitchFamily="34" charset="0"/>
                <a:ea typeface="黑体-简" panose="02000000000000000000" charset="-122"/>
                <a:cs typeface="+mn-cs"/>
                <a:sym typeface="+mn-ea"/>
              </a:endParaRPr>
            </a:p>
          </p:txBody>
        </p:sp>
      </p:grpSp>
    </p:spTree>
    <p:custDataLst>
      <p:tags r:id="rId2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rot="0">
            <a:off x="224790" y="306705"/>
            <a:ext cx="369570" cy="266700"/>
            <a:chOff x="533" y="672"/>
            <a:chExt cx="582" cy="420"/>
          </a:xfrm>
        </p:grpSpPr>
        <p:sp>
          <p:nvSpPr>
            <p:cNvPr id="7"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sp>
          <p:nvSpPr>
            <p:cNvPr id="8"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grpSp>
      <p:sp>
        <p:nvSpPr>
          <p:cNvPr id="9" name="textbox 158"/>
          <p:cNvSpPr/>
          <p:nvPr/>
        </p:nvSpPr>
        <p:spPr>
          <a:xfrm>
            <a:off x="740410" y="347980"/>
            <a:ext cx="7640955" cy="34353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重要时期保障</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典型</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事例</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pic>
        <p:nvPicPr>
          <p:cNvPr id="10" name="图片 9"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11" name="Text 1"/>
          <p:cNvSpPr/>
          <p:nvPr/>
        </p:nvSpPr>
        <p:spPr>
          <a:xfrm>
            <a:off x="472440" y="1018540"/>
            <a:ext cx="5760000" cy="576000"/>
          </a:xfrm>
          <a:prstGeom prst="rect">
            <a:avLst/>
          </a:prstGeom>
          <a:solidFill>
            <a:srgbClr val="E6514E"/>
          </a:solidFill>
        </p:spPr>
        <p:txBody>
          <a:bodyPr wrap="square" lIns="0" tIns="0" rIns="0" bIns="0" rtlCol="0" anchor="ctr"/>
          <a:lstStyle/>
          <a:p>
            <a:pPr marL="0" indent="0" algn="ctr">
              <a:buNone/>
            </a:pPr>
            <a:r>
              <a:rPr lang="en-US" sz="1400" b="1" dirty="0">
                <a:solidFill>
                  <a:srgbClr val="FFFFFF"/>
                </a:solidFill>
                <a:latin typeface="Heiti SC Medium" panose="02000000000000000000" charset="-122"/>
                <a:ea typeface="Heiti SC Medium" panose="02000000000000000000" charset="-122"/>
                <a:cs typeface="微软雅黑" panose="020B0503020204020204" pitchFamily="34" charset="-120"/>
              </a:rPr>
              <a:t>主机</a:t>
            </a:r>
            <a:r>
              <a:rPr lang="zh-CN" altLang="en-US" sz="1400" b="1" dirty="0">
                <a:solidFill>
                  <a:srgbClr val="FFFFFF"/>
                </a:solidFill>
                <a:latin typeface="Heiti SC Medium" panose="02000000000000000000" charset="-122"/>
                <a:ea typeface="Heiti SC Medium" panose="02000000000000000000" charset="-122"/>
                <a:cs typeface="微软雅黑" panose="020B0503020204020204" pitchFamily="34" charset="-120"/>
              </a:rPr>
              <a:t>存在目标服务器开启目录浏览功能</a:t>
            </a:r>
            <a:endParaRPr lang="zh-CN" altLang="en-US" sz="1400" b="1" dirty="0">
              <a:solidFill>
                <a:srgbClr val="FFFFFF"/>
              </a:solidFill>
              <a:latin typeface="Heiti SC Medium" panose="02000000000000000000" charset="-122"/>
              <a:ea typeface="Heiti SC Medium" panose="02000000000000000000" charset="-122"/>
              <a:cs typeface="微软雅黑" panose="020B0503020204020204" pitchFamily="34" charset="-120"/>
            </a:endParaRPr>
          </a:p>
        </p:txBody>
      </p:sp>
      <p:sp>
        <p:nvSpPr>
          <p:cNvPr id="12" name="Text 2"/>
          <p:cNvSpPr/>
          <p:nvPr/>
        </p:nvSpPr>
        <p:spPr>
          <a:xfrm>
            <a:off x="472440" y="1594485"/>
            <a:ext cx="5760000" cy="4896000"/>
          </a:xfrm>
          <a:prstGeom prst="rect">
            <a:avLst/>
          </a:prstGeom>
          <a:solidFill>
            <a:srgbClr val="FDF1F1"/>
          </a:solidFill>
        </p:spPr>
        <p:txBody>
          <a:bodyPr wrap="square" lIns="283464" tIns="137160" rIns="283464" bIns="137160" rtlCol="0" anchor="t">
            <a:noAutofit/>
          </a:bodyPr>
          <a:lstStyle/>
          <a:p>
            <a:pPr lvl="0" algn="l">
              <a:lnSpc>
                <a:spcPts val="1600"/>
              </a:lnSpc>
              <a:buClrTx/>
              <a:buSzTx/>
              <a:buFontTx/>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攻击者通过该漏洞可任意浏览根目录下相关文件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
</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lvl="0" algn="l">
              <a:lnSpc>
                <a:spcPct val="136000"/>
              </a:lnSpc>
              <a:buClrTx/>
              <a:buSzTx/>
              <a:buFontTx/>
            </a:pP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发现时间</a:t>
            </a: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2025-06-09 11:25:42</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lvl="0" algn="l">
              <a:lnSpc>
                <a:spcPct val="136000"/>
              </a:lnSpc>
              <a:buClrTx/>
              <a:buSzTx/>
              <a:buFontTx/>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【影响资产</a:t>
            </a: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XX.XX.XX.XX(</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XX资产</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endPar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lvl="0" algn="l">
              <a:lnSpc>
                <a:spcPct val="136000"/>
              </a:lnSpc>
              <a:buClrTx/>
              <a:buSzTx/>
              <a:buFontTx/>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【事件危害</a:t>
            </a: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：业务系统</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存在目录浏览</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漏洞，如</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没有实时对抗响应遏制，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攻击者可以轻松突破防线，</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遍历下载根目录下的全部文件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，从而</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获取敏感信息直接造成防守</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失分；同时常见的配置文件、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数据库口令等会</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存在默认管理后台等，可被攻击队利用</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进一步获得业务主机权限，甚至突破边界直达内网其他核心业务，导致重大失分和</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演习出局，甚至被列入负面典型。</a:t>
            </a:r>
            <a:endPar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lvl="0" algn="l">
              <a:lnSpc>
                <a:spcPct val="136000"/>
              </a:lnSpc>
              <a:buClrTx/>
              <a:buSzTx/>
              <a:buFontTx/>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【影响范围分析】</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：通过</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本次事件监测识别到了真实存在的业务漏洞</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，而后快速完成了攻击源的封堵和业务的漏洞修复，收敛战线，</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避免了更多资产受影响。</a:t>
            </a:r>
            <a:endPar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lvl="0" algn="l">
              <a:lnSpc>
                <a:spcPct val="136000"/>
              </a:lnSpc>
              <a:buClrTx/>
              <a:buSzTx/>
              <a:buFontTx/>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【事件处置</a:t>
            </a: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marL="228600" indent="-228600">
              <a:lnSpc>
                <a:spcPct val="136000"/>
              </a:lnSpc>
              <a:buFont typeface="+mj-ea"/>
              <a:buAutoNum type="circleNumDbPlain"/>
            </a:pPr>
            <a:r>
              <a:rPr lang="zh-CN" altLang="en-US" sz="1200" dirty="0">
                <a:solidFill>
                  <a:srgbClr val="14161A"/>
                </a:solidFill>
                <a:latin typeface="Heiti SC Light" panose="02000000000000000000" charset="-122"/>
                <a:ea typeface="Heiti SC Light" panose="02000000000000000000" charset="-122"/>
                <a:cs typeface="微软雅黑" panose="020B0503020204020204" pitchFamily="34" charset="-120"/>
                <a:sym typeface="+mn-ea"/>
              </a:rPr>
              <a:t>云端服务经理</a:t>
            </a:r>
            <a:r>
              <a:rPr lang="zh-CN" altLang="en-US" sz="1200" dirty="0">
                <a:solidFill>
                  <a:srgbClr val="666666"/>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快速分析并定性了事件和漏洞的真伪，联动安全设备进行了处置，紧急联系到</a:t>
            </a:r>
            <a:endParaRPr lang="en-US" altLang="en-US" sz="1200" b="1"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36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「客户单位</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对接人姓名</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第一时间切断了该业务的访问入口，并同步相关系统管理员进行漏洞闭环，规避了后续潜在的攻击和失分；</a:t>
            </a:r>
            <a:r>
              <a:rPr lang="zh-CN" sz="1200" dirty="0">
                <a:latin typeface="Heiti SC Light" panose="02000000000000000000" charset="-122"/>
                <a:ea typeface="Heiti SC Light" panose="02000000000000000000" charset="-122"/>
                <a:cs typeface="Heiti SC Light" panose="02000000000000000000" charset="-122"/>
                <a:sym typeface="+mn-ea"/>
              </a:rPr>
              <a:t>；</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36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「线下驻场</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渠道工程师</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」：现场处置（</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如有）</a:t>
            </a:r>
            <a:endPar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endParaRPr>
          </a:p>
        </p:txBody>
      </p:sp>
      <p:pic>
        <p:nvPicPr>
          <p:cNvPr id="13" name="Image 0" descr="/opt/sangfor/app/report-generation/soar/apps/report_generation/front/threat-management-report/static/images/quarterly-report/event-manage/finished.png"/>
          <p:cNvPicPr>
            <a:picLocks noChangeAspect="1"/>
          </p:cNvPicPr>
          <p:nvPr/>
        </p:nvPicPr>
        <p:blipFill>
          <a:blip r:embed="rId4"/>
          <a:stretch>
            <a:fillRect/>
          </a:stretch>
        </p:blipFill>
        <p:spPr>
          <a:xfrm>
            <a:off x="4808474" y="5488813"/>
            <a:ext cx="1088136" cy="877824"/>
          </a:xfrm>
          <a:prstGeom prst="rect">
            <a:avLst/>
          </a:prstGeom>
        </p:spPr>
      </p:pic>
      <p:grpSp>
        <p:nvGrpSpPr>
          <p:cNvPr id="14" name="组合 13"/>
          <p:cNvGrpSpPr/>
          <p:nvPr/>
        </p:nvGrpSpPr>
        <p:grpSpPr>
          <a:xfrm>
            <a:off x="224790" y="306388"/>
            <a:ext cx="8690610" cy="295275"/>
            <a:chOff x="533" y="672"/>
            <a:chExt cx="13686" cy="465"/>
          </a:xfrm>
        </p:grpSpPr>
        <p:grpSp>
          <p:nvGrpSpPr>
            <p:cNvPr id="15" name="组合 14"/>
            <p:cNvGrpSpPr/>
            <p:nvPr/>
          </p:nvGrpSpPr>
          <p:grpSpPr>
            <a:xfrm rot="0">
              <a:off x="533" y="672"/>
              <a:ext cx="582" cy="420"/>
              <a:chOff x="533" y="672"/>
              <a:chExt cx="582" cy="420"/>
            </a:xfrm>
          </p:grpSpPr>
          <p:sp>
            <p:nvSpPr>
              <p:cNvPr id="17" name="燕尾形 86"/>
              <p:cNvSpPr/>
              <p:nvPr>
                <p:custDataLst>
                  <p:tags r:id="rId5"/>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9" name="燕尾形 103"/>
              <p:cNvSpPr/>
              <p:nvPr>
                <p:custDataLst>
                  <p:tags r:id="rId6"/>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0" name="textbox 158"/>
            <p:cNvSpPr/>
            <p:nvPr/>
          </p:nvSpPr>
          <p:spPr>
            <a:xfrm>
              <a:off x="5382" y="715"/>
              <a:ext cx="8837" cy="422"/>
            </a:xfrm>
            <a:prstGeom prst="rect">
              <a:avLst/>
            </a:prstGeom>
            <a:noFill/>
            <a:ln w="0" cap="flat">
              <a:noFill/>
              <a:prstDash val="solid"/>
              <a:miter lim="0"/>
            </a:ln>
          </p:spPr>
          <p:txBody>
            <a:bodyPr vert="horz" wrap="square" lIns="0" tIns="0" rIns="0" bIns="0" anchor="t" anchorCtr="0"/>
            <a:p>
              <a:pPr algn="l" rtl="0" eaLnBrk="0">
                <a:lnSpc>
                  <a:spcPct val="100000"/>
                </a:lnSpc>
              </a:pP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p:cNvPicPr>
            <a:picLocks noChangeAspect="1"/>
          </p:cNvPicPr>
          <p:nvPr/>
        </p:nvPicPr>
        <p:blipFill>
          <a:blip r:embed="rId7"/>
          <a:stretch>
            <a:fillRect/>
          </a:stretch>
        </p:blipFill>
        <p:spPr>
          <a:xfrm>
            <a:off x="6383020" y="1026795"/>
            <a:ext cx="4794250" cy="5457825"/>
          </a:xfrm>
          <a:prstGeom prst="rect">
            <a:avLst/>
          </a:prstGeom>
        </p:spPr>
      </p:pic>
      <p:sp>
        <p:nvSpPr>
          <p:cNvPr id="6" name="文本框 5"/>
          <p:cNvSpPr txBox="1"/>
          <p:nvPr/>
        </p:nvSpPr>
        <p:spPr>
          <a:xfrm>
            <a:off x="599440" y="682625"/>
            <a:ext cx="6096000" cy="229870"/>
          </a:xfrm>
          <a:prstGeom prst="rect">
            <a:avLst/>
          </a:prstGeom>
          <a:noFill/>
        </p:spPr>
        <p:txBody>
          <a:bodyPr wrap="square" rtlCol="0" anchor="t">
            <a:spAutoFit/>
          </a:bodyPr>
          <a:p>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TIPs</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选择重要时期发生</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的，并且跟用户共同协作完成处置的典型事件样例</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endPar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endParaRPr>
          </a:p>
        </p:txBody>
      </p:sp>
    </p:spTree>
    <p:custDataLst>
      <p:tags r:id="rId8"/>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6565900" cy="327025"/>
            <a:chOff x="533" y="646"/>
            <a:chExt cx="103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95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a:solidFill>
                    <a:srgbClr val="262626"/>
                  </a:solidFill>
                  <a:latin typeface="Arial Black" panose="020B0A04020102020204" pitchFamily="34" charset="0"/>
                  <a:ea typeface="微软雅黑" panose="020B0503020204020204" charset="-122"/>
                  <a:cs typeface="Noto Sans SC"/>
                  <a:sym typeface="Noto Sans SC"/>
                </a:rPr>
                <a:t>安全水位可量化</a:t>
              </a:r>
              <a:r>
                <a:rPr lang="zh-CN" altLang="en-US" sz="1900" b="1">
                  <a:solidFill>
                    <a:srgbClr val="262626"/>
                  </a:solidFill>
                  <a:highlight>
                    <a:srgbClr val="FFFF00"/>
                  </a:highlight>
                  <a:latin typeface="Arial Black" panose="020B0A04020102020204" pitchFamily="34" charset="0"/>
                  <a:ea typeface="微软雅黑" panose="020B0503020204020204" charset="-122"/>
                  <a:cs typeface="Noto Sans SC"/>
                  <a:sym typeface="Noto Sans SC"/>
                </a:rPr>
                <a:t>（结合协同运营的量化指标来优化）</a:t>
              </a: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2" name="椭圆 1"/>
          <p:cNvSpPr/>
          <p:nvPr>
            <p:custDataLst>
              <p:tags r:id="rId4"/>
            </p:custDataLst>
          </p:nvPr>
        </p:nvSpPr>
        <p:spPr>
          <a:xfrm>
            <a:off x="4637220" y="3527151"/>
            <a:ext cx="2868025" cy="506420"/>
          </a:xfrm>
          <a:prstGeom prst="ellipse">
            <a:avLst/>
          </a:prstGeom>
          <a:gradFill>
            <a:gsLst>
              <a:gs pos="0">
                <a:schemeClr val="accent5">
                  <a:alpha val="0"/>
                </a:schemeClr>
              </a:gs>
              <a:gs pos="100000">
                <a:schemeClr val="accent5">
                  <a:alpha val="33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endParaRPr lang="zh-CN" altLang="en-US" sz="1600">
              <a:solidFill>
                <a:schemeClr val="bg1"/>
              </a:solidFill>
              <a:latin typeface="+mj-ea"/>
              <a:ea typeface="+mj-ea"/>
            </a:endParaRPr>
          </a:p>
        </p:txBody>
      </p:sp>
      <p:sp>
        <p:nvSpPr>
          <p:cNvPr id="6" name="椭圆 5"/>
          <p:cNvSpPr/>
          <p:nvPr>
            <p:custDataLst>
              <p:tags r:id="rId5"/>
            </p:custDataLst>
          </p:nvPr>
        </p:nvSpPr>
        <p:spPr>
          <a:xfrm>
            <a:off x="4304569" y="3741455"/>
            <a:ext cx="3532265" cy="506420"/>
          </a:xfrm>
          <a:prstGeom prst="ellipse">
            <a:avLst/>
          </a:prstGeom>
          <a:gradFill>
            <a:gsLst>
              <a:gs pos="10000">
                <a:schemeClr val="accent5">
                  <a:alpha val="0"/>
                </a:schemeClr>
              </a:gs>
              <a:gs pos="100000">
                <a:schemeClr val="accent5">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endParaRPr lang="zh-CN" altLang="en-US" sz="1600">
              <a:solidFill>
                <a:schemeClr val="bg1"/>
              </a:solidFill>
              <a:latin typeface="+mj-ea"/>
              <a:ea typeface="+mj-ea"/>
            </a:endParaRPr>
          </a:p>
        </p:txBody>
      </p:sp>
      <p:sp>
        <p:nvSpPr>
          <p:cNvPr id="7" name="椭圆 6"/>
          <p:cNvSpPr/>
          <p:nvPr>
            <p:custDataLst>
              <p:tags r:id="rId6"/>
            </p:custDataLst>
          </p:nvPr>
        </p:nvSpPr>
        <p:spPr>
          <a:xfrm>
            <a:off x="4171315" y="1600835"/>
            <a:ext cx="3742055" cy="3497580"/>
          </a:xfrm>
          <a:prstGeom prst="ellipse">
            <a:avLst/>
          </a:prstGeom>
          <a:noFill/>
          <a:ln>
            <a:gradFill>
              <a:gsLst>
                <a:gs pos="0">
                  <a:schemeClr val="accent5">
                    <a:alpha val="0"/>
                  </a:schemeClr>
                </a:gs>
                <a:gs pos="50000">
                  <a:schemeClr val="accent5">
                    <a:alpha val="40000"/>
                  </a:schemeClr>
                </a:gs>
                <a:gs pos="100000">
                  <a:schemeClr val="accent5">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15" name="平行四边形 14"/>
          <p:cNvSpPr/>
          <p:nvPr>
            <p:custDataLst>
              <p:tags r:id="rId7"/>
            </p:custDataLst>
          </p:nvPr>
        </p:nvSpPr>
        <p:spPr>
          <a:xfrm rot="5400000">
            <a:off x="6599217" y="3044169"/>
            <a:ext cx="874034" cy="188244"/>
          </a:xfrm>
          <a:prstGeom prst="parallelogram">
            <a:avLst/>
          </a:prstGeom>
          <a:gradFill flip="none" rotWithShape="0">
            <a:gsLst>
              <a:gs pos="100000">
                <a:schemeClr val="accent5">
                  <a:lumMod val="60000"/>
                  <a:lumOff val="40000"/>
                  <a:alpha val="0"/>
                </a:schemeClr>
              </a:gs>
              <a:gs pos="0">
                <a:schemeClr val="accent5">
                  <a:alpha val="2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19" name="平行四边形 18"/>
          <p:cNvSpPr/>
          <p:nvPr>
            <p:custDataLst>
              <p:tags r:id="rId8"/>
            </p:custDataLst>
          </p:nvPr>
        </p:nvSpPr>
        <p:spPr>
          <a:xfrm rot="16200000" flipH="1">
            <a:off x="4740853" y="3044169"/>
            <a:ext cx="874034" cy="188244"/>
          </a:xfrm>
          <a:prstGeom prst="parallelogram">
            <a:avLst/>
          </a:prstGeom>
          <a:gradFill flip="none" rotWithShape="0">
            <a:gsLst>
              <a:gs pos="100000">
                <a:schemeClr val="accent5">
                  <a:lumMod val="60000"/>
                  <a:lumOff val="40000"/>
                  <a:alpha val="0"/>
                </a:schemeClr>
              </a:gs>
              <a:gs pos="0">
                <a:schemeClr val="accent5">
                  <a:alpha val="2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20" name="平行四边形 19"/>
          <p:cNvSpPr/>
          <p:nvPr>
            <p:custDataLst>
              <p:tags r:id="rId9"/>
            </p:custDataLst>
          </p:nvPr>
        </p:nvSpPr>
        <p:spPr>
          <a:xfrm rot="16200000" flipH="1">
            <a:off x="4406283" y="3310289"/>
            <a:ext cx="794807" cy="69720"/>
          </a:xfrm>
          <a:prstGeom prst="parallelogram">
            <a:avLst/>
          </a:prstGeom>
          <a:gradFill flip="none" rotWithShape="0">
            <a:gsLst>
              <a:gs pos="100000">
                <a:schemeClr val="accent5">
                  <a:lumMod val="60000"/>
                  <a:lumOff val="40000"/>
                  <a:alpha val="0"/>
                </a:schemeClr>
              </a:gs>
              <a:gs pos="0">
                <a:schemeClr val="accent5">
                  <a:alpha val="2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23" name="平行四边形 22"/>
          <p:cNvSpPr/>
          <p:nvPr>
            <p:custDataLst>
              <p:tags r:id="rId10"/>
            </p:custDataLst>
          </p:nvPr>
        </p:nvSpPr>
        <p:spPr>
          <a:xfrm rot="5400000">
            <a:off x="6883889" y="3397290"/>
            <a:ext cx="794807" cy="69720"/>
          </a:xfrm>
          <a:prstGeom prst="parallelogram">
            <a:avLst/>
          </a:prstGeom>
          <a:gradFill flip="none" rotWithShape="0">
            <a:gsLst>
              <a:gs pos="100000">
                <a:schemeClr val="accent5">
                  <a:lumMod val="60000"/>
                  <a:lumOff val="40000"/>
                  <a:alpha val="0"/>
                </a:schemeClr>
              </a:gs>
              <a:gs pos="0">
                <a:schemeClr val="accent5">
                  <a:alpha val="2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24" name="平行四边形 23"/>
          <p:cNvSpPr/>
          <p:nvPr>
            <p:custDataLst>
              <p:tags r:id="rId11"/>
            </p:custDataLst>
          </p:nvPr>
        </p:nvSpPr>
        <p:spPr>
          <a:xfrm rot="5400000">
            <a:off x="6008123" y="2819630"/>
            <a:ext cx="1145942" cy="188244"/>
          </a:xfrm>
          <a:prstGeom prst="parallelogram">
            <a:avLst>
              <a:gd name="adj" fmla="val 39950"/>
            </a:avLst>
          </a:prstGeom>
          <a:gradFill flip="none" rotWithShape="0">
            <a:gsLst>
              <a:gs pos="100000">
                <a:schemeClr val="accent5">
                  <a:lumMod val="60000"/>
                  <a:lumOff val="40000"/>
                  <a:alpha val="0"/>
                </a:schemeClr>
              </a:gs>
              <a:gs pos="0">
                <a:schemeClr val="accent5">
                  <a:alpha val="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25" name="平行四边形 24"/>
          <p:cNvSpPr/>
          <p:nvPr>
            <p:custDataLst>
              <p:tags r:id="rId12"/>
            </p:custDataLst>
          </p:nvPr>
        </p:nvSpPr>
        <p:spPr>
          <a:xfrm rot="16200000" flipH="1">
            <a:off x="4879671" y="2950771"/>
            <a:ext cx="1555389" cy="255429"/>
          </a:xfrm>
          <a:prstGeom prst="parallelogram">
            <a:avLst>
              <a:gd name="adj" fmla="val 39950"/>
            </a:avLst>
          </a:prstGeom>
          <a:gradFill flip="none" rotWithShape="0">
            <a:gsLst>
              <a:gs pos="100000">
                <a:schemeClr val="accent5">
                  <a:lumMod val="60000"/>
                  <a:lumOff val="40000"/>
                  <a:alpha val="0"/>
                </a:schemeClr>
              </a:gs>
              <a:gs pos="0">
                <a:schemeClr val="accent5">
                  <a:alpha val="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17" name="平行四边形 16"/>
          <p:cNvSpPr/>
          <p:nvPr>
            <p:custDataLst>
              <p:tags r:id="rId13"/>
            </p:custDataLst>
          </p:nvPr>
        </p:nvSpPr>
        <p:spPr>
          <a:xfrm rot="5400000" flipH="1" flipV="1">
            <a:off x="5363933" y="2786365"/>
            <a:ext cx="1532570" cy="255429"/>
          </a:xfrm>
          <a:prstGeom prst="parallelogram">
            <a:avLst>
              <a:gd name="adj" fmla="val 39950"/>
            </a:avLst>
          </a:prstGeom>
          <a:gradFill flip="none" rotWithShape="0">
            <a:gsLst>
              <a:gs pos="100000">
                <a:schemeClr val="accent5">
                  <a:lumMod val="60000"/>
                  <a:lumOff val="40000"/>
                  <a:alpha val="0"/>
                </a:schemeClr>
              </a:gs>
              <a:gs pos="0">
                <a:schemeClr val="accent5">
                  <a:alpha val="1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34" name="Oval 41+"/>
          <p:cNvSpPr/>
          <p:nvPr>
            <p:custDataLst>
              <p:tags r:id="rId14"/>
            </p:custDataLst>
          </p:nvPr>
        </p:nvSpPr>
        <p:spPr>
          <a:xfrm>
            <a:off x="4065905" y="1495425"/>
            <a:ext cx="3952875" cy="3696335"/>
          </a:xfrm>
          <a:prstGeom prst="ellipse">
            <a:avLst/>
          </a:prstGeom>
          <a:noFill/>
          <a:ln w="22225">
            <a:gradFill>
              <a:gsLst>
                <a:gs pos="0">
                  <a:schemeClr val="accent5">
                    <a:alpha val="0"/>
                  </a:schemeClr>
                </a:gs>
                <a:gs pos="50000">
                  <a:schemeClr val="accent5">
                    <a:alpha val="40000"/>
                  </a:schemeClr>
                </a:gs>
                <a:gs pos="100000">
                  <a:schemeClr val="accent5">
                    <a:alpha val="0"/>
                  </a:schemeClr>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35" name="矩形 34"/>
          <p:cNvSpPr/>
          <p:nvPr>
            <p:custDataLst>
              <p:tags r:id="rId15"/>
            </p:custDataLst>
          </p:nvPr>
        </p:nvSpPr>
        <p:spPr>
          <a:xfrm>
            <a:off x="390525" y="1307820"/>
            <a:ext cx="3456000" cy="3600000"/>
          </a:xfrm>
          <a:prstGeom prst="rect">
            <a:avLst/>
          </a:prstGeom>
          <a:solidFill>
            <a:schemeClr val="accent5">
              <a:lumMod val="20000"/>
              <a:lumOff val="80000"/>
            </a:schemeClr>
          </a:solidFill>
        </p:spPr>
        <p:txBody>
          <a:bodyPr wrap="square" lIns="46990" tIns="46990" rIns="36195" bIns="46990" rtlCol="0" anchor="t" anchorCtr="0">
            <a:noAutofit/>
          </a:bodyPr>
          <a:p>
            <a:pPr indent="0" algn="ctr">
              <a:lnSpc>
                <a:spcPct val="150000"/>
              </a:lnSpc>
            </a:pPr>
            <a:r>
              <a:rPr lang="zh-CN" altLang="en-US" sz="1200">
                <a:solidFill>
                  <a:srgbClr val="374151"/>
                </a:solidFill>
                <a:latin typeface="Arial" panose="020B0604020202020204" pitchFamily="34" charset="0"/>
                <a:ea typeface="黑体-简" panose="02000000000000000000" charset="-122"/>
                <a:cs typeface="Noto Sans SC"/>
                <a:sym typeface="Noto Sans SC"/>
              </a:rPr>
              <a:t>资产覆盖范围内的入侵攻击全面做到主动防御</a:t>
            </a:r>
            <a:endParaRPr lang="zh-CN" altLang="en-US" sz="1200">
              <a:solidFill>
                <a:srgbClr val="374151"/>
              </a:solidFill>
              <a:latin typeface="Arial" panose="020B0604020202020204" pitchFamily="34" charset="0"/>
              <a:ea typeface="黑体-简" panose="02000000000000000000" charset="-122"/>
              <a:cs typeface="Noto Sans SC"/>
              <a:sym typeface="Noto Sans SC"/>
            </a:endParaRPr>
          </a:p>
          <a:p>
            <a:pPr indent="0" algn="ctr">
              <a:lnSpc>
                <a:spcPct val="150000"/>
              </a:lnSpc>
            </a:pPr>
            <a:r>
              <a:rPr lang="zh-CN" altLang="en-US" sz="1200">
                <a:solidFill>
                  <a:srgbClr val="374151"/>
                </a:solidFill>
                <a:latin typeface="Arial" panose="020B0604020202020204" pitchFamily="34" charset="0"/>
                <a:ea typeface="黑体-简" panose="02000000000000000000" charset="-122"/>
                <a:cs typeface="Noto Sans SC"/>
                <a:sym typeface="Noto Sans SC"/>
              </a:rPr>
              <a:t>安全告警主动分析和响应覆盖率达到</a:t>
            </a:r>
            <a:r>
              <a:rPr lang="en-US" altLang="zh-CN" sz="1200">
                <a:solidFill>
                  <a:srgbClr val="4C61E7"/>
                </a:solidFill>
                <a:latin typeface="Arial" panose="020B0604020202020204" pitchFamily="34" charset="0"/>
                <a:ea typeface="黑体-简" panose="02000000000000000000" charset="-122"/>
                <a:cs typeface="Noto Sans SC"/>
                <a:sym typeface="Noto Sans SC"/>
              </a:rPr>
              <a:t>{</a:t>
            </a:r>
            <a:r>
              <a:rPr lang="zh-CN" altLang="en-US" sz="1200">
                <a:solidFill>
                  <a:srgbClr val="4C61E7"/>
                </a:solidFill>
                <a:latin typeface="Arial" panose="020B0604020202020204" pitchFamily="34" charset="0"/>
                <a:ea typeface="黑体-简" panose="02000000000000000000" charset="-122"/>
                <a:cs typeface="Source Han Sans CN Normal" panose="020B0600000000000000" charset="-122"/>
                <a:sym typeface="+mn-ea"/>
              </a:rPr>
              <a:t>告警研判率</a:t>
            </a:r>
            <a:r>
              <a:rPr lang="en-US" altLang="zh-CN" sz="1200">
                <a:solidFill>
                  <a:srgbClr val="4C61E7"/>
                </a:solidFill>
                <a:latin typeface="Arial" panose="020B0604020202020204" pitchFamily="34" charset="0"/>
                <a:ea typeface="黑体-简" panose="02000000000000000000" charset="-122"/>
                <a:cs typeface="Noto Sans SC"/>
                <a:sym typeface="Noto Sans SC"/>
              </a:rPr>
              <a:t>}</a:t>
            </a:r>
            <a:endParaRPr lang="en-US" altLang="zh-CN" sz="1200">
              <a:solidFill>
                <a:srgbClr val="4C61E7"/>
              </a:solidFill>
              <a:latin typeface="Arial" panose="020B0604020202020204" pitchFamily="34" charset="0"/>
              <a:ea typeface="黑体-简" panose="02000000000000000000" charset="-122"/>
              <a:cs typeface="Noto Sans SC"/>
              <a:sym typeface="Noto Sans SC"/>
            </a:endParaRPr>
          </a:p>
          <a:p>
            <a:pPr indent="0" algn="ctr">
              <a:lnSpc>
                <a:spcPct val="150000"/>
              </a:lnSpc>
            </a:pPr>
            <a:r>
              <a:rPr lang="zh-CN" altLang="en-US" sz="1200">
                <a:solidFill>
                  <a:srgbClr val="374151"/>
                </a:solidFill>
                <a:latin typeface="Arial" panose="020B0604020202020204" pitchFamily="34" charset="0"/>
                <a:ea typeface="黑体-简" panose="02000000000000000000" charset="-122"/>
                <a:cs typeface="Noto Sans SC"/>
                <a:sym typeface="Noto Sans SC"/>
              </a:rPr>
              <a:t>安全运营各项关键指标达到国家标准</a:t>
            </a:r>
            <a:endParaRPr lang="en-US" sz="1200">
              <a:solidFill>
                <a:srgbClr val="374151"/>
              </a:solidFill>
              <a:latin typeface="Arial" panose="020B0604020202020204" pitchFamily="34" charset="0"/>
              <a:ea typeface="黑体-简" panose="02000000000000000000" charset="-122"/>
              <a:cs typeface="Noto Sans SC"/>
              <a:sym typeface="Noto Sans SC"/>
            </a:endParaRPr>
          </a:p>
          <a:p>
            <a:pPr indent="0" algn="ctr">
              <a:lnSpc>
                <a:spcPct val="150000"/>
              </a:lnSpc>
              <a:spcBef>
                <a:spcPct val="0"/>
              </a:spcBef>
              <a:spcAft>
                <a:spcPct val="0"/>
              </a:spcAft>
            </a:pPr>
            <a:endParaRPr lang="zh-CN" altLang="en-US" sz="1200" dirty="0">
              <a:solidFill>
                <a:schemeClr val="tx1">
                  <a:lumMod val="85000"/>
                  <a:lumOff val="15000"/>
                </a:schemeClr>
              </a:solidFill>
              <a:latin typeface="Arial" panose="020B0604020202020204" pitchFamily="34" charset="0"/>
              <a:ea typeface="黑体-简" panose="02000000000000000000" charset="-122"/>
              <a:cs typeface="+mn-ea"/>
            </a:endParaRPr>
          </a:p>
        </p:txBody>
      </p:sp>
      <p:sp>
        <p:nvSpPr>
          <p:cNvPr id="37" name="矩形 36"/>
          <p:cNvSpPr/>
          <p:nvPr>
            <p:custDataLst>
              <p:tags r:id="rId16"/>
            </p:custDataLst>
          </p:nvPr>
        </p:nvSpPr>
        <p:spPr>
          <a:xfrm>
            <a:off x="8210653" y="1307820"/>
            <a:ext cx="3456000" cy="3600000"/>
          </a:xfrm>
          <a:prstGeom prst="rect">
            <a:avLst/>
          </a:prstGeom>
          <a:solidFill>
            <a:schemeClr val="accent6">
              <a:lumMod val="20000"/>
              <a:lumOff val="80000"/>
            </a:schemeClr>
          </a:solidFill>
        </p:spPr>
        <p:txBody>
          <a:bodyPr wrap="square" lIns="46990" tIns="46990" rIns="46990" bIns="46990" rtlCol="0" anchor="t" anchorCtr="0">
            <a:noAutofit/>
          </a:bodyPr>
          <a:p>
            <a:pPr algn="ctr">
              <a:lnSpc>
                <a:spcPct val="150000"/>
              </a:lnSpc>
              <a:spcBef>
                <a:spcPct val="0"/>
              </a:spcBef>
              <a:spcAft>
                <a:spcPct val="0"/>
              </a:spcAft>
            </a:pPr>
            <a:r>
              <a:rPr lang="zh-CN" altLang="en-US" sz="1200">
                <a:solidFill>
                  <a:schemeClr val="tx1">
                    <a:lumMod val="85000"/>
                    <a:lumOff val="15000"/>
                  </a:schemeClr>
                </a:solidFill>
                <a:latin typeface="Arial" panose="020B0604020202020204" pitchFamily="34" charset="0"/>
                <a:ea typeface="黑体-简" panose="02000000000000000000" charset="-122"/>
                <a:cs typeface="+mn-ea"/>
              </a:rPr>
              <a:t>服务上线以来安全水位线显著提升</a:t>
            </a:r>
            <a:endParaRPr lang="zh-CN" altLang="en-US" sz="1200">
              <a:solidFill>
                <a:schemeClr val="tx1">
                  <a:lumMod val="85000"/>
                  <a:lumOff val="15000"/>
                </a:schemeClr>
              </a:solidFill>
              <a:latin typeface="Arial" panose="020B0604020202020204" pitchFamily="34" charset="0"/>
              <a:ea typeface="黑体-简" panose="02000000000000000000" charset="-122"/>
              <a:cs typeface="+mn-ea"/>
            </a:endParaRPr>
          </a:p>
          <a:p>
            <a:pPr algn="ctr">
              <a:lnSpc>
                <a:spcPct val="150000"/>
              </a:lnSpc>
              <a:spcBef>
                <a:spcPct val="0"/>
              </a:spcBef>
              <a:spcAft>
                <a:spcPct val="0"/>
              </a:spcAft>
            </a:pPr>
            <a:r>
              <a:rPr lang="zh-CN" altLang="en-US" sz="1200">
                <a:solidFill>
                  <a:schemeClr val="tx1">
                    <a:lumMod val="85000"/>
                    <a:lumOff val="15000"/>
                  </a:schemeClr>
                </a:solidFill>
                <a:latin typeface="Arial" panose="020B0604020202020204" pitchFamily="34" charset="0"/>
                <a:ea typeface="黑体-简" panose="02000000000000000000" charset="-122"/>
                <a:cs typeface="+mn-ea"/>
              </a:rPr>
              <a:t>风险预防工作从无序被动响应变为有序主动开展</a:t>
            </a:r>
            <a:endParaRPr lang="zh-CN" altLang="en-US" sz="1200">
              <a:solidFill>
                <a:schemeClr val="tx1">
                  <a:lumMod val="85000"/>
                  <a:lumOff val="15000"/>
                </a:schemeClr>
              </a:solidFill>
              <a:latin typeface="Arial" panose="020B0604020202020204" pitchFamily="34" charset="0"/>
              <a:ea typeface="黑体-简" panose="02000000000000000000" charset="-122"/>
              <a:cs typeface="+mn-ea"/>
            </a:endParaRPr>
          </a:p>
          <a:p>
            <a:pPr algn="ctr">
              <a:lnSpc>
                <a:spcPct val="150000"/>
              </a:lnSpc>
              <a:spcBef>
                <a:spcPct val="0"/>
              </a:spcBef>
              <a:spcAft>
                <a:spcPct val="0"/>
              </a:spcAft>
            </a:pPr>
            <a:r>
              <a:rPr lang="zh-CN" altLang="en-US" sz="1200">
                <a:solidFill>
                  <a:schemeClr val="tx1">
                    <a:lumMod val="85000"/>
                    <a:lumOff val="15000"/>
                  </a:schemeClr>
                </a:solidFill>
                <a:latin typeface="Arial" panose="020B0604020202020204" pitchFamily="34" charset="0"/>
                <a:ea typeface="黑体-简" panose="02000000000000000000" charset="-122"/>
                <a:cs typeface="+mn-ea"/>
              </a:rPr>
              <a:t>安全威胁从事后被动处置变为事前主动运营</a:t>
            </a:r>
            <a:endParaRPr lang="zh-CN" altLang="en-US" sz="1200">
              <a:solidFill>
                <a:schemeClr val="tx1">
                  <a:lumMod val="85000"/>
                  <a:lumOff val="15000"/>
                </a:schemeClr>
              </a:solidFill>
              <a:latin typeface="Arial" panose="020B0604020202020204" pitchFamily="34" charset="0"/>
              <a:ea typeface="黑体-简" panose="02000000000000000000" charset="-122"/>
              <a:cs typeface="+mn-ea"/>
            </a:endParaRPr>
          </a:p>
          <a:p>
            <a:pPr algn="ctr">
              <a:lnSpc>
                <a:spcPct val="150000"/>
              </a:lnSpc>
              <a:spcBef>
                <a:spcPct val="0"/>
              </a:spcBef>
              <a:spcAft>
                <a:spcPct val="0"/>
              </a:spcAft>
            </a:pPr>
            <a:endParaRPr lang="zh-CN" altLang="en-US" sz="1200">
              <a:solidFill>
                <a:schemeClr val="tx1">
                  <a:lumMod val="85000"/>
                  <a:lumOff val="15000"/>
                </a:schemeClr>
              </a:solidFill>
              <a:latin typeface="Arial" panose="020B0604020202020204" pitchFamily="34" charset="0"/>
              <a:ea typeface="黑体-简" panose="02000000000000000000" charset="-122"/>
              <a:cs typeface="+mn-ea"/>
            </a:endParaRPr>
          </a:p>
          <a:p>
            <a:pPr algn="ctr">
              <a:lnSpc>
                <a:spcPct val="150000"/>
              </a:lnSpc>
              <a:spcBef>
                <a:spcPct val="0"/>
              </a:spcBef>
              <a:spcAft>
                <a:spcPct val="0"/>
              </a:spcAft>
            </a:pPr>
            <a:endParaRPr lang="zh-CN" altLang="en-US" sz="1200">
              <a:solidFill>
                <a:schemeClr val="tx1">
                  <a:lumMod val="85000"/>
                  <a:lumOff val="15000"/>
                </a:schemeClr>
              </a:solidFill>
              <a:latin typeface="Arial" panose="020B0604020202020204" pitchFamily="34" charset="0"/>
              <a:ea typeface="黑体-简" panose="02000000000000000000" charset="-122"/>
              <a:cs typeface="+mn-ea"/>
            </a:endParaRPr>
          </a:p>
        </p:txBody>
      </p:sp>
      <p:sp>
        <p:nvSpPr>
          <p:cNvPr id="38" name="箭头: V 形 20"/>
          <p:cNvSpPr/>
          <p:nvPr>
            <p:custDataLst>
              <p:tags r:id="rId17"/>
            </p:custDataLst>
          </p:nvPr>
        </p:nvSpPr>
        <p:spPr>
          <a:xfrm>
            <a:off x="3496102" y="990853"/>
            <a:ext cx="189995" cy="189995"/>
          </a:xfrm>
          <a:prstGeom prst="chevron">
            <a:avLst/>
          </a:prstGeom>
          <a:gradFill>
            <a:gsLst>
              <a:gs pos="99301">
                <a:schemeClr val="accent5">
                  <a:lumMod val="75000"/>
                  <a:alpha val="100000"/>
                </a:schemeClr>
              </a:gs>
              <a:gs pos="0">
                <a:schemeClr val="accent5">
                  <a:lumMod val="60000"/>
                  <a:lumOff val="40000"/>
                  <a:alpha val="100000"/>
                </a:schemeClr>
              </a:gs>
              <a:gs pos="68000">
                <a:schemeClr val="accent5">
                  <a:alpha val="10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mj-ea"/>
              <a:ea typeface="+mj-ea"/>
            </a:endParaRPr>
          </a:p>
        </p:txBody>
      </p:sp>
      <p:sp>
        <p:nvSpPr>
          <p:cNvPr id="39" name="箭头: V 形 21"/>
          <p:cNvSpPr/>
          <p:nvPr>
            <p:custDataLst>
              <p:tags r:id="rId18"/>
            </p:custDataLst>
          </p:nvPr>
        </p:nvSpPr>
        <p:spPr>
          <a:xfrm flipH="1">
            <a:off x="8398603" y="990853"/>
            <a:ext cx="189995" cy="189995"/>
          </a:xfrm>
          <a:prstGeom prst="chevron">
            <a:avLst/>
          </a:prstGeom>
          <a:gradFill>
            <a:gsLst>
              <a:gs pos="99301">
                <a:schemeClr val="accent6">
                  <a:lumMod val="75000"/>
                  <a:alpha val="100000"/>
                </a:schemeClr>
              </a:gs>
              <a:gs pos="0">
                <a:schemeClr val="accent6">
                  <a:lumMod val="60000"/>
                  <a:lumOff val="40000"/>
                  <a:alpha val="100000"/>
                </a:schemeClr>
              </a:gs>
              <a:gs pos="68000">
                <a:schemeClr val="accent6">
                  <a:alpha val="10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mj-ea"/>
              <a:ea typeface="+mj-ea"/>
            </a:endParaRPr>
          </a:p>
        </p:txBody>
      </p:sp>
      <p:sp>
        <p:nvSpPr>
          <p:cNvPr id="40" name="标题"/>
          <p:cNvSpPr txBox="1"/>
          <p:nvPr>
            <p:custDataLst>
              <p:tags r:id="rId19"/>
            </p:custDataLst>
          </p:nvPr>
        </p:nvSpPr>
        <p:spPr>
          <a:xfrm>
            <a:off x="4298315" y="2682240"/>
            <a:ext cx="3475355" cy="1322705"/>
          </a:xfrm>
          <a:prstGeom prst="rect">
            <a:avLst/>
          </a:prstGeom>
          <a:noFill/>
          <a:effectLst/>
        </p:spPr>
        <p:txBody>
          <a:bodyPr wrap="square" lIns="0" tIns="0" rIns="0" bIns="0" rtlCol="0" anchor="ctr">
            <a:noAutofit/>
          </a:bodyPr>
          <a:lstStyle/>
          <a:p>
            <a:pPr lvl="0" algn="ctr">
              <a:lnSpc>
                <a:spcPct val="150000"/>
              </a:lnSpc>
              <a:buClrTx/>
              <a:buSzTx/>
              <a:buFontTx/>
            </a:pPr>
            <a:r>
              <a:rPr lang="zh-CN" altLang="en-US" sz="2000" b="1" spc="300" dirty="0">
                <a:ln w="0">
                  <a:noFill/>
                </a:ln>
                <a:solidFill>
                  <a:schemeClr val="tx1"/>
                </a:solidFill>
                <a:uFillTx/>
                <a:latin typeface="Arial" panose="020B0604020202020204" pitchFamily="34" charset="0"/>
                <a:ea typeface="黑体-简" panose="02000000000000000000" charset="-122"/>
                <a:cs typeface="+mn-ea"/>
                <a:sym typeface="+mn-ea"/>
              </a:rPr>
              <a:t>安全水位可视</a:t>
            </a:r>
            <a:r>
              <a:rPr lang="en-US" altLang="zh-CN" sz="2000" b="1" spc="300" dirty="0">
                <a:ln w="0">
                  <a:noFill/>
                </a:ln>
                <a:solidFill>
                  <a:schemeClr val="tx1"/>
                </a:solidFill>
                <a:uFillTx/>
                <a:latin typeface="Arial" panose="020B0604020202020204" pitchFamily="34" charset="0"/>
                <a:ea typeface="黑体-简" panose="02000000000000000000" charset="-122"/>
                <a:cs typeface="+mn-ea"/>
                <a:sym typeface="+mn-ea"/>
              </a:rPr>
              <a:t>&amp;</a:t>
            </a:r>
            <a:r>
              <a:rPr lang="zh-CN" altLang="en-US" sz="2000" b="1" spc="300" dirty="0">
                <a:ln w="0">
                  <a:noFill/>
                </a:ln>
                <a:solidFill>
                  <a:schemeClr val="tx1"/>
                </a:solidFill>
                <a:uFillTx/>
                <a:latin typeface="Arial" panose="020B0604020202020204" pitchFamily="34" charset="0"/>
                <a:ea typeface="黑体-简" panose="02000000000000000000" charset="-122"/>
                <a:cs typeface="+mn-ea"/>
                <a:sym typeface="+mn-ea"/>
              </a:rPr>
              <a:t>提升</a:t>
            </a:r>
            <a:endParaRPr lang="zh-CN" altLang="en-US" sz="2000" b="1" spc="300" dirty="0">
              <a:ln w="0">
                <a:noFill/>
              </a:ln>
              <a:solidFill>
                <a:schemeClr val="tx1"/>
              </a:solidFill>
              <a:uFillTx/>
              <a:latin typeface="Arial" panose="020B0604020202020204" pitchFamily="34" charset="0"/>
              <a:ea typeface="黑体-简" panose="02000000000000000000" charset="-122"/>
              <a:cs typeface="+mn-ea"/>
              <a:sym typeface="+mn-ea"/>
            </a:endParaRPr>
          </a:p>
          <a:p>
            <a:pPr lvl="0" algn="ctr">
              <a:lnSpc>
                <a:spcPct val="150000"/>
              </a:lnSpc>
              <a:buClrTx/>
              <a:buSzTx/>
              <a:buFontTx/>
            </a:pPr>
            <a:r>
              <a:rPr lang="zh-CN" altLang="en-US" sz="1400" b="1" spc="300" dirty="0">
                <a:ln w="0">
                  <a:noFill/>
                </a:ln>
                <a:solidFill>
                  <a:schemeClr val="tx1"/>
                </a:solidFill>
                <a:uFillTx/>
                <a:latin typeface="Arial" panose="020B0604020202020204" pitchFamily="34" charset="0"/>
                <a:ea typeface="黑体-简" panose="02000000000000000000" charset="-122"/>
                <a:cs typeface="+mn-ea"/>
                <a:sym typeface="+mn-ea"/>
              </a:rPr>
              <a:t>从</a:t>
            </a:r>
            <a:r>
              <a:rPr lang="zh-CN" altLang="en-US" sz="1400" b="1" spc="300" dirty="0">
                <a:ln w="0">
                  <a:noFill/>
                </a:ln>
                <a:solidFill>
                  <a:schemeClr val="accent2"/>
                </a:solidFill>
                <a:uFillTx/>
                <a:latin typeface="Arial" panose="020B0604020202020204" pitchFamily="34" charset="0"/>
                <a:ea typeface="黑体-简" panose="02000000000000000000" charset="-122"/>
                <a:cs typeface="+mn-ea"/>
                <a:sym typeface="+mn-ea"/>
              </a:rPr>
              <a:t>“基础合规”</a:t>
            </a:r>
            <a:r>
              <a:rPr lang="zh-CN" altLang="en-US" sz="1400" b="1" spc="300" dirty="0">
                <a:ln w="0">
                  <a:noFill/>
                </a:ln>
                <a:solidFill>
                  <a:schemeClr val="tx1"/>
                </a:solidFill>
                <a:uFillTx/>
                <a:latin typeface="Arial" panose="020B0604020202020204" pitchFamily="34" charset="0"/>
                <a:ea typeface="黑体-简" panose="02000000000000000000" charset="-122"/>
                <a:cs typeface="+mn-ea"/>
                <a:sym typeface="+mn-ea"/>
              </a:rPr>
              <a:t>跃升至</a:t>
            </a:r>
            <a:r>
              <a:rPr lang="zh-CN" altLang="en-US" sz="1400" b="1" spc="300" dirty="0">
                <a:ln w="0">
                  <a:noFill/>
                </a:ln>
                <a:solidFill>
                  <a:schemeClr val="accent6"/>
                </a:solidFill>
                <a:uFillTx/>
                <a:latin typeface="Arial" panose="020B0604020202020204" pitchFamily="34" charset="0"/>
                <a:ea typeface="黑体-简" panose="02000000000000000000" charset="-122"/>
                <a:cs typeface="+mn-ea"/>
                <a:sym typeface="+mn-ea"/>
              </a:rPr>
              <a:t>“主动防御”</a:t>
            </a:r>
            <a:endParaRPr lang="zh-CN" altLang="en-US" sz="1400" b="1" spc="300" dirty="0">
              <a:ln w="0">
                <a:noFill/>
              </a:ln>
              <a:solidFill>
                <a:schemeClr val="accent6">
                  <a:lumMod val="60000"/>
                  <a:lumOff val="40000"/>
                </a:schemeClr>
              </a:solidFill>
              <a:uFillTx/>
              <a:latin typeface="Arial" panose="020B0604020202020204" pitchFamily="34" charset="0"/>
              <a:ea typeface="黑体-简" panose="02000000000000000000" charset="-122"/>
              <a:cs typeface="+mn-ea"/>
              <a:sym typeface="+mn-ea"/>
            </a:endParaRPr>
          </a:p>
          <a:p>
            <a:pPr lvl="0" algn="ctr">
              <a:lnSpc>
                <a:spcPct val="150000"/>
              </a:lnSpc>
              <a:buClrTx/>
              <a:buSzTx/>
              <a:buFontTx/>
            </a:pPr>
            <a:r>
              <a:rPr lang="zh-CN" altLang="en-US" sz="1400" b="1" spc="300" dirty="0">
                <a:ln w="0">
                  <a:noFill/>
                </a:ln>
                <a:solidFill>
                  <a:schemeClr val="tx1"/>
                </a:solidFill>
                <a:uFillTx/>
                <a:latin typeface="Arial" panose="020B0604020202020204" pitchFamily="34" charset="0"/>
                <a:ea typeface="黑体-简" panose="02000000000000000000" charset="-122"/>
                <a:cs typeface="+mn-ea"/>
                <a:sym typeface="+mn-ea"/>
              </a:rPr>
              <a:t>部分场景已实现</a:t>
            </a:r>
            <a:r>
              <a:rPr lang="zh-CN" altLang="en-US" sz="1400" b="1" spc="300" dirty="0">
                <a:ln w="0">
                  <a:noFill/>
                </a:ln>
                <a:solidFill>
                  <a:srgbClr val="00B050"/>
                </a:solidFill>
                <a:uFillTx/>
                <a:latin typeface="Arial" panose="020B0604020202020204" pitchFamily="34" charset="0"/>
                <a:ea typeface="黑体-简" panose="02000000000000000000" charset="-122"/>
                <a:cs typeface="+mn-ea"/>
                <a:sym typeface="+mn-ea"/>
              </a:rPr>
              <a:t>“量化管理”</a:t>
            </a:r>
            <a:endParaRPr lang="zh-CN" altLang="en-US" sz="1400" b="1" spc="300" dirty="0">
              <a:ln w="0">
                <a:noFill/>
              </a:ln>
              <a:solidFill>
                <a:srgbClr val="00B050"/>
              </a:solidFill>
              <a:uFillTx/>
              <a:latin typeface="Arial" panose="020B0604020202020204" pitchFamily="34" charset="0"/>
              <a:ea typeface="黑体-简" panose="02000000000000000000" charset="-122"/>
              <a:cs typeface="+mn-ea"/>
              <a:sym typeface="+mn-ea"/>
            </a:endParaRPr>
          </a:p>
        </p:txBody>
      </p:sp>
      <p:graphicFrame>
        <p:nvGraphicFramePr>
          <p:cNvPr id="47" name="表格 46"/>
          <p:cNvGraphicFramePr/>
          <p:nvPr>
            <p:custDataLst>
              <p:tags r:id="rId20"/>
            </p:custDataLst>
          </p:nvPr>
        </p:nvGraphicFramePr>
        <p:xfrm>
          <a:off x="537845" y="2258060"/>
          <a:ext cx="3164205" cy="2286000"/>
        </p:xfrm>
        <a:graphic>
          <a:graphicData uri="http://schemas.openxmlformats.org/drawingml/2006/table">
            <a:tbl>
              <a:tblPr firstRow="1" lastCol="1" bandCol="1">
                <a:tableStyleId>{0126E9F6-41A6-44B7-8387-491034A24550}</a:tableStyleId>
              </a:tblPr>
              <a:tblGrid>
                <a:gridCol w="1179830"/>
                <a:gridCol w="1024890"/>
                <a:gridCol w="959485"/>
              </a:tblGrid>
              <a:tr h="365760">
                <a:tc>
                  <a:txBody>
                    <a:bodyPr/>
                    <a:p>
                      <a:pPr algn="ctr">
                        <a:buNone/>
                      </a:pPr>
                      <a:r>
                        <a:rPr lang="zh-CN" altLang="en-US" sz="1000">
                          <a:latin typeface="Arial" panose="020B0604020202020204" pitchFamily="34" charset="0"/>
                          <a:ea typeface="黑体-简" panose="02000000000000000000" charset="-122"/>
                        </a:rPr>
                        <a:t>关键指标</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a:solidFill>
                        <a:schemeClr val="accent5">
                          <a:lumMod val="60000"/>
                          <a:lumOff val="40000"/>
                        </a:schemeClr>
                      </a:solidFill>
                      <a:prstDash val="solid"/>
                    </a:lnB>
                    <a:solidFill>
                      <a:schemeClr val="accent5">
                        <a:lumMod val="60000"/>
                        <a:lumOff val="40000"/>
                      </a:schemeClr>
                    </a:solidFill>
                  </a:tcPr>
                </a:tc>
                <a:tc>
                  <a:txBody>
                    <a:bodyPr/>
                    <a:p>
                      <a:pPr algn="ctr">
                        <a:buNone/>
                      </a:pPr>
                      <a:r>
                        <a:rPr lang="zh-CN" altLang="en-US" sz="1000">
                          <a:latin typeface="Arial" panose="020B0604020202020204" pitchFamily="34" charset="0"/>
                          <a:ea typeface="黑体-简" panose="02000000000000000000" charset="-122"/>
                        </a:rPr>
                        <a:t>当前水平</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a:solidFill>
                        <a:schemeClr val="accent5">
                          <a:lumMod val="60000"/>
                          <a:lumOff val="40000"/>
                        </a:schemeClr>
                      </a:solidFill>
                      <a:prstDash val="solid"/>
                    </a:lnB>
                    <a:solidFill>
                      <a:schemeClr val="accent5">
                        <a:lumMod val="60000"/>
                        <a:lumOff val="40000"/>
                      </a:schemeClr>
                    </a:soli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国家</a:t>
                      </a:r>
                      <a:r>
                        <a:rPr lang="zh-CN" altLang="en-US" sz="1000">
                          <a:solidFill>
                            <a:srgbClr val="FFFF00"/>
                          </a:solidFill>
                          <a:latin typeface="Arial" panose="020B0604020202020204" pitchFamily="34" charset="0"/>
                          <a:ea typeface="黑体-简" panose="02000000000000000000" charset="-122"/>
                          <a:sym typeface="+mn-ea"/>
                        </a:rPr>
                        <a:t>参考</a:t>
                      </a:r>
                      <a:r>
                        <a:rPr lang="zh-CN" altLang="en-US" sz="1000">
                          <a:solidFill>
                            <a:srgbClr val="FFFF00"/>
                          </a:solidFill>
                          <a:latin typeface="Arial" panose="020B0604020202020204" pitchFamily="34" charset="0"/>
                          <a:ea typeface="黑体-简" panose="02000000000000000000" charset="-122"/>
                        </a:rPr>
                        <a:t>标准</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solidFill>
                      <a:schemeClr val="accent5">
                        <a:lumMod val="60000"/>
                        <a:lumOff val="40000"/>
                      </a:schemeClr>
                    </a:solidFill>
                  </a:tcPr>
                </a:tc>
              </a:tr>
              <a:tr h="365760">
                <a:tc>
                  <a:txBody>
                    <a:bodyPr/>
                    <a:p>
                      <a:pPr algn="ctr">
                        <a:buNone/>
                      </a:pPr>
                      <a:r>
                        <a:rPr lang="zh-CN" altLang="en-US" sz="1000">
                          <a:latin typeface="Arial" panose="020B0604020202020204" pitchFamily="34" charset="0"/>
                          <a:ea typeface="黑体-简" panose="02000000000000000000" charset="-122"/>
                        </a:rPr>
                        <a:t>资产覆盖率</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{{asset_coverage_rate}}</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80%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365760">
                <a:tc>
                  <a:txBody>
                    <a:bodyPr/>
                    <a:p>
                      <a:pPr algn="ctr">
                        <a:buNone/>
                      </a:pPr>
                      <a:r>
                        <a:rPr lang="zh-CN" altLang="en-US" sz="1000">
                          <a:latin typeface="Arial" panose="020B0604020202020204" pitchFamily="34" charset="0"/>
                          <a:ea typeface="黑体-简" panose="02000000000000000000" charset="-122"/>
                        </a:rPr>
                        <a:t>威胁实时遏制率</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{{threat_containment_rate}}</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85%</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365760">
                <a:tc>
                  <a:txBody>
                    <a:bodyPr/>
                    <a:p>
                      <a:pPr algn="ctr">
                        <a:buNone/>
                      </a:pPr>
                      <a:r>
                        <a:rPr lang="zh-CN" altLang="en-US" sz="1000">
                          <a:latin typeface="Arial" panose="020B0604020202020204" pitchFamily="34" charset="0"/>
                          <a:ea typeface="黑体-简" panose="02000000000000000000" charset="-122"/>
                        </a:rPr>
                        <a:t>高危漏洞防护率</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{{high_risk_vulnerability_protection_rate}}</a:t>
                      </a:r>
                      <a:endPar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75%</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365760">
                <a:tc>
                  <a:txBody>
                    <a:bodyPr/>
                    <a:p>
                      <a:pPr algn="ctr">
                        <a:buNone/>
                      </a:pPr>
                      <a:r>
                        <a:rPr lang="en-US" altLang="zh-CN" sz="1000">
                          <a:latin typeface="Arial" panose="020B0604020202020204" pitchFamily="34" charset="0"/>
                          <a:ea typeface="黑体-简" panose="02000000000000000000" charset="-122"/>
                        </a:rPr>
                        <a:t>MTTA</a:t>
                      </a:r>
                      <a:r>
                        <a:rPr lang="zh-CN" altLang="en-US" sz="1000">
                          <a:latin typeface="Arial" panose="020B0604020202020204" pitchFamily="34" charset="0"/>
                          <a:ea typeface="黑体-简" panose="02000000000000000000" charset="-122"/>
                        </a:rPr>
                        <a:t>（平均分析时间）</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{{average_analysis_time}}</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30min</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365760">
                <a:tc>
                  <a:txBody>
                    <a:bodyPr/>
                    <a:p>
                      <a:pPr algn="ctr">
                        <a:buNone/>
                      </a:pPr>
                      <a:r>
                        <a:rPr lang="en-US" altLang="zh-CN" sz="1000">
                          <a:latin typeface="Arial" panose="020B0604020202020204" pitchFamily="34" charset="0"/>
                          <a:ea typeface="黑体-简" panose="02000000000000000000" charset="-122"/>
                        </a:rPr>
                        <a:t>MTTR</a:t>
                      </a:r>
                      <a:r>
                        <a:rPr lang="zh-CN" altLang="en-US" sz="1000">
                          <a:latin typeface="Arial" panose="020B0604020202020204" pitchFamily="34" charset="0"/>
                          <a:ea typeface="黑体-简" panose="02000000000000000000" charset="-122"/>
                        </a:rPr>
                        <a:t>（平均响应时间）</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{{average_response_time}}</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8H</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bl>
          </a:graphicData>
        </a:graphic>
      </p:graphicFrame>
      <p:graphicFrame>
        <p:nvGraphicFramePr>
          <p:cNvPr id="50" name="表格 49"/>
          <p:cNvGraphicFramePr/>
          <p:nvPr>
            <p:custDataLst>
              <p:tags r:id="rId21"/>
            </p:custDataLst>
          </p:nvPr>
        </p:nvGraphicFramePr>
        <p:xfrm>
          <a:off x="8362315" y="2258060"/>
          <a:ext cx="3164205" cy="2255520"/>
        </p:xfrm>
        <a:graphic>
          <a:graphicData uri="http://schemas.openxmlformats.org/drawingml/2006/table">
            <a:tbl>
              <a:tblPr firstRow="1" lastCol="1" bandCol="1">
                <a:tableStyleId>{0126E9F6-41A6-44B7-8387-491034A24550}</a:tableStyleId>
              </a:tblPr>
              <a:tblGrid>
                <a:gridCol w="1188085"/>
                <a:gridCol w="1016635"/>
                <a:gridCol w="959485"/>
              </a:tblGrid>
              <a:tr h="365760">
                <a:tc>
                  <a:txBody>
                    <a:bodyPr/>
                    <a:p>
                      <a:pPr algn="ctr">
                        <a:buNone/>
                      </a:pPr>
                      <a:r>
                        <a:rPr lang="zh-CN" altLang="en-US" sz="1000">
                          <a:latin typeface="Arial" panose="020B0604020202020204" pitchFamily="34" charset="0"/>
                          <a:ea typeface="黑体-简" panose="02000000000000000000" charset="-122"/>
                        </a:rPr>
                        <a:t>关键指标</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solidFill>
                      <a:schemeClr val="accent6">
                        <a:lumMod val="60000"/>
                        <a:lumOff val="40000"/>
                      </a:schemeClr>
                    </a:solidFill>
                  </a:tcPr>
                </a:tc>
                <a:tc>
                  <a:txBody>
                    <a:bodyPr/>
                    <a:p>
                      <a:pPr algn="ctr">
                        <a:buNone/>
                      </a:pPr>
                      <a:r>
                        <a:rPr lang="zh-CN" altLang="en-US" sz="1000">
                          <a:latin typeface="Arial" panose="020B0604020202020204" pitchFamily="34" charset="0"/>
                          <a:ea typeface="黑体-简" panose="02000000000000000000" charset="-122"/>
                        </a:rPr>
                        <a:t>当前水平</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solidFill>
                      <a:schemeClr val="accent6">
                        <a:lumMod val="60000"/>
                        <a:lumOff val="40000"/>
                      </a:schemeClr>
                    </a:soli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初始水平</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6">
                        <a:lumMod val="60000"/>
                        <a:lumOff val="40000"/>
                      </a:schemeClr>
                    </a:solidFill>
                  </a:tcPr>
                </a:tc>
              </a:tr>
              <a:tr h="365760">
                <a:tc>
                  <a:txBody>
                    <a:bodyPr/>
                    <a:p>
                      <a:pPr algn="ctr">
                        <a:buNone/>
                      </a:pPr>
                      <a:r>
                        <a:rPr lang="zh-CN" altLang="en-US" sz="1000">
                          <a:latin typeface="Arial" panose="020B0604020202020204" pitchFamily="34" charset="0"/>
                          <a:ea typeface="黑体-简" panose="02000000000000000000" charset="-122"/>
                        </a:rPr>
                        <a:t>资产覆盖率</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{{asset_coverage_rate}}</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0%</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365760">
                <a:tc>
                  <a:txBody>
                    <a:bodyPr/>
                    <a:p>
                      <a:pPr algn="ctr">
                        <a:buNone/>
                      </a:pPr>
                      <a:r>
                        <a:rPr lang="zh-CN" altLang="en-US" sz="1000">
                          <a:latin typeface="Arial" panose="020B0604020202020204" pitchFamily="34" charset="0"/>
                          <a:ea typeface="黑体-简" panose="02000000000000000000" charset="-122"/>
                        </a:rPr>
                        <a:t>威胁实时遏制率</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{{threat_containment_rate}}</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tcPr>
                </a:tc>
                <a:tc>
                  <a:txBody>
                    <a:bodyPr/>
                    <a:p>
                      <a:pPr algn="ctr">
                        <a:buNone/>
                      </a:pPr>
                      <a:r>
                        <a:rPr lang="zh-CN" altLang="en-US" sz="1000">
                          <a:latin typeface="Arial" panose="020B0604020202020204" pitchFamily="34" charset="0"/>
                          <a:ea typeface="黑体-简" panose="02000000000000000000" charset="-122"/>
                        </a:rPr>
                        <a:t>仅依赖设备规则拦截</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365760">
                <a:tc>
                  <a:txBody>
                    <a:bodyPr/>
                    <a:p>
                      <a:pPr algn="ctr">
                        <a:buNone/>
                      </a:pPr>
                      <a:r>
                        <a:rPr lang="zh-CN" altLang="en-US" sz="1000">
                          <a:latin typeface="Arial" panose="020B0604020202020204" pitchFamily="34" charset="0"/>
                          <a:ea typeface="黑体-简" panose="02000000000000000000" charset="-122"/>
                        </a:rPr>
                        <a:t>高危漏洞防护率</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{{high_risk_vulnerability_protection_rate}}</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tcPr>
                </a:tc>
                <a:tc>
                  <a:txBody>
                    <a:bodyPr/>
                    <a:p>
                      <a:pPr algn="ctr">
                        <a:buNone/>
                      </a:pPr>
                      <a:r>
                        <a:rPr lang="zh-CN" altLang="en-US" sz="1000">
                          <a:latin typeface="Arial" panose="020B0604020202020204" pitchFamily="34" charset="0"/>
                          <a:ea typeface="黑体-简" panose="02000000000000000000" charset="-122"/>
                        </a:rPr>
                        <a:t>无数据</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365760">
                <a:tc>
                  <a:txBody>
                    <a:bodyPr/>
                    <a:p>
                      <a:pPr algn="ctr">
                        <a:buNone/>
                      </a:pPr>
                      <a:r>
                        <a:rPr lang="en-US" altLang="zh-CN" sz="1000">
                          <a:latin typeface="Arial" panose="020B0604020202020204" pitchFamily="34" charset="0"/>
                          <a:ea typeface="黑体-简" panose="02000000000000000000" charset="-122"/>
                        </a:rPr>
                        <a:t>MTTA</a:t>
                      </a:r>
                      <a:r>
                        <a:rPr lang="zh-CN" altLang="en-US" sz="1000">
                          <a:latin typeface="Arial" panose="020B0604020202020204" pitchFamily="34" charset="0"/>
                          <a:ea typeface="黑体-简" panose="02000000000000000000" charset="-122"/>
                        </a:rPr>
                        <a:t>（平均分析时间）</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{{average_analysis_time}}</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tcPr>
                </a:tc>
                <a:tc>
                  <a:txBody>
                    <a:bodyPr/>
                    <a:p>
                      <a:pPr algn="ctr">
                        <a:buNone/>
                      </a:pPr>
                      <a:r>
                        <a:rPr lang="zh-CN" altLang="en-US" sz="1000">
                          <a:latin typeface="Arial" panose="020B0604020202020204" pitchFamily="34" charset="0"/>
                          <a:ea typeface="黑体-简" panose="02000000000000000000" charset="-122"/>
                        </a:rPr>
                        <a:t>未开展</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365760">
                <a:tc>
                  <a:txBody>
                    <a:bodyPr/>
                    <a:p>
                      <a:pPr algn="ctr">
                        <a:buNone/>
                      </a:pPr>
                      <a:r>
                        <a:rPr lang="en-US" altLang="zh-CN" sz="1000">
                          <a:latin typeface="Arial" panose="020B0604020202020204" pitchFamily="34" charset="0"/>
                          <a:ea typeface="黑体-简" panose="02000000000000000000" charset="-122"/>
                        </a:rPr>
                        <a:t>MTTR</a:t>
                      </a:r>
                      <a:r>
                        <a:rPr lang="zh-CN" altLang="en-US" sz="1000">
                          <a:latin typeface="Arial" panose="020B0604020202020204" pitchFamily="34" charset="0"/>
                          <a:ea typeface="黑体-简" panose="02000000000000000000" charset="-122"/>
                        </a:rPr>
                        <a:t>（平均响应时间）</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{{average_response_time}}</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tcPr>
                </a:tc>
                <a:tc>
                  <a:txBody>
                    <a:bodyPr/>
                    <a:p>
                      <a:pPr algn="ctr">
                        <a:buNone/>
                      </a:pPr>
                      <a:r>
                        <a:rPr lang="zh-CN" altLang="en-US" sz="1000">
                          <a:latin typeface="Arial" panose="020B0604020202020204" pitchFamily="34" charset="0"/>
                          <a:ea typeface="黑体-简" panose="02000000000000000000" charset="-122"/>
                        </a:rPr>
                        <a:t>事后被动响应</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bl>
          </a:graphicData>
        </a:graphic>
      </p:graphicFrame>
      <p:sp>
        <p:nvSpPr>
          <p:cNvPr id="8" name="椭圆 7"/>
          <p:cNvSpPr/>
          <p:nvPr>
            <p:custDataLst>
              <p:tags r:id="rId22"/>
            </p:custDataLst>
          </p:nvPr>
        </p:nvSpPr>
        <p:spPr>
          <a:xfrm>
            <a:off x="2584419" y="5137785"/>
            <a:ext cx="6861238" cy="1121173"/>
          </a:xfrm>
          <a:prstGeom prst="ellipse">
            <a:avLst/>
          </a:prstGeom>
          <a:gradFill>
            <a:gsLst>
              <a:gs pos="0">
                <a:schemeClr val="accent5">
                  <a:alpha val="0"/>
                </a:schemeClr>
              </a:gs>
              <a:gs pos="100000">
                <a:schemeClr val="accent5">
                  <a:alpha val="40000"/>
                </a:schemeClr>
              </a:gs>
            </a:gsLst>
            <a:lin ang="54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28" name="标题"/>
          <p:cNvSpPr txBox="1"/>
          <p:nvPr>
            <p:custDataLst>
              <p:tags r:id="rId23"/>
            </p:custDataLst>
          </p:nvPr>
        </p:nvSpPr>
        <p:spPr>
          <a:xfrm>
            <a:off x="3183130" y="5256733"/>
            <a:ext cx="5665036" cy="951594"/>
          </a:xfrm>
          <a:prstGeom prst="rect">
            <a:avLst/>
          </a:prstGeom>
          <a:noFill/>
          <a:effectLst/>
        </p:spPr>
        <p:txBody>
          <a:bodyPr wrap="square" lIns="0" tIns="0" rIns="0" bIns="0" rtlCol="0" anchor="ctr">
            <a:noAutofit/>
          </a:bodyPr>
          <a:lstStyle/>
          <a:p>
            <a:pPr lvl="0" algn="ctr">
              <a:buClrTx/>
              <a:buSzTx/>
              <a:buFontTx/>
            </a:pP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产生的直接价值</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a:t>
            </a: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减少潜在风险</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a:t>
            </a:r>
            <a:r>
              <a:rPr lang="en-US" altLang="zh-CN" b="1" spc="300" dirty="0">
                <a:ln w="0">
                  <a:noFill/>
                </a:ln>
                <a:solidFill>
                  <a:srgbClr val="4C61E7"/>
                </a:solidFill>
                <a:uFillTx/>
                <a:latin typeface="Arial" panose="020B0604020202020204" pitchFamily="34" charset="0"/>
                <a:ea typeface="黑体-简" panose="02000000000000000000" charset="-122"/>
                <a:cs typeface="+mn-ea"/>
                <a:sym typeface="+mn-ea"/>
              </a:rPr>
              <a:t>{{closed_loop_vulnerability_count}}</a:t>
            </a: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个</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 + </a:t>
            </a: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避免安全攻击损失</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a:t>
            </a:r>
            <a:r>
              <a:rPr lang="en-US" altLang="zh-CN" b="1" spc="300" dirty="0">
                <a:ln w="0">
                  <a:noFill/>
                </a:ln>
                <a:solidFill>
                  <a:srgbClr val="4C61E7"/>
                </a:solidFill>
                <a:uFillTx/>
                <a:latin typeface="Arial" panose="020B0604020202020204" pitchFamily="34" charset="0"/>
                <a:ea typeface="黑体-简" panose="02000000000000000000" charset="-122"/>
                <a:cs typeface="+mn-ea"/>
                <a:sym typeface="+mn-ea"/>
              </a:rPr>
              <a:t>{{threat_and_incident_count}}</a:t>
            </a: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次</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 + </a:t>
            </a: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节省人力成本</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a:t>
            </a:r>
            <a:r>
              <a:rPr lang="en-US" altLang="zh-CN" b="1" spc="300" dirty="0">
                <a:ln w="0">
                  <a:noFill/>
                </a:ln>
                <a:solidFill>
                  <a:srgbClr val="4C61E7"/>
                </a:solidFill>
                <a:uFillTx/>
                <a:latin typeface="Arial" panose="020B0604020202020204" pitchFamily="34" charset="0"/>
                <a:ea typeface="黑体-简" panose="02000000000000000000" charset="-122"/>
                <a:cs typeface="+mn-ea"/>
                <a:sym typeface="Noto Sans SC"/>
              </a:rPr>
              <a:t>{{two_senior_security_engineer_cost}}</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a:t>
            </a:r>
            <a:endParaRPr lang="en-US" altLang="zh-CN" b="1" spc="300" dirty="0">
              <a:ln w="0">
                <a:noFill/>
              </a:ln>
              <a:solidFill>
                <a:schemeClr val="tx1"/>
              </a:solidFill>
              <a:uFillTx/>
              <a:latin typeface="Arial" panose="020B0604020202020204" pitchFamily="34" charset="0"/>
              <a:ea typeface="黑体-简" panose="02000000000000000000" charset="-122"/>
              <a:cs typeface="+mn-ea"/>
              <a:sym typeface="+mn-ea"/>
            </a:endParaRPr>
          </a:p>
        </p:txBody>
      </p:sp>
      <p:sp>
        <p:nvSpPr>
          <p:cNvPr id="9" name="椭圆 8"/>
          <p:cNvSpPr/>
          <p:nvPr>
            <p:custDataLst>
              <p:tags r:id="rId24"/>
            </p:custDataLst>
          </p:nvPr>
        </p:nvSpPr>
        <p:spPr>
          <a:xfrm>
            <a:off x="1886583" y="5139005"/>
            <a:ext cx="8256910" cy="1305392"/>
          </a:xfrm>
          <a:prstGeom prst="ellipse">
            <a:avLst/>
          </a:prstGeom>
          <a:noFill/>
          <a:ln>
            <a:gradFill>
              <a:gsLst>
                <a:gs pos="0">
                  <a:schemeClr val="accent5">
                    <a:alpha val="0"/>
                  </a:schemeClr>
                </a:gs>
                <a:gs pos="100000">
                  <a:schemeClr val="accent5">
                    <a:alpha val="55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21" name="任意多边形: 形状 20"/>
          <p:cNvSpPr/>
          <p:nvPr>
            <p:custDataLst>
              <p:tags r:id="rId25"/>
            </p:custDataLst>
          </p:nvPr>
        </p:nvSpPr>
        <p:spPr>
          <a:xfrm>
            <a:off x="1993942" y="5987510"/>
            <a:ext cx="1293192" cy="471527"/>
          </a:xfrm>
          <a:custGeom>
            <a:avLst/>
            <a:gdLst>
              <a:gd name="connsiteX0" fmla="*/ 2116 w 2120"/>
              <a:gd name="connsiteY0" fmla="*/ 557 h 773"/>
              <a:gd name="connsiteX1" fmla="*/ 2120 w 2120"/>
              <a:gd name="connsiteY1" fmla="*/ 773 h 773"/>
              <a:gd name="connsiteX2" fmla="*/ 0 w 2120"/>
              <a:gd name="connsiteY2" fmla="*/ 201 h 773"/>
              <a:gd name="connsiteX3" fmla="*/ 15 w 2120"/>
              <a:gd name="connsiteY3" fmla="*/ 0 h 773"/>
              <a:gd name="connsiteX4" fmla="*/ 2116 w 2120"/>
              <a:gd name="connsiteY4" fmla="*/ 557 h 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0" h="773">
                <a:moveTo>
                  <a:pt x="2116" y="557"/>
                </a:moveTo>
                <a:lnTo>
                  <a:pt x="2120" y="773"/>
                </a:lnTo>
                <a:cubicBezTo>
                  <a:pt x="2120" y="773"/>
                  <a:pt x="252" y="516"/>
                  <a:pt x="0" y="201"/>
                </a:cubicBezTo>
                <a:lnTo>
                  <a:pt x="15" y="0"/>
                </a:lnTo>
                <a:cubicBezTo>
                  <a:pt x="15" y="0"/>
                  <a:pt x="159" y="270"/>
                  <a:pt x="2116" y="557"/>
                </a:cubicBezTo>
                <a:close/>
              </a:path>
            </a:pathLst>
          </a:custGeom>
          <a:gradFill>
            <a:gsLst>
              <a:gs pos="12000">
                <a:schemeClr val="accent5">
                  <a:alpha val="0"/>
                </a:schemeClr>
              </a:gs>
              <a:gs pos="100000">
                <a:schemeClr val="accent5">
                  <a:alpha val="49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2" name="任意多边形: 形状 21"/>
          <p:cNvSpPr/>
          <p:nvPr>
            <p:custDataLst>
              <p:tags r:id="rId26"/>
            </p:custDataLst>
          </p:nvPr>
        </p:nvSpPr>
        <p:spPr>
          <a:xfrm>
            <a:off x="8155515" y="5953350"/>
            <a:ext cx="2402165" cy="585596"/>
          </a:xfrm>
          <a:custGeom>
            <a:avLst/>
            <a:gdLst>
              <a:gd name="connsiteX0" fmla="*/ 3740 w 3740"/>
              <a:gd name="connsiteY0" fmla="*/ 0 h 960"/>
              <a:gd name="connsiteX1" fmla="*/ 3740 w 3740"/>
              <a:gd name="connsiteY1" fmla="*/ 234 h 960"/>
              <a:gd name="connsiteX2" fmla="*/ 11 w 3740"/>
              <a:gd name="connsiteY2" fmla="*/ 960 h 960"/>
              <a:gd name="connsiteX3" fmla="*/ 0 w 3740"/>
              <a:gd name="connsiteY3" fmla="*/ 758 h 960"/>
              <a:gd name="connsiteX4" fmla="*/ 3740 w 3740"/>
              <a:gd name="connsiteY4" fmla="*/ 0 h 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 h="960">
                <a:moveTo>
                  <a:pt x="3740" y="0"/>
                </a:moveTo>
                <a:lnTo>
                  <a:pt x="3740" y="234"/>
                </a:lnTo>
                <a:cubicBezTo>
                  <a:pt x="3740" y="234"/>
                  <a:pt x="2879" y="744"/>
                  <a:pt x="11" y="960"/>
                </a:cubicBezTo>
                <a:lnTo>
                  <a:pt x="0" y="758"/>
                </a:lnTo>
                <a:cubicBezTo>
                  <a:pt x="0" y="758"/>
                  <a:pt x="2513" y="657"/>
                  <a:pt x="3740" y="0"/>
                </a:cubicBezTo>
                <a:close/>
              </a:path>
            </a:pathLst>
          </a:custGeom>
          <a:gradFill>
            <a:gsLst>
              <a:gs pos="12000">
                <a:schemeClr val="accent5">
                  <a:lumMod val="60000"/>
                  <a:lumOff val="40000"/>
                  <a:alpha val="0"/>
                </a:schemeClr>
              </a:gs>
              <a:gs pos="100000">
                <a:schemeClr val="accent5">
                  <a:alpha val="49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a:solidFill>
                  <a:schemeClr val="tx1"/>
                </a:solidFill>
              </a:rPr>
              <a:t>   </a:t>
            </a:r>
            <a:endParaRPr lang="en-US" altLang="zh-CN">
              <a:solidFill>
                <a:schemeClr val="tx1"/>
              </a:solidFill>
            </a:endParaRPr>
          </a:p>
        </p:txBody>
      </p:sp>
      <p:sp>
        <p:nvSpPr>
          <p:cNvPr id="18" name="椭圆 17"/>
          <p:cNvSpPr/>
          <p:nvPr>
            <p:custDataLst>
              <p:tags r:id="rId27"/>
            </p:custDataLst>
          </p:nvPr>
        </p:nvSpPr>
        <p:spPr>
          <a:xfrm>
            <a:off x="1258897" y="5137785"/>
            <a:ext cx="9512282" cy="1487171"/>
          </a:xfrm>
          <a:prstGeom prst="ellipse">
            <a:avLst/>
          </a:prstGeom>
          <a:noFill/>
          <a:ln>
            <a:gradFill>
              <a:gsLst>
                <a:gs pos="66000">
                  <a:srgbClr val="376FFF">
                    <a:alpha val="0"/>
                  </a:srgbClr>
                </a:gs>
                <a:gs pos="14000">
                  <a:schemeClr val="accent5">
                    <a:alpha val="0"/>
                  </a:schemeClr>
                </a:gs>
                <a:gs pos="0">
                  <a:srgbClr val="376FFF">
                    <a:alpha val="16000"/>
                  </a:srgbClr>
                </a:gs>
                <a:gs pos="100000">
                  <a:schemeClr val="accent5">
                    <a:alpha val="2000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27" name="textbox 158"/>
          <p:cNvSpPr/>
          <p:nvPr/>
        </p:nvSpPr>
        <p:spPr>
          <a:xfrm>
            <a:off x="4090670" y="922020"/>
            <a:ext cx="3822700" cy="327660"/>
          </a:xfrm>
          <a:prstGeom prst="rect">
            <a:avLst/>
          </a:prstGeom>
          <a:noFill/>
          <a:ln w="0" cap="flat">
            <a:noFill/>
            <a:prstDash val="solid"/>
            <a:miter lim="0"/>
          </a:ln>
        </p:spPr>
        <p:txBody>
          <a:bodyPr vert="horz" wrap="square" lIns="0" tIns="0" rIns="0" bIns="0" anchor="ctr" anchorCtr="0"/>
          <a:p>
            <a:pPr algn="ctr" rtl="0" eaLnBrk="0">
              <a:lnSpc>
                <a:spcPct val="100000"/>
              </a:lnSpc>
            </a:pPr>
            <a:r>
              <a:rPr lang="zh-CN" altLang="en-US" b="1" noProof="0" dirty="0">
                <a:solidFill>
                  <a:srgbClr val="0B4CBB"/>
                </a:solidFill>
                <a:uLnTx/>
                <a:latin typeface="Arial" panose="020B0604020202020204" pitchFamily="34" charset="0"/>
                <a:ea typeface="黑体-简" panose="02000000000000000000" charset="-122"/>
                <a:cs typeface="微软雅黑" panose="020B0503020204020204" charset="-122"/>
                <a:sym typeface="Calibri" panose="020F0502020204030204" charset="0"/>
              </a:rPr>
              <a:t>主动防御、量化运营</a:t>
            </a:r>
            <a:endParaRPr lang="zh-CN" altLang="en-US" b="1" noProof="0" dirty="0">
              <a:solidFill>
                <a:srgbClr val="0B4CBB"/>
              </a:solidFill>
              <a:uLnTx/>
              <a:latin typeface="Arial" panose="020B0604020202020204" pitchFamily="34" charset="0"/>
              <a:ea typeface="黑体-简" panose="02000000000000000000" charset="-122"/>
              <a:cs typeface="微软雅黑" panose="020B0503020204020204" charset="-122"/>
              <a:sym typeface="Calibri" panose="020F0502020204030204" charset="0"/>
            </a:endParaRPr>
          </a:p>
        </p:txBody>
      </p:sp>
      <p:cxnSp>
        <p:nvCxnSpPr>
          <p:cNvPr id="4" name="直接连接符 3"/>
          <p:cNvCxnSpPr/>
          <p:nvPr/>
        </p:nvCxnSpPr>
        <p:spPr>
          <a:xfrm>
            <a:off x="3302635" y="1244600"/>
            <a:ext cx="5545455"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Tree>
    <p:custDataLst>
      <p:tags r:id="rId28"/>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sz="1600" kern="0" spc="60" dirty="0">
                <a:solidFill>
                  <a:srgbClr val="000000">
                    <a:alpha val="100000"/>
                  </a:srgbClr>
                </a:solidFill>
                <a:latin typeface="Arial Black" panose="020B0A04020102020204" pitchFamily="34" charset="0"/>
                <a:ea typeface="微软雅黑" panose="020B0503020204020204" charset="-122"/>
                <a:cs typeface="黑体" panose="02010609060101010101" charset="-122"/>
                <a:sym typeface="+mn-ea"/>
              </a:rPr>
              <a:t>关键问题与应对思路</a:t>
            </a:r>
            <a:endParaRPr lang="zh-CN" sz="1600" kern="0" spc="60" dirty="0">
              <a:solidFill>
                <a:srgbClr val="000000">
                  <a:alpha val="100000"/>
                </a:srgbClr>
              </a:solidFill>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lstStyle/>
          <a:p>
            <a:r>
              <a:rPr lang="zh-CN" altLang="en-US" sz="3200">
                <a:solidFill>
                  <a:srgbClr val="4C61E7"/>
                </a:solidFill>
                <a:latin typeface="Arial Black" panose="020B0A04020102020204" pitchFamily="34" charset="0"/>
                <a:ea typeface="微软雅黑" panose="020B0503020204020204" charset="-122"/>
              </a:rPr>
              <a:t>共同的挑战与应对思路</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03</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22960"/>
                <a:gridCol w="844550"/>
                <a:gridCol w="551815"/>
                <a:gridCol w="2082165"/>
                <a:gridCol w="1869440"/>
                <a:gridCol w="3914140"/>
                <a:gridCol w="1120775"/>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endParaRPr lang="zh-CN" altLang="en-US" sz="1200" b="1" dirty="0">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安全监测防护不足</a:t>
                      </a:r>
                      <a:endParaRPr lang="zh-CN" altLang="en-US" sz="1200" b="1" dirty="0">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1</a:t>
                      </a:r>
                      <a:r>
                        <a:rPr lang="zh-CN" altLang="en-US" sz="1200" dirty="0">
                          <a:latin typeface="Arial" panose="020B0604020202020204" pitchFamily="34" charset="0"/>
                          <a:ea typeface="黑体-简" panose="02000000000000000000" charset="-122"/>
                          <a:cs typeface="微软雅黑" panose="020B0503020204020204" charset="-122"/>
                        </a:rPr>
                        <a:t>、</a:t>
                      </a:r>
                      <a:r>
                        <a:rPr lang="en-US" altLang="zh-CN" sz="1200" dirty="0">
                          <a:latin typeface="Arial" panose="020B0604020202020204" pitchFamily="34" charset="0"/>
                          <a:ea typeface="黑体-简" panose="02000000000000000000" charset="-122"/>
                          <a:cs typeface="微软雅黑" panose="020B0503020204020204" charset="-122"/>
                        </a:rPr>
                        <a:t>部分业务服务器EDR未安装覆盖（现网</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X.X.X.X</a:t>
                      </a:r>
                      <a:r>
                        <a:rPr lang="en-US" altLang="zh-CN" sz="1200" dirty="0">
                          <a:latin typeface="Arial" panose="020B0604020202020204" pitchFamily="34" charset="0"/>
                          <a:ea typeface="黑体-简" panose="02000000000000000000" charset="-122"/>
                          <a:cs typeface="微软雅黑" panose="020B0503020204020204" charset="-122"/>
                        </a:rPr>
                        <a:t>服务器网段仍有</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a:t>
                      </a:r>
                      <a:r>
                        <a:rPr lang="en-US" altLang="zh-CN" sz="1200" dirty="0">
                          <a:latin typeface="Arial" panose="020B0604020202020204" pitchFamily="34" charset="0"/>
                          <a:ea typeface="黑体-简" panose="02000000000000000000" charset="-122"/>
                          <a:cs typeface="微软雅黑" panose="020B0503020204020204" charset="-122"/>
                        </a:rPr>
                        <a:t>台活跃主机未覆盖EDR）</a:t>
                      </a:r>
                      <a:endParaRPr lang="en-US" altLang="zh-CN"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endParaRPr lang="en-US" altLang="zh-CN"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2</a:t>
                      </a:r>
                      <a:r>
                        <a:rPr lang="zh-CN" altLang="en-US" sz="1200" dirty="0">
                          <a:latin typeface="Arial" panose="020B0604020202020204" pitchFamily="34" charset="0"/>
                          <a:ea typeface="黑体-简" panose="02000000000000000000" charset="-122"/>
                          <a:cs typeface="微软雅黑" panose="020B0503020204020204" charset="-122"/>
                        </a:rPr>
                        <a:t>、</a:t>
                      </a:r>
                      <a:r>
                        <a:rPr lang="zh-CN" sz="1200" dirty="0">
                          <a:latin typeface="Arial" panose="020B0604020202020204" pitchFamily="34" charset="0"/>
                          <a:ea typeface="黑体-简" panose="02000000000000000000" charset="-122"/>
                          <a:cs typeface="微软雅黑" panose="020B0503020204020204" charset="-122"/>
                        </a:rPr>
                        <a:t>出口防火墙存在较多的</a:t>
                      </a:r>
                      <a:r>
                        <a:rPr lang="en-US" altLang="zh-CN" sz="1200" dirty="0">
                          <a:latin typeface="Arial" panose="020B0604020202020204" pitchFamily="34" charset="0"/>
                          <a:ea typeface="黑体-简" panose="02000000000000000000" charset="-122"/>
                          <a:cs typeface="微软雅黑" panose="020B0503020204020204" charset="-122"/>
                        </a:rPr>
                        <a:t>IP</a:t>
                      </a:r>
                      <a:r>
                        <a:rPr lang="zh-CN" altLang="en-US" sz="1200" dirty="0">
                          <a:latin typeface="Arial" panose="020B0604020202020204" pitchFamily="34" charset="0"/>
                          <a:ea typeface="黑体-简" panose="02000000000000000000" charset="-122"/>
                          <a:cs typeface="微软雅黑" panose="020B0503020204020204" charset="-122"/>
                        </a:rPr>
                        <a:t>或者域名白名单</a:t>
                      </a:r>
                      <a:endParaRPr lang="zh-CN" altLang="en-US"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endParaRPr lang="zh-CN" altLang="en-US"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3</a:t>
                      </a:r>
                      <a:r>
                        <a:rPr lang="zh-CN" altLang="en-US" sz="1200" dirty="0">
                          <a:latin typeface="Arial" panose="020B0604020202020204" pitchFamily="34" charset="0"/>
                          <a:ea typeface="黑体-简" panose="02000000000000000000" charset="-122"/>
                          <a:cs typeface="微软雅黑" panose="020B0503020204020204" charset="-122"/>
                        </a:rPr>
                        <a:t>、</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XXX</a:t>
                      </a:r>
                      <a:r>
                        <a:rPr lang="zh-CN" altLang="en-US" sz="1200" dirty="0">
                          <a:solidFill>
                            <a:srgbClr val="4C61E7"/>
                          </a:solidFill>
                          <a:latin typeface="Arial" panose="020B0604020202020204" pitchFamily="34" charset="0"/>
                          <a:ea typeface="黑体-简" panose="02000000000000000000" charset="-122"/>
                          <a:cs typeface="微软雅黑" panose="020B0503020204020204" charset="-122"/>
                        </a:rPr>
                        <a:t>系统</a:t>
                      </a:r>
                      <a:r>
                        <a:rPr lang="zh-CN" altLang="en-US" sz="1200" dirty="0">
                          <a:latin typeface="Arial" panose="020B0604020202020204" pitchFamily="34" charset="0"/>
                          <a:ea typeface="黑体-简" panose="02000000000000000000" charset="-122"/>
                          <a:cs typeface="微软雅黑" panose="020B0503020204020204" charset="-122"/>
                        </a:rPr>
                        <a:t>采用加密传输</a:t>
                      </a:r>
                      <a:endParaRPr lang="zh-CN" altLang="en-US" sz="1200" dirty="0">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主机防护缺失，业务主机一旦遭受安全攻击，对应的业务可能产生中断、数据泄露。</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）梳理提供现有覆盖</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的主机清单，梳理现有服务器网段未安装覆盖</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的清单</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latin typeface="Arial" panose="020B0604020202020204" pitchFamily="34" charset="0"/>
                          <a:ea typeface="黑体-简" panose="02000000000000000000" charset="-122"/>
                          <a:cs typeface="黑体" panose="02010609060101010101" charset="-122"/>
                          <a:sym typeface="+mn-ea"/>
                        </a:rPr>
                        <a:t>深信服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）核对推动覆盖业务服务器</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覆盖安装落地。</a:t>
                      </a:r>
                      <a:r>
                        <a:rPr lang="en-US" altLang="zh-CN" sz="1200" b="0" dirty="0">
                          <a:latin typeface="Arial" panose="020B0604020202020204" pitchFamily="34" charset="0"/>
                          <a:ea typeface="黑体-简" panose="02000000000000000000" charset="-122"/>
                          <a:cs typeface="黑体" panose="02010609060101010101" charset="-122"/>
                        </a:rPr>
                        <a:t>——</a:t>
                      </a:r>
                      <a:r>
                        <a:rPr lang="zh-CN" altLang="en-US" sz="1200" b="0" dirty="0">
                          <a:solidFill>
                            <a:srgbClr val="4C61E7"/>
                          </a:solidFill>
                          <a:latin typeface="Arial" panose="020B0604020202020204" pitchFamily="34" charset="0"/>
                          <a:ea typeface="黑体-简" panose="02000000000000000000" charset="-122"/>
                          <a:cs typeface="黑体" panose="02010609060101010101" charset="-122"/>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3</a:t>
                      </a:r>
                      <a:r>
                        <a:rPr lang="zh-CN" altLang="en-US" sz="1200" b="0" dirty="0">
                          <a:latin typeface="Arial" panose="020B0604020202020204" pitchFamily="34" charset="0"/>
                          <a:ea typeface="黑体-简" panose="02000000000000000000" charset="-122"/>
                          <a:cs typeface="黑体" panose="02010609060101010101" charset="-122"/>
                        </a:rPr>
                        <a:t>）建议二次核对确认白名单清单，动态确认及调整，无需放置的及时去除</a:t>
                      </a:r>
                      <a:r>
                        <a:rPr lang="en-US" altLang="zh-CN" sz="1200" b="0" dirty="0">
                          <a:latin typeface="Arial" panose="020B0604020202020204" pitchFamily="34" charset="0"/>
                          <a:ea typeface="黑体-简" panose="02000000000000000000" charset="-122"/>
                          <a:cs typeface="黑体" panose="02010609060101010101" charset="-122"/>
                        </a:rPr>
                        <a:t>——</a:t>
                      </a:r>
                      <a:r>
                        <a:rPr lang="zh-CN" altLang="en-US" sz="1200" dirty="0">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zh-CN" altLang="en-US" sz="1200" b="0" dirty="0">
                          <a:latin typeface="Arial" panose="020B0604020202020204" pitchFamily="34" charset="0"/>
                          <a:ea typeface="黑体-简" panose="02000000000000000000" charset="-122"/>
                          <a:cs typeface="黑体" panose="02010609060101010101" charset="-122"/>
                        </a:rPr>
                        <a:t>已梳理待覆盖清单进行二次确认。</a:t>
                      </a:r>
                      <a:endParaRPr lang="zh-CN" altLang="en-US"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33120"/>
                <a:gridCol w="834390"/>
                <a:gridCol w="551815"/>
                <a:gridCol w="2082165"/>
                <a:gridCol w="1869440"/>
                <a:gridCol w="3876040"/>
                <a:gridCol w="1158875"/>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钓鱼和社工病毒威胁感染概率大，人员安全意识待提升</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90805" indent="0" algn="l" rtl="0" eaLnBrk="0" fontAlgn="auto">
                        <a:lnSpc>
                          <a:spcPct val="100000"/>
                        </a:lnSpc>
                        <a:spcBef>
                          <a:spcPts val="600"/>
                        </a:spcBef>
                      </a:pPr>
                      <a:r>
                        <a:rPr lang="zh-CN" altLang="en-US" sz="1200" dirty="0">
                          <a:latin typeface="Arial" panose="020B0604020202020204" pitchFamily="34" charset="0"/>
                          <a:ea typeface="黑体-简" panose="02000000000000000000" charset="-122"/>
                          <a:cs typeface="黑体" panose="02010609060101010101" charset="-122"/>
                          <a:sym typeface="+mn-ea"/>
                        </a:rPr>
                        <a:t>当季度单位内部存在僵木蠕、钓鱼的威胁事件较为高发（达到</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latin typeface="Arial" panose="020B0604020202020204" pitchFamily="34" charset="0"/>
                          <a:ea typeface="黑体-简" panose="02000000000000000000" charset="-122"/>
                          <a:cs typeface="黑体" panose="02010609060101010101" charset="-122"/>
                          <a:sym typeface="+mn-ea"/>
                        </a:rPr>
                        <a:t>起，钓鱼存在</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latin typeface="Arial" panose="020B0604020202020204" pitchFamily="34" charset="0"/>
                          <a:ea typeface="黑体-简" panose="02000000000000000000" charset="-122"/>
                          <a:cs typeface="黑体" panose="02010609060101010101" charset="-122"/>
                          <a:sym typeface="+mn-ea"/>
                        </a:rPr>
                        <a:t>起【</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起是银狐病毒</a:t>
                      </a:r>
                      <a:r>
                        <a:rPr lang="zh-CN" altLang="en-US" sz="1200" dirty="0">
                          <a:latin typeface="Arial" panose="020B0604020202020204" pitchFamily="34" charset="0"/>
                          <a:ea typeface="黑体-简" panose="02000000000000000000" charset="-122"/>
                          <a:cs typeface="黑体" panose="02010609060101010101" charset="-122"/>
                          <a:sym typeface="+mn-ea"/>
                        </a:rPr>
                        <a:t>】），终端感染银狐病毒钓鱼类风险较大，可能持续导致员工的财务损失。</a:t>
                      </a:r>
                      <a:endParaRPr lang="en-US" altLang="zh-CN" sz="1200" dirty="0">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PC</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终端遭受银狐或者钓鱼攻击，个人员工产生财产损失，主机失陷进而存在横向攻击</a:t>
                      </a: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Pacs</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a:t>
                      </a: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ERAS</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核心业务服务器的风险。</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）完善主机定位方案，提供资产清单，通过导入资产清单到</a:t>
                      </a:r>
                      <a:r>
                        <a:rPr lang="en-US" altLang="zh-CN" sz="1200" dirty="0">
                          <a:latin typeface="Arial" panose="020B0604020202020204" pitchFamily="34" charset="0"/>
                          <a:ea typeface="黑体-简" panose="02000000000000000000" charset="-122"/>
                          <a:cs typeface="黑体" panose="02010609060101010101" charset="-122"/>
                          <a:sym typeface="+mn-ea"/>
                        </a:rPr>
                        <a:t>MSS</a:t>
                      </a:r>
                      <a:r>
                        <a:rPr lang="zh-CN" altLang="en-US" sz="1200" dirty="0">
                          <a:latin typeface="Arial" panose="020B0604020202020204" pitchFamily="34" charset="0"/>
                          <a:ea typeface="黑体-简" panose="02000000000000000000" charset="-122"/>
                          <a:cs typeface="黑体" panose="02010609060101010101" charset="-122"/>
                          <a:sym typeface="+mn-ea"/>
                        </a:rPr>
                        <a:t>平台，事件通告可直接定位到资产归属责任人</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r>
                        <a:rPr lang="en-US" altLang="zh-CN" sz="1200" dirty="0">
                          <a:latin typeface="Arial" panose="020B0604020202020204" pitchFamily="34" charset="0"/>
                          <a:ea typeface="黑体-简" panose="02000000000000000000" charset="-122"/>
                          <a:cs typeface="黑体" panose="02010609060101010101" charset="-122"/>
                          <a:sym typeface="+mn-ea"/>
                        </a:rPr>
                        <a:t>&amp;</a:t>
                      </a:r>
                      <a:r>
                        <a:rPr lang="zh-CN" altLang="en-US" sz="1200" dirty="0">
                          <a:latin typeface="Arial" panose="020B0604020202020204" pitchFamily="34" charset="0"/>
                          <a:ea typeface="黑体-简" panose="02000000000000000000" charset="-122"/>
                          <a:cs typeface="黑体" panose="02010609060101010101" charset="-122"/>
                          <a:sym typeface="+mn-ea"/>
                        </a:rPr>
                        <a:t>深信服（已完成）</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）核对推动</a:t>
                      </a:r>
                      <a:r>
                        <a:rPr lang="en-US" altLang="zh-CN" sz="1200" dirty="0">
                          <a:latin typeface="Arial" panose="020B0604020202020204" pitchFamily="34" charset="0"/>
                          <a:ea typeface="黑体-简" panose="02000000000000000000" charset="-122"/>
                          <a:cs typeface="黑体" panose="02010609060101010101" charset="-122"/>
                          <a:sym typeface="+mn-ea"/>
                        </a:rPr>
                        <a:t>PC</a:t>
                      </a:r>
                      <a:r>
                        <a:rPr lang="zh-CN" altLang="en-US" sz="1200" dirty="0">
                          <a:latin typeface="Arial" panose="020B0604020202020204" pitchFamily="34" charset="0"/>
                          <a:ea typeface="黑体-简" panose="02000000000000000000" charset="-122"/>
                          <a:cs typeface="黑体" panose="02010609060101010101" charset="-122"/>
                          <a:sym typeface="+mn-ea"/>
                        </a:rPr>
                        <a:t>主机安装</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及覆盖安装及定期查杀机制落地。</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1</a:t>
                      </a:r>
                      <a:r>
                        <a:rPr lang="zh-CN" altLang="en-US" sz="1200" b="0" dirty="0">
                          <a:latin typeface="Arial" panose="020B0604020202020204" pitchFamily="34" charset="0"/>
                          <a:ea typeface="黑体-简" panose="02000000000000000000" charset="-122"/>
                          <a:cs typeface="黑体" panose="02010609060101010101" charset="-122"/>
                        </a:rPr>
                        <a:t>）增加钓鱼演练，模拟实战提升人员安全意识</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2</a:t>
                      </a:r>
                      <a:r>
                        <a:rPr lang="zh-CN" altLang="en-US" sz="1200" b="0" dirty="0">
                          <a:latin typeface="Arial" panose="020B0604020202020204" pitchFamily="34" charset="0"/>
                          <a:ea typeface="黑体-简" panose="02000000000000000000" charset="-122"/>
                          <a:cs typeface="黑体" panose="02010609060101010101" charset="-122"/>
                        </a:rPr>
                        <a:t>）每年开展增加安全意识培训，提升用户安全意识</a:t>
                      </a: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zh-CN" altLang="en-US" sz="1200" b="0" dirty="0">
                          <a:latin typeface="Arial" panose="020B0604020202020204" pitchFamily="34" charset="0"/>
                          <a:ea typeface="黑体-简" panose="02000000000000000000" charset="-122"/>
                          <a:cs typeface="黑体" panose="02010609060101010101" charset="-122"/>
                        </a:rPr>
                        <a:t>资产定位方案目前已初步落地。</a:t>
                      </a:r>
                      <a:endParaRPr lang="zh-CN" altLang="en-US"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33120"/>
                <a:gridCol w="1363345"/>
                <a:gridCol w="731520"/>
                <a:gridCol w="1384300"/>
                <a:gridCol w="1858645"/>
                <a:gridCol w="4184015"/>
                <a:gridCol w="850900"/>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业务保护、重保</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当前遗留部分业务（</a:t>
                      </a:r>
                      <a:r>
                        <a:rPr lang="en-US" altLang="zh-CN" sz="1200" b="1" dirty="0">
                          <a:solidFill>
                            <a:srgbClr val="4C61E7"/>
                          </a:solidFill>
                          <a:latin typeface="Arial" panose="020B0604020202020204" pitchFamily="34" charset="0"/>
                          <a:ea typeface="黑体-简" panose="02000000000000000000" charset="-122"/>
                          <a:cs typeface="黑体" panose="02010609060101010101" charset="-122"/>
                          <a:sym typeface="+mn-ea"/>
                        </a:rPr>
                        <a:t>XX</a:t>
                      </a:r>
                      <a:r>
                        <a:rPr lang="zh-CN" altLang="en-US" sz="1200" b="1" dirty="0">
                          <a:solidFill>
                            <a:srgbClr val="4C61E7"/>
                          </a:solidFill>
                          <a:latin typeface="Arial" panose="020B0604020202020204" pitchFamily="34" charset="0"/>
                          <a:ea typeface="黑体-简" panose="02000000000000000000" charset="-122"/>
                          <a:cs typeface="黑体" panose="02010609060101010101" charset="-122"/>
                          <a:sym typeface="+mn-ea"/>
                        </a:rPr>
                        <a:t>系统</a:t>
                      </a:r>
                      <a:r>
                        <a:rPr lang="zh-CN" altLang="en-US" sz="1200" b="1" dirty="0">
                          <a:latin typeface="Arial" panose="020B0604020202020204" pitchFamily="34" charset="0"/>
                          <a:ea typeface="黑体-简" panose="02000000000000000000" charset="-122"/>
                          <a:cs typeface="黑体" panose="02010609060101010101" charset="-122"/>
                          <a:sym typeface="+mn-ea"/>
                        </a:rPr>
                        <a:t>等）存在高危安全漏洞待闭环</a:t>
                      </a:r>
                      <a:endParaRPr lang="en-US" altLang="zh-CN"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algn="just" rtl="0" eaLnBrk="0" fontAlgn="auto">
                        <a:lnSpc>
                          <a:spcPct val="106000"/>
                        </a:lnSpc>
                        <a:spcBef>
                          <a:spcPts val="130"/>
                        </a:spcBef>
                        <a:buClrTx/>
                        <a:buSzTx/>
                        <a:buFont typeface="Arial" panose="020B0604020202020204" pitchFamily="34" charset="0"/>
                      </a:pP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当前遗留存在</a:t>
                      </a:r>
                      <a:r>
                        <a:rPr lang="en-US" altLang="zh-CN"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XX</a:t>
                      </a:r>
                      <a:r>
                        <a:rPr lang="zh-CN" altLang="en-US"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个</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高危漏洞（</a:t>
                      </a:r>
                      <a:r>
                        <a:rPr lang="en-US" altLang="zh-CN" sz="1200" b="1"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XX</a:t>
                      </a:r>
                      <a:r>
                        <a:rPr lang="zh-CN" altLang="en-US" sz="1200" b="1"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系统</a:t>
                      </a:r>
                      <a:r>
                        <a:rPr lang="zh-CN" altLang="en-US" sz="1200" b="1"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等业务）</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，其中包含</a:t>
                      </a:r>
                      <a:r>
                        <a:rPr lang="en-US" altLang="zh-CN"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XX</a:t>
                      </a:r>
                      <a:r>
                        <a:rPr lang="zh-CN" altLang="en-US"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个</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高危可利用漏洞（</a:t>
                      </a:r>
                      <a:r>
                        <a:rPr lang="en-US" altLang="zh-CN"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XX</a:t>
                      </a:r>
                      <a:r>
                        <a:rPr lang="zh-CN" altLang="en-US"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个</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已防护）</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外网主机（</a:t>
                      </a:r>
                      <a:r>
                        <a:rPr lang="zh-CN" altLang="en-US" sz="1200" b="1"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如</a:t>
                      </a:r>
                      <a:r>
                        <a:rPr lang="en-US" altLang="zh-CN" sz="1200" b="1"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sym typeface="+mn-ea"/>
                        </a:rPr>
                        <a:t>XX</a:t>
                      </a:r>
                      <a:r>
                        <a:rPr lang="zh-CN" altLang="en-US" sz="1200" b="1"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sym typeface="+mn-ea"/>
                        </a:rPr>
                        <a:t>系统</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）存在的高危漏洞一旦被攻击利用，进而形成跳板对内网的</a:t>
                      </a:r>
                      <a:r>
                        <a:rPr lang="en-US" altLang="zh-CN"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sym typeface="+mn-ea"/>
                        </a:rPr>
                        <a:t>XXX</a:t>
                      </a:r>
                      <a:r>
                        <a:rPr lang="zh-CN" altLang="en-US"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sym typeface="+mn-ea"/>
                        </a:rPr>
                        <a:t>核心系统</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进行攻击，可能产生相关业务中断、数据泄露。</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）围绕业务核心程度、是否对外、漏洞等级、修复难度，进一步提供修复优先级的漏洞清单</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latin typeface="Arial" panose="020B0604020202020204" pitchFamily="34" charset="0"/>
                          <a:ea typeface="黑体-简" panose="02000000000000000000" charset="-122"/>
                          <a:cs typeface="黑体" panose="02010609060101010101" charset="-122"/>
                          <a:sym typeface="+mn-ea"/>
                        </a:rPr>
                        <a:t>深信服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）根据修复落地漏洞清单，对齐修复方案和落地计划</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r>
                        <a:rPr lang="en-US" altLang="zh-CN" sz="1200" dirty="0">
                          <a:latin typeface="Arial" panose="020B0604020202020204" pitchFamily="34" charset="0"/>
                          <a:ea typeface="黑体-简" panose="02000000000000000000" charset="-122"/>
                          <a:cs typeface="黑体" panose="02010609060101010101" charset="-122"/>
                          <a:sym typeface="+mn-ea"/>
                        </a:rPr>
                        <a:t>&amp;</a:t>
                      </a:r>
                      <a:r>
                        <a:rPr lang="zh-CN" altLang="en-US" sz="1200" dirty="0">
                          <a:latin typeface="Arial" panose="020B0604020202020204" pitchFamily="34" charset="0"/>
                          <a:ea typeface="黑体-简" panose="02000000000000000000" charset="-122"/>
                          <a:cs typeface="黑体" panose="02010609060101010101" charset="-122"/>
                          <a:sym typeface="+mn-ea"/>
                        </a:rPr>
                        <a:t>深信服</a:t>
                      </a:r>
                      <a:endParaRPr lang="en-US" altLang="zh-CN" sz="1200" dirty="0">
                        <a:latin typeface="Arial" panose="020B0604020202020204" pitchFamily="34" charset="0"/>
                        <a:ea typeface="黑体-简" panose="02000000000000000000" charset="-122"/>
                        <a:cs typeface="黑体" panose="02010609060101010101" charset="-122"/>
                        <a:sym typeface="+mn-ea"/>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    </a:t>
                      </a:r>
                      <a:r>
                        <a:rPr lang="zh-CN" altLang="en-US" sz="1200" dirty="0">
                          <a:latin typeface="Arial" panose="020B0604020202020204" pitchFamily="34" charset="0"/>
                          <a:ea typeface="黑体-简" panose="02000000000000000000" charset="-122"/>
                          <a:cs typeface="黑体" panose="02010609060101010101" charset="-122"/>
                          <a:sym typeface="+mn-ea"/>
                        </a:rPr>
                        <a:t>修复方案参考：修改配置（如</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系统的未授权漏洞</a:t>
                      </a:r>
                      <a:r>
                        <a:rPr lang="zh-CN" altLang="en-US" sz="1200" dirty="0">
                          <a:latin typeface="Arial" panose="020B0604020202020204" pitchFamily="34" charset="0"/>
                          <a:ea typeface="黑体-简" panose="02000000000000000000" charset="-122"/>
                          <a:cs typeface="黑体" panose="02010609060101010101" charset="-122"/>
                          <a:sym typeface="+mn-ea"/>
                        </a:rPr>
                        <a:t>）、漏洞补丁升级</a:t>
                      </a:r>
                      <a:r>
                        <a:rPr lang="en-US" altLang="zh-CN" sz="1200" dirty="0">
                          <a:latin typeface="Arial" panose="020B0604020202020204" pitchFamily="34" charset="0"/>
                          <a:ea typeface="黑体-简" panose="02000000000000000000" charset="-122"/>
                          <a:cs typeface="黑体" panose="02010609060101010101" charset="-122"/>
                          <a:sym typeface="+mn-ea"/>
                        </a:rPr>
                        <a:t>&gt;</a:t>
                      </a:r>
                      <a:r>
                        <a:rPr lang="zh-CN" altLang="en-US" sz="1200" dirty="0">
                          <a:latin typeface="Arial" panose="020B0604020202020204" pitchFamily="34" charset="0"/>
                          <a:ea typeface="黑体-简" panose="02000000000000000000" charset="-122"/>
                          <a:cs typeface="黑体" panose="02010609060101010101" charset="-122"/>
                          <a:sym typeface="+mn-ea"/>
                        </a:rPr>
                        <a:t>防火墙策略防护</a:t>
                      </a:r>
                      <a:r>
                        <a:rPr lang="en-US" altLang="zh-CN" sz="1200" dirty="0">
                          <a:latin typeface="Arial" panose="020B0604020202020204" pitchFamily="34" charset="0"/>
                          <a:ea typeface="黑体-简" panose="02000000000000000000" charset="-122"/>
                          <a:cs typeface="黑体" panose="02010609060101010101" charset="-122"/>
                          <a:sym typeface="+mn-ea"/>
                        </a:rPr>
                        <a:t>&gt;EDR</a:t>
                      </a:r>
                      <a:r>
                        <a:rPr lang="zh-CN" altLang="en-US" sz="1200" dirty="0">
                          <a:latin typeface="Arial" panose="020B0604020202020204" pitchFamily="34" charset="0"/>
                          <a:ea typeface="黑体-简" panose="02000000000000000000" charset="-122"/>
                          <a:cs typeface="黑体" panose="02010609060101010101" charset="-122"/>
                          <a:sym typeface="+mn-ea"/>
                        </a:rPr>
                        <a:t>轻补丁防护</a:t>
                      </a:r>
                      <a:r>
                        <a:rPr lang="en-US" altLang="zh-CN" sz="1200" dirty="0">
                          <a:latin typeface="Arial" panose="020B0604020202020204" pitchFamily="34" charset="0"/>
                          <a:ea typeface="黑体-简" panose="02000000000000000000" charset="-122"/>
                          <a:cs typeface="黑体" panose="02010609060101010101" charset="-122"/>
                          <a:sym typeface="+mn-ea"/>
                        </a:rPr>
                        <a:t>&gt;</a:t>
                      </a:r>
                      <a:r>
                        <a:rPr lang="zh-CN" altLang="en-US" sz="1200" dirty="0">
                          <a:latin typeface="Arial" panose="020B0604020202020204" pitchFamily="34" charset="0"/>
                          <a:ea typeface="黑体-简" panose="02000000000000000000" charset="-122"/>
                          <a:cs typeface="黑体" panose="02010609060101010101" charset="-122"/>
                          <a:sym typeface="+mn-ea"/>
                        </a:rPr>
                        <a:t>端口策略</a:t>
                      </a:r>
                      <a:endParaRPr lang="zh-CN" altLang="en-US" sz="1200" dirty="0">
                        <a:latin typeface="Arial" panose="020B0604020202020204" pitchFamily="34" charset="0"/>
                        <a:ea typeface="黑体-简" panose="02000000000000000000" charset="-122"/>
                        <a:cs typeface="黑体" panose="02010609060101010101" charset="-122"/>
                        <a:sym typeface="+mn-ea"/>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3</a:t>
                      </a:r>
                      <a:r>
                        <a:rPr lang="zh-CN" altLang="en-US" sz="1200" dirty="0">
                          <a:latin typeface="Arial" panose="020B0604020202020204" pitchFamily="34" charset="0"/>
                          <a:ea typeface="黑体-简" panose="02000000000000000000" charset="-122"/>
                          <a:cs typeface="黑体" panose="02010609060101010101" charset="-122"/>
                          <a:sym typeface="+mn-ea"/>
                        </a:rPr>
                        <a:t>）按照方案落地修复，反馈给</a:t>
                      </a:r>
                      <a:r>
                        <a:rPr lang="en-US" altLang="zh-CN" sz="1200" dirty="0">
                          <a:latin typeface="Arial" panose="020B0604020202020204" pitchFamily="34" charset="0"/>
                          <a:ea typeface="黑体-简" panose="02000000000000000000" charset="-122"/>
                          <a:cs typeface="黑体" panose="02010609060101010101" charset="-122"/>
                          <a:sym typeface="+mn-ea"/>
                        </a:rPr>
                        <a:t>MSS</a:t>
                      </a:r>
                      <a:r>
                        <a:rPr lang="zh-CN" altLang="en-US" sz="1200" dirty="0">
                          <a:latin typeface="Arial" panose="020B0604020202020204" pitchFamily="34" charset="0"/>
                          <a:ea typeface="黑体-简" panose="02000000000000000000" charset="-122"/>
                          <a:cs typeface="黑体" panose="02010609060101010101" charset="-122"/>
                          <a:sym typeface="+mn-ea"/>
                        </a:rPr>
                        <a:t>团队进行漏洞复测闭环</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a:t>
                      </a: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a:t>
                      </a: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r>
                <a:rPr lang="zh-CN" altLang="en-US" sz="1900" b="1">
                  <a:solidFill>
                    <a:srgbClr val="262626"/>
                  </a:solidFill>
                  <a:latin typeface="Arial Black" panose="020B0A04020102020204" pitchFamily="34" charset="0"/>
                  <a:ea typeface="微软雅黑" panose="020B0503020204020204" charset="-122"/>
                  <a:cs typeface="Noto Sans SC"/>
                  <a:sym typeface="Noto Sans SC"/>
                </a:rPr>
                <a:t>通告应对差距及应对方案</a:t>
              </a: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a:p>
              <a:pPr algn="l" rtl="0" eaLnBrk="0">
                <a:lnSpc>
                  <a:spcPct val="78000"/>
                </a:lnSpc>
              </a:pP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graphicFrame>
        <p:nvGraphicFramePr>
          <p:cNvPr id="4" name="表格 3"/>
          <p:cNvGraphicFramePr/>
          <p:nvPr>
            <p:custDataLst>
              <p:tags r:id="rId4"/>
            </p:custDataLst>
          </p:nvPr>
        </p:nvGraphicFramePr>
        <p:xfrm>
          <a:off x="387350" y="803275"/>
          <a:ext cx="11490325" cy="5629275"/>
        </p:xfrm>
        <a:graphic>
          <a:graphicData uri="http://schemas.openxmlformats.org/drawingml/2006/table">
            <a:tbl>
              <a:tblPr firstRow="1">
                <a:tableStyleId>{97B133EC-C43E-4B86-9A22-AE00D15C5094}</a:tableStyleId>
              </a:tblPr>
              <a:tblGrid>
                <a:gridCol w="633095"/>
                <a:gridCol w="2652395"/>
                <a:gridCol w="4046220"/>
                <a:gridCol w="2261870"/>
                <a:gridCol w="1896745"/>
              </a:tblGrid>
              <a:tr h="313055">
                <a:tc>
                  <a:txBody>
                    <a:bodyPr/>
                    <a:p>
                      <a:pPr algn="ctr" fontAlgn="ctr"/>
                      <a:r>
                        <a:rPr lang="zh-CN" altLang="en-US" sz="1000">
                          <a:latin typeface="Arial" panose="020B0604020202020204" pitchFamily="34" charset="0"/>
                          <a:ea typeface="黑体-简" panose="02000000000000000000" charset="-122"/>
                        </a:rPr>
                        <a:t>通告场景</a:t>
                      </a:r>
                      <a:endParaRPr lang="zh-CN" altLang="en-US" sz="1000">
                        <a:latin typeface="Arial" panose="020B0604020202020204" pitchFamily="34" charset="0"/>
                        <a:ea typeface="黑体-简" panose="02000000000000000000" charset="-122"/>
                      </a:endParaRPr>
                    </a:p>
                  </a:txBody>
                  <a:tcPr marL="9842" marR="9842" marT="9842" marB="0" anchor="ctr" anchorCtr="0"/>
                </a:tc>
                <a:tc>
                  <a:txBody>
                    <a:bodyPr/>
                    <a:p>
                      <a:pPr algn="ctr" fontAlgn="ctr"/>
                      <a:r>
                        <a:rPr lang="zh-CN" altLang="en-US" sz="1000">
                          <a:latin typeface="Arial" panose="020B0604020202020204" pitchFamily="34" charset="0"/>
                          <a:ea typeface="黑体-简" panose="02000000000000000000" charset="-122"/>
                        </a:rPr>
                        <a:t>通告内容</a:t>
                      </a:r>
                      <a:endParaRPr lang="zh-CN" altLang="en-US" sz="1000">
                        <a:latin typeface="Arial" panose="020B0604020202020204" pitchFamily="34" charset="0"/>
                        <a:ea typeface="黑体-简" panose="02000000000000000000" charset="-122"/>
                      </a:endParaRPr>
                    </a:p>
                  </a:txBody>
                  <a:tcPr marL="9842" marR="9842" marT="9842" marB="0" anchor="ctr" anchorCtr="0"/>
                </a:tc>
                <a:tc>
                  <a:txBody>
                    <a:bodyPr/>
                    <a:p>
                      <a:pPr algn="ctr" fontAlgn="ctr"/>
                      <a:r>
                        <a:rPr lang="zh-CN" altLang="en-US" sz="1000">
                          <a:latin typeface="Arial" panose="020B0604020202020204" pitchFamily="34" charset="0"/>
                          <a:ea typeface="黑体-简" panose="02000000000000000000" charset="-122"/>
                        </a:rPr>
                        <a:t>通告应对举措方案</a:t>
                      </a:r>
                      <a:endParaRPr lang="zh-CN" altLang="en-US" sz="1000">
                        <a:latin typeface="Arial" panose="020B0604020202020204" pitchFamily="34" charset="0"/>
                        <a:ea typeface="黑体-简" panose="02000000000000000000" charset="-122"/>
                      </a:endParaRPr>
                    </a:p>
                  </a:txBody>
                  <a:tcPr marL="9842" marR="9842" marT="9842" marB="0" anchor="ctr" anchorCtr="0"/>
                </a:tc>
                <a:tc>
                  <a:txBody>
                    <a:bodyPr/>
                    <a:p>
                      <a:pPr algn="ctr" fontAlgn="ctr"/>
                      <a:r>
                        <a:rPr lang="zh-CN" altLang="en-US" sz="1000">
                          <a:latin typeface="Arial" panose="020B0604020202020204" pitchFamily="34" charset="0"/>
                          <a:ea typeface="黑体-简" panose="02000000000000000000" charset="-122"/>
                        </a:rPr>
                        <a:t>解决方案</a:t>
                      </a:r>
                      <a:endParaRPr lang="zh-CN" altLang="en-US" sz="1000">
                        <a:latin typeface="Arial" panose="020B0604020202020204" pitchFamily="34" charset="0"/>
                        <a:ea typeface="黑体-简" panose="02000000000000000000" charset="-122"/>
                      </a:endParaRPr>
                    </a:p>
                  </a:txBody>
                  <a:tcPr marL="9842" marR="9842" marT="9842" marB="0" anchor="ctr" anchorCtr="0"/>
                </a:tc>
                <a:tc>
                  <a:txBody>
                    <a:bodyPr/>
                    <a:p>
                      <a:pPr algn="ctr" fontAlgn="ctr"/>
                      <a:r>
                        <a:rPr lang="zh-CN" altLang="en-US" sz="1000">
                          <a:latin typeface="Arial" panose="020B0604020202020204" pitchFamily="34" charset="0"/>
                          <a:ea typeface="黑体-简" panose="02000000000000000000" charset="-122"/>
                        </a:rPr>
                        <a:t>当前已落地</a:t>
                      </a:r>
                      <a:r>
                        <a:rPr lang="en-US" altLang="zh-CN" sz="1000">
                          <a:latin typeface="Arial" panose="020B0604020202020204" pitchFamily="34" charset="0"/>
                          <a:ea typeface="黑体-简" panose="02000000000000000000" charset="-122"/>
                        </a:rPr>
                        <a:t>+</a:t>
                      </a:r>
                      <a:r>
                        <a:rPr lang="zh-CN" altLang="en-US" sz="1000">
                          <a:latin typeface="Arial" panose="020B0604020202020204" pitchFamily="34" charset="0"/>
                          <a:ea typeface="黑体-简" panose="02000000000000000000" charset="-122"/>
                        </a:rPr>
                        <a:t>差距</a:t>
                      </a:r>
                      <a:endParaRPr lang="zh-CN" altLang="en-US" sz="1000">
                        <a:latin typeface="Arial" panose="020B0604020202020204" pitchFamily="34" charset="0"/>
                        <a:ea typeface="黑体-简" panose="02000000000000000000" charset="-122"/>
                      </a:endParaRPr>
                    </a:p>
                  </a:txBody>
                  <a:tcPr marL="9842" marR="9842" marT="9842" marB="0" anchor="ctr" anchorCtr="0"/>
                </a:tc>
              </a:tr>
              <a:tr h="5316220">
                <a:tc>
                  <a:txBody>
                    <a:bodyPr/>
                    <a:p>
                      <a:pPr marL="25400" algn="just" eaLnBrk="0">
                        <a:lnSpc>
                          <a:spcPct val="106000"/>
                        </a:lnSpc>
                        <a:spcBef>
                          <a:spcPts val="130"/>
                        </a:spcBef>
                        <a:buClrTx/>
                        <a:buSzTx/>
                        <a:buFont typeface="Arial" panose="020B0604020202020204" pitchFamily="34" charset="0"/>
                      </a:pP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漏洞</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endParaRPr>
                    </a:p>
                  </a:txBody>
                  <a:tcPr marL="9842" marR="9842" marT="9842" marB="0" anchor="ctr" anchorCtr="0"/>
                </a:tc>
                <a:tc>
                  <a:txBody>
                    <a:bodyPr/>
                    <a:p>
                      <a:pPr marL="25400" algn="l" eaLnBrk="0">
                        <a:lnSpc>
                          <a:spcPct val="106000"/>
                        </a:lnSpc>
                        <a:spcBef>
                          <a:spcPts val="130"/>
                        </a:spcBef>
                        <a:buClrTx/>
                        <a:buSzTx/>
                        <a:buFont typeface="Arial" panose="020B0604020202020204" pitchFamily="34" charset="0"/>
                      </a:pP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一、漏扫发现层面</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1、系统漏洞：</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包含操作系统、数据库、网络设备方面的系统漏洞，如溢出漏洞、代码执行、SSL/TLS弱加密套件（如支持SSLv3）、SNMP明文传输等；</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相关已知披露的漏洞（CVE/NVD漏洞库：基于公开漏洞库匹配【如Apache Log4j2漏洞CVE-2021-44228】）</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2、Web漏洞：相关已知披露的漏洞：命令注入、任意文件上传、SQL注入、XSS跨站等</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二、渗透发现层面</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逻辑类漏洞、需要人工交互发现的漏洞、非标Nday漏洞</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三、代码审计</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1、逻辑链复杂漏洞：多系统联动的逻辑缺陷 / 时序依赖型漏洞 </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2、社会工程学与供应链漏洞：已植入恶意代码或后门 / 基于社会工程学的攻击载体</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四、业界未有很好解决方案（HW）</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0day漏洞：未被公开披露的漏洞类型 / 未录入特征库的新型攻击手法</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endParaRPr>
                    </a:p>
                  </a:txBody>
                  <a:tcPr marL="36195" marR="36195" marT="9842" marB="0" anchor="ctr" anchorCtr="0"/>
                </a:tc>
                <a:tc>
                  <a:txBody>
                    <a:bodyPr/>
                    <a:p>
                      <a:pPr algn="l" fontAlgn="ct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1</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、暴露面梳理及收敛：</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  1.1 定期对暴露面开展扫描，针对外网暴露面的资产进行梳理</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  1.2 通过零信任或者手工收敛不必要开放对外的资产（测试业务、非面向公众）及端口，降低被发现漏洞的概率；</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2、开展漏洞及弱口令扫描：</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  2.1 及时发现系统、Web常规漏洞</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  2.2 及时整改加固</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  2.3 开展系统服务弱密码扫描，及时发现弱密码并整改加固</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3、监管单位漏扫屏蔽：</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  防火墙开启IPS、WAF应用防护策略，屏蔽漏扫和常规漏洞利用攻击。</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4、加强业务安全运维及开发：</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  4.1 加强系统和开发的安全意识，加强漏洞产生根因及防范的认知，定期开展安全技术培训</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  4.2 业务开发设计考虑安全左移，从需求设计、编码、测试、部署运维，做好安全考量，从最小化权限、零信任、可观测性、快速反馈关键原则出发，降低安全漏洞发现概率。</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  4.3 及时对产生发现的安全漏洞及时修复，举一反三自查其他业务。   </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5、围绕暴露对外的攻击面分析：</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  5.1 使用外部攻击面管理方案（EASM），定期对暴露面开展攻击面扫描分析，发现对应的攻击面风险</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  5.2 针对外网Web站点开展渗透测试，发现人工挖掘的相关漏洞（逻辑类、人工挖掘类）、Web弱密码，补齐漏扫的差距</a:t>
                      </a:r>
                      <a:b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b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endParaRPr>
                    </a:p>
                  </a:txBody>
                  <a:tcPr marL="36195" marR="36195" marT="9842" marB="0" anchor="ctr" anchorCtr="0"/>
                </a:tc>
                <a:tc>
                  <a:txBody>
                    <a:bodyPr/>
                    <a:p>
                      <a:pPr algn="l" fontAlgn="ct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、短期：</a:t>
                      </a: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）围绕外网暴露面开展扫描，发现暴露面</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深信服</a:t>
                      </a:r>
                      <a:endParaRPr lang="zh-CN" altLang="en-US" sz="1200">
                        <a:latin typeface="Arial" panose="020B0604020202020204" pitchFamily="34" charset="0"/>
                        <a:ea typeface="黑体-简" panose="02000000000000000000" charset="-122"/>
                      </a:endParaRPr>
                    </a:p>
                    <a:p>
                      <a:pPr algn="l" fontAlgn="ct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）针对给当前暴露面资产进行细化收敛，尽可能关闭高危端口，降低暴露面风险。</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运维</a:t>
                      </a:r>
                      <a:br>
                        <a:rPr lang="zh-CN" altLang="en-US" sz="1200">
                          <a:latin typeface="Arial" panose="020B0604020202020204" pitchFamily="34" charset="0"/>
                          <a:ea typeface="黑体-简" panose="02000000000000000000" charset="-122"/>
                        </a:rPr>
                      </a:br>
                      <a:br>
                        <a:rPr lang="zh-CN" altLang="en-US" sz="1200">
                          <a:latin typeface="Arial" panose="020B0604020202020204" pitchFamily="34" charset="0"/>
                          <a:ea typeface="黑体-简" panose="02000000000000000000" charset="-122"/>
                        </a:rPr>
                      </a:b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、长期</a:t>
                      </a: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）【新增】通过零信任架构方案对业务进行鉴白处理，管理暴露面；</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运维</a:t>
                      </a:r>
                      <a:br>
                        <a:rPr lang="zh-CN" altLang="en-US" sz="1200">
                          <a:latin typeface="Arial" panose="020B0604020202020204" pitchFamily="34" charset="0"/>
                          <a:ea typeface="黑体-简" panose="02000000000000000000" charset="-122"/>
                        </a:rPr>
                      </a:b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）【新增】适当增加人工渗透的服务手段方案，补充逻辑漏洞的发现。</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安全</a:t>
                      </a:r>
                      <a:br>
                        <a:rPr lang="zh-CN" altLang="en-US" sz="1200">
                          <a:latin typeface="Arial" panose="020B0604020202020204" pitchFamily="34" charset="0"/>
                          <a:ea typeface="黑体-简" panose="02000000000000000000" charset="-122"/>
                        </a:rPr>
                      </a:b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3</a:t>
                      </a:r>
                      <a:r>
                        <a:rPr lang="zh-CN" altLang="en-US" sz="1200">
                          <a:latin typeface="Arial" panose="020B0604020202020204" pitchFamily="34" charset="0"/>
                          <a:ea typeface="黑体-简" panose="02000000000000000000" charset="-122"/>
                        </a:rPr>
                        <a:t>）做好安全开发设计，减少逻辑类漏洞产生及及时修复。</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开发</a:t>
                      </a:r>
                      <a:endParaRPr lang="zh-CN" altLang="en-US" sz="1200">
                        <a:latin typeface="Arial" panose="020B0604020202020204" pitchFamily="34" charset="0"/>
                        <a:ea typeface="黑体-简" panose="02000000000000000000" charset="-122"/>
                      </a:endParaRPr>
                    </a:p>
                  </a:txBody>
                  <a:tcPr marL="9842" marR="9842" marT="9842" marB="0" anchor="ctr" anchorCtr="0">
                    <a:solidFill>
                      <a:schemeClr val="accent1">
                        <a:lumMod val="20000"/>
                        <a:lumOff val="80000"/>
                      </a:schemeClr>
                    </a:solidFill>
                  </a:tcPr>
                </a:tc>
                <a:tc>
                  <a:txBody>
                    <a:bodyPr/>
                    <a:p>
                      <a:pPr algn="l" fontAlgn="ct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、已落地</a:t>
                      </a:r>
                      <a:endParaRPr lang="zh-CN" altLang="en-US"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a:t>
                      </a:r>
                      <a:endParaRPr lang="en-US" altLang="zh-CN"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a:t>
                      </a:r>
                      <a:endParaRPr lang="en-US" altLang="zh-CN"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3</a:t>
                      </a: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a:t>
                      </a:r>
                      <a:endParaRPr lang="zh-CN" altLang="en-US" sz="1200">
                        <a:latin typeface="Arial" panose="020B0604020202020204" pitchFamily="34" charset="0"/>
                        <a:ea typeface="黑体-简" panose="02000000000000000000" charset="-122"/>
                      </a:endParaRPr>
                    </a:p>
                    <a:p>
                      <a:pPr algn="l" fontAlgn="ct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、差距</a:t>
                      </a:r>
                      <a:endParaRPr lang="zh-CN" altLang="en-US"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）当前缺乏渗透测试服务方案覆盖外网</a:t>
                      </a:r>
                      <a:r>
                        <a:rPr lang="en-US" altLang="zh-CN" sz="1200">
                          <a:latin typeface="Arial" panose="020B0604020202020204" pitchFamily="34" charset="0"/>
                          <a:ea typeface="黑体-简" panose="02000000000000000000" charset="-122"/>
                        </a:rPr>
                        <a:t>Web</a:t>
                      </a:r>
                      <a:r>
                        <a:rPr lang="zh-CN" altLang="en-US" sz="1200">
                          <a:latin typeface="Arial" panose="020B0604020202020204" pitchFamily="34" charset="0"/>
                          <a:ea typeface="黑体-简" panose="02000000000000000000" charset="-122"/>
                        </a:rPr>
                        <a:t>站点，缺乏人工发现类漏洞的能力</a:t>
                      </a:r>
                      <a:br>
                        <a:rPr lang="zh-CN" altLang="en-US" sz="1200">
                          <a:latin typeface="Arial" panose="020B0604020202020204" pitchFamily="34" charset="0"/>
                          <a:ea typeface="黑体-简" panose="02000000000000000000" charset="-122"/>
                        </a:rPr>
                      </a:br>
                      <a:endParaRPr lang="zh-CN" altLang="en-US" sz="1200">
                        <a:latin typeface="Arial" panose="020B0604020202020204" pitchFamily="34" charset="0"/>
                        <a:ea typeface="黑体-简" panose="02000000000000000000" charset="-122"/>
                      </a:endParaRPr>
                    </a:p>
                  </a:txBody>
                  <a:tcPr marL="9842" marR="9842" marT="9842" marB="0" anchor="ctr" anchorCtr="0">
                    <a:solidFill>
                      <a:schemeClr val="accent1">
                        <a:lumMod val="20000"/>
                        <a:lumOff val="80000"/>
                      </a:schemeClr>
                    </a:solidFill>
                  </a:tcPr>
                </a:tc>
              </a:tr>
            </a:tbl>
          </a:graphicData>
        </a:graphic>
      </p:graphicFrame>
    </p:spTree>
    <p:custDataLst>
      <p:tags r:id="rId5"/>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a:solidFill>
                    <a:srgbClr val="262626"/>
                  </a:solidFill>
                  <a:latin typeface="Arial Black" panose="020B0A04020102020204" pitchFamily="34" charset="0"/>
                  <a:ea typeface="微软雅黑" panose="020B0503020204020204" charset="-122"/>
                  <a:cs typeface="Noto Sans SC"/>
                  <a:sym typeface="Noto Sans SC"/>
                </a:rPr>
                <a:t>通告应对差距及应对方案</a:t>
              </a:r>
              <a:endParaRPr lang="en-US" altLang="zh-CN" sz="1900" b="1">
                <a:solidFill>
                  <a:srgbClr val="262626"/>
                </a:solidFill>
                <a:latin typeface="Arial Black" panose="020B0A04020102020204" pitchFamily="34" charset="0"/>
                <a:ea typeface="微软雅黑" panose="020B0503020204020204" charset="-122"/>
                <a:cs typeface="Noto Sans SC"/>
                <a:sym typeface="Noto Sans SC"/>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graphicFrame>
        <p:nvGraphicFramePr>
          <p:cNvPr id="4" name="表格 3"/>
          <p:cNvGraphicFramePr/>
          <p:nvPr>
            <p:custDataLst>
              <p:tags r:id="rId4"/>
            </p:custDataLst>
          </p:nvPr>
        </p:nvGraphicFramePr>
        <p:xfrm>
          <a:off x="594360" y="801370"/>
          <a:ext cx="11313160" cy="5839460"/>
        </p:xfrm>
        <a:graphic>
          <a:graphicData uri="http://schemas.openxmlformats.org/drawingml/2006/table">
            <a:tbl>
              <a:tblPr firstRow="1">
                <a:tableStyleId>{32D04DA5-687A-43D4-BF8B-19D63E96F52B}</a:tableStyleId>
              </a:tblPr>
              <a:tblGrid>
                <a:gridCol w="688975"/>
                <a:gridCol w="2155190"/>
                <a:gridCol w="4354830"/>
                <a:gridCol w="2270125"/>
                <a:gridCol w="1844040"/>
              </a:tblGrid>
              <a:tr h="361315">
                <a:tc>
                  <a:txBody>
                    <a:bodyPr/>
                    <a:p>
                      <a:pPr algn="ctr" fontAlgn="ctr"/>
                      <a:r>
                        <a:rPr lang="zh-CN" altLang="en-US" sz="1000">
                          <a:latin typeface="Arial" panose="020B0604020202020204" pitchFamily="34" charset="0"/>
                          <a:ea typeface="黑体-简" panose="02000000000000000000" charset="-122"/>
                        </a:rPr>
                        <a:t>通告场景</a:t>
                      </a:r>
                      <a:endParaRPr lang="zh-CN" altLang="en-US" sz="1000">
                        <a:latin typeface="Arial" panose="020B0604020202020204" pitchFamily="34" charset="0"/>
                        <a:ea typeface="黑体-简" panose="02000000000000000000" charset="-122"/>
                      </a:endParaRPr>
                    </a:p>
                  </a:txBody>
                  <a:tcPr marL="9842" marR="9842" marT="9842" marB="0" anchor="ctr" anchorCtr="0"/>
                </a:tc>
                <a:tc>
                  <a:txBody>
                    <a:bodyPr/>
                    <a:p>
                      <a:pPr algn="ctr" fontAlgn="ctr"/>
                      <a:r>
                        <a:rPr lang="zh-CN" altLang="en-US" sz="1000">
                          <a:latin typeface="Arial" panose="020B0604020202020204" pitchFamily="34" charset="0"/>
                          <a:ea typeface="黑体-简" panose="02000000000000000000" charset="-122"/>
                        </a:rPr>
                        <a:t>通告内容</a:t>
                      </a:r>
                      <a:endParaRPr lang="zh-CN" altLang="en-US" sz="1000">
                        <a:latin typeface="Arial" panose="020B0604020202020204" pitchFamily="34" charset="0"/>
                        <a:ea typeface="黑体-简" panose="02000000000000000000" charset="-122"/>
                      </a:endParaRPr>
                    </a:p>
                  </a:txBody>
                  <a:tcPr marL="9842" marR="9842" marT="9842" marB="0" anchor="ctr" anchorCtr="0"/>
                </a:tc>
                <a:tc>
                  <a:txBody>
                    <a:bodyPr/>
                    <a:p>
                      <a:pPr algn="ctr" fontAlgn="ctr"/>
                      <a:r>
                        <a:rPr lang="zh-CN" altLang="en-US" sz="1000">
                          <a:latin typeface="Arial" panose="020B0604020202020204" pitchFamily="34" charset="0"/>
                          <a:ea typeface="黑体-简" panose="02000000000000000000" charset="-122"/>
                        </a:rPr>
                        <a:t>通告应对举措方案</a:t>
                      </a:r>
                      <a:endParaRPr lang="zh-CN" altLang="en-US" sz="1000">
                        <a:latin typeface="Arial" panose="020B0604020202020204" pitchFamily="34" charset="0"/>
                        <a:ea typeface="黑体-简" panose="02000000000000000000" charset="-122"/>
                      </a:endParaRPr>
                    </a:p>
                  </a:txBody>
                  <a:tcPr marL="9842" marR="9842" marT="9842" marB="0" anchor="ctr" anchorCtr="0"/>
                </a:tc>
                <a:tc>
                  <a:txBody>
                    <a:bodyPr/>
                    <a:p>
                      <a:pPr algn="ctr" fontAlgn="ctr"/>
                      <a:r>
                        <a:rPr lang="zh-CN" altLang="en-US" sz="1000">
                          <a:latin typeface="Arial" panose="020B0604020202020204" pitchFamily="34" charset="0"/>
                          <a:ea typeface="黑体-简" panose="02000000000000000000" charset="-122"/>
                        </a:rPr>
                        <a:t>解决方案</a:t>
                      </a:r>
                      <a:endParaRPr lang="zh-CN" altLang="en-US" sz="1000">
                        <a:latin typeface="Arial" panose="020B0604020202020204" pitchFamily="34" charset="0"/>
                        <a:ea typeface="黑体-简" panose="02000000000000000000" charset="-122"/>
                      </a:endParaRPr>
                    </a:p>
                  </a:txBody>
                  <a:tcPr marL="9842" marR="9842" marT="9842" marB="0" anchor="ctr" anchorCtr="0"/>
                </a:tc>
                <a:tc>
                  <a:txBody>
                    <a:bodyPr/>
                    <a:p>
                      <a:pPr algn="ctr" fontAlgn="ctr"/>
                      <a:r>
                        <a:rPr lang="zh-CN" altLang="en-US" sz="1000">
                          <a:latin typeface="Arial" panose="020B0604020202020204" pitchFamily="34" charset="0"/>
                          <a:ea typeface="黑体-简" panose="02000000000000000000" charset="-122"/>
                        </a:rPr>
                        <a:t>当前已落地</a:t>
                      </a:r>
                      <a:r>
                        <a:rPr lang="en-US" altLang="zh-CN" sz="1000">
                          <a:latin typeface="Arial" panose="020B0604020202020204" pitchFamily="34" charset="0"/>
                          <a:ea typeface="黑体-简" panose="02000000000000000000" charset="-122"/>
                        </a:rPr>
                        <a:t>+</a:t>
                      </a:r>
                      <a:r>
                        <a:rPr lang="zh-CN" altLang="en-US" sz="1000">
                          <a:latin typeface="Arial" panose="020B0604020202020204" pitchFamily="34" charset="0"/>
                          <a:ea typeface="黑体-简" panose="02000000000000000000" charset="-122"/>
                        </a:rPr>
                        <a:t>差距</a:t>
                      </a:r>
                      <a:endParaRPr lang="zh-CN" altLang="en-US" sz="1000">
                        <a:latin typeface="Arial" panose="020B0604020202020204" pitchFamily="34" charset="0"/>
                        <a:ea typeface="黑体-简" panose="02000000000000000000" charset="-122"/>
                      </a:endParaRPr>
                    </a:p>
                  </a:txBody>
                  <a:tcPr marL="9842" marR="9842" marT="9842" marB="0" anchor="ctr" anchorCtr="0"/>
                </a:tc>
              </a:tr>
              <a:tr h="953770">
                <a:tc>
                  <a:txBody>
                    <a:bodyPr/>
                    <a:p>
                      <a:pPr algn="ctr" fontAlgn="ctr"/>
                      <a:r>
                        <a:rPr lang="zh-CN" altLang="en-US" sz="1200">
                          <a:latin typeface="Arial" panose="020B0604020202020204" pitchFamily="34" charset="0"/>
                          <a:ea typeface="黑体-简" panose="02000000000000000000" charset="-122"/>
                        </a:rPr>
                        <a:t>高危端口</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zh-CN" altLang="en-US" sz="1200">
                          <a:latin typeface="Arial" panose="020B0604020202020204" pitchFamily="34" charset="0"/>
                          <a:ea typeface="黑体-简" panose="02000000000000000000" charset="-122"/>
                        </a:rPr>
                        <a:t>高危端口（</a:t>
                      </a:r>
                      <a:r>
                        <a:rPr lang="en-US" altLang="zh-CN" sz="1200">
                          <a:latin typeface="Arial" panose="020B0604020202020204" pitchFamily="34" charset="0"/>
                          <a:ea typeface="黑体-简" panose="02000000000000000000" charset="-122"/>
                        </a:rPr>
                        <a:t>445</a:t>
                      </a: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3389</a:t>
                      </a: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3306</a:t>
                      </a:r>
                      <a:r>
                        <a:rPr lang="zh-CN" altLang="en-US" sz="1200">
                          <a:latin typeface="Arial" panose="020B0604020202020204" pitchFamily="34" charset="0"/>
                          <a:ea typeface="黑体-简" panose="02000000000000000000" charset="-122"/>
                        </a:rPr>
                        <a:t>等）</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、内外网暴露面端口扫描发现，优先针对外网发现的高危端口进行及时收敛</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、配置对点对访问访问控制策略</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运维</a:t>
                      </a: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、动态观测高危端口的业务安全漏洞发现及整改情况</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安全</a:t>
                      </a:r>
                      <a:endParaRPr lang="zh-CN" altLang="en-US" sz="1200">
                        <a:latin typeface="Arial" panose="020B0604020202020204" pitchFamily="34" charset="0"/>
                        <a:ea typeface="黑体-简" panose="02000000000000000000" charset="-122"/>
                      </a:endParaRPr>
                    </a:p>
                  </a:txBody>
                  <a:tcPr marL="9842" marR="9842" marT="9842" marB="0" anchor="ctr" anchorCtr="0">
                    <a:solidFill>
                      <a:schemeClr val="accent1">
                        <a:lumMod val="20000"/>
                        <a:lumOff val="80000"/>
                      </a:schemeClr>
                    </a:solidFill>
                  </a:tcPr>
                </a:tc>
                <a:tc>
                  <a:txBody>
                    <a:bodyPr/>
                    <a:p>
                      <a:pPr algn="l" fontAlgn="ct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、已落地</a:t>
                      </a:r>
                      <a:endParaRPr lang="zh-CN" altLang="en-US"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2</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endParaRPr>
                    </a:p>
                    <a:p>
                      <a:pPr algn="l" fontAlgn="ctr"/>
                      <a:r>
                        <a:rPr lang="en-US" altLang="zh-CN" sz="1200">
                          <a:latin typeface="Arial" panose="020B0604020202020204" pitchFamily="34" charset="0"/>
                          <a:ea typeface="黑体-简" panose="02000000000000000000" charset="-122"/>
                          <a:sym typeface="+mn-ea"/>
                        </a:rPr>
                        <a:t>2</a:t>
                      </a:r>
                      <a:r>
                        <a:rPr lang="zh-CN" altLang="en-US" sz="1200">
                          <a:latin typeface="Arial" panose="020B0604020202020204" pitchFamily="34" charset="0"/>
                          <a:ea typeface="黑体-简" panose="02000000000000000000" charset="-122"/>
                          <a:sym typeface="+mn-ea"/>
                        </a:rPr>
                        <a:t>、差距</a:t>
                      </a:r>
                      <a:endParaRPr lang="zh-CN" altLang="en-US"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zh-CN" altLang="en-US" sz="1200">
                        <a:latin typeface="Arial" panose="020B0604020202020204" pitchFamily="34" charset="0"/>
                        <a:ea typeface="黑体-简" panose="02000000000000000000" charset="-122"/>
                        <a:sym typeface="+mn-ea"/>
                      </a:endParaRPr>
                    </a:p>
                    <a:p>
                      <a:pPr algn="l" fontAlgn="ct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a:t>
                      </a:r>
                      <a:endParaRPr lang="en-US" altLang="zh-CN" sz="1200">
                        <a:latin typeface="Arial" panose="020B0604020202020204" pitchFamily="34" charset="0"/>
                        <a:ea typeface="黑体-简" panose="02000000000000000000" charset="-122"/>
                      </a:endParaRPr>
                    </a:p>
                  </a:txBody>
                  <a:tcPr marL="9842" marR="9842" marT="9842" marB="0" anchor="ctr" anchorCtr="0">
                    <a:solidFill>
                      <a:schemeClr val="accent1">
                        <a:lumMod val="20000"/>
                        <a:lumOff val="80000"/>
                      </a:schemeClr>
                    </a:solidFill>
                  </a:tcPr>
                </a:tc>
              </a:tr>
              <a:tr h="1678305">
                <a:tc>
                  <a:txBody>
                    <a:bodyPr/>
                    <a:p>
                      <a:pPr algn="ctr" fontAlgn="ctr"/>
                      <a:r>
                        <a:rPr lang="zh-CN" altLang="en-US" sz="1200">
                          <a:latin typeface="Arial" panose="020B0604020202020204" pitchFamily="34" charset="0"/>
                          <a:ea typeface="黑体-简" panose="02000000000000000000" charset="-122"/>
                        </a:rPr>
                        <a:t>弱口令</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、系统服务弱口令</a:t>
                      </a: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Web</a:t>
                      </a:r>
                      <a:r>
                        <a:rPr lang="zh-CN" altLang="en-US" sz="1200">
                          <a:latin typeface="Arial" panose="020B0604020202020204" pitchFamily="34" charset="0"/>
                          <a:ea typeface="黑体-简" panose="02000000000000000000" charset="-122"/>
                        </a:rPr>
                        <a:t>弱口令</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、系统服务弱口令：通过</a:t>
                      </a:r>
                      <a:r>
                        <a:rPr lang="en-US" altLang="zh-CN" sz="1200">
                          <a:latin typeface="Arial" panose="020B0604020202020204" pitchFamily="34" charset="0"/>
                          <a:ea typeface="黑体-简" panose="02000000000000000000" charset="-122"/>
                        </a:rPr>
                        <a:t>TSS</a:t>
                      </a:r>
                      <a:r>
                        <a:rPr lang="zh-CN" altLang="en-US" sz="1200">
                          <a:latin typeface="Arial" panose="020B0604020202020204" pitchFamily="34" charset="0"/>
                          <a:ea typeface="黑体-简" panose="02000000000000000000" charset="-122"/>
                        </a:rPr>
                        <a:t>工具对服务器核心资产开展弱口令扫描（每月</a:t>
                      </a:r>
                      <a:r>
                        <a:rPr lang="en-US" altLang="zh-CN" sz="1200">
                          <a:latin typeface="Arial" panose="020B0604020202020204" pitchFamily="34" charset="0"/>
                          <a:ea typeface="黑体-简" panose="02000000000000000000" charset="-122"/>
                        </a:rPr>
                        <a:t>MSS</a:t>
                      </a:r>
                      <a:r>
                        <a:rPr lang="zh-CN" altLang="en-US" sz="1200">
                          <a:latin typeface="Arial" panose="020B0604020202020204" pitchFamily="34" charset="0"/>
                          <a:ea typeface="黑体-简" panose="02000000000000000000" charset="-122"/>
                        </a:rPr>
                        <a:t>覆盖）</a:t>
                      </a: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a:t>
                      </a:r>
                      <a:r>
                        <a:rPr lang="en-US" altLang="zh-CN" sz="1200">
                          <a:latin typeface="Arial" panose="020B0604020202020204" pitchFamily="34" charset="0"/>
                          <a:ea typeface="黑体-简" panose="02000000000000000000" charset="-122"/>
                        </a:rPr>
                        <a:t>Web</a:t>
                      </a:r>
                      <a:r>
                        <a:rPr lang="zh-CN" altLang="en-US" sz="1200">
                          <a:latin typeface="Arial" panose="020B0604020202020204" pitchFamily="34" charset="0"/>
                          <a:ea typeface="黑体-简" panose="02000000000000000000" charset="-122"/>
                        </a:rPr>
                        <a:t>弱口令：</a:t>
                      </a:r>
                      <a:br>
                        <a:rPr lang="zh-CN" altLang="en-US" sz="1200">
                          <a:latin typeface="Arial" panose="020B0604020202020204" pitchFamily="34" charset="0"/>
                          <a:ea typeface="黑体-简" panose="02000000000000000000" charset="-122"/>
                        </a:rPr>
                      </a:br>
                      <a:r>
                        <a:rPr lang="zh-CN" altLang="en-US" sz="1200">
                          <a:latin typeface="Arial" panose="020B0604020202020204" pitchFamily="34" charset="0"/>
                          <a:ea typeface="黑体-简" panose="02000000000000000000" charset="-122"/>
                        </a:rPr>
                        <a:t> </a:t>
                      </a:r>
                      <a:r>
                        <a:rPr lang="en-US" altLang="zh-CN" sz="1200">
                          <a:latin typeface="Arial" panose="020B0604020202020204" pitchFamily="34" charset="0"/>
                          <a:ea typeface="黑体-简" panose="02000000000000000000" charset="-122"/>
                        </a:rPr>
                        <a:t>2.1 </a:t>
                      </a:r>
                      <a:r>
                        <a:rPr lang="zh-CN" altLang="en-US" sz="1200">
                          <a:latin typeface="Arial" panose="020B0604020202020204" pitchFamily="34" charset="0"/>
                          <a:ea typeface="黑体-简" panose="02000000000000000000" charset="-122"/>
                        </a:rPr>
                        <a:t>被动监测：</a:t>
                      </a:r>
                      <a:r>
                        <a:rPr lang="en-US" altLang="zh-CN" sz="1200">
                          <a:latin typeface="Arial" panose="020B0604020202020204" pitchFamily="34" charset="0"/>
                          <a:ea typeface="黑体-简" panose="02000000000000000000" charset="-122"/>
                        </a:rPr>
                        <a:t>SIP</a:t>
                      </a:r>
                      <a:r>
                        <a:rPr lang="zh-CN" altLang="en-US" sz="1200">
                          <a:latin typeface="Arial" panose="020B0604020202020204" pitchFamily="34" charset="0"/>
                          <a:ea typeface="黑体-简" panose="02000000000000000000" charset="-122"/>
                        </a:rPr>
                        <a:t>被动监测。</a:t>
                      </a:r>
                      <a:br>
                        <a:rPr lang="zh-CN" altLang="en-US" sz="1200">
                          <a:latin typeface="Arial" panose="020B0604020202020204" pitchFamily="34" charset="0"/>
                          <a:ea typeface="黑体-简" panose="02000000000000000000" charset="-122"/>
                        </a:rPr>
                      </a:br>
                      <a:r>
                        <a:rPr lang="zh-CN" altLang="en-US" sz="1200">
                          <a:latin typeface="Arial" panose="020B0604020202020204" pitchFamily="34" charset="0"/>
                          <a:ea typeface="黑体-简" panose="02000000000000000000" charset="-122"/>
                        </a:rPr>
                        <a:t> </a:t>
                      </a:r>
                      <a:r>
                        <a:rPr lang="en-US" altLang="zh-CN" sz="1200">
                          <a:latin typeface="Arial" panose="020B0604020202020204" pitchFamily="34" charset="0"/>
                          <a:ea typeface="黑体-简" panose="02000000000000000000" charset="-122"/>
                        </a:rPr>
                        <a:t>2.2 </a:t>
                      </a:r>
                      <a:r>
                        <a:rPr lang="zh-CN" altLang="en-US" sz="1200">
                          <a:latin typeface="Arial" panose="020B0604020202020204" pitchFamily="34" charset="0"/>
                          <a:ea typeface="黑体-简" panose="02000000000000000000" charset="-122"/>
                        </a:rPr>
                        <a:t>主动发现：渗透测试发现、业务围绕密码清单进行自查</a:t>
                      </a: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3</a:t>
                      </a:r>
                      <a:r>
                        <a:rPr lang="zh-CN" altLang="en-US" sz="1200">
                          <a:latin typeface="Arial" panose="020B0604020202020204" pitchFamily="34" charset="0"/>
                          <a:ea typeface="黑体-简" panose="02000000000000000000" charset="-122"/>
                        </a:rPr>
                        <a:t>、策略强化：设置强口令策略，增加登录二次认证机制（验证码或者短信）</a:t>
                      </a: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4</a:t>
                      </a:r>
                      <a:r>
                        <a:rPr lang="zh-CN" altLang="en-US" sz="1200">
                          <a:latin typeface="Arial" panose="020B0604020202020204" pitchFamily="34" charset="0"/>
                          <a:ea typeface="黑体-简" panose="02000000000000000000" charset="-122"/>
                        </a:rPr>
                        <a:t>、部分业务迁移到零信任，取消密码登录，通过扫码等二次认证机制</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、增加渗透测试服务方案</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安全</a:t>
                      </a: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、设置强口令策略，增加登录二次认证机制（验证码或者短信）</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开发</a:t>
                      </a: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3</a:t>
                      </a:r>
                      <a:r>
                        <a:rPr lang="zh-CN" altLang="en-US" sz="1200">
                          <a:latin typeface="Arial" panose="020B0604020202020204" pitchFamily="34" charset="0"/>
                          <a:ea typeface="黑体-简" panose="02000000000000000000" charset="-122"/>
                        </a:rPr>
                        <a:t>、非公众对外业务收敛到零信任</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运维、开发</a:t>
                      </a:r>
                      <a:endParaRPr lang="zh-CN" altLang="en-US" sz="1200">
                        <a:latin typeface="Arial" panose="020B0604020202020204" pitchFamily="34" charset="0"/>
                        <a:ea typeface="黑体-简" panose="02000000000000000000" charset="-122"/>
                      </a:endParaRPr>
                    </a:p>
                  </a:txBody>
                  <a:tcPr marL="9842" marR="9842" marT="9842" marB="0" anchor="ctr" anchorCtr="0">
                    <a:solidFill>
                      <a:schemeClr val="accent1">
                        <a:lumMod val="20000"/>
                        <a:lumOff val="80000"/>
                      </a:schemeClr>
                    </a:solidFill>
                  </a:tcPr>
                </a:tc>
                <a:tc>
                  <a:txBody>
                    <a:bodyPr/>
                    <a:p>
                      <a:pPr algn="l" fontAlgn="ct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、已落地</a:t>
                      </a:r>
                      <a:endParaRPr lang="zh-CN" altLang="en-US"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2</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endParaRPr>
                    </a:p>
                    <a:p>
                      <a:pPr algn="l" fontAlgn="ctr"/>
                      <a:r>
                        <a:rPr lang="en-US" altLang="zh-CN" sz="1200">
                          <a:latin typeface="Arial" panose="020B0604020202020204" pitchFamily="34" charset="0"/>
                          <a:ea typeface="黑体-简" panose="02000000000000000000" charset="-122"/>
                          <a:sym typeface="+mn-ea"/>
                        </a:rPr>
                        <a:t>2</a:t>
                      </a:r>
                      <a:r>
                        <a:rPr lang="zh-CN" altLang="en-US" sz="1200">
                          <a:latin typeface="Arial" panose="020B0604020202020204" pitchFamily="34" charset="0"/>
                          <a:ea typeface="黑体-简" panose="02000000000000000000" charset="-122"/>
                          <a:sym typeface="+mn-ea"/>
                        </a:rPr>
                        <a:t>、差距</a:t>
                      </a:r>
                      <a:endParaRPr lang="zh-CN" altLang="en-US"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zh-CN" altLang="en-US" sz="1200">
                        <a:latin typeface="Arial" panose="020B0604020202020204" pitchFamily="34" charset="0"/>
                        <a:ea typeface="黑体-简" panose="02000000000000000000" charset="-122"/>
                        <a:sym typeface="+mn-ea"/>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2</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sym typeface="+mn-ea"/>
                      </a:endParaRPr>
                    </a:p>
                  </a:txBody>
                  <a:tcPr marL="9842" marR="9842" marT="9842" marB="0" anchor="ctr" anchorCtr="0">
                    <a:solidFill>
                      <a:schemeClr val="accent1">
                        <a:lumMod val="20000"/>
                        <a:lumOff val="80000"/>
                      </a:schemeClr>
                    </a:solidFill>
                  </a:tcPr>
                </a:tc>
              </a:tr>
              <a:tr h="1713230">
                <a:tc>
                  <a:txBody>
                    <a:bodyPr/>
                    <a:p>
                      <a:pPr algn="ctr" fontAlgn="ctr"/>
                      <a:r>
                        <a:rPr lang="zh-CN" altLang="en-US" sz="1200">
                          <a:latin typeface="Arial" panose="020B0604020202020204" pitchFamily="34" charset="0"/>
                          <a:ea typeface="黑体-简" panose="02000000000000000000" charset="-122"/>
                        </a:rPr>
                        <a:t>恶意外联</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zh-CN" altLang="en-US" sz="1200">
                          <a:latin typeface="Arial" panose="020B0604020202020204" pitchFamily="34" charset="0"/>
                          <a:ea typeface="黑体-简" panose="02000000000000000000" charset="-122"/>
                        </a:rPr>
                        <a:t>主机异常外联行为（</a:t>
                      </a:r>
                      <a:r>
                        <a:rPr lang="en-US" altLang="zh-CN" sz="1200">
                          <a:latin typeface="Arial" panose="020B0604020202020204" pitchFamily="34" charset="0"/>
                          <a:ea typeface="黑体-简" panose="02000000000000000000" charset="-122"/>
                        </a:rPr>
                        <a:t>APT</a:t>
                      </a:r>
                      <a:r>
                        <a:rPr lang="zh-CN" altLang="en-US" sz="1200">
                          <a:latin typeface="Arial" panose="020B0604020202020204" pitchFamily="34" charset="0"/>
                          <a:ea typeface="黑体-简" panose="02000000000000000000" charset="-122"/>
                        </a:rPr>
                        <a:t>攻击、恶意外联）</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、下一代防火墙</a:t>
                      </a:r>
                      <a:r>
                        <a:rPr lang="en-US" altLang="zh-CN" sz="1200">
                          <a:latin typeface="Arial" panose="020B0604020202020204" pitchFamily="34" charset="0"/>
                          <a:ea typeface="黑体-简" panose="02000000000000000000" charset="-122"/>
                        </a:rPr>
                        <a:t>+</a:t>
                      </a:r>
                      <a:r>
                        <a:rPr lang="zh-CN" altLang="en-US" sz="1200">
                          <a:latin typeface="Arial" panose="020B0604020202020204" pitchFamily="34" charset="0"/>
                          <a:ea typeface="黑体-简" panose="02000000000000000000" charset="-122"/>
                        </a:rPr>
                        <a:t>云威胁情报网关拦截：阻断恶意外联行为</a:t>
                      </a:r>
                      <a:br>
                        <a:rPr lang="zh-CN" altLang="en-US" sz="1200">
                          <a:latin typeface="Arial" panose="020B0604020202020204" pitchFamily="34" charset="0"/>
                          <a:ea typeface="黑体-简" panose="02000000000000000000" charset="-122"/>
                        </a:rPr>
                      </a:b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、威胁流量监测</a:t>
                      </a:r>
                      <a:r>
                        <a:rPr lang="en-US" altLang="zh-CN" sz="1200">
                          <a:latin typeface="Arial" panose="020B0604020202020204" pitchFamily="34" charset="0"/>
                          <a:ea typeface="黑体-简" panose="02000000000000000000" charset="-122"/>
                        </a:rPr>
                        <a:t>+7*24</a:t>
                      </a:r>
                      <a:r>
                        <a:rPr lang="zh-CN" altLang="en-US" sz="1200">
                          <a:latin typeface="Arial" panose="020B0604020202020204" pitchFamily="34" charset="0"/>
                          <a:ea typeface="黑体-简" panose="02000000000000000000" charset="-122"/>
                        </a:rPr>
                        <a:t>威胁分析响应</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、新增云威胁网关类设备或者订阅能力，增加恶意外联的监测和拦截能力</a:t>
                      </a:r>
                      <a:endParaRPr lang="zh-CN" altLang="en-US" sz="1200">
                        <a:latin typeface="Arial" panose="020B0604020202020204" pitchFamily="34" charset="0"/>
                        <a:ea typeface="黑体-简" panose="02000000000000000000" charset="-122"/>
                      </a:endParaRPr>
                    </a:p>
                  </a:txBody>
                  <a:tcPr marL="9842" marR="9842" marT="9842" marB="0" anchor="ctr" anchorCtr="0">
                    <a:solidFill>
                      <a:schemeClr val="accent1">
                        <a:lumMod val="20000"/>
                        <a:lumOff val="80000"/>
                      </a:schemeClr>
                    </a:solidFill>
                  </a:tcPr>
                </a:tc>
                <a:tc>
                  <a:txBody>
                    <a:bodyPr/>
                    <a:p>
                      <a:pPr algn="l" fontAlgn="ct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、已落地</a:t>
                      </a:r>
                      <a:endParaRPr lang="zh-CN" altLang="en-US"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2</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zh-CN" altLang="en-US" sz="1200">
                        <a:latin typeface="Arial" panose="020B0604020202020204" pitchFamily="34" charset="0"/>
                        <a:ea typeface="黑体-简" panose="02000000000000000000" charset="-122"/>
                      </a:endParaRPr>
                    </a:p>
                    <a:p>
                      <a:pPr algn="l" fontAlgn="ctr"/>
                      <a:r>
                        <a:rPr lang="en-US" altLang="zh-CN" sz="1200">
                          <a:latin typeface="Arial" panose="020B0604020202020204" pitchFamily="34" charset="0"/>
                          <a:ea typeface="黑体-简" panose="02000000000000000000" charset="-122"/>
                          <a:sym typeface="+mn-ea"/>
                        </a:rPr>
                        <a:t>2</a:t>
                      </a:r>
                      <a:r>
                        <a:rPr lang="zh-CN" altLang="en-US" sz="1200">
                          <a:latin typeface="Arial" panose="020B0604020202020204" pitchFamily="34" charset="0"/>
                          <a:ea typeface="黑体-简" panose="02000000000000000000" charset="-122"/>
                          <a:sym typeface="+mn-ea"/>
                        </a:rPr>
                        <a:t>、差距</a:t>
                      </a:r>
                      <a:endParaRPr lang="zh-CN" altLang="en-US"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a:t>
                      </a:r>
                      <a:r>
                        <a:rPr lang="zh-CN" altLang="en-US" sz="1200">
                          <a:latin typeface="Arial" panose="020B0604020202020204" pitchFamily="34" charset="0"/>
                          <a:ea typeface="黑体-简" panose="02000000000000000000" charset="-122"/>
                        </a:rPr>
                        <a:t>部分</a:t>
                      </a:r>
                      <a:r>
                        <a:rPr lang="en-US" altLang="zh-CN" sz="1200">
                          <a:latin typeface="Arial" panose="020B0604020202020204" pitchFamily="34" charset="0"/>
                          <a:ea typeface="黑体-简" panose="02000000000000000000" charset="-122"/>
                        </a:rPr>
                        <a:t>AF</a:t>
                      </a:r>
                      <a:r>
                        <a:rPr lang="zh-CN" altLang="en-US" sz="1200">
                          <a:latin typeface="Arial" panose="020B0604020202020204" pitchFamily="34" charset="0"/>
                          <a:ea typeface="黑体-简" panose="02000000000000000000" charset="-122"/>
                        </a:rPr>
                        <a:t>（如</a:t>
                      </a:r>
                      <a:r>
                        <a:rPr lang="en-US" altLang="zh-CN" sz="1200">
                          <a:latin typeface="Arial" panose="020B0604020202020204" pitchFamily="34" charset="0"/>
                          <a:ea typeface="黑体-简" panose="02000000000000000000" charset="-122"/>
                        </a:rPr>
                        <a:t>XX</a:t>
                      </a:r>
                      <a:r>
                        <a:rPr lang="zh-CN" altLang="en-US" sz="1200">
                          <a:latin typeface="Arial" panose="020B0604020202020204" pitchFamily="34" charset="0"/>
                          <a:ea typeface="黑体-简" panose="02000000000000000000" charset="-122"/>
                        </a:rPr>
                        <a:t>总部）未有最新安全威胁检测拦截能力</a:t>
                      </a:r>
                      <a:endParaRPr lang="zh-CN" altLang="en-US" sz="1200">
                        <a:latin typeface="Arial" panose="020B0604020202020204" pitchFamily="34" charset="0"/>
                        <a:ea typeface="黑体-简" panose="02000000000000000000" charset="-122"/>
                      </a:endParaRPr>
                    </a:p>
                  </a:txBody>
                  <a:tcPr marL="9842" marR="9842" marT="9842" marB="0" anchor="ctr" anchorCtr="0">
                    <a:solidFill>
                      <a:schemeClr val="accent1">
                        <a:lumMod val="20000"/>
                        <a:lumOff val="80000"/>
                      </a:schemeClr>
                    </a:solidFill>
                  </a:tcPr>
                </a:tc>
              </a:tr>
              <a:tr h="979805">
                <a:tc>
                  <a:txBody>
                    <a:bodyPr/>
                    <a:p>
                      <a:pPr algn="ctr" fontAlgn="ctr"/>
                      <a:r>
                        <a:rPr lang="zh-CN" altLang="en-US" sz="1200">
                          <a:latin typeface="Arial" panose="020B0604020202020204" pitchFamily="34" charset="0"/>
                          <a:ea typeface="黑体-简" panose="02000000000000000000" charset="-122"/>
                        </a:rPr>
                        <a:t>网站不良内容</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zh-CN" altLang="en-US" sz="1200">
                          <a:latin typeface="Arial" panose="020B0604020202020204" pitchFamily="34" charset="0"/>
                          <a:ea typeface="黑体-简" panose="02000000000000000000" charset="-122"/>
                        </a:rPr>
                        <a:t>互联网</a:t>
                      </a:r>
                      <a:r>
                        <a:rPr lang="en-US" altLang="zh-CN" sz="1200">
                          <a:latin typeface="Arial" panose="020B0604020202020204" pitchFamily="34" charset="0"/>
                          <a:ea typeface="黑体-简" panose="02000000000000000000" charset="-122"/>
                        </a:rPr>
                        <a:t>WEB</a:t>
                      </a:r>
                      <a:r>
                        <a:rPr lang="zh-CN" altLang="en-US" sz="1200">
                          <a:latin typeface="Arial" panose="020B0604020202020204" pitchFamily="34" charset="0"/>
                          <a:ea typeface="黑体-简" panose="02000000000000000000" charset="-122"/>
                        </a:rPr>
                        <a:t>站点被篡改为非法内容、挂黑链等不良内容被监管单位监测到</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en-US" altLang="zh-CN" sz="1200">
                          <a:latin typeface="Arial" panose="020B0604020202020204" pitchFamily="34" charset="0"/>
                          <a:ea typeface="黑体-简" panose="02000000000000000000" charset="-122"/>
                        </a:rPr>
                        <a:t>1</a:t>
                      </a:r>
                      <a:r>
                        <a:rPr lang="zh-CN" altLang="en-US" sz="1200">
                          <a:latin typeface="Arial" panose="020B0604020202020204" pitchFamily="34" charset="0"/>
                          <a:ea typeface="黑体-简" panose="02000000000000000000" charset="-122"/>
                        </a:rPr>
                        <a:t>、网站监测服务：监测发现网站被篡改的链接，进行定位发现</a:t>
                      </a:r>
                      <a:br>
                        <a:rPr lang="zh-CN" altLang="en-US" sz="1200">
                          <a:latin typeface="Arial" panose="020B0604020202020204" pitchFamily="34" charset="0"/>
                          <a:ea typeface="黑体-简" panose="02000000000000000000" charset="-122"/>
                        </a:rPr>
                      </a:br>
                      <a:br>
                        <a:rPr lang="zh-CN" altLang="en-US" sz="1200">
                          <a:latin typeface="Arial" panose="020B0604020202020204" pitchFamily="34" charset="0"/>
                          <a:ea typeface="黑体-简" panose="02000000000000000000" charset="-122"/>
                        </a:rPr>
                      </a:br>
                      <a:r>
                        <a:rPr lang="en-US" altLang="zh-CN" sz="1200">
                          <a:latin typeface="Arial" panose="020B0604020202020204" pitchFamily="34" charset="0"/>
                          <a:ea typeface="黑体-简" panose="02000000000000000000" charset="-122"/>
                        </a:rPr>
                        <a:t>2</a:t>
                      </a:r>
                      <a:r>
                        <a:rPr lang="zh-CN" altLang="en-US" sz="1200">
                          <a:latin typeface="Arial" panose="020B0604020202020204" pitchFamily="34" charset="0"/>
                          <a:ea typeface="黑体-简" panose="02000000000000000000" charset="-122"/>
                        </a:rPr>
                        <a:t>、安全专家响应溯源：协调应急专家进行响应溯源定位被入侵的原因</a:t>
                      </a:r>
                      <a:endParaRPr lang="zh-CN" altLang="en-US" sz="1200">
                        <a:latin typeface="Arial" panose="020B0604020202020204" pitchFamily="34" charset="0"/>
                        <a:ea typeface="黑体-简" panose="02000000000000000000" charset="-122"/>
                      </a:endParaRPr>
                    </a:p>
                  </a:txBody>
                  <a:tcPr marL="9842" marR="9842" marT="9842" marB="0" anchor="ctr" anchorCtr="0"/>
                </a:tc>
                <a:tc>
                  <a:txBody>
                    <a:bodyPr/>
                    <a:p>
                      <a:pPr algn="l" fontAlgn="ctr"/>
                      <a:r>
                        <a:rPr lang="en-US" altLang="zh-CN" sz="1200">
                          <a:latin typeface="Arial" panose="020B0604020202020204" pitchFamily="34" charset="0"/>
                          <a:ea typeface="黑体-简" panose="02000000000000000000" charset="-122"/>
                        </a:rPr>
                        <a:t>/</a:t>
                      </a:r>
                      <a:endParaRPr lang="en-US" altLang="zh-CN" sz="1200">
                        <a:latin typeface="Arial" panose="020B0604020202020204" pitchFamily="34" charset="0"/>
                        <a:ea typeface="黑体-简" panose="02000000000000000000" charset="-122"/>
                      </a:endParaRPr>
                    </a:p>
                  </a:txBody>
                  <a:tcPr marL="9842" marR="9842" marT="9842" marB="0" anchor="ctr" anchorCtr="0">
                    <a:solidFill>
                      <a:schemeClr val="accent1">
                        <a:lumMod val="20000"/>
                        <a:lumOff val="80000"/>
                      </a:schemeClr>
                    </a:solidFill>
                  </a:tcPr>
                </a:tc>
                <a:tc>
                  <a:txBody>
                    <a:bodyPr/>
                    <a:p>
                      <a:pPr algn="l" fontAlgn="ct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、已落地</a:t>
                      </a:r>
                      <a:endParaRPr lang="zh-CN" altLang="en-US"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2</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zh-CN" altLang="en-US" sz="1200">
                        <a:latin typeface="Arial" panose="020B0604020202020204" pitchFamily="34" charset="0"/>
                        <a:ea typeface="黑体-简" panose="02000000000000000000" charset="-122"/>
                      </a:endParaRPr>
                    </a:p>
                    <a:p>
                      <a:pPr algn="l" fontAlgn="ctr"/>
                      <a:r>
                        <a:rPr lang="en-US" altLang="zh-CN" sz="1200">
                          <a:latin typeface="Arial" panose="020B0604020202020204" pitchFamily="34" charset="0"/>
                          <a:ea typeface="黑体-简" panose="02000000000000000000" charset="-122"/>
                          <a:sym typeface="+mn-ea"/>
                        </a:rPr>
                        <a:t>2</a:t>
                      </a:r>
                      <a:r>
                        <a:rPr lang="zh-CN" altLang="en-US" sz="1200">
                          <a:latin typeface="Arial" panose="020B0604020202020204" pitchFamily="34" charset="0"/>
                          <a:ea typeface="黑体-简" panose="02000000000000000000" charset="-122"/>
                          <a:sym typeface="+mn-ea"/>
                        </a:rPr>
                        <a:t>、差距</a:t>
                      </a:r>
                      <a:endParaRPr lang="zh-CN" altLang="en-US" sz="1200">
                        <a:latin typeface="Arial" panose="020B0604020202020204" pitchFamily="34" charset="0"/>
                        <a:ea typeface="黑体-简" panose="02000000000000000000" charset="-122"/>
                      </a:endParaRPr>
                    </a:p>
                    <a:p>
                      <a:pPr algn="l" fontAlgn="ct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1</a:t>
                      </a:r>
                      <a:r>
                        <a:rPr lang="zh-CN" altLang="en-US" sz="1200">
                          <a:latin typeface="Arial" panose="020B0604020202020204" pitchFamily="34" charset="0"/>
                          <a:ea typeface="黑体-简" panose="02000000000000000000" charset="-122"/>
                          <a:sym typeface="+mn-ea"/>
                        </a:rPr>
                        <a:t>）</a:t>
                      </a:r>
                      <a:r>
                        <a:rPr lang="en-US" altLang="zh-CN" sz="1200">
                          <a:latin typeface="Arial" panose="020B0604020202020204" pitchFamily="34" charset="0"/>
                          <a:ea typeface="黑体-简" panose="02000000000000000000" charset="-122"/>
                          <a:sym typeface="+mn-ea"/>
                        </a:rPr>
                        <a:t>...</a:t>
                      </a:r>
                      <a:endParaRPr lang="en-US" altLang="zh-CN" sz="1200">
                        <a:latin typeface="Arial" panose="020B0604020202020204" pitchFamily="34" charset="0"/>
                        <a:ea typeface="黑体-简" panose="02000000000000000000" charset="-122"/>
                        <a:sym typeface="+mn-ea"/>
                      </a:endParaRPr>
                    </a:p>
                  </a:txBody>
                  <a:tcPr marL="9842" marR="9842" marT="9842" marB="0" anchor="ctr" anchorCtr="0">
                    <a:solidFill>
                      <a:schemeClr val="accent1">
                        <a:lumMod val="20000"/>
                        <a:lumOff val="80000"/>
                      </a:schemeClr>
                    </a:solidFill>
                  </a:tcPr>
                </a:tc>
              </a:tr>
            </a:tbl>
          </a:graphicData>
        </a:graphic>
      </p:graphicFrame>
    </p:spTree>
    <p:custDataLst>
      <p:tags r:id="rId5"/>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altLang="en-US" sz="1600"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共同的目标与行动计划刷新</a:t>
            </a:r>
            <a:endParaRPr lang="zh-CN" altLang="en-US" sz="16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sz="3200">
                <a:solidFill>
                  <a:srgbClr val="4C61E7"/>
                </a:solidFill>
                <a:latin typeface="Arial Black" panose="020B0A04020102020204" pitchFamily="34" charset="0"/>
                <a:ea typeface="微软雅黑" panose="020B0503020204020204" charset="-122"/>
                <a:sym typeface="+mn-ea"/>
              </a:rPr>
              <a:t>下阶段目标与协作计划</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04</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grpSp>
        <p:nvGrpSpPr>
          <p:cNvPr id="2" name="组合 1"/>
          <p:cNvGrpSpPr/>
          <p:nvPr/>
        </p:nvGrpSpPr>
        <p:grpSpPr>
          <a:xfrm>
            <a:off x="224790" y="289878"/>
            <a:ext cx="6011545" cy="327025"/>
            <a:chOff x="533" y="646"/>
            <a:chExt cx="9467" cy="515"/>
          </a:xfrm>
        </p:grpSpPr>
        <p:grpSp>
          <p:nvGrpSpPr>
            <p:cNvPr id="3" name="组合 2"/>
            <p:cNvGrpSpPr/>
            <p:nvPr/>
          </p:nvGrpSpPr>
          <p:grpSpPr>
            <a:xfrm rot="0">
              <a:off x="533" y="672"/>
              <a:ext cx="582" cy="420"/>
              <a:chOff x="533" y="672"/>
              <a:chExt cx="582" cy="420"/>
            </a:xfrm>
          </p:grpSpPr>
          <p:sp>
            <p:nvSpPr>
              <p:cNvPr id="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8"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4" name="textbox 158"/>
            <p:cNvSpPr/>
            <p:nvPr/>
          </p:nvSpPr>
          <p:spPr>
            <a:xfrm>
              <a:off x="1345" y="646"/>
              <a:ext cx="865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三年演进路线</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pic>
        <p:nvPicPr>
          <p:cNvPr id="26" name="图片 25"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11" name="Shape 5"/>
          <p:cNvSpPr/>
          <p:nvPr/>
        </p:nvSpPr>
        <p:spPr>
          <a:xfrm>
            <a:off x="609600" y="1323340"/>
            <a:ext cx="3413760" cy="4632960"/>
          </a:xfrm>
          <a:prstGeom prst="rect">
            <a:avLst/>
          </a:prstGeom>
          <a:noFill/>
          <a:extLst>
            <a:ext uri="{909E8E84-426E-40DD-AFC4-6F175D3DCCD1}">
              <a14:hiddenFill xmlns:a14="http://schemas.microsoft.com/office/drawing/2010/main">
                <a:solidFill>
                  <a:srgbClr val="162438"/>
                </a:solidFill>
              </a14:hiddenFill>
            </a:ext>
          </a:extLst>
        </p:spPr>
      </p:sp>
      <p:sp>
        <p:nvSpPr>
          <p:cNvPr id="12" name="Shape 6"/>
          <p:cNvSpPr/>
          <p:nvPr/>
        </p:nvSpPr>
        <p:spPr>
          <a:xfrm>
            <a:off x="609600" y="1323340"/>
            <a:ext cx="3413760" cy="48768"/>
          </a:xfrm>
          <a:prstGeom prst="rect">
            <a:avLst/>
          </a:prstGeom>
          <a:solidFill>
            <a:srgbClr val="10B981"/>
          </a:solidFill>
        </p:spPr>
      </p:sp>
      <p:sp>
        <p:nvSpPr>
          <p:cNvPr id="13" name="Text 7"/>
          <p:cNvSpPr/>
          <p:nvPr/>
        </p:nvSpPr>
        <p:spPr>
          <a:xfrm>
            <a:off x="792480" y="1567180"/>
            <a:ext cx="3048000" cy="853440"/>
          </a:xfrm>
          <a:prstGeom prst="rect">
            <a:avLst/>
          </a:prstGeom>
          <a:noFill/>
        </p:spPr>
        <p:txBody>
          <a:bodyPr wrap="square" rtlCol="0" anchor="ctr"/>
          <a:lstStyle/>
          <a:p>
            <a:pPr marL="0" indent="0">
              <a:lnSpc>
                <a:spcPct val="120000"/>
              </a:lnSpc>
              <a:buNone/>
            </a:pPr>
            <a:r>
              <a:rPr lang="en-US" sz="1735" b="1" dirty="0">
                <a:solidFill>
                  <a:srgbClr val="10B981"/>
                </a:solidFill>
                <a:latin typeface="微软雅黑" panose="020B0503020204020204" charset="-122"/>
                <a:ea typeface="微软雅黑" panose="020B0503020204020204" charset="-122"/>
                <a:cs typeface="微软雅黑" panose="020B0503020204020204" pitchFamily="34" charset="-120"/>
              </a:rPr>
              <a:t>阶段一</a:t>
            </a:r>
            <a:endParaRPr lang="en-US" sz="1735" dirty="0"/>
          </a:p>
          <a:p>
            <a:pPr marL="0" indent="0">
              <a:lnSpc>
                <a:spcPct val="120000"/>
              </a:lnSpc>
              <a:buNone/>
            </a:pPr>
            <a:r>
              <a:rPr lang="en-US" sz="1735" b="1" dirty="0">
                <a:solidFill>
                  <a:srgbClr val="10B981"/>
                </a:solidFill>
                <a:latin typeface="微软雅黑" panose="020B0503020204020204" charset="-122"/>
                <a:ea typeface="微软雅黑" panose="020B0503020204020204" charset="-122"/>
                <a:cs typeface="微软雅黑" panose="020B0503020204020204" pitchFamily="34" charset="-120"/>
              </a:rPr>
              <a:t>互联网防线</a:t>
            </a:r>
            <a:endParaRPr lang="en-US" sz="1735" dirty="0"/>
          </a:p>
        </p:txBody>
      </p:sp>
      <p:sp>
        <p:nvSpPr>
          <p:cNvPr id="14" name="Text 8"/>
          <p:cNvSpPr/>
          <p:nvPr/>
        </p:nvSpPr>
        <p:spPr>
          <a:xfrm>
            <a:off x="792480" y="2481580"/>
            <a:ext cx="3048000" cy="365760"/>
          </a:xfrm>
          <a:prstGeom prst="rect">
            <a:avLst/>
          </a:prstGeom>
          <a:noFill/>
        </p:spPr>
        <p:txBody>
          <a:bodyPr wrap="square" rtlCol="0" anchor="ctr"/>
          <a:lstStyle/>
          <a:p>
            <a:pPr marL="0" indent="0">
              <a:buNone/>
            </a:pPr>
            <a:r>
              <a:rPr lang="en-US" sz="1335" dirty="0">
                <a:solidFill>
                  <a:srgbClr val="64748B"/>
                </a:solidFill>
                <a:latin typeface="微软雅黑" panose="020B0503020204020204" charset="-122"/>
                <a:ea typeface="微软雅黑" panose="020B0503020204020204" charset="-122"/>
                <a:cs typeface="微软雅黑" panose="020B0503020204020204" pitchFamily="34" charset="-120"/>
              </a:rPr>
              <a:t>第1-12月</a:t>
            </a:r>
            <a:endParaRPr lang="en-US" sz="1335" dirty="0"/>
          </a:p>
        </p:txBody>
      </p:sp>
      <p:sp>
        <p:nvSpPr>
          <p:cNvPr id="15" name="Text 9"/>
          <p:cNvSpPr/>
          <p:nvPr/>
        </p:nvSpPr>
        <p:spPr>
          <a:xfrm>
            <a:off x="792480" y="29692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覆盖范围</a:t>
            </a:r>
            <a:endParaRPr lang="en-US" sz="1065" dirty="0"/>
          </a:p>
        </p:txBody>
      </p:sp>
      <p:sp>
        <p:nvSpPr>
          <p:cNvPr id="16" name="Text 10"/>
          <p:cNvSpPr/>
          <p:nvPr/>
        </p:nvSpPr>
        <p:spPr>
          <a:xfrm>
            <a:off x="792480" y="3213100"/>
            <a:ext cx="3048000" cy="426720"/>
          </a:xfrm>
          <a:prstGeom prst="rect">
            <a:avLst/>
          </a:prstGeom>
          <a:noFill/>
        </p:spPr>
        <p:txBody>
          <a:bodyPr wrap="square" rtlCol="0" anchor="ctr"/>
          <a:lstStyle/>
          <a:p>
            <a:pPr marL="0" indent="0">
              <a:buNone/>
            </a:pPr>
            <a:r>
              <a:rPr lang="en-US" sz="1200" dirty="0">
                <a:solidFill>
                  <a:schemeClr val="tx1"/>
                </a:solidFill>
                <a:latin typeface="微软雅黑" panose="020B0503020204020204" charset="-122"/>
                <a:ea typeface="微软雅黑" panose="020B0503020204020204" charset="-122"/>
                <a:cs typeface="微软雅黑" panose="020B0503020204020204" pitchFamily="34" charset="-120"/>
              </a:rPr>
              <a:t>20个互联网暴露资产</a:t>
            </a:r>
            <a:endParaRPr lang="en-US" sz="1200"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17" name="Text 11"/>
          <p:cNvSpPr/>
          <p:nvPr/>
        </p:nvSpPr>
        <p:spPr>
          <a:xfrm>
            <a:off x="792480" y="370078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核心能力</a:t>
            </a:r>
            <a:endParaRPr lang="en-US" sz="1065" dirty="0"/>
          </a:p>
        </p:txBody>
      </p:sp>
      <p:sp>
        <p:nvSpPr>
          <p:cNvPr id="18" name="Text 12"/>
          <p:cNvSpPr/>
          <p:nvPr/>
        </p:nvSpPr>
        <p:spPr>
          <a:xfrm>
            <a:off x="792480" y="3944620"/>
            <a:ext cx="3048000" cy="731520"/>
          </a:xfrm>
          <a:prstGeom prst="rect">
            <a:avLst/>
          </a:prstGeom>
          <a:noFill/>
        </p:spPr>
        <p:txBody>
          <a:bodyPr wrap="square" rtlCol="0" anchor="ctr"/>
          <a:lstStyle/>
          <a:p>
            <a:pPr marL="0" indent="0">
              <a:lnSpc>
                <a:spcPct val="120000"/>
              </a:lnSpc>
              <a:buNone/>
            </a:pP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高风险入侵路径</a:t>
            </a: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流量监控+威胁检测</a:t>
            </a:r>
            <a:endParaRPr lang="en-US" sz="1200" dirty="0"/>
          </a:p>
          <a:p>
            <a:pPr marL="0" indent="0">
              <a:lnSpc>
                <a:spcPct val="120000"/>
              </a:lnSpc>
              <a:buNone/>
            </a:pP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7×24运营+季度报告</a:t>
            </a:r>
            <a:endParaRPr lang="en-US" sz="1200" dirty="0"/>
          </a:p>
        </p:txBody>
      </p:sp>
      <p:sp>
        <p:nvSpPr>
          <p:cNvPr id="19" name="Text 13"/>
          <p:cNvSpPr/>
          <p:nvPr/>
        </p:nvSpPr>
        <p:spPr>
          <a:xfrm>
            <a:off x="792480" y="47980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投入产出</a:t>
            </a:r>
            <a:endParaRPr lang="en-US" sz="1065" dirty="0"/>
          </a:p>
        </p:txBody>
      </p:sp>
      <p:sp>
        <p:nvSpPr>
          <p:cNvPr id="20" name="Text 14"/>
          <p:cNvSpPr/>
          <p:nvPr/>
        </p:nvSpPr>
        <p:spPr>
          <a:xfrm>
            <a:off x="792480" y="5041900"/>
            <a:ext cx="3048000" cy="670560"/>
          </a:xfrm>
          <a:prstGeom prst="rect">
            <a:avLst/>
          </a:prstGeom>
          <a:noFill/>
        </p:spPr>
        <p:txBody>
          <a:bodyPr wrap="square" rtlCol="0" anchor="ctr"/>
          <a:lstStyle/>
          <a:p>
            <a:pPr marL="0" indent="0">
              <a:lnSpc>
                <a:spcPct val="120000"/>
              </a:lnSpc>
              <a:buNone/>
            </a:pPr>
            <a:r>
              <a:rPr lang="en-US" sz="1200" dirty="0">
                <a:solidFill>
                  <a:srgbClr val="10B981"/>
                </a:solidFill>
                <a:latin typeface="微软雅黑" panose="020B0503020204020204" charset="-122"/>
                <a:ea typeface="微软雅黑" panose="020B0503020204020204" charset="-122"/>
                <a:cs typeface="微软雅黑" panose="020B0503020204020204" pitchFamily="34" charset="-120"/>
              </a:rPr>
              <a:t>最高ROI：80%攻击从互联网入口来</a:t>
            </a:r>
            <a:endParaRPr lang="en-US" sz="1200" dirty="0"/>
          </a:p>
        </p:txBody>
      </p:sp>
      <p:sp>
        <p:nvSpPr>
          <p:cNvPr id="21" name="Shape 15"/>
          <p:cNvSpPr/>
          <p:nvPr/>
        </p:nvSpPr>
        <p:spPr>
          <a:xfrm>
            <a:off x="4389120" y="1323340"/>
            <a:ext cx="3413760" cy="4632960"/>
          </a:xfrm>
          <a:prstGeom prst="rect">
            <a:avLst/>
          </a:prstGeom>
          <a:noFill/>
          <a:extLst>
            <a:ext uri="{909E8E84-426E-40DD-AFC4-6F175D3DCCD1}">
              <a14:hiddenFill xmlns:a14="http://schemas.microsoft.com/office/drawing/2010/main">
                <a:solidFill>
                  <a:srgbClr val="162438"/>
                </a:solidFill>
              </a14:hiddenFill>
            </a:ext>
          </a:extLst>
        </p:spPr>
      </p:sp>
      <p:sp>
        <p:nvSpPr>
          <p:cNvPr id="22" name="Shape 16"/>
          <p:cNvSpPr/>
          <p:nvPr/>
        </p:nvSpPr>
        <p:spPr>
          <a:xfrm>
            <a:off x="4389120" y="1323340"/>
            <a:ext cx="3413760" cy="48768"/>
          </a:xfrm>
          <a:prstGeom prst="rect">
            <a:avLst/>
          </a:prstGeom>
          <a:solidFill>
            <a:srgbClr val="0D7C66"/>
          </a:solidFill>
        </p:spPr>
      </p:sp>
      <p:sp>
        <p:nvSpPr>
          <p:cNvPr id="23" name="Text 17"/>
          <p:cNvSpPr/>
          <p:nvPr/>
        </p:nvSpPr>
        <p:spPr>
          <a:xfrm>
            <a:off x="4572000" y="1567180"/>
            <a:ext cx="3048000" cy="853440"/>
          </a:xfrm>
          <a:prstGeom prst="rect">
            <a:avLst/>
          </a:prstGeom>
          <a:noFill/>
        </p:spPr>
        <p:txBody>
          <a:bodyPr wrap="square" rtlCol="0" anchor="ctr"/>
          <a:lstStyle/>
          <a:p>
            <a:pPr marL="0" indent="0">
              <a:lnSpc>
                <a:spcPct val="120000"/>
              </a:lnSpc>
              <a:buNone/>
            </a:pPr>
            <a:r>
              <a:rPr lang="en-US" sz="1735" b="1" dirty="0">
                <a:solidFill>
                  <a:srgbClr val="0D7C66"/>
                </a:solidFill>
                <a:latin typeface="微软雅黑" panose="020B0503020204020204" charset="-122"/>
                <a:ea typeface="微软雅黑" panose="020B0503020204020204" charset="-122"/>
                <a:cs typeface="微软雅黑" panose="020B0503020204020204" pitchFamily="34" charset="-120"/>
              </a:rPr>
              <a:t>阶段二</a:t>
            </a:r>
            <a:endParaRPr lang="en-US" sz="1735" dirty="0"/>
          </a:p>
          <a:p>
            <a:pPr marL="0" indent="0">
              <a:lnSpc>
                <a:spcPct val="120000"/>
              </a:lnSpc>
              <a:buNone/>
            </a:pPr>
            <a:r>
              <a:rPr lang="en-US" sz="1735" b="1" dirty="0">
                <a:solidFill>
                  <a:srgbClr val="0D7C66"/>
                </a:solidFill>
                <a:latin typeface="微软雅黑" panose="020B0503020204020204" charset="-122"/>
                <a:ea typeface="微软雅黑" panose="020B0503020204020204" charset="-122"/>
                <a:cs typeface="微软雅黑" panose="020B0503020204020204" pitchFamily="34" charset="-120"/>
              </a:rPr>
              <a:t>内外联动</a:t>
            </a:r>
            <a:endParaRPr lang="en-US" sz="1735" dirty="0"/>
          </a:p>
        </p:txBody>
      </p:sp>
      <p:sp>
        <p:nvSpPr>
          <p:cNvPr id="25" name="Text 18"/>
          <p:cNvSpPr/>
          <p:nvPr/>
        </p:nvSpPr>
        <p:spPr>
          <a:xfrm>
            <a:off x="4572000" y="2481580"/>
            <a:ext cx="3048000" cy="365760"/>
          </a:xfrm>
          <a:prstGeom prst="rect">
            <a:avLst/>
          </a:prstGeom>
          <a:noFill/>
        </p:spPr>
        <p:txBody>
          <a:bodyPr wrap="square" rtlCol="0" anchor="ctr"/>
          <a:lstStyle/>
          <a:p>
            <a:pPr marL="0" indent="0">
              <a:buNone/>
            </a:pPr>
            <a:r>
              <a:rPr lang="en-US" sz="1335" dirty="0">
                <a:solidFill>
                  <a:srgbClr val="64748B"/>
                </a:solidFill>
                <a:latin typeface="微软雅黑" panose="020B0503020204020204" charset="-122"/>
                <a:ea typeface="微软雅黑" panose="020B0503020204020204" charset="-122"/>
                <a:cs typeface="微软雅黑" panose="020B0503020204020204" pitchFamily="34" charset="-120"/>
              </a:rPr>
              <a:t>第12-24月</a:t>
            </a:r>
            <a:endParaRPr lang="en-US" sz="1335" dirty="0"/>
          </a:p>
        </p:txBody>
      </p:sp>
      <p:sp>
        <p:nvSpPr>
          <p:cNvPr id="27" name="Text 19"/>
          <p:cNvSpPr/>
          <p:nvPr/>
        </p:nvSpPr>
        <p:spPr>
          <a:xfrm>
            <a:off x="4572000" y="29692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覆盖范围</a:t>
            </a:r>
            <a:endParaRPr lang="en-US" sz="1065" dirty="0"/>
          </a:p>
        </p:txBody>
      </p:sp>
      <p:sp>
        <p:nvSpPr>
          <p:cNvPr id="28" name="Text 20"/>
          <p:cNvSpPr/>
          <p:nvPr/>
        </p:nvSpPr>
        <p:spPr>
          <a:xfrm>
            <a:off x="4572000" y="3213100"/>
            <a:ext cx="3048000" cy="426720"/>
          </a:xfrm>
          <a:prstGeom prst="rect">
            <a:avLst/>
          </a:prstGeom>
          <a:noFill/>
        </p:spPr>
        <p:txBody>
          <a:bodyPr wrap="square" rtlCol="0" anchor="ctr"/>
          <a:lstStyle/>
          <a:p>
            <a:pPr marL="0" indent="0">
              <a:buNone/>
            </a:pPr>
            <a:r>
              <a:rPr lang="en-US" sz="1200" dirty="0">
                <a:solidFill>
                  <a:schemeClr val="tx1"/>
                </a:solidFill>
                <a:latin typeface="微软雅黑" panose="020B0503020204020204" charset="-122"/>
                <a:ea typeface="微软雅黑" panose="020B0503020204020204" charset="-122"/>
                <a:cs typeface="微软雅黑" panose="020B0503020204020204" pitchFamily="34" charset="-120"/>
              </a:rPr>
              <a:t>+内外网边界+</a:t>
            </a:r>
            <a:r>
              <a:rPr lang="zh-CN" altLang="en-US" sz="1200" dirty="0">
                <a:solidFill>
                  <a:schemeClr val="tx1"/>
                </a:solidFill>
                <a:latin typeface="微软雅黑" panose="020B0503020204020204" charset="-122"/>
                <a:ea typeface="微软雅黑" panose="020B0503020204020204" charset="-122"/>
                <a:cs typeface="微软雅黑" panose="020B0503020204020204" pitchFamily="34" charset="-120"/>
              </a:rPr>
              <a:t>外网</a:t>
            </a:r>
            <a:r>
              <a:rPr lang="zh-CN" altLang="en-US" sz="1200" dirty="0">
                <a:solidFill>
                  <a:schemeClr val="tx1"/>
                </a:solidFill>
                <a:latin typeface="微软雅黑" panose="020B0503020204020204" charset="-122"/>
                <a:ea typeface="微软雅黑" panose="020B0503020204020204" charset="-122"/>
                <a:cs typeface="微软雅黑" panose="020B0503020204020204" pitchFamily="34" charset="-120"/>
              </a:rPr>
              <a:t>办公终端</a:t>
            </a:r>
            <a:endParaRPr lang="zh-CN" altLang="en-US" sz="1200"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29" name="Text 21"/>
          <p:cNvSpPr/>
          <p:nvPr/>
        </p:nvSpPr>
        <p:spPr>
          <a:xfrm>
            <a:off x="4572000" y="370078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核心能力</a:t>
            </a:r>
            <a:endParaRPr lang="en-US" sz="1065" dirty="0"/>
          </a:p>
        </p:txBody>
      </p:sp>
      <p:sp>
        <p:nvSpPr>
          <p:cNvPr id="30" name="Text 22"/>
          <p:cNvSpPr/>
          <p:nvPr/>
        </p:nvSpPr>
        <p:spPr>
          <a:xfrm>
            <a:off x="4572000" y="3944620"/>
            <a:ext cx="3048000" cy="731520"/>
          </a:xfrm>
          <a:prstGeom prst="rect">
            <a:avLst/>
          </a:prstGeom>
          <a:noFill/>
        </p:spPr>
        <p:txBody>
          <a:bodyPr wrap="square" rtlCol="0" anchor="ctr"/>
          <a:lstStyle/>
          <a:p>
            <a:pPr marL="0" indent="0">
              <a:lnSpc>
                <a:spcPct val="120000"/>
              </a:lnSpc>
              <a:buNone/>
            </a:pP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钓鱼</a:t>
            </a: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攻击主动发现</a:t>
            </a: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+横向移动检测</a:t>
            </a:r>
            <a:endParaRPr lang="en-US" sz="1200" dirty="0"/>
          </a:p>
          <a:p>
            <a:pPr marL="0" indent="0">
              <a:lnSpc>
                <a:spcPct val="120000"/>
              </a:lnSpc>
              <a:buNone/>
            </a:pP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联调联处</a:t>
            </a:r>
            <a:endParaRPr lang="en-US" sz="1200" dirty="0"/>
          </a:p>
        </p:txBody>
      </p:sp>
      <p:sp>
        <p:nvSpPr>
          <p:cNvPr id="31" name="Text 23"/>
          <p:cNvSpPr/>
          <p:nvPr/>
        </p:nvSpPr>
        <p:spPr>
          <a:xfrm>
            <a:off x="4572000" y="47980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投入产出</a:t>
            </a:r>
            <a:endParaRPr lang="en-US" sz="1065" dirty="0"/>
          </a:p>
        </p:txBody>
      </p:sp>
      <p:sp>
        <p:nvSpPr>
          <p:cNvPr id="32" name="Text 24"/>
          <p:cNvSpPr/>
          <p:nvPr/>
        </p:nvSpPr>
        <p:spPr>
          <a:xfrm>
            <a:off x="4572000" y="5041900"/>
            <a:ext cx="3048000" cy="670560"/>
          </a:xfrm>
          <a:prstGeom prst="rect">
            <a:avLst/>
          </a:prstGeom>
          <a:noFill/>
        </p:spPr>
        <p:txBody>
          <a:bodyPr wrap="square" rtlCol="0" anchor="ctr"/>
          <a:lstStyle/>
          <a:p>
            <a:pPr marL="0" indent="0">
              <a:lnSpc>
                <a:spcPct val="120000"/>
              </a:lnSpc>
              <a:buNone/>
            </a:pPr>
            <a:r>
              <a:rPr lang="en-US" sz="1200" dirty="0">
                <a:solidFill>
                  <a:srgbClr val="10B981"/>
                </a:solidFill>
                <a:latin typeface="微软雅黑" panose="020B0503020204020204" charset="-122"/>
                <a:ea typeface="微软雅黑" panose="020B0503020204020204" charset="-122"/>
                <a:cs typeface="微软雅黑" panose="020B0503020204020204" pitchFamily="34" charset="-120"/>
              </a:rPr>
              <a:t>消除盲区：</a:t>
            </a:r>
            <a:r>
              <a:rPr lang="zh-CN" altLang="en-US" sz="1200" dirty="0">
                <a:solidFill>
                  <a:srgbClr val="10B981"/>
                </a:solidFill>
                <a:latin typeface="微软雅黑" panose="020B0503020204020204" charset="-122"/>
                <a:ea typeface="微软雅黑" panose="020B0503020204020204" charset="-122"/>
                <a:cs typeface="微软雅黑" panose="020B0503020204020204" pitchFamily="34" charset="-120"/>
              </a:rPr>
              <a:t>高风险入侵路径全面</a:t>
            </a:r>
            <a:r>
              <a:rPr lang="zh-CN" altLang="en-US" sz="1200" dirty="0">
                <a:solidFill>
                  <a:srgbClr val="10B981"/>
                </a:solidFill>
                <a:latin typeface="微软雅黑" panose="020B0503020204020204" charset="-122"/>
                <a:ea typeface="微软雅黑" panose="020B0503020204020204" charset="-122"/>
                <a:cs typeface="微软雅黑" panose="020B0503020204020204" pitchFamily="34" charset="-120"/>
              </a:rPr>
              <a:t>覆盖</a:t>
            </a:r>
            <a:endParaRPr lang="zh-CN" altLang="en-US" sz="1200" dirty="0">
              <a:solidFill>
                <a:srgbClr val="10B981"/>
              </a:solidFill>
              <a:latin typeface="微软雅黑" panose="020B0503020204020204" charset="-122"/>
              <a:ea typeface="微软雅黑" panose="020B0503020204020204" charset="-122"/>
              <a:cs typeface="微软雅黑" panose="020B0503020204020204" pitchFamily="34" charset="-120"/>
            </a:endParaRPr>
          </a:p>
        </p:txBody>
      </p:sp>
      <p:sp>
        <p:nvSpPr>
          <p:cNvPr id="33" name="Shape 25"/>
          <p:cNvSpPr/>
          <p:nvPr/>
        </p:nvSpPr>
        <p:spPr>
          <a:xfrm>
            <a:off x="8168640" y="1323340"/>
            <a:ext cx="3413760" cy="4632960"/>
          </a:xfrm>
          <a:prstGeom prst="rect">
            <a:avLst/>
          </a:prstGeom>
          <a:noFill/>
          <a:extLst>
            <a:ext uri="{909E8E84-426E-40DD-AFC4-6F175D3DCCD1}">
              <a14:hiddenFill xmlns:a14="http://schemas.microsoft.com/office/drawing/2010/main">
                <a:solidFill>
                  <a:srgbClr val="162438"/>
                </a:solidFill>
              </a14:hiddenFill>
            </a:ext>
          </a:extLst>
        </p:spPr>
      </p:sp>
      <p:sp>
        <p:nvSpPr>
          <p:cNvPr id="34" name="Shape 26"/>
          <p:cNvSpPr/>
          <p:nvPr/>
        </p:nvSpPr>
        <p:spPr>
          <a:xfrm>
            <a:off x="8168640" y="1323340"/>
            <a:ext cx="3413760" cy="48768"/>
          </a:xfrm>
          <a:prstGeom prst="rect">
            <a:avLst/>
          </a:prstGeom>
          <a:solidFill>
            <a:srgbClr val="0A2E4D"/>
          </a:solidFill>
        </p:spPr>
      </p:sp>
      <p:sp>
        <p:nvSpPr>
          <p:cNvPr id="35" name="Text 27"/>
          <p:cNvSpPr/>
          <p:nvPr/>
        </p:nvSpPr>
        <p:spPr>
          <a:xfrm>
            <a:off x="8351520" y="1567180"/>
            <a:ext cx="3048000" cy="853440"/>
          </a:xfrm>
          <a:prstGeom prst="rect">
            <a:avLst/>
          </a:prstGeom>
          <a:noFill/>
        </p:spPr>
        <p:txBody>
          <a:bodyPr wrap="square" rtlCol="0" anchor="ctr"/>
          <a:lstStyle/>
          <a:p>
            <a:pPr marL="0" indent="0">
              <a:lnSpc>
                <a:spcPct val="120000"/>
              </a:lnSpc>
              <a:buNone/>
            </a:pPr>
            <a:r>
              <a:rPr lang="en-US" sz="1735" b="1" dirty="0">
                <a:solidFill>
                  <a:srgbClr val="0A2E4D"/>
                </a:solidFill>
                <a:latin typeface="微软雅黑" panose="020B0503020204020204" charset="-122"/>
                <a:ea typeface="微软雅黑" panose="020B0503020204020204" charset="-122"/>
                <a:cs typeface="微软雅黑" panose="020B0503020204020204" pitchFamily="34" charset="-120"/>
              </a:rPr>
              <a:t>阶段三</a:t>
            </a:r>
            <a:endParaRPr lang="en-US" sz="1735" dirty="0"/>
          </a:p>
          <a:p>
            <a:pPr marL="0" indent="0">
              <a:lnSpc>
                <a:spcPct val="120000"/>
              </a:lnSpc>
              <a:buNone/>
            </a:pPr>
            <a:r>
              <a:rPr lang="zh-CN" altLang="en-US" sz="1735" b="1" dirty="0">
                <a:solidFill>
                  <a:srgbClr val="0A2E4D"/>
                </a:solidFill>
                <a:latin typeface="微软雅黑" panose="020B0503020204020204" charset="-122"/>
                <a:ea typeface="微软雅黑" panose="020B0503020204020204" charset="-122"/>
                <a:cs typeface="微软雅黑" panose="020B0503020204020204" pitchFamily="34" charset="-120"/>
              </a:rPr>
              <a:t>全网</a:t>
            </a:r>
            <a:r>
              <a:rPr lang="en-US" sz="1735" b="1" dirty="0">
                <a:solidFill>
                  <a:srgbClr val="0A2E4D"/>
                </a:solidFill>
                <a:latin typeface="微软雅黑" panose="020B0503020204020204" charset="-122"/>
                <a:ea typeface="微软雅黑" panose="020B0503020204020204" charset="-122"/>
                <a:cs typeface="微软雅黑" panose="020B0503020204020204" pitchFamily="34" charset="-120"/>
              </a:rPr>
              <a:t>一体化</a:t>
            </a:r>
            <a:endParaRPr lang="en-US" sz="1735" dirty="0"/>
          </a:p>
        </p:txBody>
      </p:sp>
      <p:sp>
        <p:nvSpPr>
          <p:cNvPr id="36" name="Text 28"/>
          <p:cNvSpPr/>
          <p:nvPr/>
        </p:nvSpPr>
        <p:spPr>
          <a:xfrm>
            <a:off x="8351520" y="2481580"/>
            <a:ext cx="3048000" cy="365760"/>
          </a:xfrm>
          <a:prstGeom prst="rect">
            <a:avLst/>
          </a:prstGeom>
          <a:noFill/>
        </p:spPr>
        <p:txBody>
          <a:bodyPr wrap="square" rtlCol="0" anchor="ctr"/>
          <a:lstStyle/>
          <a:p>
            <a:pPr marL="0" indent="0">
              <a:buNone/>
            </a:pPr>
            <a:r>
              <a:rPr lang="en-US" sz="1335" dirty="0">
                <a:solidFill>
                  <a:srgbClr val="64748B"/>
                </a:solidFill>
                <a:latin typeface="微软雅黑" panose="020B0503020204020204" charset="-122"/>
                <a:ea typeface="微软雅黑" panose="020B0503020204020204" charset="-122"/>
                <a:cs typeface="微软雅黑" panose="020B0503020204020204" pitchFamily="34" charset="-120"/>
              </a:rPr>
              <a:t>第24-36月</a:t>
            </a:r>
            <a:endParaRPr lang="en-US" sz="1335" dirty="0"/>
          </a:p>
        </p:txBody>
      </p:sp>
      <p:sp>
        <p:nvSpPr>
          <p:cNvPr id="37" name="Text 29"/>
          <p:cNvSpPr/>
          <p:nvPr/>
        </p:nvSpPr>
        <p:spPr>
          <a:xfrm>
            <a:off x="8351520" y="29692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覆盖范围</a:t>
            </a:r>
            <a:endParaRPr lang="en-US" sz="1065" dirty="0"/>
          </a:p>
        </p:txBody>
      </p:sp>
      <p:sp>
        <p:nvSpPr>
          <p:cNvPr id="38" name="Text 30"/>
          <p:cNvSpPr/>
          <p:nvPr/>
        </p:nvSpPr>
        <p:spPr>
          <a:xfrm>
            <a:off x="8351520" y="3213100"/>
            <a:ext cx="3048000" cy="426720"/>
          </a:xfrm>
          <a:prstGeom prst="rect">
            <a:avLst/>
          </a:prstGeom>
          <a:noFill/>
        </p:spPr>
        <p:txBody>
          <a:bodyPr wrap="square" rtlCol="0" anchor="ctr"/>
          <a:lstStyle/>
          <a:p>
            <a:pPr marL="0" indent="0">
              <a:buNone/>
            </a:pPr>
            <a:r>
              <a:rPr lang="en-US" sz="1200" dirty="0">
                <a:solidFill>
                  <a:schemeClr val="tx1"/>
                </a:solidFill>
                <a:latin typeface="微软雅黑" panose="020B0503020204020204" charset="-122"/>
                <a:ea typeface="微软雅黑" panose="020B0503020204020204" charset="-122"/>
                <a:cs typeface="微软雅黑" panose="020B0503020204020204" pitchFamily="34" charset="-120"/>
              </a:rPr>
              <a:t>全</a:t>
            </a:r>
            <a:r>
              <a:rPr lang="zh-CN" altLang="en-US" sz="1200" dirty="0">
                <a:solidFill>
                  <a:schemeClr val="tx1"/>
                </a:solidFill>
                <a:latin typeface="微软雅黑" panose="020B0503020204020204" charset="-122"/>
                <a:ea typeface="微软雅黑" panose="020B0503020204020204" charset="-122"/>
                <a:cs typeface="微软雅黑" panose="020B0503020204020204" pitchFamily="34" charset="-120"/>
              </a:rPr>
              <a:t>网</a:t>
            </a:r>
            <a:r>
              <a:rPr lang="en-US" sz="1200" dirty="0">
                <a:solidFill>
                  <a:schemeClr val="tx1"/>
                </a:solidFill>
                <a:latin typeface="微软雅黑" panose="020B0503020204020204" charset="-122"/>
                <a:ea typeface="微软雅黑" panose="020B0503020204020204" charset="-122"/>
                <a:cs typeface="微软雅黑" panose="020B0503020204020204" pitchFamily="34" charset="-120"/>
              </a:rPr>
              <a:t>IT资产</a:t>
            </a:r>
            <a:endParaRPr lang="en-US" sz="1200"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39" name="Text 31"/>
          <p:cNvSpPr/>
          <p:nvPr/>
        </p:nvSpPr>
        <p:spPr>
          <a:xfrm>
            <a:off x="8351520" y="370078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核心能力</a:t>
            </a:r>
            <a:endParaRPr lang="en-US" sz="1065" dirty="0"/>
          </a:p>
        </p:txBody>
      </p:sp>
      <p:sp>
        <p:nvSpPr>
          <p:cNvPr id="40" name="Text 32"/>
          <p:cNvSpPr/>
          <p:nvPr/>
        </p:nvSpPr>
        <p:spPr>
          <a:xfrm>
            <a:off x="8351520" y="3944620"/>
            <a:ext cx="3048000" cy="731520"/>
          </a:xfrm>
          <a:prstGeom prst="rect">
            <a:avLst/>
          </a:prstGeom>
          <a:noFill/>
        </p:spPr>
        <p:txBody>
          <a:bodyPr wrap="square" rtlCol="0" anchor="ctr"/>
          <a:lstStyle/>
          <a:p>
            <a:pPr marL="0" indent="0">
              <a:lnSpc>
                <a:spcPct val="120000"/>
              </a:lnSpc>
              <a:buNone/>
            </a:pP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SOAR编排+</a:t>
            </a: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量化运营</a:t>
            </a:r>
            <a:r>
              <a:rPr lang="en-US" altLang="zh-CN" sz="1200" dirty="0">
                <a:solidFill>
                  <a:srgbClr val="94A3B8"/>
                </a:solidFill>
                <a:latin typeface="微软雅黑" panose="020B0503020204020204" charset="-122"/>
                <a:ea typeface="微软雅黑" panose="020B0503020204020204" charset="-122"/>
                <a:cs typeface="微软雅黑" panose="020B0503020204020204" pitchFamily="34" charset="-120"/>
              </a:rPr>
              <a:t>+</a:t>
            </a: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运营效率逐步攀升</a:t>
            </a:r>
            <a:endParaRPr lang="en-US" sz="1200" dirty="0"/>
          </a:p>
          <a:p>
            <a:pPr marL="0" indent="0">
              <a:lnSpc>
                <a:spcPct val="120000"/>
              </a:lnSpc>
              <a:buNone/>
            </a:pP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全网</a:t>
            </a: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运营体系</a:t>
            </a:r>
            <a:endParaRPr lang="en-US" sz="1200" dirty="0"/>
          </a:p>
        </p:txBody>
      </p:sp>
      <p:sp>
        <p:nvSpPr>
          <p:cNvPr id="41" name="Text 33"/>
          <p:cNvSpPr/>
          <p:nvPr/>
        </p:nvSpPr>
        <p:spPr>
          <a:xfrm>
            <a:off x="8351520" y="47980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投入产出</a:t>
            </a:r>
            <a:endParaRPr lang="en-US" sz="1065" dirty="0"/>
          </a:p>
        </p:txBody>
      </p:sp>
      <p:sp>
        <p:nvSpPr>
          <p:cNvPr id="42" name="Text 34"/>
          <p:cNvSpPr/>
          <p:nvPr/>
        </p:nvSpPr>
        <p:spPr>
          <a:xfrm>
            <a:off x="8351520" y="5041900"/>
            <a:ext cx="3048000" cy="670560"/>
          </a:xfrm>
          <a:prstGeom prst="rect">
            <a:avLst/>
          </a:prstGeom>
          <a:noFill/>
        </p:spPr>
        <p:txBody>
          <a:bodyPr wrap="square" rtlCol="0" anchor="ctr"/>
          <a:lstStyle/>
          <a:p>
            <a:pPr marL="0" indent="0">
              <a:lnSpc>
                <a:spcPct val="120000"/>
              </a:lnSpc>
              <a:buNone/>
            </a:pPr>
            <a:r>
              <a:rPr lang="zh-CN" altLang="en-US" sz="1200" dirty="0">
                <a:solidFill>
                  <a:srgbClr val="10B981"/>
                </a:solidFill>
                <a:latin typeface="微软雅黑" panose="020B0503020204020204" charset="-122"/>
                <a:ea typeface="微软雅黑" panose="020B0503020204020204" charset="-122"/>
                <a:cs typeface="微软雅黑" panose="020B0503020204020204" pitchFamily="34" charset="-120"/>
              </a:rPr>
              <a:t>量化运营</a:t>
            </a:r>
            <a:r>
              <a:rPr lang="en-US" sz="1200" dirty="0">
                <a:solidFill>
                  <a:srgbClr val="10B981"/>
                </a:solidFill>
                <a:latin typeface="微软雅黑" panose="020B0503020204020204" charset="-122"/>
                <a:ea typeface="微软雅黑" panose="020B0503020204020204" charset="-122"/>
                <a:cs typeface="微软雅黑" panose="020B0503020204020204" pitchFamily="34" charset="-120"/>
              </a:rPr>
              <a:t>：常态化运营管理</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2818765" cy="327025"/>
            <a:chOff x="533" y="646"/>
            <a:chExt cx="4439"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8" name="textbox 158"/>
            <p:cNvSpPr/>
            <p:nvPr/>
          </p:nvSpPr>
          <p:spPr>
            <a:xfrm>
              <a:off x="1345" y="646"/>
              <a:ext cx="3627"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下一阶段运营</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规划</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20" name="图片 19"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23" name="文本框 22"/>
          <p:cNvSpPr txBox="1"/>
          <p:nvPr/>
        </p:nvSpPr>
        <p:spPr>
          <a:xfrm>
            <a:off x="8820150" y="411480"/>
            <a:ext cx="4064000" cy="368300"/>
          </a:xfrm>
          <a:prstGeom prst="rect">
            <a:avLst/>
          </a:prstGeom>
          <a:noFill/>
        </p:spPr>
        <p:txBody>
          <a:bodyPr wrap="square" rtlCol="0">
            <a:spAutoFit/>
          </a:bodyPr>
          <a:p>
            <a:endParaRPr lang="zh-CN" altLang="en-US"/>
          </a:p>
        </p:txBody>
      </p:sp>
      <p:sp>
        <p:nvSpPr>
          <p:cNvPr id="36" name="矩形 35"/>
          <p:cNvSpPr/>
          <p:nvPr>
            <p:custDataLst>
              <p:tags r:id="rId4"/>
            </p:custDataLst>
          </p:nvPr>
        </p:nvSpPr>
        <p:spPr>
          <a:xfrm>
            <a:off x="724535" y="1032510"/>
            <a:ext cx="10895330" cy="247650"/>
          </a:xfrm>
          <a:prstGeom prst="rect">
            <a:avLst/>
          </a:prstGeom>
          <a:solidFill>
            <a:srgbClr val="5B9BD5"/>
          </a:solidFill>
          <a:ln w="12700" cap="flat" cmpd="sng" algn="ctr">
            <a:noFill/>
            <a:prstDash val="solid"/>
            <a:miter lim="800000"/>
          </a:ln>
          <a:effectLst>
            <a:outerShdw blurRad="254000" dist="101600" dir="2700000" algn="tl" rotWithShape="0">
              <a:srgbClr val="FFFFFF">
                <a:lumMod val="75000"/>
                <a:alpha val="40000"/>
              </a:srgbClr>
            </a:outerShdw>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000000"/>
              </a:solidFill>
              <a:sym typeface="+mn-ea"/>
            </a:endParaRPr>
          </a:p>
        </p:txBody>
      </p:sp>
      <p:sp>
        <p:nvSpPr>
          <p:cNvPr id="37" name="矩形 36"/>
          <p:cNvSpPr/>
          <p:nvPr>
            <p:custDataLst>
              <p:tags r:id="rId5"/>
            </p:custDataLst>
          </p:nvPr>
        </p:nvSpPr>
        <p:spPr>
          <a:xfrm>
            <a:off x="724535" y="1166495"/>
            <a:ext cx="10895330" cy="1829435"/>
          </a:xfrm>
          <a:prstGeom prst="rect">
            <a:avLst/>
          </a:prstGeom>
          <a:solidFill>
            <a:srgbClr val="FFFFFF"/>
          </a:solidFill>
          <a:ln w="12700" cap="flat" cmpd="sng" algn="ctr">
            <a:noFill/>
            <a:prstDash val="solid"/>
            <a:miter lim="800000"/>
          </a:ln>
          <a:effectLst>
            <a:outerShdw blurRad="254000" dist="101600" dir="2700000" algn="tl" rotWithShape="0">
              <a:srgbClr val="000000">
                <a:lumMod val="75000"/>
                <a:lumOff val="25000"/>
                <a:alpha val="15000"/>
              </a:srgbClr>
            </a:outerShdw>
          </a:effectLst>
        </p:spPr>
        <p:txBody>
          <a:bodyPr rtlCol="0" anchor="ctr"/>
          <a:p>
            <a:pPr algn="ctr"/>
            <a:endParaRPr lang="zh-CN" altLang="en-US">
              <a:solidFill>
                <a:srgbClr val="FFFFFF"/>
              </a:solidFill>
            </a:endParaRPr>
          </a:p>
        </p:txBody>
      </p:sp>
      <p:sp>
        <p:nvSpPr>
          <p:cNvPr id="42" name="矩形 41"/>
          <p:cNvSpPr/>
          <p:nvPr>
            <p:custDataLst>
              <p:tags r:id="rId6"/>
            </p:custDataLst>
          </p:nvPr>
        </p:nvSpPr>
        <p:spPr>
          <a:xfrm>
            <a:off x="884555" y="1273175"/>
            <a:ext cx="10151110" cy="1558290"/>
          </a:xfrm>
          <a:prstGeom prst="rect">
            <a:avLst/>
          </a:prstGeom>
          <a:noFill/>
        </p:spPr>
        <p:txBody>
          <a:bodyPr wrap="square" lIns="0" tIns="0" rIns="0" bIns="0" rtlCol="0" anchor="t" anchorCtr="0">
            <a:noAutofit/>
          </a:bodyPr>
          <a:p>
            <a:pPr>
              <a:lnSpc>
                <a:spcPct val="150000"/>
              </a:lnSpc>
              <a:spcBef>
                <a:spcPct val="0"/>
              </a:spcBef>
              <a:spcAft>
                <a:spcPct val="0"/>
              </a:spcAft>
            </a:pPr>
            <a:r>
              <a:rPr lang="en-US" altLang="zh-CN" sz="1400">
                <a:solidFill>
                  <a:srgbClr val="333333"/>
                </a:solidFill>
                <a:latin typeface="Heiti SC Light" panose="02000000000000000000" charset="-122"/>
                <a:ea typeface="Heiti SC Light" panose="02000000000000000000" charset="-122"/>
                <a:cs typeface="+mn-ea"/>
                <a:sym typeface="+mn-ea"/>
              </a:rPr>
              <a:t>1</a:t>
            </a:r>
            <a:r>
              <a:rPr lang="zh-CN" altLang="en-US" sz="1400">
                <a:solidFill>
                  <a:srgbClr val="333333"/>
                </a:solidFill>
                <a:latin typeface="Heiti SC Light" panose="02000000000000000000" charset="-122"/>
                <a:ea typeface="Heiti SC Light" panose="02000000000000000000" charset="-122"/>
                <a:cs typeface="+mn-ea"/>
                <a:sym typeface="+mn-ea"/>
              </a:rPr>
              <a:t>、</a:t>
            </a:r>
            <a:r>
              <a:rPr lang="en-US" altLang="zh-CN" sz="1400">
                <a:solidFill>
                  <a:srgbClr val="4C61E7"/>
                </a:solidFill>
                <a:latin typeface="Heiti SC Light" panose="02000000000000000000" charset="-122"/>
                <a:ea typeface="Heiti SC Light" panose="02000000000000000000" charset="-122"/>
                <a:cs typeface="+mn-ea"/>
                <a:sym typeface="+mn-ea"/>
              </a:rPr>
              <a:t>XX</a:t>
            </a:r>
            <a:r>
              <a:rPr lang="zh-CN" altLang="en-US" sz="1400">
                <a:solidFill>
                  <a:srgbClr val="4C61E7"/>
                </a:solidFill>
                <a:latin typeface="Heiti SC Light" panose="02000000000000000000" charset="-122"/>
                <a:ea typeface="Heiti SC Light" panose="02000000000000000000" charset="-122"/>
                <a:cs typeface="+mn-ea"/>
                <a:sym typeface="+mn-ea"/>
              </a:rPr>
              <a:t>核心业务</a:t>
            </a:r>
            <a:r>
              <a:rPr lang="zh-CN" altLang="en-US" sz="1400">
                <a:solidFill>
                  <a:srgbClr val="333333"/>
                </a:solidFill>
                <a:latin typeface="Heiti SC Light" panose="02000000000000000000" charset="-122"/>
                <a:ea typeface="Heiti SC Light" panose="02000000000000000000" charset="-122"/>
                <a:cs typeface="+mn-ea"/>
                <a:sym typeface="+mn-ea"/>
              </a:rPr>
              <a:t>的资产已实现安全绿区的覆盖，下一阶段重点推进安全橙区的</a:t>
            </a:r>
            <a:r>
              <a:rPr lang="en-US" altLang="zh-CN" sz="1400">
                <a:solidFill>
                  <a:srgbClr val="333333"/>
                </a:solidFill>
                <a:latin typeface="Heiti SC Light" panose="02000000000000000000" charset="-122"/>
                <a:ea typeface="Heiti SC Light" panose="02000000000000000000" charset="-122"/>
                <a:cs typeface="+mn-ea"/>
                <a:sym typeface="+mn-ea"/>
              </a:rPr>
              <a:t>XX</a:t>
            </a:r>
            <a:r>
              <a:rPr lang="zh-CN" altLang="en-US" sz="1400">
                <a:solidFill>
                  <a:srgbClr val="333333"/>
                </a:solidFill>
                <a:latin typeface="Heiti SC Light" panose="02000000000000000000" charset="-122"/>
                <a:ea typeface="Heiti SC Light" panose="02000000000000000000" charset="-122"/>
                <a:cs typeface="+mn-ea"/>
                <a:sym typeface="+mn-ea"/>
              </a:rPr>
              <a:t>系统的资产转换到安全绿区，实现安全运营能力的升级；</a:t>
            </a:r>
            <a:endParaRPr lang="zh-CN" altLang="en-US" sz="1400">
              <a:solidFill>
                <a:srgbClr val="333333"/>
              </a:solidFill>
              <a:latin typeface="Heiti SC Light" panose="02000000000000000000" charset="-122"/>
              <a:ea typeface="Heiti SC Light" panose="02000000000000000000" charset="-122"/>
              <a:cs typeface="+mn-ea"/>
              <a:sym typeface="+mn-ea"/>
            </a:endParaRPr>
          </a:p>
          <a:p>
            <a:pPr>
              <a:lnSpc>
                <a:spcPct val="150000"/>
              </a:lnSpc>
              <a:spcBef>
                <a:spcPct val="0"/>
              </a:spcBef>
              <a:spcAft>
                <a:spcPct val="0"/>
              </a:spcAft>
            </a:pPr>
            <a:r>
              <a:rPr lang="en-US" altLang="zh-CN" sz="1400">
                <a:solidFill>
                  <a:srgbClr val="333333"/>
                </a:solidFill>
                <a:latin typeface="Heiti SC Light" panose="02000000000000000000" charset="-122"/>
                <a:ea typeface="Heiti SC Light" panose="02000000000000000000" charset="-122"/>
                <a:cs typeface="+mn-ea"/>
                <a:sym typeface="+mn-ea"/>
              </a:rPr>
              <a:t>2</a:t>
            </a:r>
            <a:r>
              <a:rPr lang="zh-CN" altLang="en-US" sz="1400">
                <a:solidFill>
                  <a:srgbClr val="333333"/>
                </a:solidFill>
                <a:latin typeface="Heiti SC Light" panose="02000000000000000000" charset="-122"/>
                <a:ea typeface="Heiti SC Light" panose="02000000000000000000" charset="-122"/>
                <a:cs typeface="+mn-ea"/>
                <a:sym typeface="+mn-ea"/>
              </a:rPr>
              <a:t>、快速消除安全红区，提升整体的安全水位底线，针对</a:t>
            </a:r>
            <a:r>
              <a:rPr lang="en-US" altLang="zh-CN" sz="1400">
                <a:solidFill>
                  <a:srgbClr val="4C61E7"/>
                </a:solidFill>
                <a:latin typeface="Heiti SC Light" panose="02000000000000000000" charset="-122"/>
                <a:ea typeface="Heiti SC Light" panose="02000000000000000000" charset="-122"/>
                <a:cs typeface="+mn-ea"/>
                <a:sym typeface="+mn-ea"/>
              </a:rPr>
              <a:t>XX</a:t>
            </a:r>
            <a:r>
              <a:rPr lang="zh-CN" altLang="en-US" sz="1400">
                <a:solidFill>
                  <a:srgbClr val="4C61E7"/>
                </a:solidFill>
                <a:latin typeface="Heiti SC Light" panose="02000000000000000000" charset="-122"/>
                <a:ea typeface="Heiti SC Light" panose="02000000000000000000" charset="-122"/>
                <a:cs typeface="+mn-ea"/>
                <a:sym typeface="+mn-ea"/>
              </a:rPr>
              <a:t>资产范围</a:t>
            </a:r>
            <a:r>
              <a:rPr lang="zh-CN" altLang="en-US" sz="1400">
                <a:solidFill>
                  <a:srgbClr val="333333"/>
                </a:solidFill>
                <a:latin typeface="Heiti SC Light" panose="02000000000000000000" charset="-122"/>
                <a:ea typeface="Heiti SC Light" panose="02000000000000000000" charset="-122"/>
                <a:cs typeface="+mn-ea"/>
                <a:sym typeface="+mn-ea"/>
              </a:rPr>
              <a:t>补充基础的端点安全能力和威胁监测响应能力；</a:t>
            </a:r>
            <a:endParaRPr lang="zh-CN" altLang="en-US" sz="1400">
              <a:solidFill>
                <a:srgbClr val="333333"/>
              </a:solidFill>
              <a:latin typeface="Heiti SC Light" panose="02000000000000000000" charset="-122"/>
              <a:ea typeface="Heiti SC Light" panose="02000000000000000000" charset="-122"/>
              <a:cs typeface="+mn-ea"/>
              <a:sym typeface="+mn-ea"/>
            </a:endParaRPr>
          </a:p>
        </p:txBody>
      </p:sp>
      <p:sp>
        <p:nvSpPr>
          <p:cNvPr id="43" name="矩形 42"/>
          <p:cNvSpPr/>
          <p:nvPr/>
        </p:nvSpPr>
        <p:spPr>
          <a:xfrm>
            <a:off x="611505" y="3247390"/>
            <a:ext cx="3600000" cy="3240000"/>
          </a:xfrm>
          <a:prstGeom prst="rect">
            <a:avLst/>
          </a:prstGeom>
          <a:solidFill>
            <a:srgbClr val="70AD47">
              <a:lumMod val="20000"/>
              <a:lumOff val="80000"/>
            </a:srgbClr>
          </a:solidFill>
          <a:ln w="12700" cap="flat" cmpd="sng" algn="ctr">
            <a:solidFill>
              <a:srgbClr val="4472C4">
                <a:shade val="50000"/>
              </a:srgbClr>
            </a:solidFill>
            <a:prstDash val="dashDot"/>
            <a:miter lim="800000"/>
          </a:ln>
          <a:effectLst/>
        </p:spPr>
        <p:txBody>
          <a:bodyPr rtlCol="0" anchor="ctr"/>
          <a:lstStyle/>
          <a:p>
            <a:pPr algn="ctr"/>
            <a:endParaRPr kumimoji="1" lang="zh-CN" altLang="en-US">
              <a:solidFill>
                <a:srgbClr val="FFFFFF"/>
              </a:solidFill>
            </a:endParaRPr>
          </a:p>
        </p:txBody>
      </p:sp>
      <p:sp>
        <p:nvSpPr>
          <p:cNvPr id="44" name="矩形 43"/>
          <p:cNvSpPr/>
          <p:nvPr/>
        </p:nvSpPr>
        <p:spPr>
          <a:xfrm>
            <a:off x="8175810" y="3246755"/>
            <a:ext cx="3599815" cy="3240000"/>
          </a:xfrm>
          <a:prstGeom prst="rect">
            <a:avLst/>
          </a:prstGeom>
          <a:solidFill>
            <a:srgbClr val="FF0000">
              <a:alpha val="40000"/>
            </a:srgbClr>
          </a:solidFill>
          <a:ln w="12700" cap="flat" cmpd="sng" algn="ctr">
            <a:solidFill>
              <a:srgbClr val="4472C4">
                <a:shade val="50000"/>
              </a:srgbClr>
            </a:solidFill>
            <a:prstDash val="dashDot"/>
            <a:miter lim="800000"/>
          </a:ln>
          <a:effectLst/>
        </p:spPr>
        <p:txBody>
          <a:bodyPr rtlCol="0" anchor="ctr"/>
          <a:lstStyle/>
          <a:p>
            <a:pPr algn="ctr"/>
            <a:endParaRPr kumimoji="1" lang="zh-CN" altLang="en-US">
              <a:solidFill>
                <a:srgbClr val="FFFFFF"/>
              </a:solidFill>
            </a:endParaRPr>
          </a:p>
        </p:txBody>
      </p:sp>
      <p:sp>
        <p:nvSpPr>
          <p:cNvPr id="45" name="矩形 44"/>
          <p:cNvSpPr/>
          <p:nvPr/>
        </p:nvSpPr>
        <p:spPr>
          <a:xfrm>
            <a:off x="4393750" y="3247390"/>
            <a:ext cx="3599815" cy="3240000"/>
          </a:xfrm>
          <a:prstGeom prst="rect">
            <a:avLst/>
          </a:prstGeom>
          <a:solidFill>
            <a:srgbClr val="ED7D31">
              <a:lumMod val="40000"/>
              <a:lumOff val="60000"/>
            </a:srgbClr>
          </a:solidFill>
          <a:ln w="12700" cap="flat" cmpd="sng" algn="ctr">
            <a:solidFill>
              <a:srgbClr val="4472C4">
                <a:shade val="50000"/>
              </a:srgbClr>
            </a:solidFill>
            <a:prstDash val="dashDot"/>
            <a:miter lim="800000"/>
          </a:ln>
          <a:effectLst/>
        </p:spPr>
        <p:txBody>
          <a:bodyPr rtlCol="0" anchor="ctr"/>
          <a:lstStyle/>
          <a:p>
            <a:pPr algn="ctr"/>
            <a:endParaRPr kumimoji="1" lang="zh-CN" altLang="en-US">
              <a:solidFill>
                <a:srgbClr val="FFFFFF"/>
              </a:solidFill>
            </a:endParaRPr>
          </a:p>
        </p:txBody>
      </p:sp>
      <p:pic>
        <p:nvPicPr>
          <p:cNvPr id="49" name="图片 4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1293" y="5622956"/>
            <a:ext cx="360745" cy="251460"/>
          </a:xfrm>
          <a:prstGeom prst="rect">
            <a:avLst/>
          </a:prstGeom>
        </p:spPr>
      </p:pic>
      <p:sp>
        <p:nvSpPr>
          <p:cNvPr id="50" name="Text Box 27"/>
          <p:cNvSpPr txBox="1">
            <a:spLocks noChangeArrowheads="1"/>
          </p:cNvSpPr>
          <p:nvPr/>
        </p:nvSpPr>
        <p:spPr bwMode="auto">
          <a:xfrm>
            <a:off x="688340" y="3301365"/>
            <a:ext cx="397510" cy="82994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1200" dirty="0">
                <a:solidFill>
                  <a:srgbClr val="00B050"/>
                </a:solidFill>
                <a:latin typeface="Heiti SC Light" panose="02000000000000000000" charset="-122"/>
                <a:ea typeface="Heiti SC Light" panose="02000000000000000000" charset="-122"/>
              </a:rPr>
              <a:t>安全</a:t>
            </a:r>
            <a:r>
              <a:rPr lang="zh-CN" altLang="en-US" sz="1200" dirty="0">
                <a:solidFill>
                  <a:srgbClr val="00B050"/>
                </a:solidFill>
                <a:latin typeface="Heiti SC Light" panose="02000000000000000000" charset="-122"/>
                <a:ea typeface="Heiti SC Light" panose="02000000000000000000" charset="-122"/>
              </a:rPr>
              <a:t>绿区</a:t>
            </a:r>
            <a:endParaRPr lang="zh-CN" altLang="en-US" sz="1200" dirty="0">
              <a:solidFill>
                <a:srgbClr val="00B050"/>
              </a:solidFill>
              <a:latin typeface="Heiti SC Light" panose="02000000000000000000" charset="-122"/>
              <a:ea typeface="Heiti SC Light" panose="02000000000000000000" charset="-122"/>
            </a:endParaRPr>
          </a:p>
        </p:txBody>
      </p:sp>
      <p:sp>
        <p:nvSpPr>
          <p:cNvPr id="51" name="Text Box 27"/>
          <p:cNvSpPr txBox="1">
            <a:spLocks noChangeArrowheads="1"/>
          </p:cNvSpPr>
          <p:nvPr/>
        </p:nvSpPr>
        <p:spPr bwMode="auto">
          <a:xfrm>
            <a:off x="4569299" y="3301168"/>
            <a:ext cx="430821" cy="82994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1200" dirty="0">
                <a:solidFill>
                  <a:srgbClr val="ED7D31"/>
                </a:solidFill>
                <a:latin typeface="Heiti SC Light" panose="02000000000000000000" charset="-122"/>
                <a:ea typeface="Heiti SC Light" panose="02000000000000000000" charset="-122"/>
              </a:rPr>
              <a:t>安全橙区</a:t>
            </a:r>
            <a:endParaRPr lang="zh-CN" altLang="en-US" sz="1200" dirty="0">
              <a:solidFill>
                <a:srgbClr val="ED7D31"/>
              </a:solidFill>
              <a:latin typeface="Heiti SC Light" panose="02000000000000000000" charset="-122"/>
              <a:ea typeface="Heiti SC Light" panose="02000000000000000000" charset="-122"/>
            </a:endParaRPr>
          </a:p>
        </p:txBody>
      </p:sp>
      <p:pic>
        <p:nvPicPr>
          <p:cNvPr id="53" name="图片 52"/>
          <p:cNvPicPr/>
          <p:nvPr/>
        </p:nvPicPr>
        <p:blipFill>
          <a:blip r:embed="rId8"/>
          <a:stretch>
            <a:fillRect/>
          </a:stretch>
        </p:blipFill>
        <p:spPr>
          <a:xfrm>
            <a:off x="3102292" y="4757815"/>
            <a:ext cx="288000" cy="288290"/>
          </a:xfrm>
          <a:prstGeom prst="rect">
            <a:avLst/>
          </a:prstGeom>
        </p:spPr>
      </p:pic>
      <p:pic>
        <p:nvPicPr>
          <p:cNvPr id="54" name="图片 53"/>
          <p:cNvPicPr/>
          <p:nvPr/>
        </p:nvPicPr>
        <p:blipFill>
          <a:blip r:embed="rId9"/>
          <a:stretch>
            <a:fillRect/>
          </a:stretch>
        </p:blipFill>
        <p:spPr>
          <a:xfrm>
            <a:off x="3102465" y="3938320"/>
            <a:ext cx="287655" cy="288000"/>
          </a:xfrm>
          <a:prstGeom prst="rect">
            <a:avLst/>
          </a:prstGeom>
        </p:spPr>
      </p:pic>
      <p:pic>
        <p:nvPicPr>
          <p:cNvPr id="55" name="图片 54"/>
          <p:cNvPicPr/>
          <p:nvPr/>
        </p:nvPicPr>
        <p:blipFill>
          <a:blip r:embed="rId10"/>
          <a:stretch>
            <a:fillRect/>
          </a:stretch>
        </p:blipFill>
        <p:spPr>
          <a:xfrm flipH="1">
            <a:off x="3102293" y="4348240"/>
            <a:ext cx="288000" cy="287655"/>
          </a:xfrm>
          <a:prstGeom prst="rect">
            <a:avLst/>
          </a:prstGeom>
        </p:spPr>
      </p:pic>
      <p:sp>
        <p:nvSpPr>
          <p:cNvPr id="56" name="Text Box 27"/>
          <p:cNvSpPr txBox="1">
            <a:spLocks noChangeArrowheads="1"/>
          </p:cNvSpPr>
          <p:nvPr/>
        </p:nvSpPr>
        <p:spPr bwMode="auto">
          <a:xfrm>
            <a:off x="3479800" y="4398010"/>
            <a:ext cx="490855" cy="17970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nchor="ctr" anchorCtr="0">
            <a:noAutofit/>
          </a:bodyPr>
          <a:lstStyle/>
          <a:p>
            <a:pPr algn="ctr"/>
            <a:r>
              <a:rPr lang="zh-CN" altLang="en-US" sz="800" dirty="0" err="1">
                <a:solidFill>
                  <a:srgbClr val="000000"/>
                </a:solidFill>
                <a:latin typeface="Heiti SC Light" panose="02000000000000000000" charset="-122"/>
                <a:ea typeface="Heiti SC Light" panose="02000000000000000000" charset="-122"/>
              </a:rPr>
              <a:t>端点</a:t>
            </a:r>
            <a:r>
              <a:rPr lang="zh-CN" altLang="en-US" sz="800" dirty="0" err="1">
                <a:solidFill>
                  <a:srgbClr val="000000"/>
                </a:solidFill>
                <a:latin typeface="Heiti SC Light" panose="02000000000000000000" charset="-122"/>
                <a:ea typeface="Heiti SC Light" panose="02000000000000000000" charset="-122"/>
              </a:rPr>
              <a:t>保护</a:t>
            </a:r>
            <a:endParaRPr lang="zh-CN" altLang="en-US" sz="800" dirty="0" err="1">
              <a:solidFill>
                <a:srgbClr val="000000"/>
              </a:solidFill>
              <a:latin typeface="Heiti SC Light" panose="02000000000000000000" charset="-122"/>
              <a:ea typeface="Heiti SC Light" panose="02000000000000000000" charset="-122"/>
            </a:endParaRPr>
          </a:p>
        </p:txBody>
      </p:sp>
      <p:sp>
        <p:nvSpPr>
          <p:cNvPr id="60" name="Text Box 27"/>
          <p:cNvSpPr txBox="1">
            <a:spLocks noChangeArrowheads="1"/>
          </p:cNvSpPr>
          <p:nvPr/>
        </p:nvSpPr>
        <p:spPr bwMode="auto">
          <a:xfrm>
            <a:off x="3479800" y="3983990"/>
            <a:ext cx="490855" cy="15938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noAutofit/>
          </a:bodyPr>
          <a:lstStyle/>
          <a:p>
            <a:pPr algn="ctr"/>
            <a:r>
              <a:rPr lang="zh-CN" altLang="en-US" sz="800" dirty="0">
                <a:solidFill>
                  <a:srgbClr val="000000"/>
                </a:solidFill>
                <a:latin typeface="Heiti SC Light" panose="02000000000000000000" charset="-122"/>
                <a:ea typeface="Heiti SC Light" panose="02000000000000000000" charset="-122"/>
              </a:rPr>
              <a:t>流量</a:t>
            </a:r>
            <a:r>
              <a:rPr lang="zh-CN" altLang="en-US" sz="800" dirty="0">
                <a:solidFill>
                  <a:srgbClr val="000000"/>
                </a:solidFill>
                <a:latin typeface="Heiti SC Light" panose="02000000000000000000" charset="-122"/>
                <a:ea typeface="Heiti SC Light" panose="02000000000000000000" charset="-122"/>
              </a:rPr>
              <a:t>监测</a:t>
            </a:r>
            <a:endParaRPr lang="zh-CN" altLang="en-US" sz="800" dirty="0">
              <a:solidFill>
                <a:srgbClr val="000000"/>
              </a:solidFill>
              <a:latin typeface="Heiti SC Light" panose="02000000000000000000" charset="-122"/>
              <a:ea typeface="Heiti SC Light" panose="02000000000000000000" charset="-122"/>
            </a:endParaRPr>
          </a:p>
        </p:txBody>
      </p:sp>
      <p:sp>
        <p:nvSpPr>
          <p:cNvPr id="61" name="Text Box 27"/>
          <p:cNvSpPr txBox="1">
            <a:spLocks noChangeArrowheads="1"/>
          </p:cNvSpPr>
          <p:nvPr/>
        </p:nvSpPr>
        <p:spPr bwMode="auto">
          <a:xfrm>
            <a:off x="1673225" y="560959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核心</a:t>
            </a:r>
            <a:r>
              <a:rPr lang="en-US" altLang="zh-CN" sz="800" dirty="0">
                <a:solidFill>
                  <a:srgbClr val="000000"/>
                </a:solidFill>
                <a:latin typeface="Heiti SC Light" panose="02000000000000000000" charset="-122"/>
                <a:ea typeface="Heiti SC Light" panose="02000000000000000000" charset="-122"/>
              </a:rPr>
              <a:t>PC</a:t>
            </a:r>
            <a:r>
              <a:rPr lang="zh-CN" altLang="en-US" sz="800" dirty="0">
                <a:solidFill>
                  <a:srgbClr val="000000"/>
                </a:solidFill>
                <a:latin typeface="Heiti SC Light" panose="02000000000000000000" charset="-122"/>
                <a:ea typeface="Heiti SC Light" panose="02000000000000000000" charset="-122"/>
              </a:rPr>
              <a:t>：</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pic>
        <p:nvPicPr>
          <p:cNvPr id="67" name="图片 66"/>
          <p:cNvPicPr/>
          <p:nvPr/>
        </p:nvPicPr>
        <p:blipFill>
          <a:blip r:embed="rId11">
            <a:extLst>
              <a:ext uri="{28A0092B-C50C-407E-A947-70E740481C1C}">
                <a14:useLocalDpi xmlns:a14="http://schemas.microsoft.com/office/drawing/2010/main" val="0"/>
              </a:ext>
            </a:extLst>
          </a:blip>
          <a:stretch>
            <a:fillRect/>
          </a:stretch>
        </p:blipFill>
        <p:spPr>
          <a:xfrm>
            <a:off x="1212304" y="3907866"/>
            <a:ext cx="360000" cy="360000"/>
          </a:xfrm>
          <a:prstGeom prst="rect">
            <a:avLst/>
          </a:prstGeom>
        </p:spPr>
      </p:pic>
      <p:pic>
        <p:nvPicPr>
          <p:cNvPr id="71" name="图片 70"/>
          <p:cNvPicPr/>
          <p:nvPr/>
        </p:nvPicPr>
        <p:blipFill>
          <a:blip r:embed="rId11">
            <a:extLst>
              <a:ext uri="{28A0092B-C50C-407E-A947-70E740481C1C}">
                <a14:useLocalDpi xmlns:a14="http://schemas.microsoft.com/office/drawing/2010/main" val="0"/>
              </a:ext>
            </a:extLst>
          </a:blip>
          <a:stretch>
            <a:fillRect/>
          </a:stretch>
        </p:blipFill>
        <p:spPr>
          <a:xfrm>
            <a:off x="1212240" y="4479956"/>
            <a:ext cx="360000" cy="359410"/>
          </a:xfrm>
          <a:prstGeom prst="rect">
            <a:avLst/>
          </a:prstGeom>
        </p:spPr>
      </p:pic>
      <p:sp>
        <p:nvSpPr>
          <p:cNvPr id="72" name="Text Box 27"/>
          <p:cNvSpPr txBox="1">
            <a:spLocks noChangeArrowheads="1"/>
          </p:cNvSpPr>
          <p:nvPr/>
        </p:nvSpPr>
        <p:spPr bwMode="auto">
          <a:xfrm>
            <a:off x="1624330" y="391223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生产系统：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sp>
        <p:nvSpPr>
          <p:cNvPr id="73" name="Text Box 27"/>
          <p:cNvSpPr txBox="1">
            <a:spLocks noChangeArrowheads="1"/>
          </p:cNvSpPr>
          <p:nvPr/>
        </p:nvSpPr>
        <p:spPr bwMode="auto">
          <a:xfrm>
            <a:off x="1624330" y="447802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研发系统：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pic>
        <p:nvPicPr>
          <p:cNvPr id="74" name="图片 73"/>
          <p:cNvPicPr/>
          <p:nvPr/>
        </p:nvPicPr>
        <p:blipFill>
          <a:blip r:embed="rId11">
            <a:extLst>
              <a:ext uri="{28A0092B-C50C-407E-A947-70E740481C1C}">
                <a14:useLocalDpi xmlns:a14="http://schemas.microsoft.com/office/drawing/2010/main" val="0"/>
              </a:ext>
            </a:extLst>
          </a:blip>
          <a:stretch>
            <a:fillRect/>
          </a:stretch>
        </p:blipFill>
        <p:spPr>
          <a:xfrm>
            <a:off x="1212240" y="5051456"/>
            <a:ext cx="360000" cy="359410"/>
          </a:xfrm>
          <a:prstGeom prst="rect">
            <a:avLst/>
          </a:prstGeom>
        </p:spPr>
      </p:pic>
      <p:sp>
        <p:nvSpPr>
          <p:cNvPr id="75" name="Text Box 27"/>
          <p:cNvSpPr txBox="1">
            <a:spLocks noChangeArrowheads="1"/>
          </p:cNvSpPr>
          <p:nvPr/>
        </p:nvSpPr>
        <p:spPr bwMode="auto">
          <a:xfrm>
            <a:off x="1624330" y="504380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办公系统：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sp>
        <p:nvSpPr>
          <p:cNvPr id="80" name="Text Box 27"/>
          <p:cNvSpPr txBox="1">
            <a:spLocks noChangeArrowheads="1"/>
          </p:cNvSpPr>
          <p:nvPr/>
        </p:nvSpPr>
        <p:spPr bwMode="auto">
          <a:xfrm>
            <a:off x="3479800" y="4832350"/>
            <a:ext cx="490855" cy="12255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spAutoFit/>
          </a:bodyPr>
          <a:lstStyle/>
          <a:p>
            <a:pPr algn="ctr"/>
            <a:r>
              <a:rPr lang="zh-CN" altLang="en-US" sz="800" dirty="0">
                <a:solidFill>
                  <a:srgbClr val="000000"/>
                </a:solidFill>
                <a:latin typeface="Heiti SC Light" panose="02000000000000000000" charset="-122"/>
                <a:ea typeface="Heiti SC Light" panose="02000000000000000000" charset="-122"/>
              </a:rPr>
              <a:t>边界</a:t>
            </a:r>
            <a:r>
              <a:rPr lang="zh-CN" altLang="en-US" sz="800" dirty="0">
                <a:solidFill>
                  <a:srgbClr val="000000"/>
                </a:solidFill>
                <a:latin typeface="Heiti SC Light" panose="02000000000000000000" charset="-122"/>
                <a:ea typeface="Heiti SC Light" panose="02000000000000000000" charset="-122"/>
              </a:rPr>
              <a:t>防护</a:t>
            </a:r>
            <a:endParaRPr lang="zh-CN" altLang="en-US" sz="800" dirty="0">
              <a:solidFill>
                <a:srgbClr val="000000"/>
              </a:solidFill>
              <a:latin typeface="Heiti SC Light" panose="02000000000000000000" charset="-122"/>
              <a:ea typeface="Heiti SC Light" panose="02000000000000000000" charset="-122"/>
            </a:endParaRPr>
          </a:p>
        </p:txBody>
      </p:sp>
      <p:sp>
        <p:nvSpPr>
          <p:cNvPr id="81" name="Text Box 27"/>
          <p:cNvSpPr txBox="1">
            <a:spLocks noChangeArrowheads="1"/>
          </p:cNvSpPr>
          <p:nvPr/>
        </p:nvSpPr>
        <p:spPr bwMode="auto">
          <a:xfrm>
            <a:off x="1211580" y="3347720"/>
            <a:ext cx="133604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业务</a:t>
            </a:r>
            <a:r>
              <a:rPr lang="zh-CN" altLang="en-US" sz="800" dirty="0">
                <a:solidFill>
                  <a:srgbClr val="000000"/>
                </a:solidFill>
                <a:latin typeface="Heiti SC Light" panose="02000000000000000000" charset="-122"/>
                <a:ea typeface="Heiti SC Light" panose="02000000000000000000" charset="-122"/>
              </a:rPr>
              <a:t>资产覆盖</a:t>
            </a:r>
            <a:r>
              <a:rPr lang="zh-CN" altLang="en-US" sz="800" dirty="0">
                <a:solidFill>
                  <a:srgbClr val="000000"/>
                </a:solidFill>
                <a:latin typeface="Heiti SC Light" panose="02000000000000000000" charset="-122"/>
                <a:ea typeface="Heiti SC Light" panose="02000000000000000000" charset="-122"/>
              </a:rPr>
              <a:t>范围</a:t>
            </a:r>
            <a:endParaRPr lang="zh-CN" altLang="en-US" sz="800" dirty="0">
              <a:solidFill>
                <a:srgbClr val="000000"/>
              </a:solidFill>
              <a:latin typeface="Heiti SC Light" panose="02000000000000000000" charset="-122"/>
              <a:ea typeface="Heiti SC Light" panose="02000000000000000000" charset="-122"/>
            </a:endParaRPr>
          </a:p>
        </p:txBody>
      </p:sp>
      <p:sp>
        <p:nvSpPr>
          <p:cNvPr id="82" name="Text Box 27"/>
          <p:cNvSpPr txBox="1">
            <a:spLocks noChangeArrowheads="1"/>
          </p:cNvSpPr>
          <p:nvPr/>
        </p:nvSpPr>
        <p:spPr bwMode="auto">
          <a:xfrm>
            <a:off x="2964815" y="335216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安全保护</a:t>
            </a:r>
            <a:r>
              <a:rPr lang="zh-CN" altLang="en-US" sz="800" dirty="0">
                <a:solidFill>
                  <a:srgbClr val="000000"/>
                </a:solidFill>
                <a:latin typeface="Heiti SC Light" panose="02000000000000000000" charset="-122"/>
                <a:ea typeface="Heiti SC Light" panose="02000000000000000000" charset="-122"/>
              </a:rPr>
              <a:t>能力水平</a:t>
            </a:r>
            <a:endParaRPr lang="zh-CN" altLang="en-US" sz="800" dirty="0">
              <a:solidFill>
                <a:srgbClr val="000000"/>
              </a:solidFill>
              <a:latin typeface="Heiti SC Light" panose="02000000000000000000" charset="-122"/>
              <a:ea typeface="Heiti SC Light" panose="02000000000000000000" charset="-122"/>
            </a:endParaRPr>
          </a:p>
        </p:txBody>
      </p:sp>
      <p:sp>
        <p:nvSpPr>
          <p:cNvPr id="83" name="Text Box 27"/>
          <p:cNvSpPr txBox="1">
            <a:spLocks noChangeArrowheads="1"/>
          </p:cNvSpPr>
          <p:nvPr/>
        </p:nvSpPr>
        <p:spPr bwMode="auto">
          <a:xfrm>
            <a:off x="3479800" y="5644102"/>
            <a:ext cx="489585" cy="180340"/>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nchor="ctr" anchorCtr="0">
            <a:noAutofit/>
          </a:bodyPr>
          <a:lstStyle/>
          <a:p>
            <a:pPr algn="ctr"/>
            <a:r>
              <a:rPr lang="en-US" altLang="zh-CN" sz="800" dirty="0">
                <a:solidFill>
                  <a:srgbClr val="000000"/>
                </a:solidFill>
                <a:latin typeface="Heiti SC Light" panose="02000000000000000000" charset="-122"/>
                <a:ea typeface="Heiti SC Light" panose="02000000000000000000" charset="-122"/>
              </a:rPr>
              <a:t>MSS</a:t>
            </a:r>
            <a:r>
              <a:rPr lang="zh-CN" altLang="en-US" sz="800" dirty="0">
                <a:solidFill>
                  <a:srgbClr val="000000"/>
                </a:solidFill>
                <a:latin typeface="Heiti SC Light" panose="02000000000000000000" charset="-122"/>
                <a:ea typeface="Heiti SC Light" panose="02000000000000000000" charset="-122"/>
              </a:rPr>
              <a:t>服务</a:t>
            </a:r>
            <a:endParaRPr lang="zh-CN" altLang="en-US" sz="800" dirty="0">
              <a:solidFill>
                <a:srgbClr val="000000"/>
              </a:solidFill>
              <a:latin typeface="Heiti SC Light" panose="02000000000000000000" charset="-122"/>
              <a:ea typeface="Heiti SC Light" panose="02000000000000000000" charset="-122"/>
            </a:endParaRPr>
          </a:p>
        </p:txBody>
      </p:sp>
      <p:pic>
        <p:nvPicPr>
          <p:cNvPr id="84" name="图片 83"/>
          <p:cNvPicPr/>
          <p:nvPr/>
        </p:nvPicPr>
        <p:blipFill>
          <a:blip r:embed="rId12"/>
          <a:stretch>
            <a:fillRect/>
          </a:stretch>
        </p:blipFill>
        <p:spPr>
          <a:xfrm>
            <a:off x="3101767" y="5585559"/>
            <a:ext cx="288000" cy="288000"/>
          </a:xfrm>
          <a:prstGeom prst="rect">
            <a:avLst/>
          </a:prstGeom>
        </p:spPr>
      </p:pic>
      <p:pic>
        <p:nvPicPr>
          <p:cNvPr id="85" name="图片 8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99703" y="5628036"/>
            <a:ext cx="360745" cy="251460"/>
          </a:xfrm>
          <a:prstGeom prst="rect">
            <a:avLst/>
          </a:prstGeom>
        </p:spPr>
      </p:pic>
      <p:pic>
        <p:nvPicPr>
          <p:cNvPr id="87" name="图片 86"/>
          <p:cNvPicPr/>
          <p:nvPr/>
        </p:nvPicPr>
        <p:blipFill>
          <a:blip r:embed="rId8"/>
          <a:stretch>
            <a:fillRect/>
          </a:stretch>
        </p:blipFill>
        <p:spPr>
          <a:xfrm>
            <a:off x="6890702" y="4762895"/>
            <a:ext cx="288000" cy="288290"/>
          </a:xfrm>
          <a:prstGeom prst="rect">
            <a:avLst/>
          </a:prstGeom>
        </p:spPr>
      </p:pic>
      <p:pic>
        <p:nvPicPr>
          <p:cNvPr id="88" name="图片 87"/>
          <p:cNvPicPr/>
          <p:nvPr/>
        </p:nvPicPr>
        <p:blipFill>
          <a:blip r:embed="rId9"/>
          <a:stretch>
            <a:fillRect/>
          </a:stretch>
        </p:blipFill>
        <p:spPr>
          <a:xfrm>
            <a:off x="6890875" y="3943400"/>
            <a:ext cx="287655" cy="288000"/>
          </a:xfrm>
          <a:prstGeom prst="rect">
            <a:avLst/>
          </a:prstGeom>
        </p:spPr>
      </p:pic>
      <p:sp>
        <p:nvSpPr>
          <p:cNvPr id="89" name="Text Box 27"/>
          <p:cNvSpPr txBox="1">
            <a:spLocks noChangeArrowheads="1"/>
          </p:cNvSpPr>
          <p:nvPr/>
        </p:nvSpPr>
        <p:spPr bwMode="auto">
          <a:xfrm>
            <a:off x="7268210" y="3989070"/>
            <a:ext cx="490855" cy="15938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noAutofit/>
          </a:bodyPr>
          <a:lstStyle/>
          <a:p>
            <a:pPr algn="ctr"/>
            <a:r>
              <a:rPr lang="zh-CN" altLang="en-US" sz="800" dirty="0">
                <a:solidFill>
                  <a:srgbClr val="000000"/>
                </a:solidFill>
                <a:latin typeface="Heiti SC Light" panose="02000000000000000000" charset="-122"/>
                <a:ea typeface="Heiti SC Light" panose="02000000000000000000" charset="-122"/>
              </a:rPr>
              <a:t>流量</a:t>
            </a:r>
            <a:r>
              <a:rPr lang="zh-CN" altLang="en-US" sz="800" dirty="0">
                <a:solidFill>
                  <a:srgbClr val="000000"/>
                </a:solidFill>
                <a:latin typeface="Heiti SC Light" panose="02000000000000000000" charset="-122"/>
                <a:ea typeface="Heiti SC Light" panose="02000000000000000000" charset="-122"/>
              </a:rPr>
              <a:t>监测</a:t>
            </a:r>
            <a:endParaRPr lang="zh-CN" altLang="en-US" sz="800" dirty="0">
              <a:solidFill>
                <a:srgbClr val="000000"/>
              </a:solidFill>
              <a:latin typeface="Heiti SC Light" panose="02000000000000000000" charset="-122"/>
              <a:ea typeface="Heiti SC Light" panose="02000000000000000000" charset="-122"/>
            </a:endParaRPr>
          </a:p>
        </p:txBody>
      </p:sp>
      <p:sp>
        <p:nvSpPr>
          <p:cNvPr id="90" name="Text Box 27"/>
          <p:cNvSpPr txBox="1">
            <a:spLocks noChangeArrowheads="1"/>
          </p:cNvSpPr>
          <p:nvPr/>
        </p:nvSpPr>
        <p:spPr bwMode="auto">
          <a:xfrm>
            <a:off x="5461635" y="561467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办公</a:t>
            </a:r>
            <a:r>
              <a:rPr lang="en-US" altLang="zh-CN" sz="800" dirty="0">
                <a:solidFill>
                  <a:srgbClr val="000000"/>
                </a:solidFill>
                <a:latin typeface="Heiti SC Light" panose="02000000000000000000" charset="-122"/>
                <a:ea typeface="Heiti SC Light" panose="02000000000000000000" charset="-122"/>
              </a:rPr>
              <a:t>PC</a:t>
            </a:r>
            <a:r>
              <a:rPr lang="zh-CN" altLang="en-US" sz="800" dirty="0">
                <a:solidFill>
                  <a:srgbClr val="000000"/>
                </a:solidFill>
                <a:latin typeface="Heiti SC Light" panose="02000000000000000000" charset="-122"/>
                <a:ea typeface="Heiti SC Light" panose="02000000000000000000" charset="-122"/>
              </a:rPr>
              <a:t>：</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pic>
        <p:nvPicPr>
          <p:cNvPr id="91" name="图片 90"/>
          <p:cNvPicPr/>
          <p:nvPr/>
        </p:nvPicPr>
        <p:blipFill>
          <a:blip r:embed="rId11">
            <a:extLst>
              <a:ext uri="{28A0092B-C50C-407E-A947-70E740481C1C}">
                <a14:useLocalDpi xmlns:a14="http://schemas.microsoft.com/office/drawing/2010/main" val="0"/>
              </a:ext>
            </a:extLst>
          </a:blip>
          <a:stretch>
            <a:fillRect/>
          </a:stretch>
        </p:blipFill>
        <p:spPr>
          <a:xfrm>
            <a:off x="5000714" y="3912946"/>
            <a:ext cx="360000" cy="360000"/>
          </a:xfrm>
          <a:prstGeom prst="rect">
            <a:avLst/>
          </a:prstGeom>
        </p:spPr>
      </p:pic>
      <p:pic>
        <p:nvPicPr>
          <p:cNvPr id="92" name="图片 91"/>
          <p:cNvPicPr/>
          <p:nvPr/>
        </p:nvPicPr>
        <p:blipFill>
          <a:blip r:embed="rId11">
            <a:extLst>
              <a:ext uri="{28A0092B-C50C-407E-A947-70E740481C1C}">
                <a14:useLocalDpi xmlns:a14="http://schemas.microsoft.com/office/drawing/2010/main" val="0"/>
              </a:ext>
            </a:extLst>
          </a:blip>
          <a:stretch>
            <a:fillRect/>
          </a:stretch>
        </p:blipFill>
        <p:spPr>
          <a:xfrm>
            <a:off x="5000650" y="4485036"/>
            <a:ext cx="360000" cy="359410"/>
          </a:xfrm>
          <a:prstGeom prst="rect">
            <a:avLst/>
          </a:prstGeom>
        </p:spPr>
      </p:pic>
      <p:sp>
        <p:nvSpPr>
          <p:cNvPr id="93" name="Text Box 27"/>
          <p:cNvSpPr txBox="1">
            <a:spLocks noChangeArrowheads="1"/>
          </p:cNvSpPr>
          <p:nvPr/>
        </p:nvSpPr>
        <p:spPr bwMode="auto">
          <a:xfrm>
            <a:off x="5412740" y="391731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生产系统：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sp>
        <p:nvSpPr>
          <p:cNvPr id="94" name="Text Box 27"/>
          <p:cNvSpPr txBox="1">
            <a:spLocks noChangeArrowheads="1"/>
          </p:cNvSpPr>
          <p:nvPr/>
        </p:nvSpPr>
        <p:spPr bwMode="auto">
          <a:xfrm>
            <a:off x="5412740" y="448310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研发系统：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pic>
        <p:nvPicPr>
          <p:cNvPr id="95" name="图片 94"/>
          <p:cNvPicPr/>
          <p:nvPr/>
        </p:nvPicPr>
        <p:blipFill>
          <a:blip r:embed="rId11">
            <a:extLst>
              <a:ext uri="{28A0092B-C50C-407E-A947-70E740481C1C}">
                <a14:useLocalDpi xmlns:a14="http://schemas.microsoft.com/office/drawing/2010/main" val="0"/>
              </a:ext>
            </a:extLst>
          </a:blip>
          <a:stretch>
            <a:fillRect/>
          </a:stretch>
        </p:blipFill>
        <p:spPr>
          <a:xfrm>
            <a:off x="5000650" y="5056536"/>
            <a:ext cx="360000" cy="359410"/>
          </a:xfrm>
          <a:prstGeom prst="rect">
            <a:avLst/>
          </a:prstGeom>
        </p:spPr>
      </p:pic>
      <p:sp>
        <p:nvSpPr>
          <p:cNvPr id="96" name="Text Box 27"/>
          <p:cNvSpPr txBox="1">
            <a:spLocks noChangeArrowheads="1"/>
          </p:cNvSpPr>
          <p:nvPr/>
        </p:nvSpPr>
        <p:spPr bwMode="auto">
          <a:xfrm>
            <a:off x="5412740" y="504888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办公系统：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sp>
        <p:nvSpPr>
          <p:cNvPr id="97" name="Text Box 27"/>
          <p:cNvSpPr txBox="1">
            <a:spLocks noChangeArrowheads="1"/>
          </p:cNvSpPr>
          <p:nvPr/>
        </p:nvSpPr>
        <p:spPr bwMode="auto">
          <a:xfrm>
            <a:off x="7268210" y="4837430"/>
            <a:ext cx="490855" cy="12255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spAutoFit/>
          </a:bodyPr>
          <a:lstStyle/>
          <a:p>
            <a:pPr algn="ctr"/>
            <a:r>
              <a:rPr lang="zh-CN" altLang="en-US" sz="800" dirty="0">
                <a:solidFill>
                  <a:srgbClr val="000000"/>
                </a:solidFill>
                <a:latin typeface="Heiti SC Light" panose="02000000000000000000" charset="-122"/>
                <a:ea typeface="Heiti SC Light" panose="02000000000000000000" charset="-122"/>
              </a:rPr>
              <a:t>边界</a:t>
            </a:r>
            <a:r>
              <a:rPr lang="zh-CN" altLang="en-US" sz="800" dirty="0">
                <a:solidFill>
                  <a:srgbClr val="000000"/>
                </a:solidFill>
                <a:latin typeface="Heiti SC Light" panose="02000000000000000000" charset="-122"/>
                <a:ea typeface="Heiti SC Light" panose="02000000000000000000" charset="-122"/>
              </a:rPr>
              <a:t>防护</a:t>
            </a:r>
            <a:endParaRPr lang="zh-CN" altLang="en-US" sz="800" dirty="0">
              <a:solidFill>
                <a:srgbClr val="000000"/>
              </a:solidFill>
              <a:latin typeface="Heiti SC Light" panose="02000000000000000000" charset="-122"/>
              <a:ea typeface="Heiti SC Light" panose="02000000000000000000" charset="-122"/>
            </a:endParaRPr>
          </a:p>
        </p:txBody>
      </p:sp>
      <p:sp>
        <p:nvSpPr>
          <p:cNvPr id="98" name="Text Box 27"/>
          <p:cNvSpPr txBox="1">
            <a:spLocks noChangeArrowheads="1"/>
          </p:cNvSpPr>
          <p:nvPr/>
        </p:nvSpPr>
        <p:spPr bwMode="auto">
          <a:xfrm>
            <a:off x="7268210" y="5649182"/>
            <a:ext cx="489585" cy="180340"/>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nchor="ctr" anchorCtr="0">
            <a:noAutofit/>
          </a:bodyPr>
          <a:lstStyle/>
          <a:p>
            <a:pPr algn="ctr"/>
            <a:r>
              <a:rPr lang="en-US" altLang="zh-CN" sz="800" dirty="0">
                <a:solidFill>
                  <a:srgbClr val="000000"/>
                </a:solidFill>
                <a:latin typeface="Heiti SC Light" panose="02000000000000000000" charset="-122"/>
                <a:ea typeface="Heiti SC Light" panose="02000000000000000000" charset="-122"/>
              </a:rPr>
              <a:t>MSS</a:t>
            </a:r>
            <a:r>
              <a:rPr lang="zh-CN" altLang="en-US" sz="800" dirty="0">
                <a:solidFill>
                  <a:srgbClr val="000000"/>
                </a:solidFill>
                <a:latin typeface="Heiti SC Light" panose="02000000000000000000" charset="-122"/>
                <a:ea typeface="Heiti SC Light" panose="02000000000000000000" charset="-122"/>
              </a:rPr>
              <a:t>服务</a:t>
            </a:r>
            <a:endParaRPr lang="zh-CN" altLang="en-US" sz="800" dirty="0">
              <a:solidFill>
                <a:srgbClr val="000000"/>
              </a:solidFill>
              <a:latin typeface="Heiti SC Light" panose="02000000000000000000" charset="-122"/>
              <a:ea typeface="Heiti SC Light" panose="02000000000000000000" charset="-122"/>
            </a:endParaRPr>
          </a:p>
        </p:txBody>
      </p:sp>
      <p:pic>
        <p:nvPicPr>
          <p:cNvPr id="99" name="图片 98"/>
          <p:cNvPicPr/>
          <p:nvPr/>
        </p:nvPicPr>
        <p:blipFill>
          <a:blip r:embed="rId12"/>
          <a:stretch>
            <a:fillRect/>
          </a:stretch>
        </p:blipFill>
        <p:spPr>
          <a:xfrm>
            <a:off x="6890177" y="5590639"/>
            <a:ext cx="288000" cy="288000"/>
          </a:xfrm>
          <a:prstGeom prst="rect">
            <a:avLst/>
          </a:prstGeom>
        </p:spPr>
      </p:pic>
      <p:sp>
        <p:nvSpPr>
          <p:cNvPr id="100" name="Text Box 27"/>
          <p:cNvSpPr txBox="1">
            <a:spLocks noChangeArrowheads="1"/>
          </p:cNvSpPr>
          <p:nvPr/>
        </p:nvSpPr>
        <p:spPr bwMode="auto">
          <a:xfrm>
            <a:off x="5033010" y="3352165"/>
            <a:ext cx="133604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业务</a:t>
            </a:r>
            <a:r>
              <a:rPr lang="zh-CN" altLang="en-US" sz="800" dirty="0">
                <a:solidFill>
                  <a:srgbClr val="000000"/>
                </a:solidFill>
                <a:latin typeface="Heiti SC Light" panose="02000000000000000000" charset="-122"/>
                <a:ea typeface="Heiti SC Light" panose="02000000000000000000" charset="-122"/>
              </a:rPr>
              <a:t>资产覆盖</a:t>
            </a:r>
            <a:r>
              <a:rPr lang="zh-CN" altLang="en-US" sz="800" dirty="0">
                <a:solidFill>
                  <a:srgbClr val="000000"/>
                </a:solidFill>
                <a:latin typeface="Heiti SC Light" panose="02000000000000000000" charset="-122"/>
                <a:ea typeface="Heiti SC Light" panose="02000000000000000000" charset="-122"/>
              </a:rPr>
              <a:t>范围</a:t>
            </a:r>
            <a:endParaRPr lang="zh-CN" altLang="en-US" sz="800" dirty="0">
              <a:solidFill>
                <a:srgbClr val="000000"/>
              </a:solidFill>
              <a:latin typeface="Heiti SC Light" panose="02000000000000000000" charset="-122"/>
              <a:ea typeface="Heiti SC Light" panose="02000000000000000000" charset="-122"/>
            </a:endParaRPr>
          </a:p>
        </p:txBody>
      </p:sp>
      <p:sp>
        <p:nvSpPr>
          <p:cNvPr id="101" name="Text Box 27"/>
          <p:cNvSpPr txBox="1">
            <a:spLocks noChangeArrowheads="1"/>
          </p:cNvSpPr>
          <p:nvPr/>
        </p:nvSpPr>
        <p:spPr bwMode="auto">
          <a:xfrm>
            <a:off x="6786245" y="335661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安全保护</a:t>
            </a:r>
            <a:r>
              <a:rPr lang="zh-CN" altLang="en-US" sz="800" dirty="0">
                <a:solidFill>
                  <a:srgbClr val="000000"/>
                </a:solidFill>
                <a:latin typeface="Heiti SC Light" panose="02000000000000000000" charset="-122"/>
                <a:ea typeface="Heiti SC Light" panose="02000000000000000000" charset="-122"/>
              </a:rPr>
              <a:t>能力水平</a:t>
            </a:r>
            <a:endParaRPr lang="zh-CN" altLang="en-US" sz="800" dirty="0">
              <a:solidFill>
                <a:srgbClr val="000000"/>
              </a:solidFill>
              <a:latin typeface="Heiti SC Light" panose="02000000000000000000" charset="-122"/>
              <a:ea typeface="Heiti SC Light" panose="02000000000000000000" charset="-122"/>
            </a:endParaRPr>
          </a:p>
        </p:txBody>
      </p:sp>
      <p:sp>
        <p:nvSpPr>
          <p:cNvPr id="102" name="Text Box 27"/>
          <p:cNvSpPr txBox="1">
            <a:spLocks noChangeArrowheads="1"/>
          </p:cNvSpPr>
          <p:nvPr/>
        </p:nvSpPr>
        <p:spPr bwMode="auto">
          <a:xfrm>
            <a:off x="6786245" y="5117465"/>
            <a:ext cx="1623695" cy="398780"/>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1000" dirty="0">
                <a:solidFill>
                  <a:srgbClr val="000000"/>
                </a:solidFill>
                <a:highlight>
                  <a:srgbClr val="FFFF00"/>
                </a:highlight>
                <a:latin typeface="Heiti SC Light" panose="02000000000000000000" charset="-122"/>
                <a:ea typeface="Heiti SC Light" panose="02000000000000000000" charset="-122"/>
              </a:rPr>
              <a:t>根据实际情况体现缺失的安全能力部分</a:t>
            </a:r>
            <a:endParaRPr lang="zh-CN" altLang="en-US" sz="1000" dirty="0">
              <a:solidFill>
                <a:srgbClr val="000000"/>
              </a:solidFill>
              <a:highlight>
                <a:srgbClr val="FFFF00"/>
              </a:highlight>
              <a:latin typeface="Heiti SC Light" panose="02000000000000000000" charset="-122"/>
              <a:ea typeface="Heiti SC Light" panose="02000000000000000000" charset="-122"/>
            </a:endParaRPr>
          </a:p>
        </p:txBody>
      </p:sp>
      <p:sp>
        <p:nvSpPr>
          <p:cNvPr id="103" name="Text Box 27"/>
          <p:cNvSpPr txBox="1">
            <a:spLocks noChangeArrowheads="1"/>
          </p:cNvSpPr>
          <p:nvPr/>
        </p:nvSpPr>
        <p:spPr bwMode="auto">
          <a:xfrm>
            <a:off x="8296749" y="3347523"/>
            <a:ext cx="430821" cy="82994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1200" dirty="0">
                <a:solidFill>
                  <a:srgbClr val="FF0000"/>
                </a:solidFill>
                <a:latin typeface="Heiti SC Light" panose="02000000000000000000" charset="-122"/>
                <a:ea typeface="Heiti SC Light" panose="02000000000000000000" charset="-122"/>
              </a:rPr>
              <a:t>安全</a:t>
            </a:r>
            <a:r>
              <a:rPr lang="zh-CN" altLang="en-US" sz="1200" dirty="0">
                <a:solidFill>
                  <a:srgbClr val="FF0000"/>
                </a:solidFill>
                <a:latin typeface="Heiti SC Light" panose="02000000000000000000" charset="-122"/>
                <a:ea typeface="Heiti SC Light" panose="02000000000000000000" charset="-122"/>
              </a:rPr>
              <a:t>红区</a:t>
            </a:r>
            <a:endParaRPr lang="zh-CN" altLang="en-US" sz="1200" dirty="0">
              <a:solidFill>
                <a:srgbClr val="FF0000"/>
              </a:solidFill>
              <a:latin typeface="Heiti SC Light" panose="02000000000000000000" charset="-122"/>
              <a:ea typeface="Heiti SC Light" panose="02000000000000000000" charset="-122"/>
            </a:endParaRPr>
          </a:p>
        </p:txBody>
      </p:sp>
      <p:pic>
        <p:nvPicPr>
          <p:cNvPr id="104" name="图片 10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60173" y="4916836"/>
            <a:ext cx="360745" cy="251460"/>
          </a:xfrm>
          <a:prstGeom prst="rect">
            <a:avLst/>
          </a:prstGeom>
        </p:spPr>
      </p:pic>
      <p:sp>
        <p:nvSpPr>
          <p:cNvPr id="105" name="Text Box 27"/>
          <p:cNvSpPr txBox="1">
            <a:spLocks noChangeArrowheads="1"/>
          </p:cNvSpPr>
          <p:nvPr/>
        </p:nvSpPr>
        <p:spPr bwMode="auto">
          <a:xfrm>
            <a:off x="9222105" y="490347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办公</a:t>
            </a:r>
            <a:r>
              <a:rPr lang="en-US" altLang="zh-CN" sz="800" dirty="0">
                <a:solidFill>
                  <a:srgbClr val="000000"/>
                </a:solidFill>
                <a:latin typeface="Heiti SC Light" panose="02000000000000000000" charset="-122"/>
                <a:ea typeface="Heiti SC Light" panose="02000000000000000000" charset="-122"/>
              </a:rPr>
              <a:t>PC</a:t>
            </a:r>
            <a:r>
              <a:rPr lang="zh-CN" altLang="en-US" sz="800" dirty="0">
                <a:solidFill>
                  <a:srgbClr val="000000"/>
                </a:solidFill>
                <a:latin typeface="Heiti SC Light" panose="02000000000000000000" charset="-122"/>
                <a:ea typeface="Heiti SC Light" panose="02000000000000000000" charset="-122"/>
              </a:rPr>
              <a:t>：</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pic>
        <p:nvPicPr>
          <p:cNvPr id="106" name="图片 105"/>
          <p:cNvPicPr/>
          <p:nvPr/>
        </p:nvPicPr>
        <p:blipFill>
          <a:blip r:embed="rId11">
            <a:extLst>
              <a:ext uri="{28A0092B-C50C-407E-A947-70E740481C1C}">
                <a14:useLocalDpi xmlns:a14="http://schemas.microsoft.com/office/drawing/2010/main" val="0"/>
              </a:ext>
            </a:extLst>
          </a:blip>
          <a:stretch>
            <a:fillRect/>
          </a:stretch>
        </p:blipFill>
        <p:spPr>
          <a:xfrm>
            <a:off x="8761120" y="4345336"/>
            <a:ext cx="360000" cy="359410"/>
          </a:xfrm>
          <a:prstGeom prst="rect">
            <a:avLst/>
          </a:prstGeom>
        </p:spPr>
      </p:pic>
      <p:sp>
        <p:nvSpPr>
          <p:cNvPr id="107" name="Text Box 27"/>
          <p:cNvSpPr txBox="1">
            <a:spLocks noChangeArrowheads="1"/>
          </p:cNvSpPr>
          <p:nvPr/>
        </p:nvSpPr>
        <p:spPr bwMode="auto">
          <a:xfrm>
            <a:off x="9173210" y="433768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办公系统：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sp>
        <p:nvSpPr>
          <p:cNvPr id="108" name="Text Box 27"/>
          <p:cNvSpPr txBox="1">
            <a:spLocks noChangeArrowheads="1"/>
          </p:cNvSpPr>
          <p:nvPr/>
        </p:nvSpPr>
        <p:spPr bwMode="auto">
          <a:xfrm>
            <a:off x="10995660" y="4623435"/>
            <a:ext cx="490855" cy="12255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spAutoFit/>
          </a:bodyPr>
          <a:lstStyle/>
          <a:p>
            <a:pPr algn="ctr"/>
            <a:r>
              <a:rPr lang="zh-CN" altLang="en-US" sz="800" dirty="0">
                <a:solidFill>
                  <a:srgbClr val="000000"/>
                </a:solidFill>
                <a:latin typeface="Heiti SC Light" panose="02000000000000000000" charset="-122"/>
                <a:ea typeface="Heiti SC Light" panose="02000000000000000000" charset="-122"/>
              </a:rPr>
              <a:t>边界</a:t>
            </a:r>
            <a:r>
              <a:rPr lang="zh-CN" altLang="en-US" sz="800" dirty="0">
                <a:solidFill>
                  <a:srgbClr val="000000"/>
                </a:solidFill>
                <a:latin typeface="Heiti SC Light" panose="02000000000000000000" charset="-122"/>
                <a:ea typeface="Heiti SC Light" panose="02000000000000000000" charset="-122"/>
              </a:rPr>
              <a:t>保护</a:t>
            </a:r>
            <a:endParaRPr lang="zh-CN" altLang="en-US" sz="800" dirty="0">
              <a:solidFill>
                <a:srgbClr val="000000"/>
              </a:solidFill>
              <a:latin typeface="Heiti SC Light" panose="02000000000000000000" charset="-122"/>
              <a:ea typeface="Heiti SC Light" panose="02000000000000000000" charset="-122"/>
            </a:endParaRPr>
          </a:p>
        </p:txBody>
      </p:sp>
      <p:sp>
        <p:nvSpPr>
          <p:cNvPr id="109" name="Text Box 27"/>
          <p:cNvSpPr txBox="1">
            <a:spLocks noChangeArrowheads="1"/>
          </p:cNvSpPr>
          <p:nvPr/>
        </p:nvSpPr>
        <p:spPr bwMode="auto">
          <a:xfrm>
            <a:off x="8760460" y="3398520"/>
            <a:ext cx="133604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业务</a:t>
            </a:r>
            <a:r>
              <a:rPr lang="zh-CN" altLang="en-US" sz="800" dirty="0">
                <a:solidFill>
                  <a:srgbClr val="000000"/>
                </a:solidFill>
                <a:latin typeface="Heiti SC Light" panose="02000000000000000000" charset="-122"/>
                <a:ea typeface="Heiti SC Light" panose="02000000000000000000" charset="-122"/>
              </a:rPr>
              <a:t>资产覆盖</a:t>
            </a:r>
            <a:r>
              <a:rPr lang="zh-CN" altLang="en-US" sz="800" dirty="0">
                <a:solidFill>
                  <a:srgbClr val="000000"/>
                </a:solidFill>
                <a:latin typeface="Heiti SC Light" panose="02000000000000000000" charset="-122"/>
                <a:ea typeface="Heiti SC Light" panose="02000000000000000000" charset="-122"/>
              </a:rPr>
              <a:t>范围</a:t>
            </a:r>
            <a:endParaRPr lang="zh-CN" altLang="en-US" sz="800" dirty="0">
              <a:solidFill>
                <a:srgbClr val="000000"/>
              </a:solidFill>
              <a:latin typeface="Heiti SC Light" panose="02000000000000000000" charset="-122"/>
              <a:ea typeface="Heiti SC Light" panose="02000000000000000000" charset="-122"/>
            </a:endParaRPr>
          </a:p>
        </p:txBody>
      </p:sp>
      <p:sp>
        <p:nvSpPr>
          <p:cNvPr id="113" name="Text Box 27"/>
          <p:cNvSpPr txBox="1">
            <a:spLocks noChangeArrowheads="1"/>
          </p:cNvSpPr>
          <p:nvPr/>
        </p:nvSpPr>
        <p:spPr bwMode="auto">
          <a:xfrm>
            <a:off x="10513695" y="340296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安全保护</a:t>
            </a:r>
            <a:r>
              <a:rPr lang="zh-CN" altLang="en-US" sz="800" dirty="0">
                <a:solidFill>
                  <a:srgbClr val="000000"/>
                </a:solidFill>
                <a:latin typeface="Heiti SC Light" panose="02000000000000000000" charset="-122"/>
                <a:ea typeface="Heiti SC Light" panose="02000000000000000000" charset="-122"/>
              </a:rPr>
              <a:t>能力水平</a:t>
            </a:r>
            <a:endParaRPr lang="zh-CN" altLang="en-US" sz="800" dirty="0">
              <a:solidFill>
                <a:srgbClr val="000000"/>
              </a:solidFill>
              <a:latin typeface="Heiti SC Light" panose="02000000000000000000" charset="-122"/>
              <a:ea typeface="Heiti SC Light" panose="02000000000000000000" charset="-122"/>
            </a:endParaRPr>
          </a:p>
        </p:txBody>
      </p:sp>
      <p:pic>
        <p:nvPicPr>
          <p:cNvPr id="114" name="图片 113"/>
          <p:cNvPicPr/>
          <p:nvPr/>
        </p:nvPicPr>
        <p:blipFill>
          <a:blip r:embed="rId13"/>
          <a:stretch>
            <a:fillRect/>
          </a:stretch>
        </p:blipFill>
        <p:spPr>
          <a:xfrm flipH="1">
            <a:off x="3101434" y="5168175"/>
            <a:ext cx="288000" cy="288000"/>
          </a:xfrm>
          <a:prstGeom prst="rect">
            <a:avLst/>
          </a:prstGeom>
        </p:spPr>
      </p:pic>
      <p:sp>
        <p:nvSpPr>
          <p:cNvPr id="115" name="Text Box 27"/>
          <p:cNvSpPr txBox="1">
            <a:spLocks noChangeArrowheads="1"/>
          </p:cNvSpPr>
          <p:nvPr/>
        </p:nvSpPr>
        <p:spPr bwMode="auto">
          <a:xfrm>
            <a:off x="3479800" y="5191125"/>
            <a:ext cx="490855" cy="24574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spAutoFit/>
          </a:bodyPr>
          <a:lstStyle/>
          <a:p>
            <a:pPr algn="ctr"/>
            <a:r>
              <a:rPr lang="zh-CN" altLang="en-US" sz="800" dirty="0">
                <a:solidFill>
                  <a:srgbClr val="000000"/>
                </a:solidFill>
                <a:latin typeface="Heiti SC Light" panose="02000000000000000000" charset="-122"/>
                <a:ea typeface="Heiti SC Light" panose="02000000000000000000" charset="-122"/>
              </a:rPr>
              <a:t>安全运营</a:t>
            </a:r>
            <a:r>
              <a:rPr lang="zh-CN" altLang="en-US" sz="800" dirty="0">
                <a:solidFill>
                  <a:srgbClr val="000000"/>
                </a:solidFill>
                <a:latin typeface="Heiti SC Light" panose="02000000000000000000" charset="-122"/>
                <a:ea typeface="Heiti SC Light" panose="02000000000000000000" charset="-122"/>
              </a:rPr>
              <a:t>平台</a:t>
            </a:r>
            <a:endParaRPr lang="zh-CN" altLang="en-US" sz="800" dirty="0">
              <a:solidFill>
                <a:srgbClr val="000000"/>
              </a:solidFill>
              <a:latin typeface="Heiti SC Light" panose="02000000000000000000" charset="-122"/>
              <a:ea typeface="Heiti SC Light" panose="02000000000000000000" charset="-122"/>
            </a:endParaRPr>
          </a:p>
        </p:txBody>
      </p:sp>
      <p:pic>
        <p:nvPicPr>
          <p:cNvPr id="116" name="图片 115"/>
          <p:cNvPicPr/>
          <p:nvPr/>
        </p:nvPicPr>
        <p:blipFill>
          <a:blip r:embed="rId14">
            <a:extLst>
              <a:ext uri="{28A0092B-C50C-407E-A947-70E740481C1C}">
                <a14:useLocalDpi xmlns:a14="http://schemas.microsoft.com/office/drawing/2010/main" val="0"/>
              </a:ext>
            </a:extLst>
          </a:blip>
          <a:stretch>
            <a:fillRect/>
          </a:stretch>
        </p:blipFill>
        <p:spPr>
          <a:xfrm>
            <a:off x="10617622" y="4544244"/>
            <a:ext cx="288000" cy="288000"/>
          </a:xfrm>
          <a:prstGeom prst="rect">
            <a:avLst/>
          </a:prstGeom>
        </p:spPr>
      </p:pic>
      <p:sp>
        <p:nvSpPr>
          <p:cNvPr id="119" name="Text 10"/>
          <p:cNvSpPr/>
          <p:nvPr/>
        </p:nvSpPr>
        <p:spPr>
          <a:xfrm>
            <a:off x="884555" y="5998210"/>
            <a:ext cx="3048000" cy="426720"/>
          </a:xfrm>
          <a:prstGeom prst="rect">
            <a:avLst/>
          </a:prstGeom>
          <a:noFill/>
        </p:spPr>
        <p:txBody>
          <a:bodyPr wrap="square" rtlCol="0" anchor="ctr"/>
          <a:lstStyle/>
          <a:p>
            <a:pPr marL="0" indent="0" algn="ctr">
              <a:buNone/>
            </a:pP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具备相对完善的主动安全</a:t>
            </a: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保护能力</a:t>
            </a:r>
            <a:endPar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endParaRPr>
          </a:p>
        </p:txBody>
      </p:sp>
      <p:sp>
        <p:nvSpPr>
          <p:cNvPr id="120" name="Text 10"/>
          <p:cNvSpPr/>
          <p:nvPr/>
        </p:nvSpPr>
        <p:spPr>
          <a:xfrm>
            <a:off x="4711065" y="5998210"/>
            <a:ext cx="3180715" cy="426720"/>
          </a:xfrm>
          <a:prstGeom prst="rect">
            <a:avLst/>
          </a:prstGeom>
          <a:noFill/>
        </p:spPr>
        <p:txBody>
          <a:bodyPr wrap="square" rtlCol="0" anchor="ctr"/>
          <a:lstStyle/>
          <a:p>
            <a:pPr marL="0" indent="0" algn="ctr">
              <a:buNone/>
            </a:pP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安全防护</a:t>
            </a: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组件部分缺失或监测响应能力</a:t>
            </a: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缺失</a:t>
            </a:r>
            <a:endPar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endParaRPr>
          </a:p>
        </p:txBody>
      </p:sp>
      <p:sp>
        <p:nvSpPr>
          <p:cNvPr id="121" name="Text 10"/>
          <p:cNvSpPr/>
          <p:nvPr/>
        </p:nvSpPr>
        <p:spPr>
          <a:xfrm>
            <a:off x="8439150" y="5998210"/>
            <a:ext cx="3180715" cy="426720"/>
          </a:xfrm>
          <a:prstGeom prst="rect">
            <a:avLst/>
          </a:prstGeom>
          <a:noFill/>
        </p:spPr>
        <p:txBody>
          <a:bodyPr wrap="square" rtlCol="0" anchor="ctr"/>
          <a:lstStyle/>
          <a:p>
            <a:pPr marL="0" indent="0" algn="ctr">
              <a:buNone/>
            </a:pP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仅有基础的边界防护</a:t>
            </a: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能力</a:t>
            </a:r>
            <a:endPar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endParaRPr>
          </a:p>
        </p:txBody>
      </p:sp>
      <p:sp>
        <p:nvSpPr>
          <p:cNvPr id="64" name="Text Box 27"/>
          <p:cNvSpPr txBox="1">
            <a:spLocks noChangeArrowheads="1"/>
          </p:cNvSpPr>
          <p:nvPr/>
        </p:nvSpPr>
        <p:spPr bwMode="auto">
          <a:xfrm>
            <a:off x="10567670" y="4954905"/>
            <a:ext cx="162433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00" dirty="0">
                <a:solidFill>
                  <a:schemeClr val="tx1"/>
                </a:solidFill>
                <a:highlight>
                  <a:srgbClr val="FFFF00"/>
                </a:highlight>
                <a:latin typeface="Heiti SC Light" panose="02000000000000000000" charset="-122"/>
                <a:ea typeface="Heiti SC Light" panose="02000000000000000000" charset="-122"/>
              </a:rPr>
              <a:t>根据实际情况体现缺失的安全能力部分</a:t>
            </a:r>
            <a:endParaRPr lang="zh-CN" altLang="en-US" sz="1000" dirty="0">
              <a:solidFill>
                <a:schemeClr val="tx1"/>
              </a:solidFill>
              <a:highlight>
                <a:srgbClr val="FFFF00"/>
              </a:highlight>
              <a:latin typeface="Heiti SC Light" panose="02000000000000000000" charset="-122"/>
              <a:ea typeface="Heiti SC Light" panose="02000000000000000000"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pic>
        <p:nvPicPr>
          <p:cNvPr id="26" name="图片 25" descr="深信服 + 智安全"/>
          <p:cNvPicPr>
            <a:picLocks noChangeAspect="1"/>
          </p:cNvPicPr>
          <p:nvPr/>
        </p:nvPicPr>
        <p:blipFill>
          <a:blip r:embed="rId1"/>
          <a:srcRect l="5232" t="26576" r="4938" b="29565"/>
          <a:stretch>
            <a:fillRect/>
          </a:stretch>
        </p:blipFill>
        <p:spPr>
          <a:xfrm>
            <a:off x="10330815" y="273073"/>
            <a:ext cx="1629867" cy="360000"/>
          </a:xfrm>
          <a:prstGeom prst="rect">
            <a:avLst/>
          </a:prstGeom>
        </p:spPr>
      </p:pic>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价值成果</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预期</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nvSpPr>
        <p:spPr>
          <a:xfrm>
            <a:off x="4389120" y="1102360"/>
            <a:ext cx="3096000" cy="548640"/>
          </a:xfrm>
          <a:prstGeom prst="rect">
            <a:avLst/>
          </a:prstGeom>
          <a:solidFill>
            <a:srgbClr val="2563EB"/>
          </a:solidFill>
        </p:spPr>
      </p:sp>
      <p:sp>
        <p:nvSpPr>
          <p:cNvPr id="100" name="Text 16"/>
          <p:cNvSpPr/>
          <p:nvPr/>
        </p:nvSpPr>
        <p:spPr>
          <a:xfrm>
            <a:off x="438912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1" name="Shape 17"/>
          <p:cNvSpPr/>
          <p:nvPr/>
        </p:nvSpPr>
        <p:spPr>
          <a:xfrm>
            <a:off x="7487920" y="1102360"/>
            <a:ext cx="2194560" cy="548640"/>
          </a:xfrm>
          <a:prstGeom prst="rect">
            <a:avLst/>
          </a:prstGeom>
          <a:solidFill>
            <a:srgbClr val="D97706"/>
          </a:solidFill>
        </p:spPr>
      </p:sp>
      <p:sp>
        <p:nvSpPr>
          <p:cNvPr id="102" name="Text 18"/>
          <p:cNvSpPr/>
          <p:nvPr/>
        </p:nvSpPr>
        <p:spPr>
          <a:xfrm>
            <a:off x="7487920" y="1102360"/>
            <a:ext cx="2194560" cy="548640"/>
          </a:xfrm>
          <a:prstGeom prst="rect">
            <a:avLst/>
          </a:prstGeom>
          <a:noFill/>
        </p:spPr>
        <p:txBody>
          <a:bodyPr wrap="square" lIns="0" tIns="0" rIns="0" bIns="0" rtlCol="0" anchor="ctr"/>
          <a:lstStyle/>
          <a:p>
            <a:pPr marL="0" indent="0" algn="ctr">
              <a:buNone/>
            </a:pP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XX</a:t>
            </a:r>
            <a:r>
              <a:rPr lang="zh-CN" altLang="en-US" sz="1265" b="1" dirty="0">
                <a:solidFill>
                  <a:srgbClr val="2563EB"/>
                </a:solidFill>
                <a:latin typeface="微软雅黑" panose="020B0503020204020204" charset="-122"/>
                <a:ea typeface="微软雅黑" panose="020B0503020204020204" charset="-122"/>
                <a:cs typeface="微软雅黑" panose="020B0503020204020204" pitchFamily="34" charset="-120"/>
              </a:rPr>
              <a:t>渠道</a:t>
            </a: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现场支撑+本地化</a:t>
            </a:r>
            <a:r>
              <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服务</a:t>
            </a:r>
            <a:endPar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nvSpPr>
        <p:spPr>
          <a:xfrm>
            <a:off x="9682480" y="1102360"/>
            <a:ext cx="2194560" cy="548640"/>
          </a:xfrm>
          <a:prstGeom prst="rect">
            <a:avLst/>
          </a:prstGeom>
          <a:solidFill>
            <a:srgbClr val="059669"/>
          </a:solidFill>
        </p:spPr>
      </p:sp>
      <p:sp>
        <p:nvSpPr>
          <p:cNvPr id="104" name="Text 20"/>
          <p:cNvSpPr/>
          <p:nvPr/>
        </p:nvSpPr>
        <p:spPr>
          <a:xfrm>
            <a:off x="9682480" y="1102360"/>
            <a:ext cx="2194560" cy="548640"/>
          </a:xfrm>
          <a:prstGeom prst="rect">
            <a:avLst/>
          </a:prstGeom>
          <a:noFill/>
        </p:spPr>
        <p:txBody>
          <a:bodyPr wrap="square" lIns="0" tIns="0" rIns="0" bIns="0" rtlCol="0" anchor="ctr"/>
          <a:lstStyle/>
          <a:p>
            <a:pPr marL="0" indent="0" algn="ctr">
              <a:buNone/>
            </a:pPr>
            <a:r>
              <a:rPr lang="en-US" sz="1265">
                <a:solidFill>
                  <a:srgbClr val="4C61E7"/>
                </a:solidFill>
                <a:latin typeface="Arial" panose="020B0604020202020204" pitchFamily="34" charset="0"/>
                <a:ea typeface="黑体-简" panose="02000000000000000000" charset="-122"/>
                <a:cs typeface="Noto Sans SC"/>
                <a:sym typeface="Noto Sans SC"/>
              </a:rPr>
              <a:t>{{company</a:t>
            </a:r>
            <a:r>
              <a:rPr lang="en-US" altLang="zh-CN" sz="1265">
                <a:solidFill>
                  <a:srgbClr val="4C61E7"/>
                </a:solidFill>
                <a:latin typeface="Arial" panose="020B0604020202020204" pitchFamily="34" charset="0"/>
                <a:ea typeface="黑体-简" panose="02000000000000000000" charset="-122"/>
                <a:cs typeface="Noto Sans SC"/>
                <a:sym typeface="Noto Sans SC"/>
              </a:rPr>
              <a:t>}</a:t>
            </a:r>
            <a:r>
              <a:rPr lang="en-US" sz="1265">
                <a:solidFill>
                  <a:srgbClr val="4C61E7"/>
                </a:solidFill>
                <a:latin typeface="Arial" panose="020B0604020202020204" pitchFamily="34" charset="0"/>
                <a:ea typeface="黑体-简" panose="02000000000000000000" charset="-122"/>
                <a:cs typeface="Noto Sans SC"/>
                <a:sym typeface="Noto Sans SC"/>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grpSp>
        <p:nvGrpSpPr>
          <p:cNvPr id="7" name="组合 6"/>
          <p:cNvGrpSpPr/>
          <p:nvPr/>
        </p:nvGrpSpPr>
        <p:grpSpPr>
          <a:xfrm>
            <a:off x="304800" y="1651000"/>
            <a:ext cx="11572240" cy="1440180"/>
            <a:chOff x="480" y="2600"/>
            <a:chExt cx="18224" cy="2268"/>
          </a:xfrm>
        </p:grpSpPr>
        <p:sp>
          <p:nvSpPr>
            <p:cNvPr id="105" name="Shape 21"/>
            <p:cNvSpPr/>
            <p:nvPr/>
          </p:nvSpPr>
          <p:spPr>
            <a:xfrm>
              <a:off x="480" y="2600"/>
              <a:ext cx="2211" cy="2268"/>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2688" y="2600"/>
              <a:ext cx="4224" cy="2268"/>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b="1" dirty="0">
                <a:latin typeface="Heiti SC Light" panose="02000000000000000000" charset="-122"/>
                <a:ea typeface="Heiti SC Light" panose="02000000000000000000" charset="-122"/>
                <a:cs typeface="Heiti SC Light" panose="02000000000000000000" charset="-122"/>
                <a:sym typeface="+mn-ea"/>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nvSpPr>
          <p:spPr>
            <a:xfrm>
              <a:off x="6912" y="2600"/>
              <a:ext cx="4876" cy="2268"/>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nvSpPr>
          <p:spPr>
            <a:xfrm>
              <a:off x="6912" y="2600"/>
              <a:ext cx="77" cy="2268"/>
            </a:xfrm>
            <a:prstGeom prst="rect">
              <a:avLst/>
            </a:prstGeom>
            <a:solidFill>
              <a:srgbClr val="2563EB">
                <a:alpha val="50000"/>
              </a:srgbClr>
            </a:solidFill>
          </p:spPr>
        </p:sp>
        <p:sp>
          <p:nvSpPr>
            <p:cNvPr id="109" name="Shape 28"/>
            <p:cNvSpPr/>
            <p:nvPr/>
          </p:nvSpPr>
          <p:spPr>
            <a:xfrm>
              <a:off x="11792"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0" name="Shape 29"/>
            <p:cNvSpPr/>
            <p:nvPr/>
          </p:nvSpPr>
          <p:spPr>
            <a:xfrm>
              <a:off x="11792" y="2600"/>
              <a:ext cx="77" cy="2268"/>
            </a:xfrm>
            <a:prstGeom prst="rect">
              <a:avLst/>
            </a:prstGeom>
            <a:solidFill>
              <a:srgbClr val="D97706">
                <a:alpha val="50000"/>
              </a:srgbClr>
            </a:solidFill>
          </p:spPr>
        </p:sp>
        <p:sp>
          <p:nvSpPr>
            <p:cNvPr id="111" name="Shape 31"/>
            <p:cNvSpPr/>
            <p:nvPr/>
          </p:nvSpPr>
          <p:spPr>
            <a:xfrm>
              <a:off x="15248"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nvSpPr>
          <p:spPr>
            <a:xfrm>
              <a:off x="15248" y="2600"/>
              <a:ext cx="77" cy="2268"/>
            </a:xfrm>
            <a:prstGeom prst="rect">
              <a:avLst/>
            </a:prstGeom>
            <a:solidFill>
              <a:srgbClr val="059669">
                <a:alpha val="50000"/>
              </a:srgbClr>
            </a:solidFill>
          </p:spPr>
        </p:sp>
      </p:grpSp>
      <p:grpSp>
        <p:nvGrpSpPr>
          <p:cNvPr id="9" name="组合 8"/>
          <p:cNvGrpSpPr/>
          <p:nvPr/>
        </p:nvGrpSpPr>
        <p:grpSpPr>
          <a:xfrm>
            <a:off x="304800" y="3096895"/>
            <a:ext cx="11572240" cy="1440815"/>
            <a:chOff x="480" y="4296"/>
            <a:chExt cx="18224" cy="2269"/>
          </a:xfrm>
        </p:grpSpPr>
        <p:sp>
          <p:nvSpPr>
            <p:cNvPr id="113" name="Shape 34"/>
            <p:cNvSpPr/>
            <p:nvPr/>
          </p:nvSpPr>
          <p:spPr>
            <a:xfrm>
              <a:off x="480" y="4296"/>
              <a:ext cx="2211" cy="2268"/>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2688" y="4297"/>
              <a:ext cx="4224" cy="2268"/>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nvSpPr>
          <p:spPr>
            <a:xfrm>
              <a:off x="6912" y="4296"/>
              <a:ext cx="4876" cy="2268"/>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nvSpPr>
          <p:spPr>
            <a:xfrm>
              <a:off x="6912" y="4296"/>
              <a:ext cx="77" cy="2268"/>
            </a:xfrm>
            <a:prstGeom prst="rect">
              <a:avLst/>
            </a:prstGeom>
            <a:solidFill>
              <a:srgbClr val="2563EB">
                <a:alpha val="50000"/>
              </a:srgbClr>
            </a:solidFill>
          </p:spPr>
        </p:sp>
        <p:sp>
          <p:nvSpPr>
            <p:cNvPr id="117" name="Shape 41"/>
            <p:cNvSpPr/>
            <p:nvPr/>
          </p:nvSpPr>
          <p:spPr>
            <a:xfrm>
              <a:off x="11792"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8" name="Shape 42"/>
            <p:cNvSpPr/>
            <p:nvPr/>
          </p:nvSpPr>
          <p:spPr>
            <a:xfrm>
              <a:off x="11792" y="4296"/>
              <a:ext cx="77" cy="2268"/>
            </a:xfrm>
            <a:prstGeom prst="rect">
              <a:avLst/>
            </a:prstGeom>
            <a:solidFill>
              <a:srgbClr val="D97706">
                <a:alpha val="50000"/>
              </a:srgbClr>
            </a:solidFill>
          </p:spPr>
        </p:sp>
        <p:sp>
          <p:nvSpPr>
            <p:cNvPr id="119" name="Shape 44"/>
            <p:cNvSpPr/>
            <p:nvPr/>
          </p:nvSpPr>
          <p:spPr>
            <a:xfrm>
              <a:off x="15248"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nvSpPr>
          <p:spPr>
            <a:xfrm>
              <a:off x="15248" y="4296"/>
              <a:ext cx="77" cy="2268"/>
            </a:xfrm>
            <a:prstGeom prst="rect">
              <a:avLst/>
            </a:prstGeom>
            <a:solidFill>
              <a:srgbClr val="059669">
                <a:alpha val="50000"/>
              </a:srgbClr>
            </a:solidFill>
          </p:spPr>
        </p:sp>
      </p:grpSp>
      <p:grpSp>
        <p:nvGrpSpPr>
          <p:cNvPr id="10" name="组合 9"/>
          <p:cNvGrpSpPr/>
          <p:nvPr/>
        </p:nvGrpSpPr>
        <p:grpSpPr>
          <a:xfrm>
            <a:off x="304800" y="4543425"/>
            <a:ext cx="11572240" cy="1445260"/>
            <a:chOff x="480" y="7310"/>
            <a:chExt cx="18224" cy="2276"/>
          </a:xfrm>
        </p:grpSpPr>
        <p:sp>
          <p:nvSpPr>
            <p:cNvPr id="121" name="Shape 47"/>
            <p:cNvSpPr/>
            <p:nvPr/>
          </p:nvSpPr>
          <p:spPr>
            <a:xfrm>
              <a:off x="480" y="7316"/>
              <a:ext cx="2211" cy="2268"/>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2688" y="7318"/>
              <a:ext cx="4224" cy="2268"/>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b="1" dirty="0">
                <a:latin typeface="Heiti SC Light" panose="02000000000000000000" charset="-122"/>
                <a:ea typeface="Heiti SC Light" panose="02000000000000000000" charset="-122"/>
                <a:cs typeface="Heiti SC Light" panose="02000000000000000000" charset="-122"/>
                <a:sym typeface="+mn-ea"/>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nvSpPr>
          <p:spPr>
            <a:xfrm>
              <a:off x="6916" y="7310"/>
              <a:ext cx="487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nvSpPr>
          <p:spPr>
            <a:xfrm>
              <a:off x="6912" y="7317"/>
              <a:ext cx="77" cy="2268"/>
            </a:xfrm>
            <a:prstGeom prst="rect">
              <a:avLst/>
            </a:prstGeom>
            <a:solidFill>
              <a:srgbClr val="2563EB">
                <a:alpha val="50000"/>
              </a:srgbClr>
            </a:solidFill>
          </p:spPr>
        </p:sp>
        <p:sp>
          <p:nvSpPr>
            <p:cNvPr id="125" name="Shape 54"/>
            <p:cNvSpPr/>
            <p:nvPr/>
          </p:nvSpPr>
          <p:spPr>
            <a:xfrm>
              <a:off x="11792" y="7317"/>
              <a:ext cx="3456" cy="2268"/>
            </a:xfrm>
            <a:prstGeom prst="rect">
              <a:avLst/>
            </a:prstGeom>
            <a:solidFill>
              <a:srgbClr val="F8FAFC"/>
            </a:solidFill>
            <a:ln w="3810">
              <a:solidFill>
                <a:srgbClr val="E2E8F0"/>
              </a:solidFill>
              <a:prstDash val="solid"/>
            </a:ln>
          </p:spPr>
          <p:txBody>
            <a:bodyPr anchor="ctr" anchorCtr="0">
              <a:noAutofit/>
            </a:bodyPr>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6" name="Shape 55"/>
            <p:cNvSpPr/>
            <p:nvPr/>
          </p:nvSpPr>
          <p:spPr>
            <a:xfrm>
              <a:off x="11792" y="7317"/>
              <a:ext cx="77" cy="2268"/>
            </a:xfrm>
            <a:prstGeom prst="rect">
              <a:avLst/>
            </a:prstGeom>
            <a:solidFill>
              <a:srgbClr val="D97706">
                <a:alpha val="50000"/>
              </a:srgbClr>
            </a:solidFill>
          </p:spPr>
        </p:sp>
        <p:sp>
          <p:nvSpPr>
            <p:cNvPr id="127" name="Shape 57"/>
            <p:cNvSpPr/>
            <p:nvPr/>
          </p:nvSpPr>
          <p:spPr>
            <a:xfrm>
              <a:off x="15248" y="7317"/>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nvSpPr>
          <p:spPr>
            <a:xfrm>
              <a:off x="15248" y="7317"/>
              <a:ext cx="77" cy="2268"/>
            </a:xfrm>
            <a:prstGeom prst="rect">
              <a:avLst/>
            </a:prstGeom>
            <a:solidFill>
              <a:srgbClr val="059669">
                <a:alpha val="50000"/>
              </a:srgbClr>
            </a:solidFill>
          </p:spPr>
        </p:sp>
      </p:grpSp>
      <p:sp>
        <p:nvSpPr>
          <p:cNvPr id="11" name="Text Box 27"/>
          <p:cNvSpPr txBox="1">
            <a:spLocks noChangeArrowheads="1"/>
          </p:cNvSpPr>
          <p:nvPr/>
        </p:nvSpPr>
        <p:spPr bwMode="auto">
          <a:xfrm>
            <a:off x="2050415" y="1839595"/>
            <a:ext cx="199517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00" dirty="0">
                <a:solidFill>
                  <a:schemeClr val="tx1"/>
                </a:solidFill>
                <a:highlight>
                  <a:srgbClr val="FFFF00"/>
                </a:highlight>
                <a:latin typeface="Heiti SC Light" panose="02000000000000000000" charset="-122"/>
                <a:ea typeface="Heiti SC Light" panose="02000000000000000000" charset="-122"/>
              </a:rPr>
              <a:t>根据客户讨论对齐的结论刷新预期成果和协作计划</a:t>
            </a:r>
            <a:endParaRPr lang="zh-CN" altLang="en-US" sz="1000" dirty="0">
              <a:solidFill>
                <a:schemeClr val="tx1"/>
              </a:solidFill>
              <a:highlight>
                <a:srgbClr val="FFFF00"/>
              </a:highlight>
              <a:latin typeface="Heiti SC Light" panose="02000000000000000000" charset="-122"/>
              <a:ea typeface="Heiti SC Light" panose="02000000000000000000" charset="-122"/>
            </a:endParaRPr>
          </a:p>
        </p:txBody>
      </p:sp>
      <p:grpSp>
        <p:nvGrpSpPr>
          <p:cNvPr id="12" name="组合 11"/>
          <p:cNvGrpSpPr/>
          <p:nvPr/>
        </p:nvGrpSpPr>
        <p:grpSpPr>
          <a:xfrm>
            <a:off x="224790" y="289878"/>
            <a:ext cx="4462780" cy="327025"/>
            <a:chOff x="533" y="646"/>
            <a:chExt cx="7028" cy="515"/>
          </a:xfrm>
        </p:grpSpPr>
        <p:grpSp>
          <p:nvGrpSpPr>
            <p:cNvPr id="13" name="组合 12"/>
            <p:cNvGrpSpPr/>
            <p:nvPr/>
          </p:nvGrpSpPr>
          <p:grpSpPr>
            <a:xfrm rot="0">
              <a:off x="533" y="672"/>
              <a:ext cx="582" cy="420"/>
              <a:chOff x="533" y="672"/>
              <a:chExt cx="582" cy="420"/>
            </a:xfrm>
          </p:grpSpPr>
          <p:sp>
            <p:nvSpPr>
              <p:cNvPr id="1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5"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6" name="textbox 158"/>
            <p:cNvSpPr/>
            <p:nvPr/>
          </p:nvSpPr>
          <p:spPr>
            <a:xfrm>
              <a:off x="1345" y="646"/>
              <a:ext cx="6216"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关键价值成果与分工协作机制</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刷新</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grpSp>
        <p:nvGrpSpPr>
          <p:cNvPr id="9" name="组合 8"/>
          <p:cNvGrpSpPr/>
          <p:nvPr/>
        </p:nvGrpSpPr>
        <p:grpSpPr>
          <a:xfrm>
            <a:off x="224790" y="289878"/>
            <a:ext cx="5351145" cy="327025"/>
            <a:chOff x="533" y="646"/>
            <a:chExt cx="8427" cy="515"/>
          </a:xfrm>
        </p:grpSpPr>
        <p:grpSp>
          <p:nvGrpSpPr>
            <p:cNvPr id="10" name="组合 9"/>
            <p:cNvGrpSpPr/>
            <p:nvPr/>
          </p:nvGrpSpPr>
          <p:grpSpPr>
            <a:xfrm rot="0">
              <a:off x="533" y="672"/>
              <a:ext cx="582" cy="420"/>
              <a:chOff x="533" y="672"/>
              <a:chExt cx="582" cy="420"/>
            </a:xfrm>
          </p:grpSpPr>
          <p:sp>
            <p:nvSpPr>
              <p:cNvPr id="11"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2"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7" name="textbox 158"/>
            <p:cNvSpPr/>
            <p:nvPr/>
          </p:nvSpPr>
          <p:spPr>
            <a:xfrm>
              <a:off x="1345" y="646"/>
              <a:ext cx="761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关键价值成果与分工协作机制刷新</a:t>
              </a:r>
              <a:endPar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endParaRPr>
            </a:p>
          </p:txBody>
        </p:sp>
      </p:grpSp>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成果</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custDataLst>
              <p:tags r:id="rId3"/>
            </p:custDataLst>
          </p:nvPr>
        </p:nvSpPr>
        <p:spPr>
          <a:xfrm>
            <a:off x="4389120" y="1102360"/>
            <a:ext cx="4321175" cy="548640"/>
          </a:xfrm>
          <a:prstGeom prst="rect">
            <a:avLst/>
          </a:prstGeom>
          <a:solidFill>
            <a:srgbClr val="2563EB"/>
          </a:solidFill>
        </p:spPr>
      </p:sp>
      <p:sp>
        <p:nvSpPr>
          <p:cNvPr id="100" name="Text 16"/>
          <p:cNvSpPr/>
          <p:nvPr>
            <p:custDataLst>
              <p:tags r:id="rId4"/>
            </p:custDataLst>
          </p:nvPr>
        </p:nvSpPr>
        <p:spPr>
          <a:xfrm>
            <a:off x="4389120" y="1102360"/>
            <a:ext cx="4322445"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custDataLst>
              <p:tags r:id="rId5"/>
            </p:custDataLst>
          </p:nvPr>
        </p:nvSpPr>
        <p:spPr>
          <a:xfrm>
            <a:off x="8710930" y="1102360"/>
            <a:ext cx="3166110" cy="548640"/>
          </a:xfrm>
          <a:prstGeom prst="rect">
            <a:avLst/>
          </a:prstGeom>
          <a:solidFill>
            <a:srgbClr val="059669"/>
          </a:solidFill>
        </p:spPr>
      </p:sp>
      <p:sp>
        <p:nvSpPr>
          <p:cNvPr id="104" name="Text 20"/>
          <p:cNvSpPr/>
          <p:nvPr>
            <p:custDataLst>
              <p:tags r:id="rId6"/>
            </p:custDataLst>
          </p:nvPr>
        </p:nvSpPr>
        <p:spPr>
          <a:xfrm>
            <a:off x="8749665" y="1102360"/>
            <a:ext cx="3127375" cy="548640"/>
          </a:xfrm>
          <a:prstGeom prst="rect">
            <a:avLst/>
          </a:prstGeom>
          <a:noFill/>
        </p:spPr>
        <p:txBody>
          <a:bodyPr wrap="square" lIns="0" tIns="0" rIns="0" bIns="0" rtlCol="0" anchor="ctr"/>
          <a:lstStyle/>
          <a:p>
            <a:pPr marL="0" indent="0" algn="ctr">
              <a:buNone/>
            </a:pPr>
            <a:r>
              <a:rPr lang="en-US" sz="1265">
                <a:solidFill>
                  <a:srgbClr val="4C61E7"/>
                </a:solidFill>
                <a:latin typeface="Arial" panose="020B0604020202020204" pitchFamily="34" charset="0"/>
                <a:ea typeface="黑体-简" panose="02000000000000000000" charset="-122"/>
                <a:cs typeface="Noto Sans SC"/>
                <a:sym typeface="Noto Sans SC"/>
              </a:rPr>
              <a:t>{{company}}</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5" name="Shape 21"/>
          <p:cNvSpPr/>
          <p:nvPr/>
        </p:nvSpPr>
        <p:spPr>
          <a:xfrm>
            <a:off x="304800" y="1651000"/>
            <a:ext cx="1403985" cy="1440180"/>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1706880" y="1651000"/>
            <a:ext cx="2682240" cy="1440180"/>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000" dirty="0">
                <a:latin typeface="Heiti SC Light" panose="02000000000000000000" charset="-122"/>
                <a:ea typeface="Heiti SC Light" panose="02000000000000000000" charset="-122"/>
                <a:cs typeface="Heiti SC Light" panose="02000000000000000000" charset="-122"/>
                <a:sym typeface="+mn-ea"/>
              </a:rPr>
              <a:t>核心业务（</a:t>
            </a:r>
            <a:r>
              <a:rPr lang="zh-CN" altLang="en-US" sz="1000"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en-US" altLang="zh-CN" sz="1000" dirty="0">
                <a:solidFill>
                  <a:srgbClr val="4C61E7"/>
                </a:solidFill>
                <a:latin typeface="Heiti SC Light" panose="02000000000000000000" charset="-122"/>
                <a:ea typeface="Heiti SC Light" panose="02000000000000000000" charset="-122"/>
                <a:cs typeface="Heiti SC Light" panose="02000000000000000000" charset="-122"/>
                <a:sym typeface="+mn-ea"/>
              </a:rPr>
              <a:t>TOP3</a:t>
            </a:r>
            <a:r>
              <a:rPr lang="zh-CN" altLang="en-US" sz="1000" dirty="0">
                <a:solidFill>
                  <a:srgbClr val="4C61E7"/>
                </a:solidFill>
                <a:latin typeface="Heiti SC Light" panose="02000000000000000000" charset="-122"/>
                <a:ea typeface="Heiti SC Light" panose="02000000000000000000" charset="-122"/>
                <a:cs typeface="Heiti SC Light" panose="02000000000000000000" charset="-122"/>
                <a:sym typeface="+mn-ea"/>
              </a:rPr>
              <a:t>核心应用系统</a:t>
            </a:r>
            <a:r>
              <a:rPr lang="zh-CN" altLang="en-US" sz="1000"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000" dirty="0">
                <a:latin typeface="Heiti SC Light" panose="02000000000000000000" charset="-122"/>
                <a:ea typeface="Heiti SC Light" panose="02000000000000000000" charset="-122"/>
                <a:cs typeface="Heiti SC Light" panose="02000000000000000000" charset="-122"/>
                <a:sym typeface="+mn-ea"/>
              </a:rPr>
              <a:t>0</a:t>
            </a:r>
            <a:r>
              <a:rPr lang="zh-CN" altLang="en-US" sz="10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0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0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a:t>
            </a:r>
            <a:r>
              <a:rPr lang="zh-CN" altLang="en-US" sz="1000" dirty="0">
                <a:latin typeface="Heiti SC Light" panose="02000000000000000000" charset="-122"/>
                <a:ea typeface="Heiti SC Light" panose="02000000000000000000" charset="-122"/>
                <a:cs typeface="Heiti SC Light" panose="02000000000000000000" charset="-122"/>
                <a:sym typeface="+mn-ea"/>
              </a:rPr>
              <a:t>损失；</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custDataLst>
              <p:tags r:id="rId7"/>
            </p:custDataLst>
          </p:nvPr>
        </p:nvSpPr>
        <p:spPr>
          <a:xfrm>
            <a:off x="4389120" y="1651000"/>
            <a:ext cx="4309745" cy="1440180"/>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custDataLst>
              <p:tags r:id="rId8"/>
            </p:custDataLst>
          </p:nvPr>
        </p:nvSpPr>
        <p:spPr>
          <a:xfrm>
            <a:off x="4389120" y="1651000"/>
            <a:ext cx="48895" cy="1440180"/>
          </a:xfrm>
          <a:prstGeom prst="rect">
            <a:avLst/>
          </a:prstGeom>
          <a:solidFill>
            <a:srgbClr val="2563EB">
              <a:alpha val="50000"/>
            </a:srgbClr>
          </a:solidFill>
        </p:spPr>
      </p:sp>
      <p:sp>
        <p:nvSpPr>
          <p:cNvPr id="111" name="Shape 31"/>
          <p:cNvSpPr/>
          <p:nvPr>
            <p:custDataLst>
              <p:tags r:id="rId9"/>
            </p:custDataLst>
          </p:nvPr>
        </p:nvSpPr>
        <p:spPr>
          <a:xfrm>
            <a:off x="8742045" y="1651000"/>
            <a:ext cx="3134995"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custDataLst>
              <p:tags r:id="rId10"/>
            </p:custDataLst>
          </p:nvPr>
        </p:nvSpPr>
        <p:spPr>
          <a:xfrm>
            <a:off x="8700135" y="1647190"/>
            <a:ext cx="48895" cy="1440180"/>
          </a:xfrm>
          <a:prstGeom prst="rect">
            <a:avLst/>
          </a:prstGeom>
          <a:solidFill>
            <a:srgbClr val="059669">
              <a:alpha val="50000"/>
            </a:srgbClr>
          </a:solidFill>
        </p:spPr>
      </p:sp>
      <p:sp>
        <p:nvSpPr>
          <p:cNvPr id="113" name="Shape 34"/>
          <p:cNvSpPr/>
          <p:nvPr/>
        </p:nvSpPr>
        <p:spPr>
          <a:xfrm>
            <a:off x="304800" y="3096895"/>
            <a:ext cx="1403985" cy="1440180"/>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1706880" y="3097530"/>
            <a:ext cx="2682240" cy="1440180"/>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概率；</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、被通报问题的有效排查</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和响应回函不超过48</a:t>
            </a: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H。</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custDataLst>
              <p:tags r:id="rId11"/>
            </p:custDataLst>
          </p:nvPr>
        </p:nvSpPr>
        <p:spPr>
          <a:xfrm>
            <a:off x="4389120" y="3096895"/>
            <a:ext cx="4309745" cy="1440180"/>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custDataLst>
              <p:tags r:id="rId12"/>
            </p:custDataLst>
          </p:nvPr>
        </p:nvSpPr>
        <p:spPr>
          <a:xfrm>
            <a:off x="4389120" y="3096895"/>
            <a:ext cx="48895" cy="1440180"/>
          </a:xfrm>
          <a:prstGeom prst="rect">
            <a:avLst/>
          </a:prstGeom>
          <a:solidFill>
            <a:srgbClr val="2563EB">
              <a:alpha val="50000"/>
            </a:srgbClr>
          </a:solidFill>
        </p:spPr>
      </p:sp>
      <p:sp>
        <p:nvSpPr>
          <p:cNvPr id="119" name="Shape 44"/>
          <p:cNvSpPr/>
          <p:nvPr>
            <p:custDataLst>
              <p:tags r:id="rId13"/>
            </p:custDataLst>
          </p:nvPr>
        </p:nvSpPr>
        <p:spPr>
          <a:xfrm>
            <a:off x="8711565" y="3096895"/>
            <a:ext cx="3165475" cy="1440180"/>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custDataLst>
              <p:tags r:id="rId14"/>
            </p:custDataLst>
          </p:nvPr>
        </p:nvSpPr>
        <p:spPr>
          <a:xfrm>
            <a:off x="8700135" y="3096895"/>
            <a:ext cx="48895" cy="1440180"/>
          </a:xfrm>
          <a:prstGeom prst="rect">
            <a:avLst/>
          </a:prstGeom>
          <a:solidFill>
            <a:srgbClr val="059669">
              <a:alpha val="50000"/>
            </a:srgbClr>
          </a:solidFill>
        </p:spPr>
      </p:sp>
      <p:sp>
        <p:nvSpPr>
          <p:cNvPr id="121" name="Shape 47"/>
          <p:cNvSpPr/>
          <p:nvPr/>
        </p:nvSpPr>
        <p:spPr>
          <a:xfrm>
            <a:off x="304800" y="4547235"/>
            <a:ext cx="1403985" cy="1440180"/>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1706880" y="4548505"/>
            <a:ext cx="2682240" cy="1440180"/>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0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000" dirty="0">
                <a:latin typeface="Heiti SC Light" panose="02000000000000000000" charset="-122"/>
                <a:ea typeface="Heiti SC Light" panose="02000000000000000000" charset="-122"/>
                <a:cs typeface="Heiti SC Light" panose="02000000000000000000" charset="-122"/>
                <a:sym typeface="+mn-ea"/>
              </a:rPr>
              <a:t>30</a:t>
            </a:r>
            <a:r>
              <a:rPr lang="zh-CN" altLang="en-US" sz="1000" dirty="0">
                <a:latin typeface="Heiti SC Light" panose="02000000000000000000" charset="-122"/>
                <a:ea typeface="Heiti SC Light" panose="02000000000000000000" charset="-122"/>
                <a:cs typeface="Heiti SC Light" panose="02000000000000000000" charset="-122"/>
                <a:sym typeface="+mn-ea"/>
              </a:rPr>
              <a:t>分钟内</a:t>
            </a:r>
            <a:r>
              <a:rPr lang="zh-CN" altLang="en-US" sz="1000" dirty="0">
                <a:latin typeface="Heiti SC Light" panose="02000000000000000000" charset="-122"/>
                <a:ea typeface="Heiti SC Light" panose="02000000000000000000" charset="-122"/>
                <a:cs typeface="Heiti SC Light" panose="02000000000000000000" charset="-122"/>
                <a:sym typeface="+mn-ea"/>
              </a:rPr>
              <a:t>通告；</a:t>
            </a:r>
            <a:endParaRPr lang="zh-CN" altLang="en-US" sz="10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0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000" dirty="0">
                <a:latin typeface="Heiti SC Light" panose="02000000000000000000" charset="-122"/>
                <a:ea typeface="Heiti SC Light" panose="02000000000000000000" charset="-122"/>
                <a:cs typeface="Heiti SC Light" panose="02000000000000000000" charset="-122"/>
                <a:sym typeface="+mn-ea"/>
              </a:rPr>
              <a:t>100%</a:t>
            </a:r>
            <a:r>
              <a:rPr lang="zh-CN" altLang="en-US" sz="10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custDataLst>
              <p:tags r:id="rId15"/>
            </p:custDataLst>
          </p:nvPr>
        </p:nvSpPr>
        <p:spPr>
          <a:xfrm>
            <a:off x="4391660" y="4547870"/>
            <a:ext cx="4307205"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custDataLst>
              <p:tags r:id="rId16"/>
            </p:custDataLst>
          </p:nvPr>
        </p:nvSpPr>
        <p:spPr>
          <a:xfrm>
            <a:off x="4389120" y="4547870"/>
            <a:ext cx="48895" cy="1440180"/>
          </a:xfrm>
          <a:prstGeom prst="rect">
            <a:avLst/>
          </a:prstGeom>
          <a:solidFill>
            <a:srgbClr val="2563EB">
              <a:alpha val="50000"/>
            </a:srgbClr>
          </a:solidFill>
        </p:spPr>
      </p:sp>
      <p:sp>
        <p:nvSpPr>
          <p:cNvPr id="127" name="Shape 57"/>
          <p:cNvSpPr/>
          <p:nvPr>
            <p:custDataLst>
              <p:tags r:id="rId17"/>
            </p:custDataLst>
          </p:nvPr>
        </p:nvSpPr>
        <p:spPr>
          <a:xfrm>
            <a:off x="8741410" y="4547870"/>
            <a:ext cx="3135630" cy="1440180"/>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custDataLst>
              <p:tags r:id="rId18"/>
            </p:custDataLst>
          </p:nvPr>
        </p:nvSpPr>
        <p:spPr>
          <a:xfrm>
            <a:off x="8700135" y="4547870"/>
            <a:ext cx="48895" cy="1440180"/>
          </a:xfrm>
          <a:prstGeom prst="rect">
            <a:avLst/>
          </a:prstGeom>
          <a:solidFill>
            <a:srgbClr val="059669">
              <a:alpha val="50000"/>
            </a:srgbClr>
          </a:solidFill>
        </p:spPr>
      </p:sp>
      <p:sp>
        <p:nvSpPr>
          <p:cNvPr id="2" name="文本框 1"/>
          <p:cNvSpPr txBox="1"/>
          <p:nvPr/>
        </p:nvSpPr>
        <p:spPr>
          <a:xfrm>
            <a:off x="4893310" y="233680"/>
            <a:ext cx="1652905" cy="383540"/>
          </a:xfrm>
          <a:prstGeom prst="rect">
            <a:avLst/>
          </a:prstGeom>
          <a:noFill/>
        </p:spPr>
        <p:txBody>
          <a:bodyPr wrap="square" rtlCol="0" anchor="t">
            <a:spAutoFit/>
          </a:bodyPr>
          <a:p>
            <a:r>
              <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rPr>
              <a:t>（无渠道版）</a:t>
            </a:r>
            <a:endParaRPr lang="zh-CN" altLang="en-US" sz="1900" b="1" noProof="0" dirty="0">
              <a:solidFill>
                <a:schemeClr val="tx1">
                  <a:lumMod val="85000"/>
                  <a:lumOff val="15000"/>
                </a:schemeClr>
              </a:solidFill>
              <a:highlight>
                <a:srgbClr val="FFFF00"/>
              </a:highlight>
              <a:uLnTx/>
              <a:latin typeface="Source Han Sans CN Bold" panose="020B0600000000000000" charset="-122"/>
              <a:ea typeface="Source Han Sans CN Bold" panose="020B0600000000000000" charset="-122"/>
              <a:sym typeface="Calibri" panose="020F0502020204030204" charset="0"/>
            </a:endParaRPr>
          </a:p>
        </p:txBody>
      </p:sp>
      <p:sp>
        <p:nvSpPr>
          <p:cNvPr id="4" name="Text Box 27"/>
          <p:cNvSpPr txBox="1">
            <a:spLocks noChangeArrowheads="1"/>
          </p:cNvSpPr>
          <p:nvPr/>
        </p:nvSpPr>
        <p:spPr bwMode="auto">
          <a:xfrm>
            <a:off x="2160905" y="1440815"/>
            <a:ext cx="199517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00" dirty="0">
                <a:solidFill>
                  <a:schemeClr val="tx1"/>
                </a:solidFill>
                <a:highlight>
                  <a:srgbClr val="FFFF00"/>
                </a:highlight>
                <a:latin typeface="Heiti SC Light" panose="02000000000000000000" charset="-122"/>
                <a:ea typeface="Heiti SC Light" panose="02000000000000000000" charset="-122"/>
              </a:rPr>
              <a:t>根据客户讨论对齐的结论刷新预期成果和协作计划</a:t>
            </a:r>
            <a:endParaRPr lang="zh-CN" altLang="en-US" sz="1000" dirty="0">
              <a:solidFill>
                <a:schemeClr val="tx1"/>
              </a:solidFill>
              <a:highlight>
                <a:srgbClr val="FFFF00"/>
              </a:highlight>
              <a:latin typeface="Heiti SC Light" panose="02000000000000000000" charset="-122"/>
              <a:ea typeface="Heiti SC Light" panose="02000000000000000000"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pic>
        <p:nvPicPr>
          <p:cNvPr id="26" name="图片 25" descr="1755143421298"/>
          <p:cNvPicPr>
            <a:picLocks noChangeAspect="1"/>
          </p:cNvPicPr>
          <p:nvPr/>
        </p:nvPicPr>
        <p:blipFill>
          <a:blip r:embed="rId2"/>
          <a:stretch>
            <a:fillRect/>
          </a:stretch>
        </p:blipFill>
        <p:spPr>
          <a:xfrm>
            <a:off x="647700" y="5785485"/>
            <a:ext cx="10998835" cy="779145"/>
          </a:xfrm>
          <a:prstGeom prst="rect">
            <a:avLst/>
          </a:prstGeom>
        </p:spPr>
      </p:pic>
      <p:sp>
        <p:nvSpPr>
          <p:cNvPr id="27" name="文本框 26"/>
          <p:cNvSpPr txBox="1"/>
          <p:nvPr/>
        </p:nvSpPr>
        <p:spPr>
          <a:xfrm>
            <a:off x="860425" y="5890260"/>
            <a:ext cx="10523855" cy="570230"/>
          </a:xfrm>
          <a:prstGeom prst="rect">
            <a:avLst/>
          </a:prstGeom>
          <a:noFill/>
        </p:spPr>
        <p:txBody>
          <a:bodyPr wrap="square" rtlCol="0" anchor="t">
            <a:noAutofit/>
          </a:bodyPr>
          <a:p>
            <a:pPr indent="0" algn="l">
              <a:lnSpc>
                <a:spcPct val="117000"/>
              </a:lnSpc>
            </a:pPr>
            <a:r>
              <a:rPr lang="en-US" sz="1200" b="1">
                <a:solidFill>
                  <a:srgbClr val="0052CC"/>
                </a:solidFill>
                <a:latin typeface="Arial" panose="020B0604020202020204" pitchFamily="34" charset="0"/>
                <a:ea typeface="黑体-简" panose="02000000000000000000" charset="-122"/>
                <a:cs typeface="Noto Sans SC"/>
                <a:sym typeface="Noto Sans SC"/>
              </a:rPr>
              <a:t>我们的承诺：</a:t>
            </a:r>
            <a:r>
              <a:rPr lang="zh-CN" altLang="en-US" sz="1200" b="1">
                <a:solidFill>
                  <a:srgbClr val="0052CC"/>
                </a:solidFill>
                <a:latin typeface="Arial" panose="020B0604020202020204" pitchFamily="34" charset="0"/>
                <a:ea typeface="黑体-简" panose="02000000000000000000" charset="-122"/>
                <a:cs typeface="Noto Sans SC"/>
                <a:sym typeface="Noto Sans SC"/>
              </a:rPr>
              <a:t>数智化</a:t>
            </a:r>
            <a:r>
              <a:rPr lang="en-US" sz="1200" b="1">
                <a:solidFill>
                  <a:srgbClr val="0052CC"/>
                </a:solidFill>
                <a:latin typeface="Arial" panose="020B0604020202020204" pitchFamily="34" charset="0"/>
                <a:ea typeface="黑体-简" panose="02000000000000000000" charset="-122"/>
                <a:cs typeface="Noto Sans SC"/>
                <a:sym typeface="Noto Sans SC"/>
              </a:rPr>
              <a:t>转型的坚实后盾</a:t>
            </a:r>
            <a:endParaRPr lang="en-US" sz="1200" b="1" i="0" u="none" strike="noStrike">
              <a:solidFill>
                <a:srgbClr val="0052CC"/>
              </a:solidFill>
              <a:latin typeface="Arial" panose="020B0604020202020204" pitchFamily="34" charset="0"/>
              <a:ea typeface="黑体-简" panose="02000000000000000000" charset="-122"/>
              <a:cs typeface="Noto Sans SC"/>
              <a:sym typeface="Noto Sans SC"/>
            </a:endParaRPr>
          </a:p>
          <a:p>
            <a:pPr indent="0" algn="l">
              <a:lnSpc>
                <a:spcPct val="117000"/>
              </a:lnSpc>
            </a:pPr>
            <a:r>
              <a:rPr lang="en-US" sz="1200">
                <a:solidFill>
                  <a:srgbClr val="404040"/>
                </a:solidFill>
                <a:latin typeface="Arial" panose="020B0604020202020204" pitchFamily="34" charset="0"/>
                <a:ea typeface="黑体-简" panose="02000000000000000000" charset="-122"/>
                <a:cs typeface="Noto Sans SC"/>
                <a:sym typeface="Noto Sans SC"/>
              </a:rPr>
              <a:t>安全运营中心将继续以专业能力、创新技术和高度责任感，作为公司数字转型的坚实后盾，为</a:t>
            </a:r>
            <a:r>
              <a:rPr lang="en-US" sz="1200">
                <a:solidFill>
                  <a:srgbClr val="4C61E7"/>
                </a:solidFill>
                <a:latin typeface="Arial" panose="020B0604020202020204" pitchFamily="34" charset="0"/>
                <a:ea typeface="黑体-简" panose="02000000000000000000" charset="-122"/>
                <a:cs typeface="Noto Sans SC"/>
                <a:sym typeface="Noto Sans SC"/>
              </a:rPr>
              <a:t>{{company</a:t>
            </a:r>
            <a:r>
              <a:rPr lang="en-US" altLang="zh-CN" sz="1200">
                <a:solidFill>
                  <a:srgbClr val="4C61E7"/>
                </a:solidFill>
                <a:latin typeface="Arial" panose="020B0604020202020204" pitchFamily="34" charset="0"/>
                <a:ea typeface="黑体-简" panose="02000000000000000000" charset="-122"/>
                <a:cs typeface="Noto Sans SC"/>
                <a:sym typeface="Noto Sans SC"/>
              </a:rPr>
              <a:t>}</a:t>
            </a:r>
            <a:r>
              <a:rPr lang="en-US" sz="1200">
                <a:solidFill>
                  <a:srgbClr val="4C61E7"/>
                </a:solidFill>
                <a:latin typeface="Arial" panose="020B0604020202020204" pitchFamily="34" charset="0"/>
                <a:ea typeface="黑体-简" panose="02000000000000000000" charset="-122"/>
                <a:cs typeface="Noto Sans SC"/>
                <a:sym typeface="Noto Sans SC"/>
              </a:rPr>
              <a:t>}</a:t>
            </a:r>
            <a:r>
              <a:rPr lang="en-US" sz="1200">
                <a:solidFill>
                  <a:srgbClr val="404040"/>
                </a:solidFill>
                <a:latin typeface="Arial" panose="020B0604020202020204" pitchFamily="34" charset="0"/>
                <a:ea typeface="黑体-简" panose="02000000000000000000" charset="-122"/>
                <a:cs typeface="Noto Sans SC"/>
                <a:sym typeface="Noto Sans SC"/>
              </a:rPr>
              <a:t>的未来稳健发展保驾护航。</a:t>
            </a:r>
            <a:endParaRPr lang="en-US" altLang="en-US" sz="1200" spc="90" dirty="0">
              <a:solidFill>
                <a:srgbClr val="404040"/>
              </a:solidFill>
              <a:latin typeface="Arial" panose="020B0604020202020204" pitchFamily="34" charset="0"/>
              <a:ea typeface="黑体-简" panose="02000000000000000000" charset="-122"/>
              <a:cs typeface="Noto Sans SC"/>
              <a:sym typeface="Noto Sans SC"/>
            </a:endParaRPr>
          </a:p>
        </p:txBody>
      </p:sp>
      <p:sp>
        <p:nvSpPr>
          <p:cNvPr id="17" name="textbox 746"/>
          <p:cNvSpPr/>
          <p:nvPr/>
        </p:nvSpPr>
        <p:spPr>
          <a:xfrm>
            <a:off x="647700" y="915670"/>
            <a:ext cx="5943600" cy="4700270"/>
          </a:xfrm>
          <a:prstGeom prst="rect">
            <a:avLst/>
          </a:prstGeom>
          <a:solidFill>
            <a:srgbClr val="EFF6FD">
              <a:alpha val="100000"/>
            </a:srgbClr>
          </a:solidFill>
          <a:ln w="0" cap="flat">
            <a:noFill/>
            <a:prstDash val="solid"/>
            <a:miter lim="0"/>
          </a:ln>
        </p:spPr>
        <p:txBody>
          <a:bodyPr vert="horz" wrap="square" lIns="0" tIns="0" rIns="0" bIns="0"/>
          <a:p>
            <a:pPr marL="127000" algn="l" defTabSz="914400" rtl="0" eaLnBrk="0">
              <a:lnSpc>
                <a:spcPct val="100000"/>
              </a:lnSpc>
              <a:spcBef>
                <a:spcPts val="975"/>
              </a:spcBef>
              <a:spcAft>
                <a:spcPct val="0"/>
              </a:spcAft>
            </a:pPr>
            <a:endParaRPr sz="1200" kern="0" spc="1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8" name="Text 2"/>
          <p:cNvSpPr/>
          <p:nvPr/>
        </p:nvSpPr>
        <p:spPr>
          <a:xfrm>
            <a:off x="760730" y="915670"/>
            <a:ext cx="1271270" cy="332740"/>
          </a:xfrm>
          <a:prstGeom prst="rect">
            <a:avLst/>
          </a:prstGeom>
          <a:noFill/>
        </p:spPr>
        <p:txBody>
          <a:bodyPr wrap="square" lIns="0" tIns="0" rIns="0" bIns="0" rtlCol="0" anchor="ctr" anchorCtr="0"/>
          <a:p>
            <a:pPr algn="l" defTabSz="914400" eaLnBrk="0">
              <a:lnSpc>
                <a:spcPct val="150000"/>
              </a:lnSpc>
              <a:spcBef>
                <a:spcPct val="0"/>
              </a:spcBef>
              <a:spcAft>
                <a:spcPct val="0"/>
              </a:spcAft>
              <a:buClrTx/>
              <a:buSzTx/>
              <a:buFontTx/>
            </a:pPr>
            <a:r>
              <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rPr>
              <a:t>关键事项</a:t>
            </a:r>
            <a:endPar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19" name="文本框 18"/>
          <p:cNvSpPr txBox="1"/>
          <p:nvPr/>
        </p:nvSpPr>
        <p:spPr>
          <a:xfrm>
            <a:off x="6692900" y="915670"/>
            <a:ext cx="4954270" cy="4700270"/>
          </a:xfrm>
          <a:prstGeom prst="rect">
            <a:avLst/>
          </a:prstGeom>
          <a:solidFill>
            <a:schemeClr val="accent6">
              <a:lumMod val="20000"/>
              <a:lumOff val="80000"/>
            </a:schemeClr>
          </a:solidFill>
        </p:spPr>
        <p:txBody>
          <a:bodyPr wrap="square" rtlCol="0" anchor="t">
            <a:noAutofit/>
          </a:bodyPr>
          <a:p>
            <a:pPr marL="11430" algn="l" defTabSz="914400" rtl="0" eaLnBrk="0">
              <a:lnSpc>
                <a:spcPct val="99000"/>
              </a:lnSpc>
              <a:spcBef>
                <a:spcPct val="0"/>
              </a:spcBef>
              <a:spcAft>
                <a:spcPct val="0"/>
              </a:spcAft>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0" name="Text 2"/>
          <p:cNvSpPr/>
          <p:nvPr/>
        </p:nvSpPr>
        <p:spPr>
          <a:xfrm>
            <a:off x="6820535" y="915670"/>
            <a:ext cx="1910715" cy="332740"/>
          </a:xfrm>
          <a:prstGeom prst="rect">
            <a:avLst/>
          </a:prstGeom>
          <a:noFill/>
        </p:spPr>
        <p:txBody>
          <a:bodyPr wrap="square" lIns="0" tIns="0" rIns="0" bIns="0" rtlCol="0" anchor="ctr" anchorCtr="0"/>
          <a:p>
            <a:pPr algn="l" defTabSz="914400" eaLnBrk="0">
              <a:lnSpc>
                <a:spcPct val="150000"/>
              </a:lnSpc>
              <a:spcBef>
                <a:spcPct val="0"/>
              </a:spcBef>
              <a:spcAft>
                <a:spcPct val="0"/>
              </a:spcAft>
              <a:buClrTx/>
              <a:buSzTx/>
              <a:buFontTx/>
            </a:pPr>
            <a:r>
              <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rPr>
              <a:t>需要客户方协作事项</a:t>
            </a:r>
            <a:endPar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endParaRPr>
          </a:p>
        </p:txBody>
      </p:sp>
      <p:graphicFrame>
        <p:nvGraphicFramePr>
          <p:cNvPr id="21" name="表格 20"/>
          <p:cNvGraphicFramePr/>
          <p:nvPr>
            <p:custDataLst>
              <p:tags r:id="rId3"/>
            </p:custDataLst>
          </p:nvPr>
        </p:nvGraphicFramePr>
        <p:xfrm>
          <a:off x="770890" y="1248410"/>
          <a:ext cx="5690870" cy="4218940"/>
        </p:xfrm>
        <a:graphic>
          <a:graphicData uri="http://schemas.openxmlformats.org/drawingml/2006/table">
            <a:tbl>
              <a:tblPr firstRow="1" lastCol="1" bandCol="1">
                <a:tableStyleId>{0126E9F6-41A6-44B7-8387-491034A24550}</a:tableStyleId>
              </a:tblPr>
              <a:tblGrid>
                <a:gridCol w="995680"/>
                <a:gridCol w="645795"/>
                <a:gridCol w="4049395"/>
              </a:tblGrid>
              <a:tr h="243840">
                <a:tc>
                  <a:txBody>
                    <a:bodyPr/>
                    <a:p>
                      <a:pPr algn="ctr">
                        <a:buNone/>
                      </a:pPr>
                      <a:r>
                        <a:rPr lang="zh-CN" altLang="en-US" sz="1000">
                          <a:latin typeface="Arial" panose="020B0604020202020204" pitchFamily="34" charset="0"/>
                          <a:ea typeface="黑体-简" panose="02000000000000000000" charset="-122"/>
                        </a:rPr>
                        <a:t>事项</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c>
                  <a:txBody>
                    <a:bodyPr/>
                    <a:p>
                      <a:pPr algn="ctr">
                        <a:buNone/>
                      </a:pPr>
                      <a:r>
                        <a:rPr lang="zh-CN" altLang="en-US" sz="1000">
                          <a:latin typeface="Arial" panose="020B0604020202020204" pitchFamily="34" charset="0"/>
                          <a:ea typeface="黑体-简" panose="02000000000000000000" charset="-122"/>
                        </a:rPr>
                        <a:t>计划完成时间</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下一步工作计划</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548640">
                <a:tc>
                  <a:txBody>
                    <a:bodyPr/>
                    <a:p>
                      <a:pPr algn="ctr">
                        <a:buNone/>
                      </a:pPr>
                      <a:r>
                        <a:rPr lang="zh-CN" altLang="en-US" sz="1000">
                          <a:latin typeface="Arial" panose="020B0604020202020204" pitchFamily="34" charset="0"/>
                          <a:ea typeface="黑体-简" panose="02000000000000000000" charset="-122"/>
                        </a:rPr>
                        <a:t>暴露面扫描</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0430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101600" indent="-101600" algn="l" defTabSz="914400">
                        <a:lnSpc>
                          <a:spcPct val="150000"/>
                        </a:lnSpc>
                        <a:spcBef>
                          <a:spcPct val="0"/>
                        </a:spcBef>
                        <a:spcAft>
                          <a:spcPct val="0"/>
                        </a:spcAft>
                        <a:buSzPct val="100000"/>
                        <a:buFont typeface="+mj-lt"/>
                        <a:buAutoNum type="arabicPeriod"/>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对最新的暴露面风险进行验证和确认，暴露面监测持续开展</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954405">
                <a:tc>
                  <a:txBody>
                    <a:bodyPr/>
                    <a:p>
                      <a:pPr algn="ctr">
                        <a:buNone/>
                      </a:pPr>
                      <a:r>
                        <a:rPr lang="zh-CN" altLang="en-US" sz="1000">
                          <a:latin typeface="Arial" panose="020B0604020202020204" pitchFamily="34" charset="0"/>
                          <a:ea typeface="黑体-简" panose="02000000000000000000" charset="-122"/>
                          <a:sym typeface="+mn-ea"/>
                        </a:rPr>
                        <a:t>勒索风险排查及</a:t>
                      </a:r>
                      <a:endParaRPr lang="zh-CN" altLang="en-US" sz="1000">
                        <a:latin typeface="Arial" panose="020B0604020202020204" pitchFamily="34" charset="0"/>
                        <a:ea typeface="黑体-简" panose="02000000000000000000" charset="-122"/>
                        <a:sym typeface="+mn-ea"/>
                      </a:endParaRPr>
                    </a:p>
                    <a:p>
                      <a:pPr algn="ctr">
                        <a:buNone/>
                      </a:pPr>
                      <a:r>
                        <a:rPr lang="zh-CN" altLang="en-US" sz="1000">
                          <a:latin typeface="Arial" panose="020B0604020202020204" pitchFamily="34" charset="0"/>
                          <a:ea typeface="黑体-简" panose="02000000000000000000" charset="-122"/>
                          <a:sym typeface="+mn-ea"/>
                        </a:rPr>
                        <a:t>脆弱性梳理</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0515</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101600" indent="-101600" algn="l">
                        <a:lnSpc>
                          <a:spcPct val="150000"/>
                        </a:lnSpc>
                        <a:buClrTx/>
                        <a:buSzTx/>
                        <a:buFont typeface="+mj-lt"/>
                        <a:buAutoNum type="arabicPeriod"/>
                      </a:pP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对服务资产开展</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勒索风险排查</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，分析</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勒索风险</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情况</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推动处置。</a:t>
                      </a:r>
                      <a:endParaRPr 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ClrTx/>
                        <a:buSzTx/>
                        <a:buFont typeface="+mj-lt"/>
                        <a:buAutoNum type="arabicPeriod"/>
                      </a:pP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完善</a:t>
                      </a:r>
                      <a:r>
                        <a:rPr lang="en-US" sz="1000" dirty="0">
                          <a:solidFill>
                            <a:srgbClr val="FF0000"/>
                          </a:solidFill>
                          <a:latin typeface="Arial" panose="020B0604020202020204" pitchFamily="34" charset="0"/>
                          <a:ea typeface="黑体-简" panose="02000000000000000000" charset="-122"/>
                          <a:cs typeface="微软雅黑" panose="020B0503020204020204" pitchFamily="34" charset="-120"/>
                        </a:rPr>
                        <a:t>漏洞</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修复优先级清单</a:t>
                      </a:r>
                      <a:r>
                        <a:rPr lang="en-US" sz="1000" dirty="0">
                          <a:solidFill>
                            <a:srgbClr val="FF0000"/>
                          </a:solidFill>
                          <a:latin typeface="Arial" panose="020B0604020202020204" pitchFamily="34" charset="0"/>
                          <a:ea typeface="黑体-简" panose="02000000000000000000" charset="-122"/>
                          <a:cs typeface="微软雅黑" panose="020B0503020204020204" pitchFamily="34" charset="-120"/>
                        </a:rPr>
                        <a:t>，制定未闭环漏洞</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的消减建议计划。</a:t>
                      </a:r>
                      <a:endParaRPr lang="en-US" sz="1000" dirty="0">
                        <a:solidFill>
                          <a:srgbClr val="FF0000"/>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ClrTx/>
                        <a:buSzTx/>
                        <a:buFont typeface="+mj-lt"/>
                        <a:buAutoNum type="arabicPeriod"/>
                      </a:pP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持续监测弱口令情况，重点关注外网高权限及管理员账号的弱口令进行跟进修复。</a:t>
                      </a:r>
                      <a:endParaRPr 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1294765">
                <a:tc>
                  <a:txBody>
                    <a:bodyPr/>
                    <a:p>
                      <a:pPr algn="ctr">
                        <a:buClrTx/>
                        <a:buSzTx/>
                        <a:buFontTx/>
                        <a:buNone/>
                      </a:pPr>
                      <a:r>
                        <a:rPr lang="zh-CN" altLang="en-US" sz="1000">
                          <a:latin typeface="Arial" panose="020B0604020202020204" pitchFamily="34" charset="0"/>
                          <a:ea typeface="黑体-简" panose="02000000000000000000" charset="-122"/>
                          <a:sym typeface="+mn-ea"/>
                        </a:rPr>
                        <a:t>安全响应能力提升</a:t>
                      </a:r>
                      <a:endParaRPr lang="zh-CN" altLang="en-US" sz="1000">
                        <a:latin typeface="Arial" panose="020B0604020202020204" pitchFamily="34" charset="0"/>
                        <a:ea typeface="黑体-简"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0522</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0" indent="0" algn="l" defTabSz="914400">
                        <a:lnSpc>
                          <a:spcPct val="150000"/>
                        </a:lnSpc>
                        <a:spcBef>
                          <a:spcPct val="0"/>
                        </a:spcBef>
                        <a:spcAft>
                          <a:spcPct val="0"/>
                        </a:spcAft>
                        <a:buNone/>
                      </a:pPr>
                      <a:r>
                        <a:rPr lang="en-US" altLang="zh-CN"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1.</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提供当前服务器主机</a:t>
                      </a:r>
                      <a:r>
                        <a:rPr lang="en-US" altLang="zh-CN"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EDR</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覆盖的主机及检测到同网段未覆盖的主机清单；</a:t>
                      </a:r>
                      <a:endPar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endParaRPr>
                    </a:p>
                    <a:p>
                      <a:pPr marL="0" indent="0" algn="l" defTabSz="914400">
                        <a:lnSpc>
                          <a:spcPct val="150000"/>
                        </a:lnSpc>
                        <a:spcBef>
                          <a:spcPct val="0"/>
                        </a:spcBef>
                        <a:spcAft>
                          <a:spcPct val="0"/>
                        </a:spcAft>
                        <a:buNone/>
                      </a:pP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2</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、协助推动服务器</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EDR</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覆盖，提升主机安全问题响应处置效率。</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marL="0" algn="l" defTabSz="914400">
                        <a:lnSpc>
                          <a:spcPct val="150000"/>
                        </a:lnSpc>
                        <a:buClrTx/>
                        <a:buSzTx/>
                        <a:buFontTx/>
                        <a:buNone/>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3、开展安全组件策略巡检及跟进调优。</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973455">
                <a:tc>
                  <a:txBody>
                    <a:bodyPr/>
                    <a:p>
                      <a:pPr algn="ctr">
                        <a:buNone/>
                      </a:pPr>
                      <a:r>
                        <a:rPr lang="zh-CN" altLang="en-US" sz="1000">
                          <a:latin typeface="Arial" panose="020B0604020202020204" pitchFamily="34" charset="0"/>
                          <a:ea typeface="黑体-简" panose="02000000000000000000" charset="-122"/>
                        </a:rPr>
                        <a:t>安全运营机验证对齐</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530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algn="l">
                        <a:lnSpc>
                          <a:spcPct val="150000"/>
                        </a:lnSpc>
                        <a:buClrTx/>
                        <a:buSzTx/>
                        <a:buFontTx/>
                        <a:buNone/>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基于前期的协同优化项试点跑通情况进行复盘总结，对齐下一步运营迭代计划。</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bl>
          </a:graphicData>
        </a:graphic>
      </p:graphicFrame>
      <p:graphicFrame>
        <p:nvGraphicFramePr>
          <p:cNvPr id="22" name="表格 21"/>
          <p:cNvGraphicFramePr/>
          <p:nvPr>
            <p:custDataLst>
              <p:tags r:id="rId4"/>
            </p:custDataLst>
          </p:nvPr>
        </p:nvGraphicFramePr>
        <p:xfrm>
          <a:off x="6820535" y="1249045"/>
          <a:ext cx="4748530" cy="4218305"/>
        </p:xfrm>
        <a:graphic>
          <a:graphicData uri="http://schemas.openxmlformats.org/drawingml/2006/table">
            <a:tbl>
              <a:tblPr firstRow="1" lastCol="1" bandCol="1">
                <a:tableStyleId>{0126E9F6-41A6-44B7-8387-491034A24550}</a:tableStyleId>
              </a:tblPr>
              <a:tblGrid>
                <a:gridCol w="1614805"/>
                <a:gridCol w="904240"/>
                <a:gridCol w="2229485"/>
              </a:tblGrid>
              <a:tr h="346710">
                <a:tc>
                  <a:txBody>
                    <a:bodyPr/>
                    <a:p>
                      <a:pPr algn="ctr">
                        <a:buNone/>
                      </a:pPr>
                      <a:r>
                        <a:rPr lang="zh-CN" altLang="en-US" sz="1000">
                          <a:latin typeface="Arial" panose="020B0604020202020204" pitchFamily="34" charset="0"/>
                          <a:ea typeface="黑体-简" panose="02000000000000000000" charset="-122"/>
                        </a:rPr>
                        <a:t>事项</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c>
                  <a:txBody>
                    <a:bodyPr/>
                    <a:p>
                      <a:pPr algn="ctr">
                        <a:buNone/>
                      </a:pPr>
                      <a:r>
                        <a:rPr lang="zh-CN" altLang="en-US" sz="1000">
                          <a:latin typeface="Arial" panose="020B0604020202020204" pitchFamily="34" charset="0"/>
                          <a:ea typeface="黑体-简" panose="02000000000000000000" charset="-122"/>
                        </a:rPr>
                        <a:t>计划时间</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下一次沟通计划</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961390">
                <a:tc>
                  <a:txBody>
                    <a:bodyPr/>
                    <a:p>
                      <a:pPr algn="ctr">
                        <a:buNone/>
                      </a:pPr>
                      <a:r>
                        <a:rPr lang="zh-CN" altLang="en-US" sz="1000">
                          <a:latin typeface="Arial" panose="020B0604020202020204" pitchFamily="34" charset="0"/>
                          <a:ea typeface="黑体-简" panose="02000000000000000000" charset="-122"/>
                        </a:rPr>
                        <a:t>确认最新的所有互联网出口</a:t>
                      </a:r>
                      <a:r>
                        <a:rPr lang="en-US" altLang="zh-CN" sz="1000">
                          <a:latin typeface="Arial" panose="020B0604020202020204" pitchFamily="34" charset="0"/>
                          <a:ea typeface="黑体-简" panose="02000000000000000000" charset="-122"/>
                        </a:rPr>
                        <a:t>IP</a:t>
                      </a:r>
                      <a:r>
                        <a:rPr lang="zh-CN" altLang="en-US" sz="1000">
                          <a:latin typeface="Arial" panose="020B0604020202020204" pitchFamily="34" charset="0"/>
                          <a:ea typeface="黑体-简" panose="02000000000000000000" charset="-122"/>
                        </a:rPr>
                        <a:t>和根域名</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0428</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508</a:t>
                      </a:r>
                      <a:r>
                        <a:rPr lang="zh-CN" altLang="en-US" sz="1000" b="0">
                          <a:solidFill>
                            <a:srgbClr val="000000"/>
                          </a:solidFill>
                          <a:latin typeface="Arial" panose="020B0604020202020204" pitchFamily="34" charset="0"/>
                          <a:ea typeface="黑体-简" panose="02000000000000000000" charset="-122"/>
                        </a:rPr>
                        <a:t>：对暴露面梳理结果进行沟通对齐</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18210">
                <a:tc>
                  <a:txBody>
                    <a:bodyPr/>
                    <a:p>
                      <a:pPr algn="ctr">
                        <a:buNone/>
                      </a:pPr>
                      <a:r>
                        <a:rPr lang="en-US" altLang="zh-CN" sz="1000">
                          <a:latin typeface="Arial" panose="020B0604020202020204" pitchFamily="34" charset="0"/>
                          <a:ea typeface="黑体-简" panose="02000000000000000000" charset="-122"/>
                        </a:rPr>
                        <a:t>1</a:t>
                      </a:r>
                      <a:r>
                        <a:rPr lang="zh-CN" altLang="en-US" sz="1000">
                          <a:latin typeface="Arial" panose="020B0604020202020204" pitchFamily="34" charset="0"/>
                          <a:ea typeface="黑体-简" panose="02000000000000000000" charset="-122"/>
                        </a:rPr>
                        <a:t>、配合反馈脆弱性修复情况进展</a:t>
                      </a:r>
                      <a:endParaRPr lang="zh-CN" altLang="en-US" sz="1000">
                        <a:latin typeface="Arial" panose="020B0604020202020204" pitchFamily="34" charset="0"/>
                        <a:ea typeface="黑体-简" panose="02000000000000000000" charset="-122"/>
                      </a:endParaRPr>
                    </a:p>
                    <a:p>
                      <a:pPr algn="ctr">
                        <a:buNone/>
                      </a:pPr>
                      <a:endParaRPr lang="zh-CN" altLang="en-US" sz="1000">
                        <a:latin typeface="Arial" panose="020B0604020202020204" pitchFamily="34" charset="0"/>
                        <a:ea typeface="黑体-简" panose="02000000000000000000" charset="-122"/>
                      </a:endParaRPr>
                    </a:p>
                    <a:p>
                      <a:pPr algn="ctr">
                        <a:buNone/>
                      </a:pPr>
                      <a:r>
                        <a:rPr lang="en-US" altLang="zh-CN" sz="1000">
                          <a:latin typeface="Arial" panose="020B0604020202020204" pitchFamily="34" charset="0"/>
                          <a:ea typeface="黑体-简" panose="02000000000000000000" charset="-122"/>
                        </a:rPr>
                        <a:t>2</a:t>
                      </a:r>
                      <a:r>
                        <a:rPr lang="zh-CN" altLang="en-US" sz="1000">
                          <a:latin typeface="Arial" panose="020B0604020202020204" pitchFamily="34" charset="0"/>
                          <a:ea typeface="黑体-简" panose="02000000000000000000" charset="-122"/>
                        </a:rPr>
                        <a:t>、对齐修复落地计划</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zh-CN" altLang="en-US" sz="1000">
                          <a:latin typeface="Arial" panose="020B0604020202020204" pitchFamily="34" charset="0"/>
                          <a:ea typeface="黑体-简" panose="02000000000000000000" charset="-122"/>
                        </a:rPr>
                        <a:t>0</a:t>
                      </a:r>
                      <a:r>
                        <a:rPr lang="en-US" altLang="zh-CN" sz="1000">
                          <a:latin typeface="Arial" panose="020B0604020202020204" pitchFamily="34" charset="0"/>
                          <a:ea typeface="黑体-简" panose="02000000000000000000" charset="-122"/>
                        </a:rPr>
                        <a:t>508</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522</a:t>
                      </a:r>
                      <a:r>
                        <a:rPr lang="zh-CN" altLang="en-US" sz="1000" b="0">
                          <a:solidFill>
                            <a:srgbClr val="000000"/>
                          </a:solidFill>
                          <a:latin typeface="Arial" panose="020B0604020202020204" pitchFamily="34" charset="0"/>
                          <a:ea typeface="黑体-简" panose="02000000000000000000" charset="-122"/>
                        </a:rPr>
                        <a:t>：对漏洞扫描结果进行沟通，确认修复方案。 </a:t>
                      </a:r>
                      <a:endParaRPr lang="zh-CN" altLang="en-US" sz="1000" b="0">
                        <a:solidFill>
                          <a:srgbClr val="000000"/>
                        </a:solidFill>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95680">
                <a:tc>
                  <a:txBody>
                    <a:bodyPr/>
                    <a:p>
                      <a:pPr algn="ctr">
                        <a:buNone/>
                      </a:pPr>
                      <a:r>
                        <a:rPr lang="en-US" altLang="zh-CN" sz="1000">
                          <a:latin typeface="Arial" panose="020B0604020202020204" pitchFamily="34" charset="0"/>
                          <a:ea typeface="黑体-简" panose="02000000000000000000" charset="-122"/>
                        </a:rPr>
                        <a:t>1</a:t>
                      </a:r>
                      <a:r>
                        <a:rPr lang="zh-CN" altLang="en-US" sz="1000">
                          <a:latin typeface="Arial" panose="020B0604020202020204" pitchFamily="34" charset="0"/>
                          <a:ea typeface="黑体-简" panose="02000000000000000000" charset="-122"/>
                        </a:rPr>
                        <a:t>、策略调优确认及授权</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0515</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l">
                        <a:buClrTx/>
                        <a:buSzTx/>
                        <a:buFontTx/>
                        <a:buNone/>
                      </a:pPr>
                      <a:r>
                        <a:rPr lang="zh-CN" altLang="en-US" sz="1000" b="0">
                          <a:solidFill>
                            <a:srgbClr val="000000"/>
                          </a:solidFill>
                          <a:latin typeface="Arial" panose="020B0604020202020204" pitchFamily="34" charset="0"/>
                          <a:ea typeface="黑体-简" panose="02000000000000000000" charset="-122"/>
                        </a:rPr>
                        <a:t>0522：对齐调优情况及结果</a:t>
                      </a:r>
                      <a:endParaRPr lang="zh-CN" altLang="en-US" sz="1000" b="0">
                        <a:solidFill>
                          <a:srgbClr val="000000"/>
                        </a:solidFill>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96315">
                <a:tc>
                  <a:txBody>
                    <a:bodyPr/>
                    <a:p>
                      <a:pPr algn="ctr">
                        <a:buNone/>
                      </a:pPr>
                      <a:r>
                        <a:rPr lang="zh-CN" altLang="en-US" sz="1000">
                          <a:latin typeface="Arial" panose="020B0604020202020204" pitchFamily="34" charset="0"/>
                          <a:ea typeface="黑体-简" panose="02000000000000000000" charset="-122"/>
                        </a:rPr>
                        <a:t>推进主机</a:t>
                      </a:r>
                      <a:r>
                        <a:rPr lang="en-US" altLang="zh-CN" sz="1000">
                          <a:latin typeface="Arial" panose="020B0604020202020204" pitchFamily="34" charset="0"/>
                          <a:ea typeface="黑体-简" panose="02000000000000000000" charset="-122"/>
                        </a:rPr>
                        <a:t>EDR</a:t>
                      </a:r>
                      <a:r>
                        <a:rPr lang="zh-CN" altLang="en-US" sz="1000">
                          <a:latin typeface="Arial" panose="020B0604020202020204" pitchFamily="34" charset="0"/>
                          <a:ea typeface="黑体-简" panose="02000000000000000000" charset="-122"/>
                        </a:rPr>
                        <a:t>的覆盖</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0530</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l">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605</a:t>
                      </a:r>
                      <a:r>
                        <a:rPr lang="zh-CN" altLang="en-US" sz="1000" b="0">
                          <a:solidFill>
                            <a:srgbClr val="000000"/>
                          </a:solidFill>
                          <a:latin typeface="Arial" panose="020B0604020202020204" pitchFamily="34" charset="0"/>
                          <a:ea typeface="黑体-简" panose="02000000000000000000" charset="-122"/>
                        </a:rPr>
                        <a:t>：对齐覆盖情况。</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bl>
          </a:graphicData>
        </a:graphic>
      </p:graphicFrame>
      <p:grpSp>
        <p:nvGrpSpPr>
          <p:cNvPr id="2" name="组合 1"/>
          <p:cNvGrpSpPr/>
          <p:nvPr/>
        </p:nvGrpSpPr>
        <p:grpSpPr>
          <a:xfrm>
            <a:off x="224790" y="289878"/>
            <a:ext cx="6011545" cy="327025"/>
            <a:chOff x="533" y="646"/>
            <a:chExt cx="9467" cy="515"/>
          </a:xfrm>
        </p:grpSpPr>
        <p:grpSp>
          <p:nvGrpSpPr>
            <p:cNvPr id="3" name="组合 2"/>
            <p:cNvGrpSpPr/>
            <p:nvPr/>
          </p:nvGrpSpPr>
          <p:grpSpPr>
            <a:xfrm rot="0">
              <a:off x="533" y="672"/>
              <a:ext cx="582" cy="420"/>
              <a:chOff x="533" y="672"/>
              <a:chExt cx="582" cy="420"/>
            </a:xfrm>
          </p:grpSpPr>
          <p:sp>
            <p:nvSpPr>
              <p:cNvPr id="4" name="燕尾形 86"/>
              <p:cNvSpPr/>
              <p:nvPr>
                <p:custDataLst>
                  <p:tags r:id="rId5"/>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8" name="燕尾形 103"/>
              <p:cNvSpPr/>
              <p:nvPr>
                <p:custDataLst>
                  <p:tags r:id="rId6"/>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4" name="textbox 158"/>
            <p:cNvSpPr/>
            <p:nvPr/>
          </p:nvSpPr>
          <p:spPr>
            <a:xfrm>
              <a:off x="1345" y="646"/>
              <a:ext cx="865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下一阶段行动</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计划</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734695" y="1247140"/>
            <a:ext cx="430530" cy="4576445"/>
          </a:xfrm>
          <a:prstGeom prst="rect">
            <a:avLst/>
          </a:prstGeom>
          <a:gradFill>
            <a:gsLst>
              <a:gs pos="51300">
                <a:srgbClr val="32B0EA"/>
              </a:gs>
              <a:gs pos="0">
                <a:srgbClr val="005F9F"/>
              </a:gs>
              <a:gs pos="100000">
                <a:srgbClr val="ADDCE1"/>
              </a:gs>
            </a:gsLst>
            <a:lin ang="5400000" scaled="1"/>
          </a:gradFill>
          <a:ln>
            <a:tailEnd type="arrow" w="med" len="med"/>
          </a:ln>
        </p:spPr>
        <p:style>
          <a:lnRef idx="0">
            <a:srgbClr val="FFFFFF"/>
          </a:lnRef>
          <a:fillRef idx="1">
            <a:schemeClr val="accent1"/>
          </a:fillRef>
          <a:effectRef idx="0">
            <a:srgbClr val="FFFFFF"/>
          </a:effectRef>
          <a:fontRef idx="minor">
            <a:schemeClr val="lt1"/>
          </a:fontRef>
        </p:style>
        <p:txBody>
          <a:bodyPr anchor="ctr" anchorCtr="0"/>
          <a:lstStyle/>
          <a:p>
            <a:pPr algn="ctr"/>
            <a:r>
              <a:rPr lang="zh-CN" altLang="en-US" sz="1400" b="1">
                <a:latin typeface="微软雅黑" panose="020B0503020204020204" charset="-122"/>
                <a:ea typeface="微软雅黑" panose="020B0503020204020204" charset="-122"/>
              </a:rPr>
              <a:t>服务满意度</a:t>
            </a:r>
            <a:r>
              <a:rPr lang="zh-CN" altLang="en-US" sz="1400" b="1">
                <a:latin typeface="微软雅黑" panose="020B0503020204020204" charset="-122"/>
                <a:ea typeface="微软雅黑" panose="020B0503020204020204" charset="-122"/>
              </a:rPr>
              <a:t>调研</a:t>
            </a:r>
            <a:endParaRPr lang="zh-CN" altLang="en-US" sz="1400" b="1">
              <a:latin typeface="微软雅黑" panose="020B0503020204020204" charset="-122"/>
              <a:ea typeface="微软雅黑" panose="020B0503020204020204" charset="-122"/>
            </a:endParaRPr>
          </a:p>
        </p:txBody>
      </p:sp>
      <p:graphicFrame>
        <p:nvGraphicFramePr>
          <p:cNvPr id="4" name="表格 3"/>
          <p:cNvGraphicFramePr/>
          <p:nvPr>
            <p:custDataLst>
              <p:tags r:id="rId1"/>
            </p:custDataLst>
          </p:nvPr>
        </p:nvGraphicFramePr>
        <p:xfrm>
          <a:off x="1264920" y="1247140"/>
          <a:ext cx="9945370" cy="4576445"/>
        </p:xfrm>
        <a:graphic>
          <a:graphicData uri="http://schemas.openxmlformats.org/drawingml/2006/table">
            <a:tbl>
              <a:tblPr firstRow="1" bandRow="1"/>
              <a:tblGrid>
                <a:gridCol w="1184275"/>
                <a:gridCol w="7207885"/>
                <a:gridCol w="1553210"/>
              </a:tblGrid>
              <a:tr h="508635">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Arial" panose="020B0604020202020204" pitchFamily="34" charset="0"/>
                          <a:ea typeface="黑体-简" panose="02000000000000000000" charset="-122"/>
                          <a:cs typeface="+mn-cs"/>
                        </a:rPr>
                        <a:t>维度</a:t>
                      </a:r>
                      <a:endParaRPr lang="zh-CN" altLang="en-US" sz="1000" b="1" kern="1200" dirty="0">
                        <a:solidFill>
                          <a:schemeClr val="lt1"/>
                        </a:solidFill>
                        <a:latin typeface="Arial" panose="020B0604020202020204" pitchFamily="34" charset="0"/>
                        <a:ea typeface="黑体-简" panose="02000000000000000000"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Arial" panose="020B0604020202020204" pitchFamily="34" charset="0"/>
                          <a:ea typeface="黑体-简" panose="02000000000000000000" charset="-122"/>
                          <a:cs typeface="+mn-cs"/>
                        </a:rPr>
                        <a:t>评价项</a:t>
                      </a:r>
                      <a:endParaRPr lang="zh-CN" altLang="en-US" sz="1000" b="1" kern="1200" dirty="0">
                        <a:solidFill>
                          <a:schemeClr val="lt1"/>
                        </a:solidFill>
                        <a:latin typeface="Arial" panose="020B0604020202020204" pitchFamily="34" charset="0"/>
                        <a:ea typeface="黑体-简" panose="02000000000000000000"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Arial" panose="020B0604020202020204" pitchFamily="34" charset="0"/>
                          <a:ea typeface="黑体-简" panose="02000000000000000000" charset="-122"/>
                          <a:cs typeface="+mn-cs"/>
                        </a:rPr>
                        <a:t>评价情况</a:t>
                      </a:r>
                      <a:endParaRPr lang="zh-CN" altLang="en-US" sz="1000" b="1" kern="1200" dirty="0">
                        <a:solidFill>
                          <a:schemeClr val="lt1"/>
                        </a:solidFill>
                        <a:latin typeface="Arial" panose="020B0604020202020204" pitchFamily="34" charset="0"/>
                        <a:ea typeface="黑体-简" panose="02000000000000000000"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r>
              <a:tr h="2033905">
                <a:tc>
                  <a:txBody>
                    <a:bodyPr/>
                    <a:lstStyle/>
                    <a:p>
                      <a:pPr indent="0" algn="ctr">
                        <a:buNone/>
                      </a:pPr>
                      <a:r>
                        <a:rPr lang="zh-CN" altLang="en-US" sz="1200" dirty="0">
                          <a:latin typeface="Arial" panose="020B0604020202020204" pitchFamily="34" charset="0"/>
                          <a:ea typeface="黑体-简" panose="02000000000000000000" charset="-122"/>
                          <a:cs typeface="微软雅黑" panose="020B0503020204020204" charset="-122"/>
                        </a:rPr>
                        <a:t>安全效果</a:t>
                      </a:r>
                      <a:endParaRPr lang="zh-CN" altLang="en-US" sz="1200" dirty="0">
                        <a:latin typeface="Arial" panose="020B0604020202020204" pitchFamily="34" charset="0"/>
                        <a:ea typeface="黑体-简" panose="02000000000000000000" charset="-122"/>
                        <a:cs typeface="微软雅黑" panose="020B050302020402020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indent="0" algn="l" fontAlgn="auto">
                        <a:buNone/>
                      </a:pPr>
                      <a:r>
                        <a:rPr lang="zh-CN" altLang="en-US" sz="1200" dirty="0">
                          <a:effectLst/>
                          <a:latin typeface="Arial" panose="020B0604020202020204" pitchFamily="34" charset="0"/>
                          <a:ea typeface="黑体-简" panose="02000000000000000000" charset="-122"/>
                        </a:rPr>
                        <a:t>请问您对我们所提供的安全服务效果整体评价如何</a:t>
                      </a:r>
                      <a:r>
                        <a:rPr lang="en-US" altLang="zh-CN" sz="1200" dirty="0">
                          <a:effectLst/>
                          <a:latin typeface="Arial" panose="020B0604020202020204" pitchFamily="34" charset="0"/>
                          <a:ea typeface="黑体-简" panose="02000000000000000000" charset="-122"/>
                        </a:rPr>
                        <a:t>(</a:t>
                      </a:r>
                      <a:r>
                        <a:rPr lang="zh-CN" altLang="en-US" sz="1200" dirty="0">
                          <a:effectLst/>
                          <a:latin typeface="Arial" panose="020B0604020202020204" pitchFamily="34" charset="0"/>
                          <a:ea typeface="黑体-简" panose="02000000000000000000" charset="-122"/>
                        </a:rPr>
                        <a:t>非常满意、满意、基本满意、一般、不满意</a:t>
                      </a:r>
                      <a:r>
                        <a:rPr lang="en-US" altLang="zh-CN" sz="1200" dirty="0">
                          <a:effectLst/>
                          <a:latin typeface="Arial" panose="020B0604020202020204" pitchFamily="34" charset="0"/>
                          <a:ea typeface="黑体-简" panose="02000000000000000000" charset="-122"/>
                        </a:rPr>
                        <a:t>)</a:t>
                      </a:r>
                      <a:r>
                        <a:rPr lang="zh-CN" altLang="en-US" sz="1200" dirty="0">
                          <a:effectLst/>
                          <a:latin typeface="Arial" panose="020B0604020202020204" pitchFamily="34" charset="0"/>
                          <a:ea typeface="黑体-简" panose="02000000000000000000" charset="-122"/>
                        </a:rPr>
                        <a:t>？</a:t>
                      </a:r>
                      <a:endParaRPr lang="zh-CN" altLang="en-US" sz="1200" dirty="0">
                        <a:effectLst/>
                        <a:latin typeface="Arial" panose="020B0604020202020204" pitchFamily="34" charset="0"/>
                        <a:ea typeface="黑体-简" panose="02000000000000000000" charset="-122"/>
                      </a:endParaRPr>
                    </a:p>
                    <a:p>
                      <a:pPr marL="71755" indent="0" algn="l" fontAlgn="auto">
                        <a:buNone/>
                      </a:pPr>
                      <a:r>
                        <a:rPr lang="zh-CN" altLang="en-US" sz="1200" dirty="0">
                          <a:solidFill>
                            <a:srgbClr val="00B050"/>
                          </a:solidFill>
                          <a:effectLst/>
                          <a:latin typeface="Arial" panose="020B0604020202020204" pitchFamily="34" charset="0"/>
                          <a:ea typeface="黑体-简" panose="02000000000000000000" charset="-122"/>
                        </a:rPr>
                        <a:t>非常满意</a:t>
                      </a:r>
                      <a:r>
                        <a:rPr lang="zh-CN" altLang="en-US" sz="1200" dirty="0">
                          <a:effectLst/>
                          <a:latin typeface="Arial" panose="020B0604020202020204" pitchFamily="34" charset="0"/>
                          <a:ea typeface="黑体-简" panose="02000000000000000000" charset="-122"/>
                        </a:rPr>
                        <a:t>（</a:t>
                      </a:r>
                      <a:r>
                        <a:rPr lang="en-US" altLang="zh-CN" sz="1200" dirty="0">
                          <a:effectLst/>
                          <a:latin typeface="Arial" panose="020B0604020202020204" pitchFamily="34" charset="0"/>
                          <a:ea typeface="黑体-简" panose="02000000000000000000" charset="-122"/>
                        </a:rPr>
                        <a:t>10</a:t>
                      </a:r>
                      <a:r>
                        <a:rPr lang="zh-CN" altLang="en-US" sz="1200" dirty="0">
                          <a:effectLst/>
                          <a:latin typeface="Arial" panose="020B0604020202020204" pitchFamily="34" charset="0"/>
                          <a:ea typeface="黑体-简" panose="02000000000000000000" charset="-122"/>
                        </a:rPr>
                        <a:t>分），完全达到预期甚至超出预期，安全效果有显著提升；</a:t>
                      </a:r>
                      <a:endParaRPr lang="zh-CN" altLang="en-US" sz="1200" dirty="0">
                        <a:effectLst/>
                        <a:latin typeface="Arial" panose="020B0604020202020204" pitchFamily="34" charset="0"/>
                        <a:ea typeface="黑体-简" panose="02000000000000000000" charset="-122"/>
                      </a:endParaRPr>
                    </a:p>
                    <a:p>
                      <a:pPr marL="71755" indent="0" algn="l" fontAlgn="auto">
                        <a:buNone/>
                      </a:pPr>
                      <a:r>
                        <a:rPr lang="zh-CN" altLang="en-US" sz="1200" dirty="0">
                          <a:solidFill>
                            <a:srgbClr val="00B050"/>
                          </a:solidFill>
                          <a:effectLst/>
                          <a:latin typeface="Arial" panose="020B0604020202020204" pitchFamily="34" charset="0"/>
                          <a:ea typeface="黑体-简" panose="02000000000000000000" charset="-122"/>
                        </a:rPr>
                        <a:t>满意</a:t>
                      </a:r>
                      <a:r>
                        <a:rPr lang="zh-CN" altLang="en-US" sz="1200" dirty="0">
                          <a:effectLst/>
                          <a:latin typeface="Arial" panose="020B0604020202020204" pitchFamily="34" charset="0"/>
                          <a:ea typeface="黑体-简" panose="02000000000000000000" charset="-122"/>
                        </a:rPr>
                        <a:t>（</a:t>
                      </a:r>
                      <a:r>
                        <a:rPr lang="en-US" altLang="zh-CN" sz="1200" dirty="0">
                          <a:effectLst/>
                          <a:latin typeface="Arial" panose="020B0604020202020204" pitchFamily="34" charset="0"/>
                          <a:ea typeface="黑体-简" panose="02000000000000000000" charset="-122"/>
                        </a:rPr>
                        <a:t>9</a:t>
                      </a:r>
                      <a:r>
                        <a:rPr lang="zh-CN" altLang="en-US" sz="1200" dirty="0">
                          <a:effectLst/>
                          <a:latin typeface="Arial" panose="020B0604020202020204" pitchFamily="34" charset="0"/>
                          <a:ea typeface="黑体-简" panose="02000000000000000000" charset="-122"/>
                        </a:rPr>
                        <a:t>分），达到预期，与期望效果一致，安全效果有较大提升；</a:t>
                      </a:r>
                      <a:endParaRPr lang="zh-CN" altLang="en-US" sz="1200" dirty="0">
                        <a:effectLst/>
                        <a:latin typeface="Arial" panose="020B0604020202020204" pitchFamily="34" charset="0"/>
                        <a:ea typeface="黑体-简" panose="02000000000000000000" charset="-122"/>
                      </a:endParaRPr>
                    </a:p>
                    <a:p>
                      <a:pPr marL="71755" indent="0" algn="l" fontAlgn="auto">
                        <a:buNone/>
                      </a:pPr>
                      <a:r>
                        <a:rPr lang="zh-CN" altLang="en-US" sz="1200" dirty="0">
                          <a:solidFill>
                            <a:schemeClr val="accent2">
                              <a:lumMod val="75000"/>
                            </a:schemeClr>
                          </a:solidFill>
                          <a:effectLst/>
                          <a:latin typeface="Arial" panose="020B0604020202020204" pitchFamily="34" charset="0"/>
                          <a:ea typeface="黑体-简" panose="02000000000000000000" charset="-122"/>
                        </a:rPr>
                        <a:t>基本满意</a:t>
                      </a:r>
                      <a:r>
                        <a:rPr lang="zh-CN" altLang="en-US" sz="1200" dirty="0">
                          <a:effectLst/>
                          <a:latin typeface="Arial" panose="020B0604020202020204" pitchFamily="34" charset="0"/>
                          <a:ea typeface="黑体-简" panose="02000000000000000000" charset="-122"/>
                        </a:rPr>
                        <a:t>（</a:t>
                      </a:r>
                      <a:r>
                        <a:rPr lang="en-US" altLang="zh-CN" sz="1200" dirty="0">
                          <a:effectLst/>
                          <a:latin typeface="Arial" panose="020B0604020202020204" pitchFamily="34" charset="0"/>
                          <a:ea typeface="黑体-简" panose="02000000000000000000" charset="-122"/>
                        </a:rPr>
                        <a:t>8</a:t>
                      </a:r>
                      <a:r>
                        <a:rPr lang="zh-CN" altLang="en-US" sz="1200" dirty="0">
                          <a:effectLst/>
                          <a:latin typeface="Arial" panose="020B0604020202020204" pitchFamily="34" charset="0"/>
                          <a:ea typeface="黑体-简" panose="02000000000000000000" charset="-122"/>
                        </a:rPr>
                        <a:t>分），基本达到预期，但还可以提升；</a:t>
                      </a:r>
                      <a:endParaRPr lang="zh-CN" altLang="en-US" sz="1200" dirty="0">
                        <a:effectLst/>
                        <a:latin typeface="Arial" panose="020B0604020202020204" pitchFamily="34" charset="0"/>
                        <a:ea typeface="黑体-简" panose="02000000000000000000" charset="-122"/>
                      </a:endParaRPr>
                    </a:p>
                    <a:p>
                      <a:pPr marL="71755" indent="0" algn="l" fontAlgn="auto">
                        <a:buNone/>
                      </a:pPr>
                      <a:r>
                        <a:rPr lang="zh-CN" altLang="en-US" sz="1200" dirty="0">
                          <a:solidFill>
                            <a:schemeClr val="accent2">
                              <a:lumMod val="75000"/>
                            </a:schemeClr>
                          </a:solidFill>
                          <a:effectLst/>
                          <a:latin typeface="Arial" panose="020B0604020202020204" pitchFamily="34" charset="0"/>
                          <a:ea typeface="黑体-简" panose="02000000000000000000" charset="-122"/>
                        </a:rPr>
                        <a:t>一般</a:t>
                      </a:r>
                      <a:r>
                        <a:rPr lang="zh-CN" altLang="en-US" sz="1200" dirty="0">
                          <a:effectLst/>
                          <a:latin typeface="Arial" panose="020B0604020202020204" pitchFamily="34" charset="0"/>
                          <a:ea typeface="黑体-简" panose="02000000000000000000" charset="-122"/>
                        </a:rPr>
                        <a:t>（</a:t>
                      </a:r>
                      <a:r>
                        <a:rPr lang="en-US" altLang="zh-CN" sz="1200" dirty="0">
                          <a:effectLst/>
                          <a:latin typeface="Arial" panose="020B0604020202020204" pitchFamily="34" charset="0"/>
                          <a:ea typeface="黑体-简" panose="02000000000000000000" charset="-122"/>
                        </a:rPr>
                        <a:t>6-7</a:t>
                      </a:r>
                      <a:r>
                        <a:rPr lang="zh-CN" altLang="en-US" sz="1200" dirty="0">
                          <a:effectLst/>
                          <a:latin typeface="Arial" panose="020B0604020202020204" pitchFamily="34" charset="0"/>
                          <a:ea typeface="黑体-简" panose="02000000000000000000" charset="-122"/>
                        </a:rPr>
                        <a:t>分），还能接受，但提升效果不明显，有部分差距；</a:t>
                      </a:r>
                      <a:endParaRPr lang="zh-CN" altLang="en-US" sz="1200" dirty="0">
                        <a:effectLst/>
                        <a:latin typeface="Arial" panose="020B0604020202020204" pitchFamily="34" charset="0"/>
                        <a:ea typeface="黑体-简" panose="02000000000000000000" charset="-122"/>
                      </a:endParaRPr>
                    </a:p>
                    <a:p>
                      <a:pPr marL="71755" indent="0" algn="l" fontAlgn="auto">
                        <a:buNone/>
                      </a:pPr>
                      <a:r>
                        <a:rPr lang="zh-CN" altLang="en-US" sz="1200" dirty="0">
                          <a:solidFill>
                            <a:srgbClr val="FF0000"/>
                          </a:solidFill>
                          <a:effectLst/>
                          <a:latin typeface="Arial" panose="020B0604020202020204" pitchFamily="34" charset="0"/>
                          <a:ea typeface="黑体-简" panose="02000000000000000000" charset="-122"/>
                        </a:rPr>
                        <a:t>不满意</a:t>
                      </a:r>
                      <a:r>
                        <a:rPr lang="zh-CN" altLang="en-US" sz="1200" dirty="0">
                          <a:effectLst/>
                          <a:latin typeface="Arial" panose="020B0604020202020204" pitchFamily="34" charset="0"/>
                          <a:ea typeface="黑体-简" panose="02000000000000000000" charset="-122"/>
                        </a:rPr>
                        <a:t>（</a:t>
                      </a:r>
                      <a:r>
                        <a:rPr lang="en-US" altLang="zh-CN" sz="1200" dirty="0">
                          <a:effectLst/>
                          <a:latin typeface="Arial" panose="020B0604020202020204" pitchFamily="34" charset="0"/>
                          <a:ea typeface="黑体-简" panose="02000000000000000000" charset="-122"/>
                        </a:rPr>
                        <a:t>5</a:t>
                      </a:r>
                      <a:r>
                        <a:rPr lang="zh-CN" altLang="en-US" sz="1200" dirty="0">
                          <a:effectLst/>
                          <a:latin typeface="Arial" panose="020B0604020202020204" pitchFamily="34" charset="0"/>
                          <a:ea typeface="黑体-简" panose="02000000000000000000" charset="-122"/>
                        </a:rPr>
                        <a:t>分以下），不合格，还有很大改进空间。</a:t>
                      </a:r>
                      <a:endParaRPr lang="zh-CN" altLang="en-US" sz="1200" dirty="0">
                        <a:effectLst/>
                        <a:latin typeface="Arial" panose="020B0604020202020204" pitchFamily="34" charset="0"/>
                        <a:ea typeface="黑体-简" panose="02000000000000000000"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rgbClr val="00B050"/>
                          </a:solidFill>
                          <a:latin typeface="Arial" panose="020B0604020202020204" pitchFamily="34" charset="0"/>
                          <a:ea typeface="黑体-简" panose="02000000000000000000" charset="-122"/>
                          <a:sym typeface="Wingdings 2" panose="05020102010507070707" charset="0"/>
                        </a:rPr>
                        <a:t>非常满意</a:t>
                      </a:r>
                      <a:r>
                        <a:rPr lang="en-US" altLang="zh-CN" sz="1200">
                          <a:solidFill>
                            <a:srgbClr val="00B050"/>
                          </a:solidFill>
                          <a:latin typeface="Arial" panose="020B0604020202020204" pitchFamily="34" charset="0"/>
                          <a:ea typeface="黑体-简" panose="02000000000000000000" charset="-122"/>
                          <a:sym typeface="Wingdings 2" panose="05020102010507070707" charset="0"/>
                        </a:rPr>
                        <a:t> </a:t>
                      </a:r>
                      <a:endParaRPr lang="zh-CN" altLang="en-US" sz="1200">
                        <a:latin typeface="Arial" panose="020B0604020202020204" pitchFamily="34" charset="0"/>
                        <a:ea typeface="黑体-简" panose="02000000000000000000" charset="-122"/>
                        <a:sym typeface="Wingdings 2" panose="05020102010507070707" charset="0"/>
                      </a:endParaRPr>
                    </a:p>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rgbClr val="00B050"/>
                          </a:solidFill>
                          <a:latin typeface="Arial" panose="020B0604020202020204" pitchFamily="34" charset="0"/>
                          <a:ea typeface="黑体-简" panose="02000000000000000000" charset="-122"/>
                          <a:sym typeface="Wingdings 2" panose="05020102010507070707" charset="0"/>
                        </a:rPr>
                        <a:t>满意</a:t>
                      </a:r>
                      <a:r>
                        <a:rPr lang="en-US" altLang="zh-CN" sz="1200">
                          <a:solidFill>
                            <a:srgbClr val="00B050"/>
                          </a:solidFill>
                          <a:latin typeface="Arial" panose="020B0604020202020204" pitchFamily="34" charset="0"/>
                          <a:ea typeface="黑体-简" panose="02000000000000000000" charset="-122"/>
                          <a:sym typeface="Wingdings 2" panose="05020102010507070707" charset="0"/>
                        </a:rPr>
                        <a:t> </a:t>
                      </a:r>
                      <a:endParaRPr lang="zh-CN" altLang="en-US" sz="1200">
                        <a:latin typeface="Arial" panose="020B0604020202020204" pitchFamily="34" charset="0"/>
                        <a:ea typeface="黑体-简" panose="02000000000000000000" charset="-122"/>
                        <a:sym typeface="Wingdings 2" panose="05020102010507070707" charset="0"/>
                      </a:endParaRPr>
                    </a:p>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chemeClr val="accent2">
                              <a:lumMod val="75000"/>
                            </a:schemeClr>
                          </a:solidFill>
                          <a:latin typeface="Arial" panose="020B0604020202020204" pitchFamily="34" charset="0"/>
                          <a:ea typeface="黑体-简" panose="02000000000000000000" charset="-122"/>
                          <a:sym typeface="Wingdings 2" panose="05020102010507070707" charset="0"/>
                        </a:rPr>
                        <a:t>一般</a:t>
                      </a:r>
                      <a:endParaRPr lang="zh-CN" altLang="en-US" sz="1200">
                        <a:latin typeface="Arial" panose="020B0604020202020204" pitchFamily="34" charset="0"/>
                        <a:ea typeface="黑体-简" panose="02000000000000000000" charset="-122"/>
                        <a:sym typeface="Wingdings 2" panose="05020102010507070707" charset="0"/>
                      </a:endParaRPr>
                    </a:p>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rgbClr val="FF0000"/>
                          </a:solidFill>
                          <a:latin typeface="Arial" panose="020B0604020202020204" pitchFamily="34" charset="0"/>
                          <a:ea typeface="黑体-简" panose="02000000000000000000" charset="-122"/>
                          <a:sym typeface="Wingdings 2" panose="05020102010507070707" charset="0"/>
                        </a:rPr>
                        <a:t>不满意</a:t>
                      </a:r>
                      <a:endParaRPr lang="zh-CN" altLang="en-US" sz="1200">
                        <a:solidFill>
                          <a:srgbClr val="FF0000"/>
                        </a:solidFill>
                        <a:latin typeface="Arial" panose="020B0604020202020204" pitchFamily="34" charset="0"/>
                        <a:ea typeface="黑体-简" panose="02000000000000000000" charset="-122"/>
                        <a:sym typeface="Wingdings 2" panose="05020102010507070707" charset="0"/>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r>
              <a:tr h="1016635">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200" dirty="0">
                          <a:latin typeface="Arial" panose="020B0604020202020204" pitchFamily="34" charset="0"/>
                          <a:ea typeface="黑体-简" panose="02000000000000000000" charset="-122"/>
                          <a:cs typeface="微软雅黑" panose="020B0503020204020204" charset="-122"/>
                        </a:rPr>
                        <a:t>产品问题</a:t>
                      </a:r>
                      <a:endParaRPr lang="zh-CN" altLang="en-US" sz="1200" dirty="0">
                        <a:latin typeface="Arial" panose="020B0604020202020204" pitchFamily="34" charset="0"/>
                        <a:ea typeface="黑体-简" panose="02000000000000000000" charset="-122"/>
                        <a:cs typeface="微软雅黑" panose="020B050302020402020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200" dirty="0">
                          <a:latin typeface="Arial" panose="020B0604020202020204" pitchFamily="34" charset="0"/>
                          <a:ea typeface="黑体-简" panose="02000000000000000000" charset="-122"/>
                          <a:cs typeface="微软雅黑" panose="020B0503020204020204" charset="-122"/>
                        </a:rPr>
                        <a:t>了解到该项目运用了咱们其他产品，基于您的使用体验，您认为效果怎么样？是否存在未解决的产品问题</a:t>
                      </a:r>
                      <a:endParaRPr lang="zh-CN" altLang="en-US" sz="1200" dirty="0">
                        <a:latin typeface="Arial" panose="020B0604020202020204" pitchFamily="34" charset="0"/>
                        <a:ea typeface="黑体-简" panose="02000000000000000000" charset="-122"/>
                        <a:cs typeface="微软雅黑" panose="020B0503020204020204" charset="-122"/>
                      </a:endParaRPr>
                    </a:p>
                    <a:p>
                      <a:pPr marL="71755" indent="0" algn="l" fontAlgn="auto">
                        <a:buNone/>
                      </a:pPr>
                      <a:r>
                        <a:rPr lang="zh-CN" altLang="en-US" sz="1200" dirty="0">
                          <a:latin typeface="Arial" panose="020B0604020202020204" pitchFamily="34" charset="0"/>
                          <a:ea typeface="黑体-简" panose="02000000000000000000" charset="-122"/>
                          <a:cs typeface="微软雅黑" panose="020B0503020204020204" charset="-122"/>
                        </a:rPr>
                        <a:t>（</a:t>
                      </a:r>
                      <a:r>
                        <a:rPr lang="zh-CN" altLang="en-US" sz="1200" dirty="0">
                          <a:solidFill>
                            <a:srgbClr val="00B050"/>
                          </a:solidFill>
                          <a:latin typeface="Arial" panose="020B0604020202020204" pitchFamily="34" charset="0"/>
                          <a:ea typeface="黑体-简" panose="02000000000000000000" charset="-122"/>
                          <a:cs typeface="微软雅黑" panose="020B0503020204020204" charset="-122"/>
                        </a:rPr>
                        <a:t>非常满意</a:t>
                      </a:r>
                      <a:r>
                        <a:rPr lang="zh-CN" altLang="en-US" sz="1200" dirty="0">
                          <a:latin typeface="Arial" panose="020B0604020202020204" pitchFamily="34" charset="0"/>
                          <a:ea typeface="黑体-简" panose="02000000000000000000" charset="-122"/>
                          <a:cs typeface="微软雅黑" panose="020B0503020204020204" charset="-122"/>
                        </a:rPr>
                        <a:t>、</a:t>
                      </a:r>
                      <a:r>
                        <a:rPr lang="zh-CN" altLang="en-US" sz="1200" dirty="0">
                          <a:solidFill>
                            <a:srgbClr val="00B050"/>
                          </a:solidFill>
                          <a:latin typeface="Arial" panose="020B0604020202020204" pitchFamily="34" charset="0"/>
                          <a:ea typeface="黑体-简" panose="02000000000000000000" charset="-122"/>
                          <a:cs typeface="微软雅黑" panose="020B0503020204020204" charset="-122"/>
                        </a:rPr>
                        <a:t>满意</a:t>
                      </a:r>
                      <a:r>
                        <a:rPr lang="zh-CN" altLang="en-US" sz="1200" dirty="0">
                          <a:latin typeface="Arial" panose="020B0604020202020204" pitchFamily="34" charset="0"/>
                          <a:ea typeface="黑体-简" panose="02000000000000000000" charset="-122"/>
                          <a:cs typeface="微软雅黑" panose="020B0503020204020204" charset="-122"/>
                        </a:rPr>
                        <a:t>、</a:t>
                      </a:r>
                      <a:r>
                        <a:rPr lang="zh-CN" altLang="en-US" sz="1200" dirty="0">
                          <a:solidFill>
                            <a:schemeClr val="accent2">
                              <a:lumMod val="75000"/>
                            </a:schemeClr>
                          </a:solidFill>
                          <a:effectLst/>
                          <a:latin typeface="Arial" panose="020B0604020202020204" pitchFamily="34" charset="0"/>
                          <a:ea typeface="黑体-简" panose="02000000000000000000" charset="-122"/>
                          <a:cs typeface="+mn-cs"/>
                          <a:sym typeface="+mn-ea"/>
                        </a:rPr>
                        <a:t>一般</a:t>
                      </a:r>
                      <a:r>
                        <a:rPr lang="zh-CN" altLang="en-US" sz="1200" dirty="0">
                          <a:solidFill>
                            <a:schemeClr val="accent2">
                              <a:lumMod val="75000"/>
                            </a:schemeClr>
                          </a:solidFill>
                          <a:effectLst/>
                          <a:latin typeface="Arial" panose="020B0604020202020204" pitchFamily="34" charset="0"/>
                          <a:ea typeface="黑体-简" panose="02000000000000000000" charset="-122"/>
                          <a:cs typeface="+mn-cs"/>
                        </a:rPr>
                        <a:t>、</a:t>
                      </a:r>
                      <a:r>
                        <a:rPr lang="zh-CN" altLang="en-US" sz="1200" dirty="0">
                          <a:solidFill>
                            <a:srgbClr val="FF0000"/>
                          </a:solidFill>
                          <a:latin typeface="Arial" panose="020B0604020202020204" pitchFamily="34" charset="0"/>
                          <a:ea typeface="黑体-简" panose="02000000000000000000" charset="-122"/>
                          <a:cs typeface="微软雅黑" panose="020B0503020204020204" charset="-122"/>
                        </a:rPr>
                        <a:t>不满意</a:t>
                      </a:r>
                      <a:r>
                        <a:rPr lang="zh-CN" altLang="en-US" sz="1200" dirty="0">
                          <a:latin typeface="Arial" panose="020B0604020202020204" pitchFamily="34" charset="0"/>
                          <a:ea typeface="黑体-简" panose="02000000000000000000" charset="-122"/>
                          <a:cs typeface="微软雅黑" panose="020B0503020204020204" charset="-122"/>
                        </a:rPr>
                        <a:t>）</a:t>
                      </a:r>
                      <a:endParaRPr lang="zh-CN" altLang="en-US" sz="1200" dirty="0">
                        <a:latin typeface="Arial" panose="020B0604020202020204" pitchFamily="34" charset="0"/>
                        <a:ea typeface="黑体-简" panose="02000000000000000000" charset="-122"/>
                        <a:cs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rgbClr val="00B050"/>
                          </a:solidFill>
                          <a:latin typeface="Arial" panose="020B0604020202020204" pitchFamily="34" charset="0"/>
                          <a:ea typeface="黑体-简" panose="02000000000000000000" charset="-122"/>
                          <a:sym typeface="Wingdings 2" panose="05020102010507070707" charset="0"/>
                        </a:rPr>
                        <a:t>非常满意</a:t>
                      </a:r>
                      <a:endParaRPr lang="zh-CN" altLang="en-US" sz="1200">
                        <a:latin typeface="Arial" panose="020B0604020202020204" pitchFamily="34" charset="0"/>
                        <a:ea typeface="黑体-简" panose="02000000000000000000" charset="-122"/>
                        <a:sym typeface="Wingdings 2" panose="05020102010507070707" charset="0"/>
                      </a:endParaRPr>
                    </a:p>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rgbClr val="00B050"/>
                          </a:solidFill>
                          <a:latin typeface="Arial" panose="020B0604020202020204" pitchFamily="34" charset="0"/>
                          <a:ea typeface="黑体-简" panose="02000000000000000000" charset="-122"/>
                          <a:sym typeface="Wingdings 2" panose="05020102010507070707" charset="0"/>
                        </a:rPr>
                        <a:t>满意</a:t>
                      </a:r>
                      <a:endParaRPr lang="zh-CN" altLang="en-US" sz="1200">
                        <a:latin typeface="Arial" panose="020B0604020202020204" pitchFamily="34" charset="0"/>
                        <a:ea typeface="黑体-简" panose="02000000000000000000" charset="-122"/>
                        <a:sym typeface="Wingdings 2" panose="05020102010507070707" charset="0"/>
                      </a:endParaRPr>
                    </a:p>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chemeClr val="accent2">
                              <a:lumMod val="75000"/>
                            </a:schemeClr>
                          </a:solidFill>
                          <a:latin typeface="Arial" panose="020B0604020202020204" pitchFamily="34" charset="0"/>
                          <a:ea typeface="黑体-简" panose="02000000000000000000" charset="-122"/>
                          <a:sym typeface="Wingdings 2" panose="05020102010507070707" charset="0"/>
                        </a:rPr>
                        <a:t>一般</a:t>
                      </a:r>
                      <a:endParaRPr lang="zh-CN" altLang="en-US" sz="1200">
                        <a:latin typeface="Arial" panose="020B0604020202020204" pitchFamily="34" charset="0"/>
                        <a:ea typeface="黑体-简" panose="02000000000000000000" charset="-122"/>
                        <a:sym typeface="Wingdings 2" panose="05020102010507070707" charset="0"/>
                      </a:endParaRPr>
                    </a:p>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rgbClr val="FF0000"/>
                          </a:solidFill>
                          <a:latin typeface="Arial" panose="020B0604020202020204" pitchFamily="34" charset="0"/>
                          <a:ea typeface="黑体-简" panose="02000000000000000000" charset="-122"/>
                          <a:sym typeface="Wingdings 2" panose="05020102010507070707" charset="0"/>
                        </a:rPr>
                        <a:t>不满意</a:t>
                      </a:r>
                      <a:endParaRPr lang="zh-CN" altLang="en-US" sz="1200" dirty="0">
                        <a:latin typeface="Arial" panose="020B0604020202020204" pitchFamily="34" charset="0"/>
                        <a:ea typeface="黑体-简" panose="02000000000000000000" charset="-122"/>
                        <a:sym typeface="Wingdings 2" panose="05020102010507070707" charset="0"/>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101727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200" dirty="0">
                          <a:latin typeface="Arial" panose="020B0604020202020204" pitchFamily="34" charset="0"/>
                          <a:ea typeface="黑体-简" panose="02000000000000000000" charset="-122"/>
                        </a:rPr>
                        <a:t>推荐意愿</a:t>
                      </a:r>
                      <a:endParaRPr lang="zh-CN" altLang="en-US" sz="1200" dirty="0">
                        <a:latin typeface="Arial" panose="020B0604020202020204" pitchFamily="34" charset="0"/>
                        <a:ea typeface="黑体-简" panose="02000000000000000000"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200" dirty="0">
                          <a:latin typeface="Arial" panose="020B0604020202020204" pitchFamily="34" charset="0"/>
                          <a:ea typeface="黑体-简" panose="02000000000000000000" charset="-122"/>
                          <a:cs typeface="微软雅黑" panose="020B0503020204020204" charset="-122"/>
                        </a:rPr>
                        <a:t>基于安全托管服务整体体验，您愿意向同行推荐我们服务的可能性是多少？</a:t>
                      </a:r>
                      <a:endParaRPr lang="zh-CN" altLang="en-US" sz="1200" dirty="0">
                        <a:latin typeface="Arial" panose="020B0604020202020204" pitchFamily="34" charset="0"/>
                        <a:ea typeface="黑体-简" panose="02000000000000000000" charset="-122"/>
                        <a:cs typeface="微软雅黑" panose="020B0503020204020204" charset="-122"/>
                      </a:endParaRPr>
                    </a:p>
                    <a:p>
                      <a:pPr marL="71755" indent="0" algn="l" fontAlgn="auto">
                        <a:buNone/>
                      </a:pPr>
                      <a:r>
                        <a:rPr lang="zh-CN" altLang="en-US" sz="1200" dirty="0">
                          <a:latin typeface="Arial" panose="020B0604020202020204" pitchFamily="34" charset="0"/>
                          <a:ea typeface="黑体-简" panose="02000000000000000000" charset="-122"/>
                          <a:cs typeface="微软雅黑" panose="020B0503020204020204" charset="-122"/>
                        </a:rPr>
                        <a:t>（</a:t>
                      </a:r>
                      <a:r>
                        <a:rPr lang="en-US" altLang="zh-CN" sz="1200" dirty="0">
                          <a:latin typeface="Arial" panose="020B0604020202020204" pitchFamily="34" charset="0"/>
                          <a:ea typeface="黑体-简" panose="02000000000000000000" charset="-122"/>
                          <a:cs typeface="微软雅黑" panose="020B0503020204020204" charset="-122"/>
                        </a:rPr>
                        <a:t>0 </a:t>
                      </a:r>
                      <a:r>
                        <a:rPr lang="zh-CN" altLang="en-US" sz="1200" dirty="0">
                          <a:latin typeface="Arial" panose="020B0604020202020204" pitchFamily="34" charset="0"/>
                          <a:ea typeface="黑体-简" panose="02000000000000000000" charset="-122"/>
                          <a:cs typeface="微软雅黑" panose="020B0503020204020204" charset="-122"/>
                        </a:rPr>
                        <a:t>分</a:t>
                      </a:r>
                      <a:r>
                        <a:rPr lang="en-US" altLang="zh-CN" sz="1200" dirty="0">
                          <a:latin typeface="Arial" panose="020B0604020202020204" pitchFamily="34" charset="0"/>
                          <a:ea typeface="黑体-简" panose="02000000000000000000" charset="-122"/>
                          <a:cs typeface="微软雅黑" panose="020B0503020204020204" charset="-122"/>
                        </a:rPr>
                        <a:t> = </a:t>
                      </a:r>
                      <a:r>
                        <a:rPr lang="zh-CN" altLang="en-US" sz="1200" dirty="0">
                          <a:latin typeface="Arial" panose="020B0604020202020204" pitchFamily="34" charset="0"/>
                          <a:ea typeface="黑体-简" panose="02000000000000000000" charset="-122"/>
                          <a:cs typeface="微软雅黑" panose="020B0503020204020204" charset="-122"/>
                        </a:rPr>
                        <a:t>不愿意，</a:t>
                      </a:r>
                      <a:r>
                        <a:rPr lang="en-US" altLang="zh-CN" sz="1200" dirty="0">
                          <a:latin typeface="Arial" panose="020B0604020202020204" pitchFamily="34" charset="0"/>
                          <a:ea typeface="黑体-简" panose="02000000000000000000" charset="-122"/>
                          <a:cs typeface="微软雅黑" panose="020B0503020204020204" charset="-122"/>
                        </a:rPr>
                        <a:t>10 </a:t>
                      </a:r>
                      <a:r>
                        <a:rPr lang="zh-CN" altLang="en-US" sz="1200" dirty="0">
                          <a:latin typeface="Arial" panose="020B0604020202020204" pitchFamily="34" charset="0"/>
                          <a:ea typeface="黑体-简" panose="02000000000000000000" charset="-122"/>
                          <a:cs typeface="微软雅黑" panose="020B0503020204020204" charset="-122"/>
                        </a:rPr>
                        <a:t>分</a:t>
                      </a:r>
                      <a:r>
                        <a:rPr lang="en-US" altLang="zh-CN" sz="1200" dirty="0">
                          <a:latin typeface="Arial" panose="020B0604020202020204" pitchFamily="34" charset="0"/>
                          <a:ea typeface="黑体-简" panose="02000000000000000000" charset="-122"/>
                          <a:cs typeface="微软雅黑" panose="020B0503020204020204" charset="-122"/>
                        </a:rPr>
                        <a:t> = </a:t>
                      </a:r>
                      <a:r>
                        <a:rPr lang="zh-CN" altLang="en-US" sz="1200" dirty="0">
                          <a:latin typeface="Arial" panose="020B0604020202020204" pitchFamily="34" charset="0"/>
                          <a:ea typeface="黑体-简" panose="02000000000000000000" charset="-122"/>
                          <a:cs typeface="微软雅黑" panose="020B0503020204020204" charset="-122"/>
                        </a:rPr>
                        <a:t>非常愿意）</a:t>
                      </a:r>
                      <a:endParaRPr lang="zh-CN" altLang="en-US" sz="1200" dirty="0">
                        <a:latin typeface="Arial" panose="020B0604020202020204" pitchFamily="34" charset="0"/>
                        <a:ea typeface="黑体-简" panose="02000000000000000000"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rgbClr val="00B050"/>
                          </a:solidFill>
                          <a:latin typeface="Arial" panose="020B0604020202020204" pitchFamily="34" charset="0"/>
                          <a:ea typeface="黑体-简" panose="02000000000000000000" charset="-122"/>
                          <a:sym typeface="Wingdings 2" panose="05020102010507070707" charset="0"/>
                        </a:rPr>
                        <a:t>非常愿意</a:t>
                      </a:r>
                      <a:endParaRPr lang="zh-CN" altLang="en-US" sz="1200">
                        <a:latin typeface="Arial" panose="020B0604020202020204" pitchFamily="34" charset="0"/>
                        <a:ea typeface="黑体-简" panose="02000000000000000000" charset="-122"/>
                        <a:sym typeface="Wingdings 2" panose="05020102010507070707" charset="0"/>
                      </a:endParaRPr>
                    </a:p>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rgbClr val="00B050"/>
                          </a:solidFill>
                          <a:latin typeface="Arial" panose="020B0604020202020204" pitchFamily="34" charset="0"/>
                          <a:ea typeface="黑体-简" panose="02000000000000000000" charset="-122"/>
                          <a:sym typeface="Wingdings 2" panose="05020102010507070707" charset="0"/>
                        </a:rPr>
                        <a:t>愿意</a:t>
                      </a:r>
                      <a:endParaRPr lang="zh-CN" altLang="en-US" sz="1200">
                        <a:latin typeface="Arial" panose="020B0604020202020204" pitchFamily="34" charset="0"/>
                        <a:ea typeface="黑体-简" panose="02000000000000000000" charset="-122"/>
                        <a:sym typeface="Wingdings 2" panose="05020102010507070707" charset="0"/>
                      </a:endParaRPr>
                    </a:p>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chemeClr val="accent2">
                              <a:lumMod val="75000"/>
                            </a:schemeClr>
                          </a:solidFill>
                          <a:latin typeface="Arial" panose="020B0604020202020204" pitchFamily="34" charset="0"/>
                          <a:ea typeface="黑体-简" panose="02000000000000000000" charset="-122"/>
                          <a:sym typeface="Wingdings 2" panose="05020102010507070707" charset="0"/>
                        </a:rPr>
                        <a:t>一般</a:t>
                      </a:r>
                      <a:endParaRPr lang="zh-CN" altLang="en-US" sz="1200">
                        <a:latin typeface="Arial" panose="020B0604020202020204" pitchFamily="34" charset="0"/>
                        <a:ea typeface="黑体-简" panose="02000000000000000000" charset="-122"/>
                        <a:sym typeface="Wingdings 2" panose="05020102010507070707" charset="0"/>
                      </a:endParaRPr>
                    </a:p>
                    <a:p>
                      <a:pPr indent="0" algn="l">
                        <a:buNone/>
                      </a:pP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latin typeface="Arial" panose="020B0604020202020204" pitchFamily="34" charset="0"/>
                          <a:ea typeface="黑体-简" panose="02000000000000000000" charset="-122"/>
                          <a:sym typeface="Wingdings 2" panose="05020102010507070707" charset="0"/>
                        </a:rPr>
                        <a:t></a:t>
                      </a:r>
                      <a:r>
                        <a:rPr lang="en-US" altLang="zh-CN" sz="1200">
                          <a:latin typeface="Arial" panose="020B0604020202020204" pitchFamily="34" charset="0"/>
                          <a:ea typeface="黑体-简" panose="02000000000000000000" charset="-122"/>
                          <a:sym typeface="Wingdings 2" panose="05020102010507070707" charset="0"/>
                        </a:rPr>
                        <a:t> </a:t>
                      </a:r>
                      <a:r>
                        <a:rPr lang="zh-CN" altLang="en-US" sz="1200">
                          <a:solidFill>
                            <a:srgbClr val="FF0000"/>
                          </a:solidFill>
                          <a:latin typeface="Arial" panose="020B0604020202020204" pitchFamily="34" charset="0"/>
                          <a:ea typeface="黑体-简" panose="02000000000000000000" charset="-122"/>
                          <a:sym typeface="Wingdings 2" panose="05020102010507070707" charset="0"/>
                        </a:rPr>
                        <a:t>不愿意</a:t>
                      </a:r>
                      <a:endParaRPr lang="zh-CN" altLang="en-US" sz="1200" kern="1200" dirty="0">
                        <a:solidFill>
                          <a:schemeClr val="tx1"/>
                        </a:solidFill>
                        <a:latin typeface="Arial" panose="020B0604020202020204" pitchFamily="34" charset="0"/>
                        <a:ea typeface="黑体-简" panose="02000000000000000000" charset="-122"/>
                        <a:cs typeface="+mn-cs"/>
                        <a:sym typeface="Wingdings 2" panose="05020102010507070707" charset="0"/>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2" name="组合 1"/>
          <p:cNvGrpSpPr/>
          <p:nvPr/>
        </p:nvGrpSpPr>
        <p:grpSpPr>
          <a:xfrm>
            <a:off x="224790" y="289878"/>
            <a:ext cx="6011545" cy="327025"/>
            <a:chOff x="533" y="646"/>
            <a:chExt cx="9467" cy="515"/>
          </a:xfrm>
        </p:grpSpPr>
        <p:grpSp>
          <p:nvGrpSpPr>
            <p:cNvPr id="6" name="组合 5"/>
            <p:cNvGrpSpPr/>
            <p:nvPr/>
          </p:nvGrpSpPr>
          <p:grpSpPr>
            <a:xfrm rot="0">
              <a:off x="533" y="672"/>
              <a:ext cx="582" cy="42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sp>
            <p:nvSpPr>
              <p:cNvPr id="8"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grpSp>
        <p:sp>
          <p:nvSpPr>
            <p:cNvPr id="24" name="textbox 158"/>
            <p:cNvSpPr/>
            <p:nvPr/>
          </p:nvSpPr>
          <p:spPr>
            <a:xfrm>
              <a:off x="1345" y="646"/>
              <a:ext cx="865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服务满意度评价</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图片 62" descr="深信服 + 智安全"/>
          <p:cNvPicPr>
            <a:picLocks noChangeAspect="1"/>
          </p:cNvPicPr>
          <p:nvPr/>
        </p:nvPicPr>
        <p:blipFill>
          <a:blip r:embed="rId1"/>
          <a:srcRect l="5232" t="26576" r="4938" b="29565"/>
          <a:stretch>
            <a:fillRect/>
          </a:stretch>
        </p:blipFill>
        <p:spPr>
          <a:xfrm>
            <a:off x="10330815" y="273073"/>
            <a:ext cx="1629867" cy="360000"/>
          </a:xfrm>
          <a:prstGeom prst="rect">
            <a:avLst/>
          </a:prstGeom>
        </p:spPr>
      </p:pic>
      <p:sp>
        <p:nvSpPr>
          <p:cNvPr id="1880" name="文本框 8"/>
          <p:cNvSpPr txBox="1"/>
          <p:nvPr/>
        </p:nvSpPr>
        <p:spPr>
          <a:xfrm>
            <a:off x="1229360" y="3792220"/>
            <a:ext cx="5427345" cy="240030"/>
          </a:xfrm>
          <a:prstGeom prst="rect">
            <a:avLst/>
          </a:prstGeom>
          <a:ln w="12700">
            <a:miter lim="400000"/>
          </a:ln>
        </p:spPr>
        <p:txBody>
          <a:bodyPr wrap="square"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l"/>
            <a:r>
              <a:rPr lang="zh-CN" altLang="en-US">
                <a:solidFill>
                  <a:schemeClr val="tx1"/>
                </a:solidFill>
                <a:latin typeface="Arial" panose="020B0604020202020204" pitchFamily="34" charset="0"/>
                <a:ea typeface="黑体-简" panose="02000000000000000000" charset="-122"/>
              </a:rPr>
              <a:t>感谢这份双向奔赴的信任，期待我们继续并肩，共同创造价值</a:t>
            </a:r>
            <a:endParaRPr lang="zh-CN" altLang="en-US">
              <a:solidFill>
                <a:schemeClr val="tx1"/>
              </a:solidFill>
              <a:latin typeface="Arial" panose="020B0604020202020204" pitchFamily="34" charset="0"/>
              <a:ea typeface="黑体-简" panose="02000000000000000000" charset="-122"/>
            </a:endParaRPr>
          </a:p>
        </p:txBody>
      </p:sp>
      <p:sp>
        <p:nvSpPr>
          <p:cNvPr id="4" name="标题"/>
          <p:cNvSpPr>
            <a:spLocks noGrp="1"/>
          </p:cNvSpPr>
          <p:nvPr>
            <p:ph type="ctrTitle"/>
            <p:custDataLst>
              <p:tags r:id="rId2"/>
            </p:custDataLst>
          </p:nvPr>
        </p:nvSpPr>
        <p:spPr>
          <a:xfrm>
            <a:off x="1240155" y="2310765"/>
            <a:ext cx="5552440" cy="1230630"/>
          </a:xfrm>
        </p:spPr>
        <p:txBody>
          <a:bodyPr vert="horz" wrap="square" lIns="0" tIns="0" rIns="0" bIns="0" rtlCol="0" anchor="ctr" anchorCtr="0">
            <a:normAutofit fontScale="90000"/>
          </a:bodyPr>
          <a:lstStyle/>
          <a:p>
            <a:pPr lvl="0" algn="l">
              <a:buClrTx/>
              <a:buSzTx/>
              <a:buFontTx/>
            </a:pPr>
            <a:r>
              <a:rPr lang="zh-CN" altLang="en-US" sz="4800">
                <a:solidFill>
                  <a:srgbClr val="4C61E7"/>
                </a:solidFill>
                <a:latin typeface="Arial Black" panose="020B0A04020102020204" pitchFamily="34" charset="0"/>
                <a:ea typeface="微软雅黑" panose="020B0503020204020204" charset="-122"/>
                <a:sym typeface="+mn-ea"/>
              </a:rPr>
              <a:t>客户成功  </a:t>
            </a:r>
            <a:br>
              <a:rPr lang="zh-CN" altLang="en-US" sz="4800">
                <a:solidFill>
                  <a:srgbClr val="4C61E7"/>
                </a:solidFill>
                <a:latin typeface="Arial Black" panose="020B0A04020102020204" pitchFamily="34" charset="0"/>
                <a:ea typeface="微软雅黑" panose="020B0503020204020204" charset="-122"/>
                <a:sym typeface="+mn-ea"/>
              </a:rPr>
            </a:br>
            <a:r>
              <a:rPr lang="zh-CN" altLang="en-US" sz="4800">
                <a:solidFill>
                  <a:srgbClr val="4C61E7"/>
                </a:solidFill>
                <a:latin typeface="Arial Black" panose="020B0A04020102020204" pitchFamily="34" charset="0"/>
                <a:ea typeface="微软雅黑" panose="020B0503020204020204" charset="-122"/>
                <a:sym typeface="+mn-ea"/>
              </a:rPr>
              <a:t>才是深信服的成功</a:t>
            </a:r>
            <a:endParaRPr lang="zh-CN" altLang="en-US" sz="4800">
              <a:solidFill>
                <a:srgbClr val="4C61E7"/>
              </a:solidFill>
              <a:latin typeface="Arial Black" panose="020B0A04020102020204" pitchFamily="34" charset="0"/>
              <a:ea typeface="微软雅黑" panose="020B0503020204020204" charset="-122"/>
              <a:sym typeface="+mn-ea"/>
            </a:endParaRPr>
          </a:p>
        </p:txBody>
      </p:sp>
      <p:sp>
        <p:nvSpPr>
          <p:cNvPr id="3" name="文本框 8"/>
          <p:cNvSpPr txBox="1"/>
          <p:nvPr/>
        </p:nvSpPr>
        <p:spPr>
          <a:xfrm>
            <a:off x="1229360" y="4511675"/>
            <a:ext cx="5427345" cy="240030"/>
          </a:xfrm>
          <a:prstGeom prst="rect">
            <a:avLst/>
          </a:prstGeom>
          <a:ln w="12700">
            <a:miter lim="400000"/>
          </a:ln>
        </p:spPr>
        <p:txBody>
          <a:bodyPr wrap="square"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l"/>
            <a:r>
              <a:rPr lang="zh-CN" altLang="en-US">
                <a:solidFill>
                  <a:schemeClr val="tx1"/>
                </a:solidFill>
                <a:latin typeface="Arial" panose="020B0604020202020204" pitchFamily="34" charset="0"/>
                <a:ea typeface="黑体-简" panose="02000000000000000000" charset="-122"/>
              </a:rPr>
              <a:t>您的建议是我们前进的助力，您有任何想法都可以扫码进行</a:t>
            </a:r>
            <a:r>
              <a:rPr lang="zh-CN" altLang="en-US">
                <a:solidFill>
                  <a:schemeClr val="tx1"/>
                </a:solidFill>
                <a:latin typeface="Arial" panose="020B0604020202020204" pitchFamily="34" charset="0"/>
                <a:ea typeface="黑体-简" panose="02000000000000000000" charset="-122"/>
              </a:rPr>
              <a:t>反馈</a:t>
            </a:r>
            <a:endParaRPr lang="zh-CN" altLang="en-US">
              <a:solidFill>
                <a:schemeClr val="tx1"/>
              </a:solidFill>
              <a:latin typeface="Arial" panose="020B0604020202020204" pitchFamily="34" charset="0"/>
              <a:ea typeface="黑体-简" panose="02000000000000000000" charset="-122"/>
            </a:endParaRPr>
          </a:p>
        </p:txBody>
      </p:sp>
      <p:pic>
        <p:nvPicPr>
          <p:cNvPr id="7" name="图片 6"/>
          <p:cNvPicPr/>
          <p:nvPr/>
        </p:nvPicPr>
        <p:blipFill>
          <a:blip r:embed="rId3"/>
          <a:stretch>
            <a:fillRect/>
          </a:stretch>
        </p:blipFill>
        <p:spPr>
          <a:xfrm>
            <a:off x="7976235" y="2249170"/>
            <a:ext cx="2408555" cy="2502535"/>
          </a:xfrm>
          <a:prstGeom prst="rect">
            <a:avLst/>
          </a:prstGeom>
        </p:spPr>
      </p:pic>
    </p:spTree>
    <p:custDataLst>
      <p:tags r:id="rId4"/>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sz="1600" kern="0" spc="70" dirty="0">
                <a:solidFill>
                  <a:schemeClr val="dk1"/>
                </a:solidFill>
                <a:latin typeface="Arial" panose="020B0604020202020204" pitchFamily="34" charset="0"/>
                <a:ea typeface="黑体-简" panose="02000000000000000000" charset="-122"/>
                <a:cs typeface="黑体" panose="02010609060101010101" charset="-122"/>
                <a:sym typeface="+mn-ea"/>
              </a:rPr>
              <a:t>资产管理、威胁监测、漏洞管理、事</a:t>
            </a:r>
            <a:r>
              <a:rPr sz="1600" kern="0" spc="60" dirty="0">
                <a:solidFill>
                  <a:schemeClr val="dk1"/>
                </a:solidFill>
                <a:latin typeface="Arial" panose="020B0604020202020204" pitchFamily="34" charset="0"/>
                <a:ea typeface="黑体-简" panose="02000000000000000000" charset="-122"/>
                <a:cs typeface="黑体" panose="02010609060101010101" charset="-122"/>
                <a:sym typeface="+mn-ea"/>
              </a:rPr>
              <a:t>件处置</a:t>
            </a:r>
            <a:endParaRPr lang="en-US" sz="16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vert="horz" wrap="square" lIns="0" tIns="0" rIns="0" bIns="0" rtlCol="0" anchor="ctr" anchorCtr="0">
            <a:noAutofit/>
          </a:bodyPr>
          <a:lstStyle/>
          <a:p>
            <a:pPr lvl="0" algn="l">
              <a:buClrTx/>
              <a:buSzTx/>
              <a:buFontTx/>
            </a:pPr>
            <a:r>
              <a:rPr lang="zh-CN" altLang="en-US" sz="3200">
                <a:solidFill>
                  <a:srgbClr val="4C61E7"/>
                </a:solidFill>
                <a:latin typeface="Arial" panose="020B0604020202020204" pitchFamily="34" charset="0"/>
                <a:ea typeface="黑体-简" panose="02000000000000000000" charset="-122"/>
                <a:sym typeface="+mn-ea"/>
              </a:rPr>
              <a:t>工作成果详情</a:t>
            </a:r>
            <a:endParaRPr lang="zh-CN" altLang="en-US" sz="3200">
              <a:solidFill>
                <a:srgbClr val="4C61E7"/>
              </a:solidFill>
              <a:latin typeface="Arial" panose="020B0604020202020204" pitchFamily="34" charset="0"/>
              <a:ea typeface="黑体-简" panose="02000000000000000000" charset="-122"/>
              <a:sym typeface="+mn-ea"/>
            </a:endParaRPr>
          </a:p>
        </p:txBody>
      </p:sp>
      <p:sp>
        <p:nvSpPr>
          <p:cNvPr id="6" name="节编号"/>
          <p:cNvSpPr>
            <a:spLocks noGrp="1"/>
          </p:cNvSpPr>
          <p:nvPr>
            <p:ph type="body" sz="quarter" idx="13"/>
            <p:custDataLst>
              <p:tags r:id="rId3"/>
            </p:custDataLst>
          </p:nvPr>
        </p:nvSpPr>
        <p:spPr/>
        <p:txBody>
          <a:bodyPr>
            <a:normAutofit lnSpcReduction="20000"/>
          </a:bodyPr>
          <a:lstStyle/>
          <a:p>
            <a:r>
              <a:rPr lang="zh-CN" altLang="en-US">
                <a:solidFill>
                  <a:srgbClr val="4C61E7"/>
                </a:solidFill>
                <a:latin typeface="Arial Black" panose="020B0A04020102020204" pitchFamily="34" charset="0"/>
                <a:ea typeface="微软雅黑" panose="020B0503020204020204" charset="-122"/>
              </a:rPr>
              <a:t>附录</a:t>
            </a:r>
            <a:endParaRPr lang="zh-CN" altLang="en-US">
              <a:solidFill>
                <a:srgbClr val="4C61E7"/>
              </a:solidFill>
              <a:latin typeface="Arial Black" panose="020B0A04020102020204" pitchFamily="34" charset="0"/>
              <a:ea typeface="微软雅黑" panose="020B0503020204020204"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0"/>
          <p:cNvSpPr/>
          <p:nvPr/>
        </p:nvSpPr>
        <p:spPr>
          <a:xfrm>
            <a:off x="6888480" y="3974465"/>
            <a:ext cx="4751705" cy="2370455"/>
          </a:xfrm>
          <a:prstGeom prst="rect">
            <a:avLst/>
          </a:prstGeom>
          <a:solidFill>
            <a:schemeClr val="accent4">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3" name="textbox 50"/>
          <p:cNvSpPr/>
          <p:nvPr/>
        </p:nvSpPr>
        <p:spPr>
          <a:xfrm>
            <a:off x="875665" y="3982085"/>
            <a:ext cx="2744470" cy="2370455"/>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5" name="textbox 158"/>
          <p:cNvSpPr/>
          <p:nvPr/>
        </p:nvSpPr>
        <p:spPr>
          <a:xfrm>
            <a:off x="647740" y="36781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noProof="0" dirty="0">
                <a:solidFill>
                  <a:srgbClr val="4C61E7"/>
                </a:solidFill>
                <a:uLnTx/>
                <a:latin typeface="Arial Black" panose="020B0A04020102020204" pitchFamily="34" charset="0"/>
                <a:ea typeface="微软雅黑" panose="020B0503020204020204" charset="-122"/>
                <a:sym typeface="+mn-ea"/>
              </a:rPr>
              <a:t>安全事件管理详情</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主动管理，及时阻断，有效闭环，避免业务</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影响</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86" name="textbox 50"/>
          <p:cNvSpPr/>
          <p:nvPr/>
        </p:nvSpPr>
        <p:spPr>
          <a:xfrm>
            <a:off x="3750945" y="3982085"/>
            <a:ext cx="3006725" cy="2370455"/>
          </a:xfrm>
          <a:prstGeom prst="rect">
            <a:avLst/>
          </a:prstGeom>
          <a:solidFill>
            <a:sysClr val="window" lastClr="FFFFFF">
              <a:lumMod val="95000"/>
            </a:sys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7" name="íṥlïḍê"/>
          <p:cNvSpPr txBox="1"/>
          <p:nvPr>
            <p:custDataLst>
              <p:tags r:id="rId4"/>
            </p:custDataLst>
          </p:nvPr>
        </p:nvSpPr>
        <p:spPr>
          <a:xfrm>
            <a:off x="3881755" y="4065270"/>
            <a:ext cx="233680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平均处置时效（</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9" name="组合 88"/>
          <p:cNvGrpSpPr/>
          <p:nvPr/>
        </p:nvGrpSpPr>
        <p:grpSpPr>
          <a:xfrm>
            <a:off x="3627755" y="2326640"/>
            <a:ext cx="8012430" cy="1512570"/>
            <a:chOff x="12177" y="-373"/>
            <a:chExt cx="24479" cy="4764"/>
          </a:xfrm>
        </p:grpSpPr>
        <p:sp>
          <p:nvSpPr>
            <p:cNvPr id="91" name="textbox 40"/>
            <p:cNvSpPr/>
            <p:nvPr/>
          </p:nvSpPr>
          <p:spPr>
            <a:xfrm>
              <a:off x="12564" y="294"/>
              <a:ext cx="24092" cy="4010"/>
            </a:xfrm>
            <a:prstGeom prst="rect">
              <a:avLst/>
            </a:prstGeom>
            <a:solidFill>
              <a:srgbClr val="DAE3F3"/>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102" name="文本框 101"/>
            <p:cNvSpPr txBox="1"/>
            <p:nvPr/>
          </p:nvSpPr>
          <p:spPr>
            <a:xfrm>
              <a:off x="12749" y="207"/>
              <a:ext cx="7708" cy="4076"/>
            </a:xfrm>
            <a:prstGeom prst="rect">
              <a:avLst/>
            </a:prstGeom>
            <a:noFill/>
          </p:spPr>
          <p:txBody>
            <a:bodyPr wrap="square" rtlCol="0" anchor="t">
              <a:noAutofit/>
            </a:bodyPr>
            <a:p>
              <a:pPr algn="l" rtl="0" eaLnBrk="0">
                <a:lnSpc>
                  <a:spcPct val="155000"/>
                </a:lnSpc>
              </a:pPr>
              <a:r>
                <a:rPr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业务持续性保障</a:t>
              </a:r>
              <a:endParaRPr sz="900" dirty="0">
                <a:latin typeface="黑体" panose="02010609060101010101" charset="-122"/>
                <a:ea typeface="黑体" panose="02010609060101010101" charset="-122"/>
                <a:cs typeface="黑体" panose="02010609060101010101" charset="-122"/>
              </a:endParaRPr>
            </a:p>
            <a:p>
              <a:pPr algn="just" rtl="0" eaLnBrk="0">
                <a:lnSpc>
                  <a:spcPct val="119000"/>
                </a:lnSpc>
                <a:spcBef>
                  <a:spcPts val="185"/>
                </a:spcBef>
                <a:buClrTx/>
                <a:buSzTx/>
                <a:buFontTx/>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business_continuity_assurance_conclusion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4" name="文本框 103"/>
            <p:cNvSpPr txBox="1"/>
            <p:nvPr/>
          </p:nvSpPr>
          <p:spPr>
            <a:xfrm>
              <a:off x="20551" y="353"/>
              <a:ext cx="7742" cy="4038"/>
            </a:xfrm>
            <a:prstGeom prst="rect">
              <a:avLst/>
            </a:prstGeom>
            <a:noFill/>
          </p:spPr>
          <p:txBody>
            <a:bodyPr wrap="square" rtlCol="0" anchor="t">
              <a:noAutofit/>
            </a:bodyPr>
            <a:p>
              <a:pPr algn="l" rtl="0" eaLnBrk="0">
                <a:lnSpc>
                  <a:spcPct val="119000"/>
                </a:lnSpc>
              </a:pPr>
              <a:r>
                <a:rPr lang="zh-CN"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用户信赖度保障</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19000"/>
                </a:lnSpc>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user_trust_assurance_conclusion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5" name="文本框 114"/>
            <p:cNvSpPr txBox="1"/>
            <p:nvPr/>
          </p:nvSpPr>
          <p:spPr>
            <a:xfrm>
              <a:off x="28496" y="428"/>
              <a:ext cx="7694" cy="2784"/>
            </a:xfrm>
            <a:prstGeom prst="rect">
              <a:avLst/>
            </a:prstGeom>
            <a:noFill/>
          </p:spPr>
          <p:txBody>
            <a:bodyPr wrap="square" rtlCol="0" anchor="t">
              <a:noAutofit/>
            </a:bodyPr>
            <a:p>
              <a:pPr algn="l" rtl="0" eaLnBrk="0">
                <a:lnSpc>
                  <a:spcPct val="108000"/>
                </a:lnSpc>
              </a:pPr>
              <a:r>
                <a:rPr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运营风险与成本降低</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08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构建</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 7</a:t>
              </a:r>
              <a:r>
                <a:rPr lang="en-US"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24</a:t>
              </a: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小时主动运营体系，实现持续监控与风险预警，及时发现并处理潜在问题，减少应急处置成本，避免业务中断损失；同时持续降低运营风险，有效支撑公司经营效率提升。</a:t>
              </a:r>
              <a:endPar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6" name="íṥlïḍê"/>
            <p:cNvSpPr txBox="1"/>
            <p:nvPr>
              <p:custDataLst>
                <p:tags r:id="rId5"/>
              </p:custDataLst>
            </p:nvPr>
          </p:nvSpPr>
          <p:spPr>
            <a:xfrm>
              <a:off x="12177" y="-373"/>
              <a:ext cx="7359" cy="85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关键结论</a:t>
              </a:r>
              <a:endPar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117" name="图片 116" descr="深信服 + 智安全"/>
          <p:cNvPicPr>
            <a:picLocks noChangeAspect="1"/>
          </p:cNvPicPr>
          <p:nvPr/>
        </p:nvPicPr>
        <p:blipFill>
          <a:blip r:embed="rId6"/>
          <a:srcRect l="5232" t="26576" r="4938" b="29565"/>
          <a:stretch>
            <a:fillRect/>
          </a:stretch>
        </p:blipFill>
        <p:spPr>
          <a:xfrm>
            <a:off x="10017125" y="246380"/>
            <a:ext cx="1629867" cy="360000"/>
          </a:xfrm>
          <a:prstGeom prst="rect">
            <a:avLst/>
          </a:prstGeom>
        </p:spPr>
      </p:pic>
      <p:grpSp>
        <p:nvGrpSpPr>
          <p:cNvPr id="134" name="组合 133"/>
          <p:cNvGrpSpPr/>
          <p:nvPr/>
        </p:nvGrpSpPr>
        <p:grpSpPr>
          <a:xfrm>
            <a:off x="3747770" y="1270000"/>
            <a:ext cx="1428433" cy="1080453"/>
            <a:chOff x="13504" y="5135"/>
            <a:chExt cx="4499" cy="3403"/>
          </a:xfrm>
        </p:grpSpPr>
        <p:sp>
          <p:nvSpPr>
            <p:cNvPr id="135" name="文本框 134"/>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识别</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37" name="文本框 136"/>
            <p:cNvSpPr txBox="1"/>
            <p:nvPr/>
          </p:nvSpPr>
          <p:spPr>
            <a:xfrm>
              <a:off x="13504" y="7971"/>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100%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响应率</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38" name="图片 137" descr="警示"/>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187" y="5135"/>
              <a:ext cx="1134" cy="1134"/>
            </a:xfrm>
            <a:prstGeom prst="rect">
              <a:avLst/>
            </a:prstGeom>
          </p:spPr>
        </p:pic>
      </p:grpSp>
      <p:grpSp>
        <p:nvGrpSpPr>
          <p:cNvPr id="139" name="组合 138"/>
          <p:cNvGrpSpPr/>
          <p:nvPr/>
        </p:nvGrpSpPr>
        <p:grpSpPr>
          <a:xfrm>
            <a:off x="5424805" y="1270000"/>
            <a:ext cx="2378075" cy="1058863"/>
            <a:chOff x="17104" y="5135"/>
            <a:chExt cx="7490" cy="3335"/>
          </a:xfrm>
        </p:grpSpPr>
        <p:pic>
          <p:nvPicPr>
            <p:cNvPr id="140" name="图片 139" descr="极速响应"/>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219" y="5135"/>
              <a:ext cx="1134" cy="1134"/>
            </a:xfrm>
            <a:prstGeom prst="rect">
              <a:avLst/>
            </a:prstGeom>
          </p:spPr>
        </p:pic>
        <p:sp>
          <p:nvSpPr>
            <p:cNvPr id="141" name="文本框 140"/>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平均响应时间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2" name="文本框 141"/>
            <p:cNvSpPr txBox="1"/>
            <p:nvPr/>
          </p:nvSpPr>
          <p:spPr>
            <a:xfrm>
              <a:off x="17104" y="7187"/>
              <a:ext cx="74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{{average_response_time}}</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zh-CN" alt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43" name="文本框 142"/>
            <p:cNvSpPr txBox="1"/>
            <p:nvPr/>
          </p:nvSpPr>
          <p:spPr>
            <a:xfrm>
              <a:off x="18604" y="7903"/>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达到行业领先水平</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44" name="组合 143"/>
          <p:cNvGrpSpPr/>
          <p:nvPr/>
        </p:nvGrpSpPr>
        <p:grpSpPr>
          <a:xfrm>
            <a:off x="7813040" y="1280795"/>
            <a:ext cx="1869440" cy="1021081"/>
            <a:chOff x="22605" y="5162"/>
            <a:chExt cx="5888" cy="3216"/>
          </a:xfrm>
        </p:grpSpPr>
        <p:sp>
          <p:nvSpPr>
            <p:cNvPr id="145" name="文本框 144"/>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平均处置时间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6" name="文本框 145"/>
            <p:cNvSpPr txBox="1"/>
            <p:nvPr/>
          </p:nvSpPr>
          <p:spPr>
            <a:xfrm>
              <a:off x="22605" y="7178"/>
              <a:ext cx="588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{{average_resolution_</a:t>
              </a: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duration}}</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zh-CN" alt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47" name="文本框 146"/>
            <p:cNvSpPr txBox="1"/>
            <p:nvPr/>
          </p:nvSpPr>
          <p:spPr>
            <a:xfrm>
              <a:off x="23235" y="7811"/>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rPr>
                <a:t>基本符合预期水平</a:t>
              </a:r>
              <a:endPar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48" name="图片 147" descr="打印机"/>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918" y="5162"/>
              <a:ext cx="1134" cy="1134"/>
            </a:xfrm>
            <a:prstGeom prst="rect">
              <a:avLst/>
            </a:prstGeom>
          </p:spPr>
        </p:pic>
      </p:grpSp>
      <p:grpSp>
        <p:nvGrpSpPr>
          <p:cNvPr id="149" name="组合 148"/>
          <p:cNvGrpSpPr/>
          <p:nvPr/>
        </p:nvGrpSpPr>
        <p:grpSpPr>
          <a:xfrm>
            <a:off x="9702405" y="1280795"/>
            <a:ext cx="2310913" cy="1048068"/>
            <a:chOff x="29119" y="5135"/>
            <a:chExt cx="7272" cy="3301"/>
          </a:xfrm>
        </p:grpSpPr>
        <p:pic>
          <p:nvPicPr>
            <p:cNvPr id="150" name="图片 149" descr="招标结束"/>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2200" y="5135"/>
              <a:ext cx="1134" cy="1134"/>
            </a:xfrm>
            <a:prstGeom prst="rect">
              <a:avLst/>
            </a:prstGeom>
          </p:spPr>
        </p:pic>
        <p:sp>
          <p:nvSpPr>
            <p:cNvPr id="151" name="文本框 150"/>
            <p:cNvSpPr txBox="1"/>
            <p:nvPr/>
          </p:nvSpPr>
          <p:spPr>
            <a:xfrm>
              <a:off x="30517"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2" name="文本框 151"/>
            <p:cNvSpPr txBox="1"/>
            <p:nvPr/>
          </p:nvSpPr>
          <p:spPr>
            <a:xfrm>
              <a:off x="29119" y="7167"/>
              <a:ext cx="7272"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{{event_closed_loop_rate}}</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53" name="文本框 152"/>
            <p:cNvSpPr txBox="1"/>
            <p:nvPr/>
          </p:nvSpPr>
          <p:spPr>
            <a:xfrm>
              <a:off x="30517" y="7869"/>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安全事故</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aphicFrame>
        <p:nvGraphicFramePr>
          <p:cNvPr id="154" name="图表 153" descr="7b0a202020202263686172745265734964223a20223230343736383734220a7d0a"/>
          <p:cNvGraphicFramePr/>
          <p:nvPr/>
        </p:nvGraphicFramePr>
        <p:xfrm>
          <a:off x="941070" y="4453255"/>
          <a:ext cx="2476500" cy="1846580"/>
        </p:xfrm>
        <a:graphic>
          <a:graphicData uri="http://schemas.openxmlformats.org/drawingml/2006/chart">
            <c:chart xmlns:c="http://schemas.openxmlformats.org/drawingml/2006/chart" xmlns:r="http://schemas.openxmlformats.org/officeDocument/2006/relationships" r:id="rId1"/>
          </a:graphicData>
        </a:graphic>
      </p:graphicFrame>
      <p:sp>
        <p:nvSpPr>
          <p:cNvPr id="155" name="文本框 154"/>
          <p:cNvSpPr txBox="1"/>
          <p:nvPr/>
        </p:nvSpPr>
        <p:spPr>
          <a:xfrm>
            <a:off x="1062990" y="4016375"/>
            <a:ext cx="1800000" cy="288000"/>
          </a:xfrm>
          <a:prstGeom prst="rect">
            <a:avLst/>
          </a:prstGeom>
          <a:noFill/>
        </p:spPr>
        <p:txBody>
          <a:bodyPr rot="0" vert="horz" wrap="square" lIns="91440" tIns="45720" rIns="91440" bIns="45720" numCol="1" spcCol="0" rtlCol="0" anchor="t"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12700"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事件类型分布</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60" name="文本框 159"/>
          <p:cNvSpPr txBox="1"/>
          <p:nvPr/>
        </p:nvSpPr>
        <p:spPr>
          <a:xfrm>
            <a:off x="798830" y="4307840"/>
            <a:ext cx="1256665" cy="368300"/>
          </a:xfrm>
          <a:prstGeom prst="rect">
            <a:avLst/>
          </a:prstGeom>
          <a:noFill/>
        </p:spPr>
        <p:txBody>
          <a:bodyPr wrap="square" rtlCol="0" anchor="t">
            <a:spAutoFit/>
          </a:bodyPr>
          <a:p>
            <a:r>
              <a:rPr lang="zh-CN" altLang="en-US">
                <a:sym typeface="+mn-ea"/>
              </a:rPr>
              <a:t>{{</a:t>
            </a:r>
            <a:r>
              <a:rPr lang="en-US" altLang="zh-CN">
                <a:sym typeface="+mn-ea"/>
              </a:rPr>
              <a:t>P27_pie}</a:t>
            </a:r>
            <a:r>
              <a:rPr lang="zh-CN" altLang="en-US">
                <a:sym typeface="+mn-ea"/>
              </a:rPr>
              <a:t>}</a:t>
            </a:r>
            <a:endParaRPr lang="zh-CN" altLang="en-US">
              <a:sym typeface="+mn-ea"/>
            </a:endParaRPr>
          </a:p>
        </p:txBody>
      </p:sp>
      <p:graphicFrame>
        <p:nvGraphicFramePr>
          <p:cNvPr id="4" name="图表 3"/>
          <p:cNvGraphicFramePr/>
          <p:nvPr/>
        </p:nvGraphicFramePr>
        <p:xfrm>
          <a:off x="3782695" y="4467225"/>
          <a:ext cx="2948305" cy="18459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3" name="图表 32" descr="7b0a202020202263686172745265734964223a20223230343731343133220a7d0a"/>
          <p:cNvGraphicFramePr/>
          <p:nvPr/>
        </p:nvGraphicFramePr>
        <p:xfrm>
          <a:off x="6888480" y="4445635"/>
          <a:ext cx="4751705" cy="1940560"/>
        </p:xfrm>
        <a:graphic>
          <a:graphicData uri="http://schemas.openxmlformats.org/drawingml/2006/chart">
            <c:chart xmlns:c="http://schemas.openxmlformats.org/drawingml/2006/chart" xmlns:r="http://schemas.openxmlformats.org/officeDocument/2006/relationships" r:id="rId3"/>
          </a:graphicData>
        </a:graphic>
      </p:graphicFrame>
      <p:sp>
        <p:nvSpPr>
          <p:cNvPr id="35" name="íṥlïḍê"/>
          <p:cNvSpPr txBox="1"/>
          <p:nvPr>
            <p:custDataLst>
              <p:tags r:id="rId15"/>
            </p:custDataLst>
          </p:nvPr>
        </p:nvSpPr>
        <p:spPr>
          <a:xfrm>
            <a:off x="7019290" y="4057650"/>
            <a:ext cx="239649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平均响应趋势（分钟）</a:t>
            </a:r>
            <a:endPar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7" name="textbox 48"/>
          <p:cNvSpPr/>
          <p:nvPr/>
        </p:nvSpPr>
        <p:spPr>
          <a:xfrm>
            <a:off x="875665" y="1275715"/>
            <a:ext cx="2745105" cy="2520315"/>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7" name="文本框 66"/>
          <p:cNvSpPr txBox="1"/>
          <p:nvPr/>
        </p:nvSpPr>
        <p:spPr>
          <a:xfrm>
            <a:off x="94107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多级安全响应流程</a:t>
            </a:r>
            <a:endParaRPr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grpSp>
        <p:nvGrpSpPr>
          <p:cNvPr id="68" name="组合 67"/>
          <p:cNvGrpSpPr/>
          <p:nvPr>
            <p:custDataLst>
              <p:tags r:id="rId16"/>
            </p:custDataLst>
          </p:nvPr>
        </p:nvGrpSpPr>
        <p:grpSpPr>
          <a:xfrm>
            <a:off x="959480" y="1726109"/>
            <a:ext cx="2561008" cy="403783"/>
            <a:chOff x="3275" y="5404"/>
            <a:chExt cx="8112" cy="1279"/>
          </a:xfrm>
        </p:grpSpPr>
        <p:sp>
          <p:nvSpPr>
            <p:cNvPr id="69" name="圆角矩形 14"/>
            <p:cNvSpPr/>
            <p:nvPr>
              <p:custDataLst>
                <p:tags r:id="rId17"/>
              </p:custDataLst>
            </p:nvPr>
          </p:nvSpPr>
          <p:spPr>
            <a:xfrm>
              <a:off x="3275" y="5498"/>
              <a:ext cx="8112"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13970" algn="l" rtl="0" eaLnBrk="0">
                <a:lnSpc>
                  <a:spcPct val="100000"/>
                </a:lnSpc>
                <a:spcBef>
                  <a:spcPts val="215"/>
                </a:spcBef>
              </a:pP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L1</a:t>
              </a:r>
              <a:r>
                <a:rPr lang="en-US"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a:t>
              </a:r>
              <a:r>
                <a:rPr sz="1000" b="1" spc="10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自动检测</a:t>
              </a:r>
              <a:endParaRPr sz="1000" b="1" dirty="0">
                <a:latin typeface="Arial" panose="020B0604020202020204" pitchFamily="34" charset="0"/>
                <a:ea typeface="黑体-简" panose="02000000000000000000" charset="-122"/>
                <a:cs typeface="宋体" panose="02010600030101010101" pitchFamily="2" charset="-122"/>
              </a:endParaRPr>
            </a:p>
            <a:p>
              <a:pPr marL="13970" algn="l" rtl="0" eaLnBrk="0">
                <a:lnSpc>
                  <a:spcPct val="100000"/>
                </a:lnSpc>
                <a:spcBef>
                  <a:spcPts val="110"/>
                </a:spcBef>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7*24小时智能检测，平均检出时间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3分钟</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0" name="圆角矩形 69"/>
            <p:cNvSpPr/>
            <p:nvPr>
              <p:custDataLst>
                <p:tags r:id="rId18"/>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1" name="组合 70"/>
          <p:cNvGrpSpPr/>
          <p:nvPr>
            <p:custDataLst>
              <p:tags r:id="rId19"/>
            </p:custDataLst>
          </p:nvPr>
        </p:nvGrpSpPr>
        <p:grpSpPr>
          <a:xfrm>
            <a:off x="958533" y="2248780"/>
            <a:ext cx="2561008" cy="408341"/>
            <a:chOff x="3275" y="7389"/>
            <a:chExt cx="8112" cy="1293"/>
          </a:xfrm>
        </p:grpSpPr>
        <p:sp>
          <p:nvSpPr>
            <p:cNvPr id="72" name="圆角矩形 14"/>
            <p:cNvSpPr/>
            <p:nvPr>
              <p:custDataLst>
                <p:tags r:id="rId20"/>
              </p:custDataLst>
            </p:nvPr>
          </p:nvSpPr>
          <p:spPr>
            <a:xfrm>
              <a:off x="3275" y="7497"/>
              <a:ext cx="8112"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4130" algn="l" rtl="0" eaLnBrk="0">
                <a:lnSpc>
                  <a:spcPct val="100000"/>
                </a:lnSpc>
                <a:spcBef>
                  <a:spcPts val="215"/>
                </a:spcBef>
              </a:pP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L2</a:t>
              </a:r>
              <a:r>
                <a:rPr lang="en-US"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a:t>
              </a:r>
              <a:r>
                <a:rPr sz="1000" b="1"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专家分析</a:t>
              </a:r>
              <a:endPar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a:p>
              <a:pPr marL="24130" algn="l" rtl="0" eaLnBrk="0">
                <a:lnSpc>
                  <a:spcPct val="100000"/>
                </a:lnSpc>
                <a:spcBef>
                  <a:spcPts val="215"/>
                </a:spcBef>
              </a:pPr>
              <a:r>
                <a:rPr sz="1000" spc="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专家研判分析，平</a:t>
              </a: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均响应时间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30分钟</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3" name="圆角矩形 72"/>
            <p:cNvSpPr/>
            <p:nvPr>
              <p:custDataLst>
                <p:tags r:id="rId21"/>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4" name="组合 73"/>
          <p:cNvGrpSpPr/>
          <p:nvPr>
            <p:custDataLst>
              <p:tags r:id="rId22"/>
            </p:custDataLst>
          </p:nvPr>
        </p:nvGrpSpPr>
        <p:grpSpPr>
          <a:xfrm>
            <a:off x="959480" y="2776166"/>
            <a:ext cx="2561008" cy="402818"/>
            <a:chOff x="3275" y="9388"/>
            <a:chExt cx="8112" cy="1276"/>
          </a:xfrm>
        </p:grpSpPr>
        <p:sp>
          <p:nvSpPr>
            <p:cNvPr id="78" name="圆角矩形 14"/>
            <p:cNvSpPr/>
            <p:nvPr>
              <p:custDataLst>
                <p:tags r:id="rId23"/>
              </p:custDataLst>
            </p:nvPr>
          </p:nvSpPr>
          <p:spPr>
            <a:xfrm>
              <a:off x="3275" y="9479"/>
              <a:ext cx="8112"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0" algn="l" rtl="0" eaLnBrk="0">
                <a:lnSpc>
                  <a:spcPct val="150000"/>
                </a:lnSpc>
                <a:spcBef>
                  <a:spcPts val="215"/>
                </a:spcBef>
              </a:pP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L3</a:t>
              </a:r>
              <a:r>
                <a:rPr lang="en-US"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应急处置</a:t>
              </a:r>
              <a:endPar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a:p>
              <a:pPr marL="0" algn="l" rtl="0" eaLnBrk="0">
                <a:lnSpc>
                  <a:spcPct val="100000"/>
                </a:lnSpc>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制定处置方案，平均处置时间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2小时</a:t>
              </a:r>
              <a:endParaRPr lang="zh-CN" alt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80" name="圆角矩形 79"/>
            <p:cNvSpPr/>
            <p:nvPr>
              <p:custDataLst>
                <p:tags r:id="rId24"/>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82" name="组合 81"/>
          <p:cNvGrpSpPr/>
          <p:nvPr>
            <p:custDataLst>
              <p:tags r:id="rId25"/>
            </p:custDataLst>
          </p:nvPr>
        </p:nvGrpSpPr>
        <p:grpSpPr>
          <a:xfrm>
            <a:off x="958533" y="3297892"/>
            <a:ext cx="2561008" cy="378960"/>
            <a:chOff x="3275" y="11370"/>
            <a:chExt cx="8112" cy="1200"/>
          </a:xfrm>
        </p:grpSpPr>
        <p:sp>
          <p:nvSpPr>
            <p:cNvPr id="84" name="圆角矩形 14"/>
            <p:cNvSpPr/>
            <p:nvPr>
              <p:custDataLst>
                <p:tags r:id="rId26"/>
              </p:custDataLst>
            </p:nvPr>
          </p:nvSpPr>
          <p:spPr>
            <a:xfrm>
              <a:off x="3275" y="11442"/>
              <a:ext cx="8112"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15875" algn="l" rtl="0" eaLnBrk="0">
                <a:lnSpc>
                  <a:spcPct val="150000"/>
                </a:lnSpc>
                <a:spcBef>
                  <a:spcPts val="220"/>
                </a:spcBef>
              </a:pPr>
              <a:r>
                <a:rPr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L4</a:t>
              </a:r>
              <a:r>
                <a:rPr lang="en-US"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闭环验证</a:t>
              </a:r>
              <a:r>
                <a:rPr lang="en-US"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endParaRPr sz="1000" b="1" dirty="0">
                <a:latin typeface="Arial" panose="020B0604020202020204" pitchFamily="34" charset="0"/>
                <a:ea typeface="黑体-简" panose="02000000000000000000" charset="-122"/>
                <a:cs typeface="宋体" panose="02010600030101010101" pitchFamily="2" charset="-122"/>
              </a:endParaRPr>
            </a:p>
            <a:p>
              <a:pPr marL="15875" algn="l" rtl="0" eaLnBrk="0">
                <a:lnSpc>
                  <a:spcPct val="100000"/>
                </a:lnSpc>
                <a:spcBef>
                  <a:spcPts val="115"/>
                </a:spcBef>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处置效果验证，平均闭环时间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lang="en-US"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24</a:t>
              </a:r>
              <a:r>
                <a:rPr lang="zh-CN"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小时</a:t>
              </a:r>
              <a:endParaRPr lang="zh-CN"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88" name="圆角矩形 87"/>
            <p:cNvSpPr/>
            <p:nvPr>
              <p:custDataLst>
                <p:tags r:id="rId27"/>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sp>
        <p:nvSpPr>
          <p:cNvPr id="8" name="文本框 7"/>
          <p:cNvSpPr txBox="1"/>
          <p:nvPr/>
        </p:nvSpPr>
        <p:spPr>
          <a:xfrm>
            <a:off x="3449955" y="1911985"/>
            <a:ext cx="2005965" cy="324485"/>
          </a:xfrm>
          <a:prstGeom prst="rect">
            <a:avLst/>
          </a:prstGeom>
          <a:noFill/>
        </p:spPr>
        <p:txBody>
          <a:bodyPr wrap="square" rtlCol="0" anchor="t">
            <a:spAutoFit/>
          </a:bodyPr>
          <a:p>
            <a:pPr marL="0" algn="ctr" rtl="0" eaLnBrk="0">
              <a:lnSpc>
                <a:spcPct val="76000"/>
              </a:lnSpc>
              <a:spcBef>
                <a:spcPts val="520"/>
              </a:spcBef>
            </a:pPr>
            <a:r>
              <a:rPr lang="en-US" sz="2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{{incident_total}}</a:t>
            </a:r>
            <a:endParaRPr lang="en-US" sz="2000" dirty="0">
              <a:solidFill>
                <a:srgbClr val="365FD9"/>
              </a:solidFill>
              <a:latin typeface="Arial" panose="020B0604020202020204" pitchFamily="34" charset="0"/>
              <a:ea typeface="黑体-简" panose="02000000000000000000" charset="-122"/>
              <a:cs typeface="微软雅黑" panose="020B0503020204020204" pitchFamily="34" charset="-120"/>
              <a:sym typeface="+mn-ea"/>
            </a:endParaRPr>
          </a:p>
        </p:txBody>
      </p:sp>
      <p:sp>
        <p:nvSpPr>
          <p:cNvPr id="159" name="文本框 158"/>
          <p:cNvSpPr txBox="1"/>
          <p:nvPr/>
        </p:nvSpPr>
        <p:spPr>
          <a:xfrm>
            <a:off x="4141470" y="4453255"/>
            <a:ext cx="1506855" cy="368300"/>
          </a:xfrm>
          <a:prstGeom prst="rect">
            <a:avLst/>
          </a:prstGeom>
          <a:noFill/>
        </p:spPr>
        <p:txBody>
          <a:bodyPr wrap="square" rtlCol="0" anchor="t">
            <a:spAutoFit/>
          </a:bodyPr>
          <a:p>
            <a:r>
              <a:rPr lang="zh-CN" altLang="en-US">
                <a:sym typeface="+mn-ea"/>
              </a:rPr>
              <a:t>{{</a:t>
            </a:r>
            <a:r>
              <a:rPr lang="en-US" altLang="zh-CN">
                <a:sym typeface="+mn-ea"/>
              </a:rPr>
              <a:t>P27_bar}</a:t>
            </a:r>
            <a:r>
              <a:rPr lang="zh-CN" altLang="en-US">
                <a:sym typeface="+mn-ea"/>
              </a:rPr>
              <a:t>}</a:t>
            </a:r>
            <a:endParaRPr lang="zh-CN" altLang="en-US">
              <a:sym typeface="+mn-ea"/>
            </a:endParaRPr>
          </a:p>
        </p:txBody>
      </p:sp>
      <p:sp>
        <p:nvSpPr>
          <p:cNvPr id="10" name="文本框 9"/>
          <p:cNvSpPr txBox="1"/>
          <p:nvPr/>
        </p:nvSpPr>
        <p:spPr>
          <a:xfrm>
            <a:off x="10146665" y="4821555"/>
            <a:ext cx="1506855" cy="368300"/>
          </a:xfrm>
          <a:prstGeom prst="rect">
            <a:avLst/>
          </a:prstGeom>
          <a:noFill/>
        </p:spPr>
        <p:txBody>
          <a:bodyPr wrap="square" rtlCol="0" anchor="t">
            <a:spAutoFit/>
          </a:bodyPr>
          <a:p>
            <a:r>
              <a:rPr lang="zh-CN" altLang="en-US">
                <a:sym typeface="+mn-ea"/>
              </a:rPr>
              <a:t>{{</a:t>
            </a:r>
            <a:r>
              <a:rPr lang="en-US" altLang="zh-CN">
                <a:sym typeface="+mn-ea"/>
              </a:rPr>
              <a:t>P27_line</a:t>
            </a:r>
            <a:r>
              <a:rPr lang="en-US" altLang="zh-CN">
                <a:sym typeface="+mn-ea"/>
              </a:rPr>
              <a:t>}</a:t>
            </a:r>
            <a:r>
              <a:rPr lang="zh-CN" altLang="en-US">
                <a:sym typeface="+mn-ea"/>
              </a:rPr>
              <a:t>}</a:t>
            </a:r>
            <a:endParaRPr lang="zh-CN" altLang="en-US">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44"/>
          <p:cNvSpPr/>
          <p:nvPr/>
        </p:nvSpPr>
        <p:spPr>
          <a:xfrm>
            <a:off x="7811770" y="1202055"/>
            <a:ext cx="3747135" cy="287020"/>
          </a:xfrm>
          <a:prstGeom prst="rect">
            <a:avLst/>
          </a:prstGeom>
          <a:no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marL="28575" algn="l" rtl="0" eaLnBrk="0">
              <a:lnSpc>
                <a:spcPct val="98000"/>
              </a:lnSpc>
            </a:pPr>
            <a:r>
              <a:rPr lang="en-US" altLang="zh-CN" sz="1200" b="1" kern="0" spc="30" dirty="0">
                <a:solidFill>
                  <a:srgbClr val="204080">
                    <a:alpha val="100000"/>
                  </a:srgbClr>
                </a:solidFill>
                <a:latin typeface="黑体" panose="02010609060101010101" charset="-122"/>
                <a:ea typeface="黑体" panose="02010609060101010101" charset="-122"/>
                <a:cs typeface="黑体" panose="02010609060101010101" charset="-122"/>
              </a:rPr>
              <a:t>威胁运营总结</a:t>
            </a: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 name="textbox 246"/>
          <p:cNvSpPr/>
          <p:nvPr/>
        </p:nvSpPr>
        <p:spPr>
          <a:xfrm>
            <a:off x="647700" y="1202055"/>
            <a:ext cx="3003550" cy="2772410"/>
          </a:xfrm>
          <a:prstGeom prst="rect">
            <a:avLst/>
          </a:prstGeom>
          <a:solidFill>
            <a:srgbClr val="F1F6FF">
              <a:alpha val="100000"/>
            </a:srgbClr>
          </a:solidFill>
          <a:ln w="0" cap="flat">
            <a:noFill/>
            <a:prstDash val="solid"/>
            <a:miter lim="0"/>
          </a:ln>
        </p:spPr>
        <p:txBody>
          <a:bodyPr vert="horz" wrap="square" lIns="0" tIns="0" rIns="0" bIns="0"/>
          <a:p>
            <a:pPr algn="l" rtl="0" eaLnBrk="0">
              <a:lnSpc>
                <a:spcPct val="130000"/>
              </a:lnSpc>
            </a:pPr>
            <a:endParaRPr sz="700" dirty="0">
              <a:latin typeface="黑体" panose="02010609060101010101" charset="-122"/>
              <a:ea typeface="黑体" panose="02010609060101010101" charset="-122"/>
              <a:cs typeface="黑体" panose="02010609060101010101" charset="-122"/>
            </a:endParaRPr>
          </a:p>
        </p:txBody>
      </p:sp>
      <p:sp>
        <p:nvSpPr>
          <p:cNvPr id="6" name="textbox 158"/>
          <p:cNvSpPr/>
          <p:nvPr/>
        </p:nvSpPr>
        <p:spPr>
          <a:xfrm>
            <a:off x="647700" y="360045"/>
            <a:ext cx="4261485"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威胁趋势分析</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全方位防护体系，有效阻断网络攻击，保障业务安全</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pSp>
        <p:nvGrpSpPr>
          <p:cNvPr id="7" name="组合 6"/>
          <p:cNvGrpSpPr/>
          <p:nvPr/>
        </p:nvGrpSpPr>
        <p:grpSpPr>
          <a:xfrm>
            <a:off x="648335" y="4287520"/>
            <a:ext cx="10918825" cy="1179024"/>
            <a:chOff x="2042" y="13744"/>
            <a:chExt cx="34390" cy="3714"/>
          </a:xfrm>
        </p:grpSpPr>
        <p:sp>
          <p:nvSpPr>
            <p:cNvPr id="8" name="Shape 1"/>
            <p:cNvSpPr/>
            <p:nvPr/>
          </p:nvSpPr>
          <p:spPr>
            <a:xfrm>
              <a:off x="2042" y="13744"/>
              <a:ext cx="34390" cy="3714"/>
            </a:xfrm>
            <a:prstGeom prst="roundRect">
              <a:avLst>
                <a:gd name="adj" fmla="val 6757"/>
              </a:avLst>
            </a:prstGeom>
            <a:noFill/>
            <a:ln w="12700">
              <a:solidFill>
                <a:srgbClr val="CCE1F5"/>
              </a:solidFill>
              <a:prstDash val="solid"/>
            </a:ln>
          </p:spPr>
        </p:sp>
        <p:graphicFrame>
          <p:nvGraphicFramePr>
            <p:cNvPr id="24" name="图表 23"/>
            <p:cNvGraphicFramePr/>
            <p:nvPr/>
          </p:nvGraphicFramePr>
          <p:xfrm>
            <a:off x="2318" y="13879"/>
            <a:ext cx="33839" cy="3398"/>
          </p:xfrm>
          <a:graphic>
            <a:graphicData uri="http://schemas.openxmlformats.org/drawingml/2006/chart">
              <c:chart xmlns:c="http://schemas.openxmlformats.org/drawingml/2006/chart" xmlns:r="http://schemas.openxmlformats.org/officeDocument/2006/relationships" r:id="rId1"/>
            </a:graphicData>
          </a:graphic>
        </p:graphicFrame>
      </p:grpSp>
      <p:sp>
        <p:nvSpPr>
          <p:cNvPr id="30" name="文本框 29"/>
          <p:cNvSpPr txBox="1"/>
          <p:nvPr/>
        </p:nvSpPr>
        <p:spPr>
          <a:xfrm>
            <a:off x="575945" y="4050983"/>
            <a:ext cx="114077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威胁分布</a:t>
            </a:r>
            <a:r>
              <a:rPr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趋势</a:t>
            </a:r>
            <a:endParaRPr lang="zh-CN" altLang="en-US"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1" name="文本框 30"/>
          <p:cNvSpPr txBox="1"/>
          <p:nvPr/>
        </p:nvSpPr>
        <p:spPr>
          <a:xfrm>
            <a:off x="735965" y="1253490"/>
            <a:ext cx="2299970" cy="269875"/>
          </a:xfrm>
          <a:prstGeom prst="rect">
            <a:avLst/>
          </a:prstGeom>
          <a:noFill/>
        </p:spPr>
        <p:txBody>
          <a:bodyPr wrap="square" rtlCol="0" anchor="ctr" anchorCtr="0">
            <a:noAutofit/>
          </a:bodyPr>
          <a:p>
            <a:pPr marL="28575" algn="l" rtl="0" eaLnBrk="0">
              <a:lnSpc>
                <a:spcPct val="98000"/>
              </a:lnSpc>
              <a:spcBef>
                <a:spcPts val="0"/>
              </a:spcBef>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7*24</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小时威胁对抗</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2" name="íṥlïḍê"/>
          <p:cNvSpPr txBox="1"/>
          <p:nvPr>
            <p:custDataLst>
              <p:tags r:id="rId5"/>
            </p:custDataLst>
          </p:nvPr>
        </p:nvSpPr>
        <p:spPr>
          <a:xfrm>
            <a:off x="982980" y="1506220"/>
            <a:ext cx="2746375"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{external_attack_log_count_XDR}}</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余条内外部攻击日志</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3" name="文本框 32"/>
          <p:cNvSpPr txBox="1"/>
          <p:nvPr/>
        </p:nvSpPr>
        <p:spPr>
          <a:xfrm>
            <a:off x="982663" y="2565718"/>
            <a:ext cx="2380298"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{{security_device_policy_check_count}}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次策略有效性检查</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34" name="íṥlïḍê"/>
          <p:cNvSpPr txBox="1"/>
          <p:nvPr>
            <p:custDataLst>
              <p:tags r:id="rId6"/>
            </p:custDataLst>
          </p:nvPr>
        </p:nvSpPr>
        <p:spPr>
          <a:xfrm>
            <a:off x="982980" y="1744980"/>
            <a:ext cx="3094990"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{{real_time_threat_alert_count}}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条实时威胁告警</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6" name="íṥlïḍê"/>
          <p:cNvSpPr txBox="1"/>
          <p:nvPr>
            <p:custDataLst>
              <p:tags r:id="rId7"/>
            </p:custDataLst>
          </p:nvPr>
        </p:nvSpPr>
        <p:spPr>
          <a:xfrm>
            <a:off x="982663" y="199866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{{MSS_threat_ticket_count}}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条威胁工单及时处置，平均</a:t>
            </a:r>
            <a:r>
              <a:rPr lang="en-US" altLang="zh-CN"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{{threat_ticket_average_response_time}}</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分钟响应</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7" name="文本框 36"/>
          <p:cNvSpPr txBox="1"/>
          <p:nvPr/>
        </p:nvSpPr>
        <p:spPr>
          <a:xfrm>
            <a:off x="735965" y="2332038"/>
            <a:ext cx="2299653" cy="241935"/>
          </a:xfrm>
          <a:prstGeom prst="rect">
            <a:avLst/>
          </a:prstGeom>
          <a:noFill/>
        </p:spPr>
        <p:txBody>
          <a:bodyPr wrap="square" rtlCol="0" anchor="t">
            <a:spAutoFit/>
          </a:bodyPr>
          <a:p>
            <a:pPr marL="28575" lvl="0" algn="l" eaLnBrk="0">
              <a:lnSpc>
                <a:spcPct val="98000"/>
              </a:lnSpc>
              <a:spcBef>
                <a:spcPts val="0"/>
              </a:spcBef>
              <a:buClrTx/>
              <a:buSzTx/>
              <a:buFontTx/>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策略有效性监测与预防</a:t>
            </a:r>
            <a:endPar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8" name="文本框 37"/>
          <p:cNvSpPr txBox="1"/>
          <p:nvPr/>
        </p:nvSpPr>
        <p:spPr>
          <a:xfrm>
            <a:off x="982980" y="2782570"/>
            <a:ext cx="2494915"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{{optimized_policy_risk_count}}</a:t>
            </a:r>
            <a:r>
              <a:rPr lang="en-US" sz="9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次策略隐患有效修复</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39" name="文本框 38"/>
          <p:cNvSpPr txBox="1"/>
          <p:nvPr/>
        </p:nvSpPr>
        <p:spPr>
          <a:xfrm>
            <a:off x="735965" y="3079433"/>
            <a:ext cx="2299653" cy="258763"/>
          </a:xfrm>
          <a:prstGeom prst="rect">
            <a:avLst/>
          </a:prstGeom>
          <a:noFill/>
        </p:spPr>
        <p:txBody>
          <a:bodyPr wrap="square" rtlCol="0" anchor="ctr" anchorCtr="0">
            <a:noAutofit/>
          </a:bodyPr>
          <a:p>
            <a:pPr marL="28575" lvl="0" algn="l" eaLnBrk="0">
              <a:lnSpc>
                <a:spcPct val="98000"/>
              </a:lnSpc>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最新情报风险</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排查</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0" name="íṥlïḍê"/>
          <p:cNvSpPr txBox="1"/>
          <p:nvPr>
            <p:custDataLst>
              <p:tags r:id="rId8"/>
            </p:custDataLst>
          </p:nvPr>
        </p:nvSpPr>
        <p:spPr>
          <a:xfrm>
            <a:off x="982663" y="3335338"/>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{{latest_threat_intelligence_count}}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条最新威胁情报</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41" name="文本框 40"/>
          <p:cNvSpPr txBox="1"/>
          <p:nvPr/>
        </p:nvSpPr>
        <p:spPr>
          <a:xfrm>
            <a:off x="982663" y="3605848"/>
            <a:ext cx="2299335" cy="229870"/>
          </a:xfrm>
          <a:prstGeom prst="rect">
            <a:avLst/>
          </a:prstGeom>
        </p:spPr>
        <p:txBody>
          <a:bodyPr rot="0" vert="horz" wrap="square" lIns="91440" tIns="45720" rIns="91440" bIns="45720" numCol="1" spcCol="0" rtlCol="0" anchor="ctr"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{{latest_threat_impacted_asset_count}}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个受影响资产快速修复，遏制风险</a:t>
            </a:r>
            <a:endPar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graphicFrame>
        <p:nvGraphicFramePr>
          <p:cNvPr id="42" name="图表 41"/>
          <p:cNvGraphicFramePr/>
          <p:nvPr/>
        </p:nvGraphicFramePr>
        <p:xfrm>
          <a:off x="3896360" y="2966720"/>
          <a:ext cx="3826510" cy="1021715"/>
        </p:xfrm>
        <a:graphic>
          <a:graphicData uri="http://schemas.openxmlformats.org/drawingml/2006/chart">
            <c:chart xmlns:c="http://schemas.openxmlformats.org/drawingml/2006/chart" xmlns:r="http://schemas.openxmlformats.org/officeDocument/2006/relationships" r:id="rId2"/>
          </a:graphicData>
        </a:graphic>
      </p:graphicFrame>
      <p:sp>
        <p:nvSpPr>
          <p:cNvPr id="43" name="文本框 42"/>
          <p:cNvSpPr txBox="1"/>
          <p:nvPr/>
        </p:nvSpPr>
        <p:spPr>
          <a:xfrm>
            <a:off x="3896360" y="2721610"/>
            <a:ext cx="2299970" cy="236220"/>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遭受攻击业务主机</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4" name="文本框 43"/>
          <p:cNvSpPr txBox="1"/>
          <p:nvPr/>
        </p:nvSpPr>
        <p:spPr>
          <a:xfrm>
            <a:off x="3896360" y="1223010"/>
            <a:ext cx="1677035"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攻击来源地域分布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45" name="图表 44"/>
          <p:cNvGraphicFramePr/>
          <p:nvPr/>
        </p:nvGraphicFramePr>
        <p:xfrm>
          <a:off x="3896360" y="1489075"/>
          <a:ext cx="1858645" cy="12166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6" name="图表 45"/>
          <p:cNvGraphicFramePr/>
          <p:nvPr/>
        </p:nvGraphicFramePr>
        <p:xfrm>
          <a:off x="6024245" y="1488440"/>
          <a:ext cx="1698625" cy="1220470"/>
        </p:xfrm>
        <a:graphic>
          <a:graphicData uri="http://schemas.openxmlformats.org/drawingml/2006/chart">
            <c:chart xmlns:c="http://schemas.openxmlformats.org/drawingml/2006/chart" xmlns:r="http://schemas.openxmlformats.org/officeDocument/2006/relationships" r:id="rId4"/>
          </a:graphicData>
        </a:graphic>
      </p:graphicFrame>
      <p:sp>
        <p:nvSpPr>
          <p:cNvPr id="47" name="文本框 46"/>
          <p:cNvSpPr txBox="1"/>
          <p:nvPr/>
        </p:nvSpPr>
        <p:spPr>
          <a:xfrm>
            <a:off x="6024130" y="1222693"/>
            <a:ext cx="1620000"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攻击类型分布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48" name="图片 47" descr="1755071818846"/>
          <p:cNvPicPr>
            <a:picLocks noChangeAspect="1"/>
          </p:cNvPicPr>
          <p:nvPr/>
        </p:nvPicPr>
        <p:blipFill>
          <a:blip r:embed="rId9"/>
          <a:stretch>
            <a:fillRect/>
          </a:stretch>
        </p:blipFill>
        <p:spPr>
          <a:xfrm>
            <a:off x="630873" y="5719763"/>
            <a:ext cx="10940415" cy="801688"/>
          </a:xfrm>
          <a:prstGeom prst="rect">
            <a:avLst/>
          </a:prstGeom>
        </p:spPr>
      </p:pic>
      <p:sp>
        <p:nvSpPr>
          <p:cNvPr id="49" name="文本框 48"/>
          <p:cNvSpPr txBox="1"/>
          <p:nvPr/>
        </p:nvSpPr>
        <p:spPr>
          <a:xfrm>
            <a:off x="594043" y="5504180"/>
            <a:ext cx="150399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威胁运营待提升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0" name="文本框 49"/>
          <p:cNvSpPr txBox="1"/>
          <p:nvPr/>
        </p:nvSpPr>
        <p:spPr>
          <a:xfrm>
            <a:off x="758190" y="5788025"/>
            <a:ext cx="3376930" cy="6540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{{threat_improve1}}</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文本框 50"/>
          <p:cNvSpPr txBox="1"/>
          <p:nvPr/>
        </p:nvSpPr>
        <p:spPr>
          <a:xfrm>
            <a:off x="4297680" y="5782310"/>
            <a:ext cx="3564890" cy="713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{{threat_improve2}}</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2" name="文本框 51"/>
          <p:cNvSpPr txBox="1"/>
          <p:nvPr/>
        </p:nvSpPr>
        <p:spPr>
          <a:xfrm>
            <a:off x="8025765" y="5796280"/>
            <a:ext cx="3460750" cy="623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{{threat_improve3}}</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53" name="图片 52" descr="深信服 + 智安全"/>
          <p:cNvPicPr>
            <a:picLocks noChangeAspect="1"/>
          </p:cNvPicPr>
          <p:nvPr/>
        </p:nvPicPr>
        <p:blipFill>
          <a:blip r:embed="rId10"/>
          <a:srcRect l="5232" t="26576" r="4938" b="29565"/>
          <a:stretch>
            <a:fillRect/>
          </a:stretch>
        </p:blipFill>
        <p:spPr>
          <a:xfrm>
            <a:off x="10017125" y="238760"/>
            <a:ext cx="1629867" cy="360000"/>
          </a:xfrm>
          <a:prstGeom prst="rect">
            <a:avLst/>
          </a:prstGeom>
        </p:spPr>
      </p:pic>
      <p:sp>
        <p:nvSpPr>
          <p:cNvPr id="54" name="文本框 53"/>
          <p:cNvSpPr txBox="1"/>
          <p:nvPr/>
        </p:nvSpPr>
        <p:spPr>
          <a:xfrm>
            <a:off x="7740650" y="1530985"/>
            <a:ext cx="3817620" cy="2458085"/>
          </a:xfrm>
          <a:prstGeom prst="rect">
            <a:avLst/>
          </a:prstGeom>
          <a:noFill/>
        </p:spPr>
        <p:txBody>
          <a:bodyPr wrap="square" rtlCol="0" anchor="t">
            <a:noAutofit/>
          </a:bodyPr>
          <a:p>
            <a:pPr algn="just"/>
            <a:r>
              <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{{threat_summary}}</a:t>
            </a:r>
            <a:endPar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5" name="文本框 54"/>
          <p:cNvSpPr txBox="1"/>
          <p:nvPr/>
        </p:nvSpPr>
        <p:spPr>
          <a:xfrm>
            <a:off x="8744585" y="4549775"/>
            <a:ext cx="1654810" cy="213995"/>
          </a:xfrm>
          <a:prstGeom prst="rect">
            <a:avLst/>
          </a:prstGeom>
          <a:noFill/>
        </p:spPr>
        <p:txBody>
          <a:bodyPr wrap="square" rtlCol="0" anchor="t">
            <a:spAutoFit/>
          </a:bodyPr>
          <a:p>
            <a:r>
              <a:rPr lang="zh-CN" altLang="en-US" sz="800">
                <a:sym typeface="+mn-ea"/>
              </a:rPr>
              <a:t>{{</a:t>
            </a:r>
            <a:r>
              <a:rPr lang="en-US" altLang="zh-CN" sz="800">
                <a:sym typeface="+mn-ea"/>
              </a:rPr>
              <a:t>P28_line</a:t>
            </a:r>
            <a:r>
              <a:rPr lang="zh-CN" altLang="en-US" sz="800">
                <a:sym typeface="+mn-ea"/>
              </a:rPr>
              <a:t>}}</a:t>
            </a:r>
            <a:endParaRPr lang="zh-CN" altLang="en-US" sz="800">
              <a:sym typeface="+mn-ea"/>
            </a:endParaRPr>
          </a:p>
        </p:txBody>
      </p:sp>
      <p:sp>
        <p:nvSpPr>
          <p:cNvPr id="56" name="文本框 55"/>
          <p:cNvSpPr txBox="1"/>
          <p:nvPr/>
        </p:nvSpPr>
        <p:spPr>
          <a:xfrm>
            <a:off x="4135120" y="1016635"/>
            <a:ext cx="853440" cy="213995"/>
          </a:xfrm>
          <a:prstGeom prst="rect">
            <a:avLst/>
          </a:prstGeom>
          <a:noFill/>
        </p:spPr>
        <p:txBody>
          <a:bodyPr wrap="square" rtlCol="0" anchor="t">
            <a:spAutoFit/>
          </a:bodyPr>
          <a:p>
            <a:r>
              <a:rPr lang="zh-CN" altLang="en-US" sz="800">
                <a:sym typeface="+mn-ea"/>
              </a:rPr>
              <a:t>{{</a:t>
            </a:r>
            <a:r>
              <a:rPr lang="en-US" altLang="zh-CN" sz="800">
                <a:sym typeface="+mn-ea"/>
              </a:rPr>
              <a:t>P28_pie_1</a:t>
            </a:r>
            <a:r>
              <a:rPr lang="zh-CN" altLang="en-US" sz="800">
                <a:sym typeface="+mn-ea"/>
              </a:rPr>
              <a:t>}}</a:t>
            </a:r>
            <a:endParaRPr lang="zh-CN" altLang="en-US" sz="800">
              <a:sym typeface="+mn-ea"/>
            </a:endParaRPr>
          </a:p>
        </p:txBody>
      </p:sp>
      <p:sp>
        <p:nvSpPr>
          <p:cNvPr id="57" name="文本框 56"/>
          <p:cNvSpPr txBox="1"/>
          <p:nvPr/>
        </p:nvSpPr>
        <p:spPr>
          <a:xfrm>
            <a:off x="6163310" y="982980"/>
            <a:ext cx="876935" cy="213995"/>
          </a:xfrm>
          <a:prstGeom prst="rect">
            <a:avLst/>
          </a:prstGeom>
          <a:noFill/>
        </p:spPr>
        <p:txBody>
          <a:bodyPr wrap="square" rtlCol="0" anchor="t">
            <a:spAutoFit/>
          </a:bodyPr>
          <a:p>
            <a:r>
              <a:rPr lang="zh-CN" altLang="en-US" sz="800">
                <a:sym typeface="+mn-ea"/>
              </a:rPr>
              <a:t>{{</a:t>
            </a:r>
            <a:r>
              <a:rPr lang="en-US" altLang="zh-CN" sz="800">
                <a:sym typeface="+mn-ea"/>
              </a:rPr>
              <a:t>P28_pie_2</a:t>
            </a:r>
            <a:r>
              <a:rPr lang="zh-CN" altLang="en-US" sz="800">
                <a:sym typeface="+mn-ea"/>
              </a:rPr>
              <a:t>}}</a:t>
            </a:r>
            <a:endParaRPr lang="zh-CN" altLang="en-US" sz="800">
              <a:sym typeface="+mn-ea"/>
            </a:endParaRPr>
          </a:p>
        </p:txBody>
      </p:sp>
      <p:sp>
        <p:nvSpPr>
          <p:cNvPr id="58" name="文本框 57"/>
          <p:cNvSpPr txBox="1"/>
          <p:nvPr/>
        </p:nvSpPr>
        <p:spPr>
          <a:xfrm>
            <a:off x="6767195" y="3022600"/>
            <a:ext cx="876935" cy="213995"/>
          </a:xfrm>
          <a:prstGeom prst="rect">
            <a:avLst/>
          </a:prstGeom>
          <a:noFill/>
        </p:spPr>
        <p:txBody>
          <a:bodyPr wrap="square" rtlCol="0" anchor="t">
            <a:spAutoFit/>
          </a:bodyPr>
          <a:p>
            <a:r>
              <a:rPr lang="zh-CN" altLang="en-US" sz="800">
                <a:sym typeface="+mn-ea"/>
              </a:rPr>
              <a:t>{{</a:t>
            </a:r>
            <a:r>
              <a:rPr lang="en-US" altLang="zh-CN" sz="800">
                <a:sym typeface="+mn-ea"/>
              </a:rPr>
              <a:t>P28_bar</a:t>
            </a:r>
            <a:r>
              <a:rPr lang="zh-CN" altLang="en-US" sz="800">
                <a:sym typeface="+mn-ea"/>
              </a:rPr>
              <a:t>}}</a:t>
            </a:r>
            <a:endParaRPr lang="zh-CN" altLang="en-US" sz="800">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p:cNvGrpSpPr/>
          <p:nvPr/>
        </p:nvGrpSpPr>
        <p:grpSpPr>
          <a:xfrm>
            <a:off x="843280" y="1556385"/>
            <a:ext cx="8737600" cy="5167630"/>
            <a:chOff x="1665" y="2479"/>
            <a:chExt cx="13760" cy="8138"/>
          </a:xfrm>
        </p:grpSpPr>
        <p:pic>
          <p:nvPicPr>
            <p:cNvPr id="51" name="flow-img"/>
            <p:cNvPicPr/>
            <p:nvPr/>
          </p:nvPicPr>
          <p:blipFill>
            <a:blip r:embed="rId1"/>
            <a:stretch>
              <a:fillRect/>
            </a:stretch>
          </p:blipFill>
          <p:spPr>
            <a:xfrm>
              <a:off x="1665" y="3719"/>
              <a:ext cx="7551" cy="5299"/>
            </a:xfrm>
            <a:prstGeom prst="rect">
              <a:avLst/>
            </a:prstGeom>
            <a:ln>
              <a:noFill/>
            </a:ln>
          </p:spPr>
        </p:pic>
        <p:pic>
          <p:nvPicPr>
            <p:cNvPr id="52" name="图片 51" descr="组 33832@2x (1)"/>
            <p:cNvPicPr>
              <a:picLocks noChangeAspect="1"/>
            </p:cNvPicPr>
            <p:nvPr/>
          </p:nvPicPr>
          <p:blipFill>
            <a:blip r:embed="rId2"/>
            <a:srcRect l="62355"/>
            <a:stretch>
              <a:fillRect/>
            </a:stretch>
          </p:blipFill>
          <p:spPr>
            <a:xfrm>
              <a:off x="7874" y="2479"/>
              <a:ext cx="7551" cy="8138"/>
            </a:xfrm>
            <a:prstGeom prst="rect">
              <a:avLst/>
            </a:prstGeom>
          </p:spPr>
        </p:pic>
      </p:grpSp>
      <p:pic>
        <p:nvPicPr>
          <p:cNvPr id="4" name="logo"/>
          <p:cNvPicPr/>
          <p:nvPr/>
        </p:nvPicPr>
        <p:blipFill>
          <a:blip r:embed="rId3"/>
          <a:stretch>
            <a:fillRect/>
          </a:stretch>
        </p:blipFill>
        <p:spPr>
          <a:xfrm>
            <a:off x="10490200" y="215900"/>
            <a:ext cx="1524000" cy="304800"/>
          </a:xfrm>
          <a:prstGeom prst="rect">
            <a:avLst/>
          </a:prstGeom>
          <a:ln>
            <a:noFill/>
          </a:ln>
        </p:spPr>
      </p:pic>
      <p:sp>
        <p:nvSpPr>
          <p:cNvPr id="5" name="bullets"/>
          <p:cNvSpPr txBox="1"/>
          <p:nvPr/>
        </p:nvSpPr>
        <p:spPr>
          <a:xfrm>
            <a:off x="594360" y="878205"/>
            <a:ext cx="11379200" cy="660400"/>
          </a:xfrm>
          <a:prstGeom prst="rect">
            <a:avLst/>
          </a:prstGeom>
          <a:noFill/>
          <a:ln>
            <a:noFill/>
          </a:ln>
        </p:spPr>
        <p:txBody>
          <a:bodyPr wrap="square" lIns="0" tIns="0" rIns="0" bIns="0" rtlCol="0" anchor="t"/>
          <a:lstStyle/>
          <a:p>
            <a:pPr algn="l">
              <a:lnSpc>
                <a:spcPct val="190000"/>
              </a:lnSpc>
            </a:pPr>
            <a:r>
              <a:rPr lang="en-US" sz="1200" noProof="1">
                <a:solidFill>
                  <a:srgbClr val="1F2D3D"/>
                </a:solidFill>
                <a:latin typeface="Arial" panose="020B0604020202020204" pitchFamily="34" charset="0"/>
                <a:ea typeface="黑体-简" panose="02000000000000000000" charset="-122"/>
              </a:rPr>
              <a:t>•  报告</a:t>
            </a:r>
            <a:r>
              <a:rPr lang="zh-CN" altLang="en-US" sz="1200" noProof="1">
                <a:solidFill>
                  <a:srgbClr val="1F2D3D"/>
                </a:solidFill>
                <a:latin typeface="Arial" panose="020B0604020202020204" pitchFamily="34" charset="0"/>
                <a:ea typeface="黑体-简" panose="02000000000000000000" charset="-122"/>
              </a:rPr>
              <a:t>期</a:t>
            </a:r>
            <a:r>
              <a:rPr lang="en-US" sz="1200" noProof="1">
                <a:solidFill>
                  <a:srgbClr val="1F2D3D"/>
                </a:solidFill>
                <a:latin typeface="Arial" panose="020B0604020202020204" pitchFamily="34" charset="0"/>
                <a:ea typeface="黑体-简" panose="02000000000000000000" charset="-122"/>
              </a:rPr>
              <a:t>内，GPT针对全量安全告警智能研判定性覆盖度</a:t>
            </a:r>
            <a:r>
              <a:rPr lang="zh-CN" altLang="en-US" sz="1200" noProof="1">
                <a:solidFill>
                  <a:srgbClr val="2563EB"/>
                </a:solidFill>
                <a:latin typeface="Arial" panose="020B0604020202020204" pitchFamily="34" charset="0"/>
                <a:ea typeface="黑体-简" panose="02000000000000000000" charset="-122"/>
              </a:rPr>
              <a:t>「</a:t>
            </a:r>
            <a:r>
              <a:rPr lang="en-US" altLang="zh-CN" sz="1200" noProof="1">
                <a:solidFill>
                  <a:srgbClr val="2563EB"/>
                </a:solidFill>
                <a:latin typeface="Arial" panose="020B0604020202020204" pitchFamily="34" charset="0"/>
                <a:ea typeface="黑体-简" panose="02000000000000000000" charset="-122"/>
              </a:rPr>
              <a:t>36-1</a:t>
            </a:r>
            <a:r>
              <a:rPr lang="zh-CN" altLang="en-US" sz="1200" noProof="1">
                <a:solidFill>
                  <a:srgbClr val="2563EB"/>
                </a:solidFill>
                <a:latin typeface="Arial" panose="020B0604020202020204" pitchFamily="34" charset="0"/>
                <a:ea typeface="黑体-简" panose="02000000000000000000" charset="-122"/>
              </a:rPr>
              <a:t>」</a:t>
            </a:r>
            <a:r>
              <a:rPr lang="en-US" sz="1200" noProof="1">
                <a:solidFill>
                  <a:srgbClr val="1F2D3D"/>
                </a:solidFill>
                <a:latin typeface="Arial" panose="020B0604020202020204" pitchFamily="34" charset="0"/>
                <a:ea typeface="黑体-简" panose="02000000000000000000" charset="-122"/>
              </a:rPr>
              <a:t>，提升风险分类与高危告警识别效率</a:t>
            </a:r>
            <a:r>
              <a:rPr lang="zh-CN" altLang="en-US" sz="1200" noProof="1">
                <a:solidFill>
                  <a:srgbClr val="1F2D3D"/>
                </a:solidFill>
                <a:latin typeface="Arial" panose="020B0604020202020204" pitchFamily="34" charset="0"/>
                <a:ea typeface="黑体-简" panose="02000000000000000000" charset="-122"/>
              </a:rPr>
              <a:t>，对全量安全威胁日志</a:t>
            </a:r>
            <a:r>
              <a:rPr lang="en-US" sz="1200" noProof="1">
                <a:solidFill>
                  <a:srgbClr val="1F2D3D"/>
                </a:solidFill>
                <a:latin typeface="Arial" panose="020B0604020202020204" pitchFamily="34" charset="0"/>
                <a:ea typeface="黑体-简" panose="02000000000000000000" charset="-122"/>
              </a:rPr>
              <a:t>。</a:t>
            </a:r>
            <a:endParaRPr lang="en-US" sz="1200" noProof="1">
              <a:latin typeface="Arial" panose="020B0604020202020204" pitchFamily="34" charset="0"/>
              <a:ea typeface="黑体-简" panose="02000000000000000000" charset="-122"/>
            </a:endParaRPr>
          </a:p>
          <a:p>
            <a:pPr algn="l">
              <a:lnSpc>
                <a:spcPct val="190000"/>
              </a:lnSpc>
            </a:pPr>
            <a:r>
              <a:rPr lang="en-US" sz="1200" noProof="1">
                <a:solidFill>
                  <a:srgbClr val="1F2D3D"/>
                </a:solidFill>
                <a:latin typeface="Arial" panose="020B0604020202020204" pitchFamily="34" charset="0"/>
                <a:ea typeface="黑体-简" panose="02000000000000000000" charset="-122"/>
              </a:rPr>
              <a:t>•  其中安全事件研判结论主机失陷活动占比最大，漏扫和业务触发居多，建议针对性通过规则调优。</a:t>
            </a:r>
            <a:endParaRPr lang="en-US" sz="1200" noProof="1">
              <a:solidFill>
                <a:srgbClr val="1F2D3D"/>
              </a:solidFill>
              <a:latin typeface="Arial" panose="020B0604020202020204" pitchFamily="34" charset="0"/>
              <a:ea typeface="黑体-简" panose="02000000000000000000" charset="-122"/>
            </a:endParaRPr>
          </a:p>
        </p:txBody>
      </p:sp>
      <p:sp>
        <p:nvSpPr>
          <p:cNvPr id="7" name="al-title"/>
          <p:cNvSpPr txBox="1"/>
          <p:nvPr/>
        </p:nvSpPr>
        <p:spPr>
          <a:xfrm>
            <a:off x="6733540" y="2499995"/>
            <a:ext cx="1908000" cy="203200"/>
          </a:xfrm>
          <a:prstGeom prst="rect">
            <a:avLst/>
          </a:prstGeom>
          <a:noFill/>
          <a:ln>
            <a:noFill/>
          </a:ln>
        </p:spPr>
        <p:txBody>
          <a:bodyPr wrap="none" lIns="0" tIns="0" rIns="0" bIns="0" rtlCol="0" anchor="ctr"/>
          <a:lstStyle/>
          <a:p>
            <a:pPr algn="ctr">
              <a:lnSpc>
                <a:spcPct val="120000"/>
              </a:lnSpc>
            </a:pPr>
            <a:r>
              <a:rPr lang="en-US" sz="1100" b="1" noProof="1">
                <a:solidFill>
                  <a:srgbClr val="1F2D3D"/>
                </a:solidFill>
                <a:latin typeface="Arial" panose="020B0604020202020204" pitchFamily="34" charset="0"/>
                <a:ea typeface="黑体-简" panose="02000000000000000000" charset="-122"/>
              </a:rPr>
              <a:t>安全告警</a:t>
            </a:r>
            <a:r>
              <a:rPr lang="zh-CN" altLang="en-US" sz="1100" b="1" noProof="1">
                <a:solidFill>
                  <a:srgbClr val="1F2D3D"/>
                </a:solidFill>
                <a:latin typeface="Arial" panose="020B0604020202020204" pitchFamily="34" charset="0"/>
                <a:ea typeface="黑体-简" panose="02000000000000000000" charset="-122"/>
              </a:rPr>
              <a:t>定性</a:t>
            </a:r>
            <a:r>
              <a:rPr lang="en-US" sz="1100" b="1" noProof="1">
                <a:solidFill>
                  <a:srgbClr val="1F2D3D"/>
                </a:solidFill>
                <a:latin typeface="Arial" panose="020B0604020202020204" pitchFamily="34" charset="0"/>
                <a:ea typeface="黑体-简" panose="02000000000000000000" charset="-122"/>
              </a:rPr>
              <a:t>分布</a:t>
            </a:r>
            <a:endParaRPr lang="en-US" sz="1100" noProof="1">
              <a:latin typeface="Arial" panose="020B0604020202020204" pitchFamily="34" charset="0"/>
              <a:ea typeface="黑体-简" panose="02000000000000000000" charset="-122"/>
            </a:endParaRPr>
          </a:p>
        </p:txBody>
      </p:sp>
      <p:sp>
        <p:nvSpPr>
          <p:cNvPr id="8" name="al-c1"/>
          <p:cNvSpPr/>
          <p:nvPr/>
        </p:nvSpPr>
        <p:spPr>
          <a:xfrm>
            <a:off x="6733540" y="2864485"/>
            <a:ext cx="1930400" cy="288000"/>
          </a:xfrm>
          <a:prstGeom prst="roundRect">
            <a:avLst>
              <a:gd name="adj" fmla="val 50000"/>
            </a:avLst>
          </a:prstGeom>
          <a:solidFill>
            <a:srgbClr val="8FBDF7"/>
          </a:solidFill>
          <a:ln>
            <a:noFill/>
          </a:ln>
        </p:spPr>
        <p:txBody>
          <a:bodyPr anchor="ctr" anchorCtr="0"/>
          <a:p>
            <a:r>
              <a:rPr lang="en-US" sz="1000">
                <a:solidFill>
                  <a:srgbClr val="FFFFFF"/>
                </a:solidFill>
                <a:latin typeface="Arial" panose="020B0604020202020204" pitchFamily="34" charset="0"/>
                <a:ea typeface="黑体-简" panose="02000000000000000000" charset="-122"/>
              </a:rPr>
              <a:t>{{alert_qual_1}}</a:t>
            </a:r>
            <a:endParaRPr lang="en-US" sz="1000">
              <a:solidFill>
                <a:srgbClr val="FFFFFF"/>
              </a:solidFill>
              <a:latin typeface="Arial" panose="020B0604020202020204" pitchFamily="34" charset="0"/>
              <a:ea typeface="黑体-简" panose="02000000000000000000" charset="-122"/>
            </a:endParaRPr>
          </a:p>
        </p:txBody>
      </p:sp>
      <p:sp>
        <p:nvSpPr>
          <p:cNvPr id="10" name="al-c2"/>
          <p:cNvSpPr/>
          <p:nvPr/>
        </p:nvSpPr>
        <p:spPr>
          <a:xfrm>
            <a:off x="6733540" y="3242020"/>
            <a:ext cx="1930400" cy="287655"/>
          </a:xfrm>
          <a:prstGeom prst="roundRect">
            <a:avLst>
              <a:gd name="adj" fmla="val 50000"/>
            </a:avLst>
          </a:prstGeom>
          <a:solidFill>
            <a:srgbClr val="7CAFF5"/>
          </a:solidFill>
          <a:ln>
            <a:noFill/>
          </a:ln>
        </p:spPr>
        <p:txBody>
          <a:bodyPr anchor="ctr" anchorCtr="0"/>
          <a:p>
            <a:pPr algn="l">
              <a:buClrTx/>
              <a:buSzTx/>
              <a:buFontTx/>
            </a:pPr>
            <a:r>
              <a:rPr lang="en-US" sz="1000">
                <a:solidFill>
                  <a:srgbClr val="FFFFFF"/>
                </a:solidFill>
                <a:latin typeface="Arial" panose="020B0604020202020204" pitchFamily="34" charset="0"/>
                <a:ea typeface="黑体-简" panose="02000000000000000000" charset="-122"/>
              </a:rPr>
              <a:t>{{alert_qual_2}}</a:t>
            </a:r>
            <a:endParaRPr lang="en-US" sz="1000">
              <a:solidFill>
                <a:srgbClr val="FFFFFF"/>
              </a:solidFill>
              <a:latin typeface="Arial" panose="020B0604020202020204" pitchFamily="34" charset="0"/>
              <a:ea typeface="黑体-简" panose="02000000000000000000" charset="-122"/>
            </a:endParaRPr>
          </a:p>
        </p:txBody>
      </p:sp>
      <p:sp>
        <p:nvSpPr>
          <p:cNvPr id="12" name="al-c3"/>
          <p:cNvSpPr/>
          <p:nvPr/>
        </p:nvSpPr>
        <p:spPr>
          <a:xfrm>
            <a:off x="6733540" y="3619210"/>
            <a:ext cx="1930400" cy="287655"/>
          </a:xfrm>
          <a:prstGeom prst="roundRect">
            <a:avLst>
              <a:gd name="adj" fmla="val 50000"/>
            </a:avLst>
          </a:prstGeom>
          <a:solidFill>
            <a:srgbClr val="69A1F3"/>
          </a:solidFill>
          <a:ln>
            <a:noFill/>
          </a:ln>
        </p:spPr>
        <p:txBody>
          <a:bodyPr anchor="ctr" anchorCtr="0"/>
          <a:p>
            <a:pPr algn="l">
              <a:buClrTx/>
              <a:buSzTx/>
              <a:buFontTx/>
            </a:pPr>
            <a:r>
              <a:rPr lang="en-US" sz="1000">
                <a:solidFill>
                  <a:srgbClr val="FFFFFF"/>
                </a:solidFill>
                <a:latin typeface="Arial" panose="020B0604020202020204" pitchFamily="34" charset="0"/>
                <a:ea typeface="黑体-简" panose="02000000000000000000" charset="-122"/>
              </a:rPr>
              <a:t>{{alert_qual_3}}</a:t>
            </a:r>
            <a:endParaRPr lang="en-US" sz="1000">
              <a:solidFill>
                <a:srgbClr val="FFFFFF"/>
              </a:solidFill>
              <a:latin typeface="Arial" panose="020B0604020202020204" pitchFamily="34" charset="0"/>
              <a:ea typeface="黑体-简" panose="02000000000000000000" charset="-122"/>
            </a:endParaRPr>
          </a:p>
        </p:txBody>
      </p:sp>
      <p:sp>
        <p:nvSpPr>
          <p:cNvPr id="14" name="al-c4"/>
          <p:cNvSpPr/>
          <p:nvPr/>
        </p:nvSpPr>
        <p:spPr>
          <a:xfrm>
            <a:off x="6733540" y="3996400"/>
            <a:ext cx="1930400" cy="287655"/>
          </a:xfrm>
          <a:prstGeom prst="roundRect">
            <a:avLst>
              <a:gd name="adj" fmla="val 50000"/>
            </a:avLst>
          </a:prstGeom>
          <a:solidFill>
            <a:srgbClr val="5491F0"/>
          </a:solidFill>
          <a:ln>
            <a:noFill/>
          </a:ln>
        </p:spPr>
        <p:txBody>
          <a:bodyPr anchor="ctr" anchorCtr="0"/>
          <a:p>
            <a:pPr algn="l">
              <a:buClrTx/>
              <a:buSzTx/>
              <a:buFontTx/>
            </a:pPr>
            <a:r>
              <a:rPr lang="en-US" sz="1000">
                <a:solidFill>
                  <a:srgbClr val="FFFFFF"/>
                </a:solidFill>
                <a:latin typeface="Arial" panose="020B0604020202020204" pitchFamily="34" charset="0"/>
                <a:ea typeface="黑体-简" panose="02000000000000000000" charset="-122"/>
              </a:rPr>
              <a:t>{{alert_qual_4}}</a:t>
            </a:r>
            <a:endParaRPr lang="en-US" sz="1000">
              <a:solidFill>
                <a:srgbClr val="FFFFFF"/>
              </a:solidFill>
              <a:latin typeface="Arial" panose="020B0604020202020204" pitchFamily="34" charset="0"/>
              <a:ea typeface="黑体-简" panose="02000000000000000000" charset="-122"/>
            </a:endParaRPr>
          </a:p>
        </p:txBody>
      </p:sp>
      <p:sp>
        <p:nvSpPr>
          <p:cNvPr id="16" name="al-c5"/>
          <p:cNvSpPr/>
          <p:nvPr/>
        </p:nvSpPr>
        <p:spPr>
          <a:xfrm>
            <a:off x="6733540" y="4373590"/>
            <a:ext cx="1930400" cy="287655"/>
          </a:xfrm>
          <a:prstGeom prst="roundRect">
            <a:avLst>
              <a:gd name="adj" fmla="val 50000"/>
            </a:avLst>
          </a:prstGeom>
          <a:solidFill>
            <a:srgbClr val="3F7FEC"/>
          </a:solidFill>
          <a:ln>
            <a:noFill/>
          </a:ln>
        </p:spPr>
        <p:txBody>
          <a:bodyPr anchor="ctr" anchorCtr="0"/>
          <a:p>
            <a:pPr algn="l">
              <a:buClrTx/>
              <a:buSzTx/>
              <a:buFontTx/>
            </a:pPr>
            <a:r>
              <a:rPr lang="en-US" sz="1000">
                <a:solidFill>
                  <a:srgbClr val="FFFFFF"/>
                </a:solidFill>
                <a:latin typeface="Arial" panose="020B0604020202020204" pitchFamily="34" charset="0"/>
                <a:ea typeface="黑体-简" panose="02000000000000000000" charset="-122"/>
              </a:rPr>
              <a:t>{{alert_qual_5}}</a:t>
            </a:r>
            <a:endParaRPr lang="en-US" sz="1000">
              <a:solidFill>
                <a:srgbClr val="FFFFFF"/>
              </a:solidFill>
              <a:latin typeface="Arial" panose="020B0604020202020204" pitchFamily="34" charset="0"/>
              <a:ea typeface="黑体-简" panose="02000000000000000000" charset="-122"/>
            </a:endParaRPr>
          </a:p>
        </p:txBody>
      </p:sp>
      <p:sp>
        <p:nvSpPr>
          <p:cNvPr id="18" name="al-c6"/>
          <p:cNvSpPr/>
          <p:nvPr/>
        </p:nvSpPr>
        <p:spPr>
          <a:xfrm>
            <a:off x="6733540" y="4750780"/>
            <a:ext cx="1930400" cy="287655"/>
          </a:xfrm>
          <a:prstGeom prst="roundRect">
            <a:avLst>
              <a:gd name="adj" fmla="val 50000"/>
            </a:avLst>
          </a:prstGeom>
          <a:solidFill>
            <a:srgbClr val="3273E8"/>
          </a:solidFill>
          <a:ln>
            <a:noFill/>
          </a:ln>
        </p:spPr>
        <p:txBody>
          <a:bodyPr anchor="ctr" anchorCtr="0"/>
          <a:p>
            <a:pPr algn="l">
              <a:buClrTx/>
              <a:buSzTx/>
              <a:buFontTx/>
            </a:pPr>
            <a:r>
              <a:rPr lang="en-US" sz="1000">
                <a:solidFill>
                  <a:srgbClr val="FFFFFF"/>
                </a:solidFill>
                <a:latin typeface="Arial" panose="020B0604020202020204" pitchFamily="34" charset="0"/>
                <a:ea typeface="黑体-简" panose="02000000000000000000" charset="-122"/>
              </a:rPr>
              <a:t>{{alert_qual_6}}</a:t>
            </a:r>
            <a:endParaRPr lang="en-US" sz="1000">
              <a:solidFill>
                <a:srgbClr val="FFFFFF"/>
              </a:solidFill>
              <a:latin typeface="Arial" panose="020B0604020202020204" pitchFamily="34" charset="0"/>
              <a:ea typeface="黑体-简" panose="02000000000000000000" charset="-122"/>
            </a:endParaRPr>
          </a:p>
        </p:txBody>
      </p:sp>
      <p:sp>
        <p:nvSpPr>
          <p:cNvPr id="20" name="al-c7"/>
          <p:cNvSpPr/>
          <p:nvPr/>
        </p:nvSpPr>
        <p:spPr>
          <a:xfrm>
            <a:off x="6733540" y="5127970"/>
            <a:ext cx="1930400" cy="287655"/>
          </a:xfrm>
          <a:prstGeom prst="roundRect">
            <a:avLst>
              <a:gd name="adj" fmla="val 50000"/>
            </a:avLst>
          </a:prstGeom>
          <a:solidFill>
            <a:srgbClr val="2E6BE6"/>
          </a:solidFill>
          <a:ln>
            <a:noFill/>
          </a:ln>
        </p:spPr>
        <p:txBody>
          <a:bodyPr anchor="ctr" anchorCtr="0"/>
          <a:p>
            <a:pPr algn="l">
              <a:buClrTx/>
              <a:buSzTx/>
              <a:buFontTx/>
            </a:pPr>
            <a:r>
              <a:rPr lang="en-US" sz="1000">
                <a:solidFill>
                  <a:srgbClr val="FFFFFF"/>
                </a:solidFill>
                <a:latin typeface="Arial" panose="020B0604020202020204" pitchFamily="34" charset="0"/>
                <a:ea typeface="黑体-简" panose="02000000000000000000" charset="-122"/>
              </a:rPr>
              <a:t>{{alert_qual_7}}</a:t>
            </a:r>
            <a:endParaRPr lang="en-US" sz="1000">
              <a:solidFill>
                <a:srgbClr val="FFFFFF"/>
              </a:solidFill>
              <a:latin typeface="Arial" panose="020B0604020202020204" pitchFamily="34" charset="0"/>
              <a:ea typeface="黑体-简" panose="02000000000000000000" charset="-122"/>
            </a:endParaRPr>
          </a:p>
        </p:txBody>
      </p:sp>
      <p:sp>
        <p:nvSpPr>
          <p:cNvPr id="22" name="gpt-vt"/>
          <p:cNvSpPr txBox="1"/>
          <p:nvPr/>
        </p:nvSpPr>
        <p:spPr>
          <a:xfrm>
            <a:off x="5905500" y="3111500"/>
            <a:ext cx="381000" cy="2032000"/>
          </a:xfrm>
          <a:prstGeom prst="rect">
            <a:avLst/>
          </a:prstGeom>
          <a:noFill/>
          <a:ln>
            <a:noFill/>
          </a:ln>
        </p:spPr>
        <p:txBody>
          <a:bodyPr wrap="square" lIns="0" tIns="0" rIns="0" bIns="0" rtlCol="0" anchor="ctr"/>
          <a:lstStyle/>
          <a:p>
            <a:pPr algn="ctr">
              <a:lnSpc>
                <a:spcPts val="2100"/>
              </a:lnSpc>
            </a:pPr>
            <a:r>
              <a:rPr lang="en-US" sz="1200" b="1" noProof="1">
                <a:solidFill>
                  <a:srgbClr val="1F2D3D"/>
                </a:solidFill>
                <a:latin typeface="Arial" panose="020B0604020202020204" pitchFamily="34" charset="0"/>
                <a:ea typeface="黑体-简" panose="02000000000000000000" charset="-122"/>
              </a:rPr>
              <a:t>G</a:t>
            </a:r>
            <a:endParaRPr lang="en-US" sz="1200" noProof="1">
              <a:latin typeface="Arial" panose="020B0604020202020204" pitchFamily="34" charset="0"/>
              <a:ea typeface="黑体-简" panose="02000000000000000000" charset="-122"/>
            </a:endParaRPr>
          </a:p>
          <a:p>
            <a:pPr algn="ctr">
              <a:lnSpc>
                <a:spcPts val="2100"/>
              </a:lnSpc>
            </a:pPr>
            <a:r>
              <a:rPr lang="en-US" sz="1200" b="1" noProof="1">
                <a:solidFill>
                  <a:srgbClr val="1F2D3D"/>
                </a:solidFill>
                <a:latin typeface="Arial" panose="020B0604020202020204" pitchFamily="34" charset="0"/>
                <a:ea typeface="黑体-简" panose="02000000000000000000" charset="-122"/>
              </a:rPr>
              <a:t>P</a:t>
            </a:r>
            <a:endParaRPr lang="en-US" sz="1200" noProof="1">
              <a:latin typeface="Arial" panose="020B0604020202020204" pitchFamily="34" charset="0"/>
              <a:ea typeface="黑体-简" panose="02000000000000000000" charset="-122"/>
            </a:endParaRPr>
          </a:p>
          <a:p>
            <a:pPr algn="ctr">
              <a:lnSpc>
                <a:spcPts val="2100"/>
              </a:lnSpc>
            </a:pPr>
            <a:r>
              <a:rPr lang="en-US" sz="1200" b="1" noProof="1">
                <a:solidFill>
                  <a:srgbClr val="1F2D3D"/>
                </a:solidFill>
                <a:latin typeface="Arial" panose="020B0604020202020204" pitchFamily="34" charset="0"/>
                <a:ea typeface="黑体-简" panose="02000000000000000000" charset="-122"/>
              </a:rPr>
              <a:t>T</a:t>
            </a:r>
            <a:endParaRPr lang="en-US" sz="1200" noProof="1">
              <a:latin typeface="Arial" panose="020B0604020202020204" pitchFamily="34" charset="0"/>
              <a:ea typeface="黑体-简" panose="02000000000000000000" charset="-122"/>
            </a:endParaRPr>
          </a:p>
          <a:p>
            <a:pPr algn="ctr">
              <a:lnSpc>
                <a:spcPts val="2100"/>
              </a:lnSpc>
            </a:pPr>
            <a:r>
              <a:rPr lang="en-US" sz="1200" b="1" noProof="1">
                <a:solidFill>
                  <a:srgbClr val="1F2D3D"/>
                </a:solidFill>
                <a:latin typeface="Arial" panose="020B0604020202020204" pitchFamily="34" charset="0"/>
                <a:ea typeface="黑体-简" panose="02000000000000000000" charset="-122"/>
              </a:rPr>
              <a:t>研</a:t>
            </a:r>
            <a:endParaRPr lang="en-US" sz="1200" noProof="1">
              <a:latin typeface="Arial" panose="020B0604020202020204" pitchFamily="34" charset="0"/>
              <a:ea typeface="黑体-简" panose="02000000000000000000" charset="-122"/>
            </a:endParaRPr>
          </a:p>
          <a:p>
            <a:pPr algn="ctr">
              <a:lnSpc>
                <a:spcPts val="2100"/>
              </a:lnSpc>
            </a:pPr>
            <a:r>
              <a:rPr lang="en-US" sz="1200" b="1" noProof="1">
                <a:solidFill>
                  <a:srgbClr val="1F2D3D"/>
                </a:solidFill>
                <a:latin typeface="Arial" panose="020B0604020202020204" pitchFamily="34" charset="0"/>
                <a:ea typeface="黑体-简" panose="02000000000000000000" charset="-122"/>
              </a:rPr>
              <a:t>判</a:t>
            </a:r>
            <a:endParaRPr lang="en-US" sz="1200" noProof="1">
              <a:latin typeface="Arial" panose="020B0604020202020204" pitchFamily="34" charset="0"/>
              <a:ea typeface="黑体-简" panose="02000000000000000000" charset="-122"/>
            </a:endParaRPr>
          </a:p>
          <a:p>
            <a:pPr algn="ctr">
              <a:lnSpc>
                <a:spcPts val="2100"/>
              </a:lnSpc>
            </a:pPr>
            <a:r>
              <a:rPr lang="en-US" sz="1200" b="1" noProof="1">
                <a:solidFill>
                  <a:srgbClr val="1F2D3D"/>
                </a:solidFill>
                <a:latin typeface="Arial" panose="020B0604020202020204" pitchFamily="34" charset="0"/>
                <a:ea typeface="黑体-简" panose="02000000000000000000" charset="-122"/>
              </a:rPr>
              <a:t>结</a:t>
            </a:r>
            <a:endParaRPr lang="en-US" sz="1200" noProof="1">
              <a:latin typeface="Arial" panose="020B0604020202020204" pitchFamily="34" charset="0"/>
              <a:ea typeface="黑体-简" panose="02000000000000000000" charset="-122"/>
            </a:endParaRPr>
          </a:p>
          <a:p>
            <a:pPr algn="ctr">
              <a:lnSpc>
                <a:spcPts val="2100"/>
              </a:lnSpc>
            </a:pPr>
            <a:r>
              <a:rPr lang="en-US" sz="1200" b="1" noProof="1">
                <a:solidFill>
                  <a:srgbClr val="1F2D3D"/>
                </a:solidFill>
                <a:latin typeface="Arial" panose="020B0604020202020204" pitchFamily="34" charset="0"/>
                <a:ea typeface="黑体-简" panose="02000000000000000000" charset="-122"/>
              </a:rPr>
              <a:t>论</a:t>
            </a:r>
            <a:endParaRPr lang="en-US" sz="1200" noProof="1">
              <a:latin typeface="Arial" panose="020B0604020202020204" pitchFamily="34" charset="0"/>
              <a:ea typeface="黑体-简" panose="02000000000000000000" charset="-122"/>
            </a:endParaRPr>
          </a:p>
        </p:txBody>
      </p:sp>
      <p:sp>
        <p:nvSpPr>
          <p:cNvPr id="23" name="ev-title"/>
          <p:cNvSpPr txBox="1"/>
          <p:nvPr/>
        </p:nvSpPr>
        <p:spPr>
          <a:xfrm>
            <a:off x="9242425" y="1645920"/>
            <a:ext cx="2232000" cy="203200"/>
          </a:xfrm>
          <a:prstGeom prst="rect">
            <a:avLst/>
          </a:prstGeom>
          <a:noFill/>
          <a:ln>
            <a:noFill/>
          </a:ln>
        </p:spPr>
        <p:txBody>
          <a:bodyPr wrap="none" lIns="0" tIns="0" rIns="0" bIns="0" rtlCol="0" anchor="ctr"/>
          <a:lstStyle/>
          <a:p>
            <a:pPr algn="ctr">
              <a:lnSpc>
                <a:spcPct val="120000"/>
              </a:lnSpc>
            </a:pPr>
            <a:r>
              <a:rPr lang="en-US" sz="1100" b="1" noProof="1">
                <a:solidFill>
                  <a:srgbClr val="1F2D3D"/>
                </a:solidFill>
                <a:latin typeface="Arial" panose="020B0604020202020204" pitchFamily="34" charset="0"/>
                <a:ea typeface="黑体-简" panose="02000000000000000000" charset="-122"/>
              </a:rPr>
              <a:t>安全事件</a:t>
            </a:r>
            <a:r>
              <a:rPr lang="zh-CN" altLang="en-US" sz="1100" b="1" noProof="1">
                <a:solidFill>
                  <a:srgbClr val="1F2D3D"/>
                </a:solidFill>
                <a:latin typeface="Arial" panose="020B0604020202020204" pitchFamily="34" charset="0"/>
                <a:ea typeface="黑体-简" panose="02000000000000000000" charset="-122"/>
              </a:rPr>
              <a:t>定性</a:t>
            </a:r>
            <a:r>
              <a:rPr lang="en-US" sz="1100" b="1" noProof="1">
                <a:solidFill>
                  <a:srgbClr val="1F2D3D"/>
                </a:solidFill>
                <a:latin typeface="Arial" panose="020B0604020202020204" pitchFamily="34" charset="0"/>
                <a:ea typeface="黑体-简" panose="02000000000000000000" charset="-122"/>
              </a:rPr>
              <a:t>分布</a:t>
            </a:r>
            <a:endParaRPr lang="en-US" sz="1100" noProof="1">
              <a:latin typeface="Arial" panose="020B0604020202020204" pitchFamily="34" charset="0"/>
              <a:ea typeface="黑体-简" panose="02000000000000000000" charset="-122"/>
            </a:endParaRPr>
          </a:p>
        </p:txBody>
      </p:sp>
      <p:sp>
        <p:nvSpPr>
          <p:cNvPr id="24" name="ev-c1"/>
          <p:cNvSpPr/>
          <p:nvPr/>
        </p:nvSpPr>
        <p:spPr>
          <a:xfrm>
            <a:off x="9242425" y="2294890"/>
            <a:ext cx="2286000" cy="279400"/>
          </a:xfrm>
          <a:prstGeom prst="roundRect">
            <a:avLst>
              <a:gd name="adj" fmla="val 50000"/>
            </a:avLst>
          </a:prstGeom>
          <a:solidFill>
            <a:srgbClr val="FDE8E6"/>
          </a:solidFill>
          <a:ln>
            <a:noFill/>
          </a:ln>
        </p:spPr>
      </p:sp>
      <p:sp>
        <p:nvSpPr>
          <p:cNvPr id="25" name="ev-c1-t"/>
          <p:cNvSpPr txBox="1"/>
          <p:nvPr/>
        </p:nvSpPr>
        <p:spPr>
          <a:xfrm>
            <a:off x="9242425" y="2294890"/>
            <a:ext cx="2286000" cy="279400"/>
          </a:xfrm>
          <a:prstGeom prst="rect">
            <a:avLst/>
          </a:prstGeom>
          <a:noFill/>
          <a:ln>
            <a:noFill/>
          </a:ln>
        </p:spPr>
        <p:txBody>
          <a:bodyPr wrap="none" lIns="0" tIns="0" rIns="0" bIns="0" rtlCol="0" anchor="ctr"/>
          <a:lstStyle/>
          <a:p>
            <a:pPr algn="ctr">
              <a:lnSpc>
                <a:spcPct val="120000"/>
              </a:lnSpc>
              <a:buClrTx/>
              <a:buSzTx/>
              <a:buFontTx/>
            </a:pPr>
            <a:r>
              <a:rPr lang="en-US" sz="800">
                <a:solidFill>
                  <a:srgbClr val="E1544A"/>
                </a:solidFill>
                <a:latin typeface="Arial" panose="020B0604020202020204" pitchFamily="34" charset="0"/>
                <a:ea typeface="黑体-简" panose="02000000000000000000" charset="-122"/>
              </a:rPr>
              <a:t>{{event_qual_1}}</a:t>
            </a:r>
            <a:endParaRPr lang="en-US" sz="800">
              <a:solidFill>
                <a:srgbClr val="E1544A"/>
              </a:solidFill>
              <a:latin typeface="Arial" panose="020B0604020202020204" pitchFamily="34" charset="0"/>
              <a:ea typeface="黑体-简" panose="02000000000000000000" charset="-122"/>
            </a:endParaRPr>
          </a:p>
        </p:txBody>
      </p:sp>
      <p:sp>
        <p:nvSpPr>
          <p:cNvPr id="26" name="ev-c2"/>
          <p:cNvSpPr/>
          <p:nvPr/>
        </p:nvSpPr>
        <p:spPr>
          <a:xfrm>
            <a:off x="9242425" y="2663190"/>
            <a:ext cx="2286000" cy="279400"/>
          </a:xfrm>
          <a:prstGeom prst="roundRect">
            <a:avLst>
              <a:gd name="adj" fmla="val 50000"/>
            </a:avLst>
          </a:prstGeom>
          <a:solidFill>
            <a:srgbClr val="FDE8E6"/>
          </a:solidFill>
          <a:ln>
            <a:noFill/>
          </a:ln>
        </p:spPr>
      </p:sp>
      <p:sp>
        <p:nvSpPr>
          <p:cNvPr id="27" name="ev-c2-t"/>
          <p:cNvSpPr txBox="1"/>
          <p:nvPr/>
        </p:nvSpPr>
        <p:spPr>
          <a:xfrm>
            <a:off x="9242425" y="2663190"/>
            <a:ext cx="2286000" cy="279400"/>
          </a:xfrm>
          <a:prstGeom prst="rect">
            <a:avLst/>
          </a:prstGeom>
          <a:noFill/>
          <a:ln>
            <a:noFill/>
          </a:ln>
        </p:spPr>
        <p:txBody>
          <a:bodyPr wrap="none" lIns="0" tIns="0" rIns="0" bIns="0" rtlCol="0" anchor="ctr"/>
          <a:lstStyle/>
          <a:p>
            <a:pPr algn="ctr">
              <a:lnSpc>
                <a:spcPct val="120000"/>
              </a:lnSpc>
              <a:buClrTx/>
              <a:buSzTx/>
              <a:buFontTx/>
            </a:pPr>
            <a:r>
              <a:rPr lang="en-US" sz="800">
                <a:solidFill>
                  <a:srgbClr val="E1544A"/>
                </a:solidFill>
                <a:latin typeface="Arial" panose="020B0604020202020204" pitchFamily="34" charset="0"/>
                <a:ea typeface="黑体-简" panose="02000000000000000000" charset="-122"/>
              </a:rPr>
              <a:t>{{event_qual_2}}</a:t>
            </a:r>
            <a:endParaRPr lang="en-US" sz="800">
              <a:solidFill>
                <a:srgbClr val="E1544A"/>
              </a:solidFill>
              <a:latin typeface="Arial" panose="020B0604020202020204" pitchFamily="34" charset="0"/>
              <a:ea typeface="黑体-简" panose="02000000000000000000" charset="-122"/>
            </a:endParaRPr>
          </a:p>
        </p:txBody>
      </p:sp>
      <p:sp>
        <p:nvSpPr>
          <p:cNvPr id="28" name="ev-c3"/>
          <p:cNvSpPr/>
          <p:nvPr/>
        </p:nvSpPr>
        <p:spPr>
          <a:xfrm>
            <a:off x="9242425" y="3031490"/>
            <a:ext cx="2286000" cy="279400"/>
          </a:xfrm>
          <a:prstGeom prst="roundRect">
            <a:avLst>
              <a:gd name="adj" fmla="val 50000"/>
            </a:avLst>
          </a:prstGeom>
          <a:solidFill>
            <a:srgbClr val="FDE8E6"/>
          </a:solidFill>
          <a:ln>
            <a:noFill/>
          </a:ln>
        </p:spPr>
      </p:sp>
      <p:sp>
        <p:nvSpPr>
          <p:cNvPr id="29" name="ev-c3-t"/>
          <p:cNvSpPr txBox="1"/>
          <p:nvPr/>
        </p:nvSpPr>
        <p:spPr>
          <a:xfrm>
            <a:off x="9242425" y="3031490"/>
            <a:ext cx="2286000" cy="279400"/>
          </a:xfrm>
          <a:prstGeom prst="rect">
            <a:avLst/>
          </a:prstGeom>
          <a:noFill/>
          <a:ln>
            <a:noFill/>
          </a:ln>
        </p:spPr>
        <p:txBody>
          <a:bodyPr wrap="none" lIns="0" tIns="0" rIns="0" bIns="0" rtlCol="0" anchor="ctr"/>
          <a:lstStyle/>
          <a:p>
            <a:pPr algn="ctr">
              <a:lnSpc>
                <a:spcPct val="120000"/>
              </a:lnSpc>
              <a:buClrTx/>
              <a:buSzTx/>
              <a:buFontTx/>
            </a:pPr>
            <a:r>
              <a:rPr lang="en-US" sz="800">
                <a:solidFill>
                  <a:srgbClr val="E1544A"/>
                </a:solidFill>
                <a:latin typeface="Arial" panose="020B0604020202020204" pitchFamily="34" charset="0"/>
                <a:ea typeface="黑体-简" panose="02000000000000000000" charset="-122"/>
              </a:rPr>
              <a:t>{{event_qual_3}}</a:t>
            </a:r>
            <a:endParaRPr lang="en-US" sz="800">
              <a:solidFill>
                <a:srgbClr val="E1544A"/>
              </a:solidFill>
              <a:latin typeface="Arial" panose="020B0604020202020204" pitchFamily="34" charset="0"/>
              <a:ea typeface="黑体-简" panose="02000000000000000000" charset="-122"/>
            </a:endParaRPr>
          </a:p>
        </p:txBody>
      </p:sp>
      <p:sp>
        <p:nvSpPr>
          <p:cNvPr id="30" name="ev-c4"/>
          <p:cNvSpPr/>
          <p:nvPr/>
        </p:nvSpPr>
        <p:spPr>
          <a:xfrm>
            <a:off x="9242425" y="3399790"/>
            <a:ext cx="2286000" cy="279400"/>
          </a:xfrm>
          <a:prstGeom prst="roundRect">
            <a:avLst>
              <a:gd name="adj" fmla="val 50000"/>
            </a:avLst>
          </a:prstGeom>
          <a:solidFill>
            <a:srgbClr val="FDE8E6"/>
          </a:solidFill>
          <a:ln>
            <a:noFill/>
          </a:ln>
        </p:spPr>
      </p:sp>
      <p:sp>
        <p:nvSpPr>
          <p:cNvPr id="31" name="ev-c4-t"/>
          <p:cNvSpPr txBox="1"/>
          <p:nvPr/>
        </p:nvSpPr>
        <p:spPr>
          <a:xfrm>
            <a:off x="9242425" y="3399790"/>
            <a:ext cx="2286000" cy="279400"/>
          </a:xfrm>
          <a:prstGeom prst="rect">
            <a:avLst/>
          </a:prstGeom>
          <a:noFill/>
          <a:ln>
            <a:noFill/>
          </a:ln>
        </p:spPr>
        <p:txBody>
          <a:bodyPr wrap="none" lIns="0" tIns="0" rIns="0" bIns="0" rtlCol="0" anchor="ctr"/>
          <a:lstStyle/>
          <a:p>
            <a:pPr algn="ctr">
              <a:lnSpc>
                <a:spcPct val="120000"/>
              </a:lnSpc>
              <a:buClrTx/>
              <a:buSzTx/>
              <a:buFontTx/>
            </a:pPr>
            <a:r>
              <a:rPr lang="en-US" sz="800">
                <a:solidFill>
                  <a:srgbClr val="E1544A"/>
                </a:solidFill>
                <a:latin typeface="Arial" panose="020B0604020202020204" pitchFamily="34" charset="0"/>
                <a:ea typeface="黑体-简" panose="02000000000000000000" charset="-122"/>
              </a:rPr>
              <a:t>{{event_qual_4}}</a:t>
            </a:r>
            <a:endParaRPr lang="en-US" sz="800">
              <a:solidFill>
                <a:srgbClr val="E1544A"/>
              </a:solidFill>
              <a:latin typeface="Arial" panose="020B0604020202020204" pitchFamily="34" charset="0"/>
              <a:ea typeface="黑体-简" panose="02000000000000000000" charset="-122"/>
            </a:endParaRPr>
          </a:p>
        </p:txBody>
      </p:sp>
      <p:sp>
        <p:nvSpPr>
          <p:cNvPr id="32" name="ev-c5"/>
          <p:cNvSpPr/>
          <p:nvPr/>
        </p:nvSpPr>
        <p:spPr>
          <a:xfrm>
            <a:off x="9242425" y="3768090"/>
            <a:ext cx="2286000" cy="279400"/>
          </a:xfrm>
          <a:prstGeom prst="roundRect">
            <a:avLst>
              <a:gd name="adj" fmla="val 50000"/>
            </a:avLst>
          </a:prstGeom>
          <a:solidFill>
            <a:srgbClr val="FDE8E6"/>
          </a:solidFill>
          <a:ln>
            <a:noFill/>
          </a:ln>
        </p:spPr>
      </p:sp>
      <p:sp>
        <p:nvSpPr>
          <p:cNvPr id="33" name="ev-c5-t"/>
          <p:cNvSpPr txBox="1"/>
          <p:nvPr/>
        </p:nvSpPr>
        <p:spPr>
          <a:xfrm>
            <a:off x="9242425" y="3768090"/>
            <a:ext cx="2286000" cy="279400"/>
          </a:xfrm>
          <a:prstGeom prst="rect">
            <a:avLst/>
          </a:prstGeom>
          <a:noFill/>
          <a:ln>
            <a:noFill/>
          </a:ln>
        </p:spPr>
        <p:txBody>
          <a:bodyPr wrap="none" lIns="0" tIns="0" rIns="0" bIns="0" rtlCol="0" anchor="ctr"/>
          <a:lstStyle/>
          <a:p>
            <a:pPr algn="ctr">
              <a:lnSpc>
                <a:spcPct val="120000"/>
              </a:lnSpc>
              <a:buClrTx/>
              <a:buSzTx/>
              <a:buFontTx/>
            </a:pPr>
            <a:r>
              <a:rPr lang="en-US" sz="800">
                <a:solidFill>
                  <a:srgbClr val="E1544A"/>
                </a:solidFill>
                <a:latin typeface="Arial" panose="020B0604020202020204" pitchFamily="34" charset="0"/>
                <a:ea typeface="黑体-简" panose="02000000000000000000" charset="-122"/>
              </a:rPr>
              <a:t>{{event_qual_5}}</a:t>
            </a:r>
            <a:endParaRPr lang="en-US" sz="800">
              <a:solidFill>
                <a:srgbClr val="E1544A"/>
              </a:solidFill>
              <a:latin typeface="Arial" panose="020B0604020202020204" pitchFamily="34" charset="0"/>
              <a:ea typeface="黑体-简" panose="02000000000000000000" charset="-122"/>
            </a:endParaRPr>
          </a:p>
        </p:txBody>
      </p:sp>
      <p:sp>
        <p:nvSpPr>
          <p:cNvPr id="34" name="ev-c6"/>
          <p:cNvSpPr/>
          <p:nvPr/>
        </p:nvSpPr>
        <p:spPr>
          <a:xfrm>
            <a:off x="9242425" y="4136390"/>
            <a:ext cx="2286000" cy="279400"/>
          </a:xfrm>
          <a:prstGeom prst="roundRect">
            <a:avLst>
              <a:gd name="adj" fmla="val 50000"/>
            </a:avLst>
          </a:prstGeom>
          <a:solidFill>
            <a:srgbClr val="FDE8E6"/>
          </a:solidFill>
          <a:ln>
            <a:noFill/>
          </a:ln>
        </p:spPr>
      </p:sp>
      <p:sp>
        <p:nvSpPr>
          <p:cNvPr id="35" name="ev-c6-t"/>
          <p:cNvSpPr txBox="1"/>
          <p:nvPr/>
        </p:nvSpPr>
        <p:spPr>
          <a:xfrm>
            <a:off x="9242425" y="4136390"/>
            <a:ext cx="2286000" cy="279400"/>
          </a:xfrm>
          <a:prstGeom prst="rect">
            <a:avLst/>
          </a:prstGeom>
          <a:noFill/>
          <a:ln>
            <a:noFill/>
          </a:ln>
        </p:spPr>
        <p:txBody>
          <a:bodyPr wrap="none" lIns="0" tIns="0" rIns="0" bIns="0" rtlCol="0" anchor="ctr"/>
          <a:lstStyle/>
          <a:p>
            <a:pPr algn="ctr">
              <a:lnSpc>
                <a:spcPct val="120000"/>
              </a:lnSpc>
              <a:buClrTx/>
              <a:buSzTx/>
              <a:buFontTx/>
            </a:pPr>
            <a:r>
              <a:rPr lang="en-US" sz="800">
                <a:solidFill>
                  <a:srgbClr val="E1544A"/>
                </a:solidFill>
                <a:latin typeface="Arial" panose="020B0604020202020204" pitchFamily="34" charset="0"/>
                <a:ea typeface="黑体-简" panose="02000000000000000000" charset="-122"/>
              </a:rPr>
              <a:t>{{event_qual_6}}</a:t>
            </a:r>
            <a:endParaRPr lang="en-US" sz="800">
              <a:solidFill>
                <a:srgbClr val="E1544A"/>
              </a:solidFill>
              <a:latin typeface="Arial" panose="020B0604020202020204" pitchFamily="34" charset="0"/>
              <a:ea typeface="黑体-简" panose="02000000000000000000" charset="-122"/>
            </a:endParaRPr>
          </a:p>
        </p:txBody>
      </p:sp>
      <p:sp>
        <p:nvSpPr>
          <p:cNvPr id="36" name="ev-c7"/>
          <p:cNvSpPr/>
          <p:nvPr/>
        </p:nvSpPr>
        <p:spPr>
          <a:xfrm>
            <a:off x="9242425" y="4504690"/>
            <a:ext cx="2286000" cy="279400"/>
          </a:xfrm>
          <a:prstGeom prst="roundRect">
            <a:avLst>
              <a:gd name="adj" fmla="val 50000"/>
            </a:avLst>
          </a:prstGeom>
          <a:solidFill>
            <a:srgbClr val="FDE8E6"/>
          </a:solidFill>
          <a:ln>
            <a:noFill/>
          </a:ln>
        </p:spPr>
      </p:sp>
      <p:sp>
        <p:nvSpPr>
          <p:cNvPr id="37" name="ev-c7-t"/>
          <p:cNvSpPr txBox="1"/>
          <p:nvPr/>
        </p:nvSpPr>
        <p:spPr>
          <a:xfrm>
            <a:off x="9242425" y="4504690"/>
            <a:ext cx="2286000" cy="279400"/>
          </a:xfrm>
          <a:prstGeom prst="rect">
            <a:avLst/>
          </a:prstGeom>
          <a:noFill/>
          <a:ln>
            <a:noFill/>
          </a:ln>
        </p:spPr>
        <p:txBody>
          <a:bodyPr wrap="none" lIns="0" tIns="0" rIns="0" bIns="0" rtlCol="0" anchor="ctr"/>
          <a:lstStyle/>
          <a:p>
            <a:pPr algn="ctr">
              <a:lnSpc>
                <a:spcPct val="120000"/>
              </a:lnSpc>
              <a:buClrTx/>
              <a:buSzTx/>
              <a:buFontTx/>
            </a:pPr>
            <a:r>
              <a:rPr lang="en-US" sz="800">
                <a:solidFill>
                  <a:srgbClr val="E1544A"/>
                </a:solidFill>
                <a:latin typeface="Arial" panose="020B0604020202020204" pitchFamily="34" charset="0"/>
                <a:ea typeface="黑体-简" panose="02000000000000000000" charset="-122"/>
              </a:rPr>
              <a:t>{{event_qual_7}}</a:t>
            </a:r>
            <a:endParaRPr lang="en-US" sz="800">
              <a:solidFill>
                <a:srgbClr val="E1544A"/>
              </a:solidFill>
              <a:latin typeface="Arial" panose="020B0604020202020204" pitchFamily="34" charset="0"/>
              <a:ea typeface="黑体-简" panose="02000000000000000000" charset="-122"/>
            </a:endParaRPr>
          </a:p>
        </p:txBody>
      </p:sp>
      <p:sp>
        <p:nvSpPr>
          <p:cNvPr id="38" name="ev-c8"/>
          <p:cNvSpPr/>
          <p:nvPr/>
        </p:nvSpPr>
        <p:spPr>
          <a:xfrm>
            <a:off x="9242425" y="4872990"/>
            <a:ext cx="2286000" cy="279400"/>
          </a:xfrm>
          <a:prstGeom prst="roundRect">
            <a:avLst>
              <a:gd name="adj" fmla="val 50000"/>
            </a:avLst>
          </a:prstGeom>
          <a:solidFill>
            <a:srgbClr val="FDE8E6"/>
          </a:solidFill>
          <a:ln>
            <a:noFill/>
          </a:ln>
        </p:spPr>
      </p:sp>
      <p:sp>
        <p:nvSpPr>
          <p:cNvPr id="39" name="ev-c8-t"/>
          <p:cNvSpPr txBox="1"/>
          <p:nvPr/>
        </p:nvSpPr>
        <p:spPr>
          <a:xfrm>
            <a:off x="9242425" y="4872990"/>
            <a:ext cx="2286000" cy="279400"/>
          </a:xfrm>
          <a:prstGeom prst="rect">
            <a:avLst/>
          </a:prstGeom>
          <a:noFill/>
          <a:ln>
            <a:noFill/>
          </a:ln>
        </p:spPr>
        <p:txBody>
          <a:bodyPr wrap="none" lIns="0" tIns="0" rIns="0" bIns="0" rtlCol="0" anchor="ctr"/>
          <a:lstStyle/>
          <a:p>
            <a:pPr algn="ctr">
              <a:lnSpc>
                <a:spcPct val="120000"/>
              </a:lnSpc>
              <a:buClrTx/>
              <a:buSzTx/>
              <a:buFontTx/>
            </a:pPr>
            <a:r>
              <a:rPr lang="en-US" sz="800">
                <a:solidFill>
                  <a:srgbClr val="E1544A"/>
                </a:solidFill>
                <a:latin typeface="Arial" panose="020B0604020202020204" pitchFamily="34" charset="0"/>
                <a:ea typeface="黑体-简" panose="02000000000000000000" charset="-122"/>
              </a:rPr>
              <a:t>{{event_qual_8}}</a:t>
            </a:r>
            <a:endParaRPr lang="en-US" sz="800">
              <a:solidFill>
                <a:srgbClr val="E1544A"/>
              </a:solidFill>
              <a:latin typeface="Arial" panose="020B0604020202020204" pitchFamily="34" charset="0"/>
              <a:ea typeface="黑体-简" panose="02000000000000000000" charset="-122"/>
            </a:endParaRPr>
          </a:p>
        </p:txBody>
      </p:sp>
      <p:sp>
        <p:nvSpPr>
          <p:cNvPr id="40" name="ev-c9"/>
          <p:cNvSpPr/>
          <p:nvPr/>
        </p:nvSpPr>
        <p:spPr>
          <a:xfrm>
            <a:off x="9242425" y="5241290"/>
            <a:ext cx="2286000" cy="279400"/>
          </a:xfrm>
          <a:prstGeom prst="roundRect">
            <a:avLst>
              <a:gd name="adj" fmla="val 50000"/>
            </a:avLst>
          </a:prstGeom>
          <a:solidFill>
            <a:srgbClr val="FDE8E6"/>
          </a:solidFill>
          <a:ln>
            <a:noFill/>
          </a:ln>
        </p:spPr>
      </p:sp>
      <p:sp>
        <p:nvSpPr>
          <p:cNvPr id="41" name="ev-c9-t"/>
          <p:cNvSpPr txBox="1"/>
          <p:nvPr/>
        </p:nvSpPr>
        <p:spPr>
          <a:xfrm>
            <a:off x="9242425" y="5241290"/>
            <a:ext cx="2286000" cy="279400"/>
          </a:xfrm>
          <a:prstGeom prst="rect">
            <a:avLst/>
          </a:prstGeom>
          <a:noFill/>
          <a:ln>
            <a:noFill/>
          </a:ln>
        </p:spPr>
        <p:txBody>
          <a:bodyPr wrap="none" lIns="0" tIns="0" rIns="0" bIns="0" rtlCol="0" anchor="ctr"/>
          <a:lstStyle/>
          <a:p>
            <a:pPr algn="ctr">
              <a:lnSpc>
                <a:spcPct val="120000"/>
              </a:lnSpc>
              <a:buClrTx/>
              <a:buSzTx/>
              <a:buFontTx/>
            </a:pPr>
            <a:r>
              <a:rPr lang="en-US" sz="800">
                <a:solidFill>
                  <a:srgbClr val="E1544A"/>
                </a:solidFill>
                <a:latin typeface="Arial" panose="020B0604020202020204" pitchFamily="34" charset="0"/>
                <a:ea typeface="黑体-简" panose="02000000000000000000" charset="-122"/>
              </a:rPr>
              <a:t>{{event_qual_9}}</a:t>
            </a:r>
            <a:endParaRPr lang="en-US" sz="800">
              <a:solidFill>
                <a:srgbClr val="E1544A"/>
              </a:solidFill>
              <a:latin typeface="Arial" panose="020B0604020202020204" pitchFamily="34" charset="0"/>
              <a:ea typeface="黑体-简" panose="02000000000000000000" charset="-122"/>
            </a:endParaRPr>
          </a:p>
        </p:txBody>
      </p:sp>
      <p:sp>
        <p:nvSpPr>
          <p:cNvPr id="42" name="ev-c10"/>
          <p:cNvSpPr/>
          <p:nvPr/>
        </p:nvSpPr>
        <p:spPr>
          <a:xfrm>
            <a:off x="9242425" y="5609590"/>
            <a:ext cx="2286000" cy="279400"/>
          </a:xfrm>
          <a:prstGeom prst="roundRect">
            <a:avLst>
              <a:gd name="adj" fmla="val 50000"/>
            </a:avLst>
          </a:prstGeom>
          <a:solidFill>
            <a:srgbClr val="FDE8E6"/>
          </a:solidFill>
          <a:ln>
            <a:noFill/>
          </a:ln>
        </p:spPr>
      </p:sp>
      <p:sp>
        <p:nvSpPr>
          <p:cNvPr id="43" name="ev-c10-t"/>
          <p:cNvSpPr txBox="1"/>
          <p:nvPr/>
        </p:nvSpPr>
        <p:spPr>
          <a:xfrm>
            <a:off x="9242425" y="5609590"/>
            <a:ext cx="2286000" cy="279400"/>
          </a:xfrm>
          <a:prstGeom prst="rect">
            <a:avLst/>
          </a:prstGeom>
          <a:noFill/>
          <a:ln>
            <a:noFill/>
          </a:ln>
        </p:spPr>
        <p:txBody>
          <a:bodyPr wrap="none" lIns="0" tIns="0" rIns="0" bIns="0" rtlCol="0" anchor="ctr"/>
          <a:lstStyle/>
          <a:p>
            <a:pPr algn="ctr">
              <a:lnSpc>
                <a:spcPct val="120000"/>
              </a:lnSpc>
              <a:buClrTx/>
              <a:buSzTx/>
              <a:buFontTx/>
            </a:pPr>
            <a:r>
              <a:rPr lang="en-US" sz="800">
                <a:solidFill>
                  <a:srgbClr val="E1544A"/>
                </a:solidFill>
                <a:latin typeface="Arial" panose="020B0604020202020204" pitchFamily="34" charset="0"/>
                <a:ea typeface="黑体-简" panose="02000000000000000000" charset="-122"/>
              </a:rPr>
              <a:t>{{event_qual_10}}</a:t>
            </a:r>
            <a:endParaRPr lang="en-US" sz="800">
              <a:solidFill>
                <a:srgbClr val="E1544A"/>
              </a:solidFill>
              <a:latin typeface="Arial" panose="020B0604020202020204" pitchFamily="34" charset="0"/>
              <a:ea typeface="黑体-简" panose="02000000000000000000" charset="-122"/>
            </a:endParaRPr>
          </a:p>
        </p:txBody>
      </p:sp>
      <p:sp>
        <p:nvSpPr>
          <p:cNvPr id="44" name="bottom-bar"/>
          <p:cNvSpPr/>
          <p:nvPr/>
        </p:nvSpPr>
        <p:spPr>
          <a:xfrm>
            <a:off x="0" y="6807200"/>
            <a:ext cx="12192000" cy="50800"/>
          </a:xfrm>
          <a:prstGeom prst="rect">
            <a:avLst/>
          </a:prstGeom>
          <a:gradFill rotWithShape="1">
            <a:gsLst>
              <a:gs pos="0">
                <a:srgbClr val="2E6BE6"/>
              </a:gs>
              <a:gs pos="100000">
                <a:srgbClr val="7ED321"/>
              </a:gs>
            </a:gsLst>
            <a:lin ang="0" scaled="1"/>
          </a:gradFill>
          <a:ln>
            <a:noFill/>
          </a:ln>
        </p:spPr>
      </p:sp>
      <p:grpSp>
        <p:nvGrpSpPr>
          <p:cNvPr id="45" name="组合 44"/>
          <p:cNvGrpSpPr/>
          <p:nvPr/>
        </p:nvGrpSpPr>
        <p:grpSpPr>
          <a:xfrm>
            <a:off x="224790" y="289878"/>
            <a:ext cx="4262120" cy="327025"/>
            <a:chOff x="533" y="646"/>
            <a:chExt cx="6712" cy="515"/>
          </a:xfrm>
        </p:grpSpPr>
        <p:grpSp>
          <p:nvGrpSpPr>
            <p:cNvPr id="46" name="组合 45"/>
            <p:cNvGrpSpPr/>
            <p:nvPr/>
          </p:nvGrpSpPr>
          <p:grpSpPr>
            <a:xfrm rot="0">
              <a:off x="533" y="672"/>
              <a:ext cx="582" cy="420"/>
              <a:chOff x="533" y="672"/>
              <a:chExt cx="582" cy="420"/>
            </a:xfrm>
          </p:grpSpPr>
          <p:sp>
            <p:nvSpPr>
              <p:cNvPr id="47" name="燕尾形 86"/>
              <p:cNvSpPr/>
              <p:nvPr>
                <p:custDataLst>
                  <p:tags r:id="rId4"/>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sp>
            <p:nvSpPr>
              <p:cNvPr id="48" name="燕尾形 103"/>
              <p:cNvSpPr/>
              <p:nvPr>
                <p:custDataLst>
                  <p:tags r:id="rId5"/>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grpSp>
        <p:sp>
          <p:nvSpPr>
            <p:cNvPr id="49" name="textbox 158"/>
            <p:cNvSpPr/>
            <p:nvPr/>
          </p:nvSpPr>
          <p:spPr>
            <a:xfrm>
              <a:off x="1345" y="646"/>
              <a:ext cx="5900"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altLang="zh-CN" sz="1900" kern="0" noProof="0" dirty="0">
                  <a:solidFill>
                    <a:srgbClr val="4C61E7"/>
                  </a:solidFill>
                  <a:uLnTx/>
                  <a:latin typeface="Arial Black" panose="020B0A04020102020204" pitchFamily="34" charset="0"/>
                  <a:ea typeface="微软雅黑" panose="020B0503020204020204" charset="-122"/>
                  <a:sym typeface="+mn-ea"/>
                </a:rPr>
                <a:t>7*24H</a:t>
              </a:r>
              <a:r>
                <a:rPr lang="zh-CN" altLang="en-US" sz="1900" kern="0" noProof="0" dirty="0">
                  <a:solidFill>
                    <a:srgbClr val="4C61E7"/>
                  </a:solidFill>
                  <a:uLnTx/>
                  <a:latin typeface="Arial Black" panose="020B0A04020102020204" pitchFamily="34" charset="0"/>
                  <a:ea typeface="微软雅黑" panose="020B0503020204020204" charset="-122"/>
                  <a:sym typeface="+mn-ea"/>
                </a:rPr>
                <a:t>威胁对抗详情</a:t>
              </a:r>
              <a:r>
                <a:rPr lang="zh-CN" altLang="en-US" sz="1900" kern="0" noProof="0" dirty="0">
                  <a:solidFill>
                    <a:srgbClr val="4C61E7"/>
                  </a:solidFill>
                  <a:uLnTx/>
                  <a:latin typeface="Arial Black" panose="020B0A04020102020204" pitchFamily="34" charset="0"/>
                  <a:ea typeface="微软雅黑" panose="020B0503020204020204" charset="-122"/>
                  <a:sym typeface="Calibri" panose="020F0502020204030204" charset="0"/>
                </a:rPr>
                <a:t>-智能研判</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grpSp>
        <p:nvGrpSpPr>
          <p:cNvPr id="55" name="组合 54"/>
          <p:cNvGrpSpPr/>
          <p:nvPr/>
        </p:nvGrpSpPr>
        <p:grpSpPr>
          <a:xfrm>
            <a:off x="946785" y="4493895"/>
            <a:ext cx="685800" cy="254000"/>
            <a:chOff x="1206" y="4820"/>
            <a:chExt cx="1080" cy="400"/>
          </a:xfrm>
        </p:grpSpPr>
        <p:sp>
          <p:nvSpPr>
            <p:cNvPr id="93" name="ndr-c1"/>
            <p:cNvSpPr/>
            <p:nvPr/>
          </p:nvSpPr>
          <p:spPr>
            <a:xfrm>
              <a:off x="1206" y="4820"/>
              <a:ext cx="1080" cy="400"/>
            </a:xfrm>
            <a:prstGeom prst="roundRect">
              <a:avLst>
                <a:gd name="adj" fmla="val 12000"/>
              </a:avLst>
            </a:prstGeom>
            <a:solidFill>
              <a:srgbClr val="FFFFFF"/>
            </a:solidFill>
            <a:ln w="12700">
              <a:solidFill>
                <a:srgbClr val="EDF0F5"/>
              </a:solidFill>
            </a:ln>
          </p:spPr>
        </p:sp>
        <p:sp>
          <p:nvSpPr>
            <p:cNvPr id="94" name="ndr-c1-t"/>
            <p:cNvSpPr txBox="1"/>
            <p:nvPr/>
          </p:nvSpPr>
          <p:spPr>
            <a:xfrm>
              <a:off x="1206" y="4820"/>
              <a:ext cx="1080" cy="400"/>
            </a:xfrm>
            <a:prstGeom prst="rect">
              <a:avLst/>
            </a:prstGeom>
            <a:noFill/>
            <a:ln>
              <a:noFill/>
            </a:ln>
          </p:spPr>
          <p:txBody>
            <a:bodyPr wrap="none" lIns="0" tIns="0" rIns="0" bIns="0" rtlCol="0" anchor="ctr"/>
            <a:lstStyle/>
            <a:p>
              <a:pPr algn="ctr">
                <a:lnSpc>
                  <a:spcPct val="120000"/>
                </a:lnSpc>
              </a:pPr>
              <a:r>
                <a:rPr lang="en-US" sz="850" b="1" noProof="1">
                  <a:solidFill>
                    <a:srgbClr val="29C193"/>
                  </a:solidFill>
                  <a:latin typeface="Arial" panose="020B0604020202020204" pitchFamily="34" charset="0"/>
                  <a:ea typeface="黑体-简" panose="02000000000000000000" charset="-122"/>
                </a:rPr>
                <a:t>●</a:t>
              </a:r>
              <a:r>
                <a:rPr lang="en-US" sz="850" b="1" noProof="1">
                  <a:solidFill>
                    <a:srgbClr val="1F2D3D"/>
                  </a:solidFill>
                  <a:latin typeface="Arial" panose="020B0604020202020204" pitchFamily="34" charset="0"/>
                  <a:ea typeface="黑体-简" panose="02000000000000000000" charset="-122"/>
                </a:rPr>
                <a:t> AF </a:t>
              </a:r>
              <a:endParaRPr lang="en-US" sz="850" b="1" noProof="1">
                <a:solidFill>
                  <a:srgbClr val="1F2D3D"/>
                </a:solidFill>
                <a:highlight>
                  <a:srgbClr val="FFFF00"/>
                </a:highlight>
                <a:latin typeface="Arial" panose="020B0604020202020204" pitchFamily="34" charset="0"/>
                <a:ea typeface="黑体-简" panose="02000000000000000000" charset="-122"/>
              </a:endParaRPr>
            </a:p>
          </p:txBody>
        </p:sp>
      </p:grpSp>
      <p:grpSp>
        <p:nvGrpSpPr>
          <p:cNvPr id="54" name="组合 53"/>
          <p:cNvGrpSpPr/>
          <p:nvPr/>
        </p:nvGrpSpPr>
        <p:grpSpPr>
          <a:xfrm>
            <a:off x="765810" y="5067300"/>
            <a:ext cx="685800" cy="254000"/>
            <a:chOff x="2045" y="5877"/>
            <a:chExt cx="1080" cy="400"/>
          </a:xfrm>
        </p:grpSpPr>
        <p:sp>
          <p:nvSpPr>
            <p:cNvPr id="95" name="ndr-c2"/>
            <p:cNvSpPr/>
            <p:nvPr/>
          </p:nvSpPr>
          <p:spPr>
            <a:xfrm>
              <a:off x="2045" y="5877"/>
              <a:ext cx="1080" cy="400"/>
            </a:xfrm>
            <a:prstGeom prst="roundRect">
              <a:avLst>
                <a:gd name="adj" fmla="val 12000"/>
              </a:avLst>
            </a:prstGeom>
            <a:solidFill>
              <a:srgbClr val="FFFFFF"/>
            </a:solidFill>
            <a:ln w="12700">
              <a:solidFill>
                <a:srgbClr val="EDF0F5"/>
              </a:solidFill>
            </a:ln>
          </p:spPr>
        </p:sp>
        <p:sp>
          <p:nvSpPr>
            <p:cNvPr id="96" name="ndr-c2-t"/>
            <p:cNvSpPr txBox="1"/>
            <p:nvPr/>
          </p:nvSpPr>
          <p:spPr>
            <a:xfrm>
              <a:off x="2045" y="5877"/>
              <a:ext cx="1080" cy="400"/>
            </a:xfrm>
            <a:prstGeom prst="rect">
              <a:avLst/>
            </a:prstGeom>
            <a:noFill/>
            <a:ln>
              <a:noFill/>
            </a:ln>
          </p:spPr>
          <p:txBody>
            <a:bodyPr wrap="none" lIns="0" tIns="0" rIns="0" bIns="0" rtlCol="0" anchor="ctr"/>
            <a:lstStyle/>
            <a:p>
              <a:pPr algn="ctr">
                <a:lnSpc>
                  <a:spcPct val="120000"/>
                </a:lnSpc>
              </a:pPr>
              <a:r>
                <a:rPr lang="en-US" sz="850" b="1" noProof="1">
                  <a:solidFill>
                    <a:srgbClr val="2E6BE6"/>
                  </a:solidFill>
                  <a:latin typeface="Arial" panose="020B0604020202020204" pitchFamily="34" charset="0"/>
                  <a:ea typeface="黑体-简" panose="02000000000000000000" charset="-122"/>
                </a:rPr>
                <a:t>●</a:t>
              </a:r>
              <a:r>
                <a:rPr lang="en-US" sz="850" b="1" noProof="1">
                  <a:solidFill>
                    <a:srgbClr val="1F2D3D"/>
                  </a:solidFill>
                  <a:latin typeface="Arial" panose="020B0604020202020204" pitchFamily="34" charset="0"/>
                  <a:ea typeface="黑体-简" panose="02000000000000000000" charset="-122"/>
                </a:rPr>
                <a:t> STA </a:t>
              </a:r>
              <a:endParaRPr lang="en-US" sz="850" b="1" noProof="1">
                <a:solidFill>
                  <a:srgbClr val="1F2D3D"/>
                </a:solidFill>
                <a:latin typeface="Arial" panose="020B0604020202020204" pitchFamily="34" charset="0"/>
                <a:ea typeface="黑体-简" panose="02000000000000000000" charset="-122"/>
              </a:endParaRPr>
            </a:p>
          </p:txBody>
        </p:sp>
      </p:grpSp>
      <p:grpSp>
        <p:nvGrpSpPr>
          <p:cNvPr id="56" name="组合 55"/>
          <p:cNvGrpSpPr/>
          <p:nvPr/>
        </p:nvGrpSpPr>
        <p:grpSpPr>
          <a:xfrm>
            <a:off x="1687195" y="4747895"/>
            <a:ext cx="690880" cy="254000"/>
            <a:chOff x="1024" y="7596"/>
            <a:chExt cx="1088" cy="400"/>
          </a:xfrm>
        </p:grpSpPr>
        <p:sp>
          <p:nvSpPr>
            <p:cNvPr id="122" name="edr-c1"/>
            <p:cNvSpPr/>
            <p:nvPr/>
          </p:nvSpPr>
          <p:spPr>
            <a:xfrm>
              <a:off x="1032" y="7596"/>
              <a:ext cx="1080" cy="400"/>
            </a:xfrm>
            <a:prstGeom prst="roundRect">
              <a:avLst>
                <a:gd name="adj" fmla="val 12000"/>
              </a:avLst>
            </a:prstGeom>
            <a:solidFill>
              <a:srgbClr val="FFFFFF"/>
            </a:solidFill>
            <a:ln w="12700">
              <a:solidFill>
                <a:srgbClr val="EDF0F5"/>
              </a:solidFill>
            </a:ln>
          </p:spPr>
        </p:sp>
        <p:sp>
          <p:nvSpPr>
            <p:cNvPr id="123" name="edr-c1-t"/>
            <p:cNvSpPr txBox="1"/>
            <p:nvPr/>
          </p:nvSpPr>
          <p:spPr>
            <a:xfrm>
              <a:off x="1024" y="7596"/>
              <a:ext cx="1080" cy="400"/>
            </a:xfrm>
            <a:prstGeom prst="rect">
              <a:avLst/>
            </a:prstGeom>
            <a:noFill/>
            <a:ln>
              <a:noFill/>
            </a:ln>
          </p:spPr>
          <p:txBody>
            <a:bodyPr wrap="none" lIns="0" tIns="0" rIns="0" bIns="0" rtlCol="0" anchor="ctr"/>
            <a:lstStyle/>
            <a:p>
              <a:pPr algn="l">
                <a:lnSpc>
                  <a:spcPct val="120000"/>
                </a:lnSpc>
              </a:pPr>
              <a:r>
                <a:rPr lang="en-US" sz="850" b="1" noProof="1">
                  <a:solidFill>
                    <a:srgbClr val="29C193"/>
                  </a:solidFill>
                  <a:latin typeface="Arial" panose="020B0604020202020204" pitchFamily="34" charset="0"/>
                  <a:ea typeface="黑体-简" panose="02000000000000000000" charset="-122"/>
                </a:rPr>
                <a:t>    </a:t>
              </a:r>
              <a:r>
                <a:rPr lang="en-US" sz="850" b="1">
                  <a:solidFill>
                    <a:srgbClr val="29C193"/>
                  </a:solidFill>
                  <a:latin typeface="Arial" panose="020B0604020202020204" pitchFamily="34" charset="0"/>
                  <a:ea typeface="黑体-简" panose="02000000000000000000" charset="-122"/>
                  <a:sym typeface="+mn-ea"/>
                </a:rPr>
                <a:t>●</a:t>
              </a:r>
              <a:r>
                <a:rPr lang="en-US" sz="850" b="1" noProof="1">
                  <a:solidFill>
                    <a:srgbClr val="1F2D3D"/>
                  </a:solidFill>
                  <a:latin typeface="Arial" panose="020B0604020202020204" pitchFamily="34" charset="0"/>
                  <a:ea typeface="黑体-简" panose="02000000000000000000" charset="-122"/>
                </a:rPr>
                <a:t> AES </a:t>
              </a:r>
              <a:endParaRPr lang="en-US" altLang="zh-CN" sz="850" b="1" noProof="1">
                <a:solidFill>
                  <a:srgbClr val="1F2D3D"/>
                </a:solidFill>
                <a:highlight>
                  <a:srgbClr val="FFFF00"/>
                </a:highlight>
                <a:latin typeface="Arial" panose="020B0604020202020204" pitchFamily="34" charset="0"/>
                <a:ea typeface="黑体-简" panose="02000000000000000000" charset="-122"/>
              </a:endParaRPr>
            </a:p>
          </p:txBody>
        </p:sp>
      </p:grpSp>
      <p:grpSp>
        <p:nvGrpSpPr>
          <p:cNvPr id="57" name="组合 56"/>
          <p:cNvGrpSpPr/>
          <p:nvPr/>
        </p:nvGrpSpPr>
        <p:grpSpPr>
          <a:xfrm>
            <a:off x="765810" y="3274695"/>
            <a:ext cx="685800" cy="254000"/>
            <a:chOff x="1032" y="5356"/>
            <a:chExt cx="1080" cy="400"/>
          </a:xfrm>
        </p:grpSpPr>
        <p:sp>
          <p:nvSpPr>
            <p:cNvPr id="100" name="ndr-c4"/>
            <p:cNvSpPr/>
            <p:nvPr/>
          </p:nvSpPr>
          <p:spPr>
            <a:xfrm>
              <a:off x="1032" y="5356"/>
              <a:ext cx="1080" cy="400"/>
            </a:xfrm>
            <a:prstGeom prst="roundRect">
              <a:avLst>
                <a:gd name="adj" fmla="val 12000"/>
              </a:avLst>
            </a:prstGeom>
            <a:solidFill>
              <a:srgbClr val="FFFFFF"/>
            </a:solidFill>
            <a:ln w="12700">
              <a:solidFill>
                <a:srgbClr val="EDF0F5"/>
              </a:solidFill>
            </a:ln>
          </p:spPr>
        </p:sp>
        <p:sp>
          <p:nvSpPr>
            <p:cNvPr id="101" name="ndr-c4-t"/>
            <p:cNvSpPr txBox="1"/>
            <p:nvPr/>
          </p:nvSpPr>
          <p:spPr>
            <a:xfrm>
              <a:off x="1032" y="5356"/>
              <a:ext cx="1080" cy="400"/>
            </a:xfrm>
            <a:prstGeom prst="rect">
              <a:avLst/>
            </a:prstGeom>
            <a:noFill/>
            <a:ln>
              <a:noFill/>
            </a:ln>
          </p:spPr>
          <p:txBody>
            <a:bodyPr wrap="none" lIns="0" tIns="0" rIns="0" bIns="0" rtlCol="0" anchor="ctr"/>
            <a:lstStyle/>
            <a:p>
              <a:pPr algn="ctr">
                <a:lnSpc>
                  <a:spcPct val="120000"/>
                </a:lnSpc>
              </a:pPr>
              <a:r>
                <a:rPr lang="en-US" sz="850" b="1" noProof="1">
                  <a:solidFill>
                    <a:srgbClr val="F26D5F"/>
                  </a:solidFill>
                  <a:latin typeface="Arial" panose="020B0604020202020204" pitchFamily="34" charset="0"/>
                  <a:ea typeface="黑体-简" panose="02000000000000000000" charset="-122"/>
                </a:rPr>
                <a:t>●</a:t>
              </a:r>
              <a:r>
                <a:rPr lang="en-US" sz="850" b="1" noProof="1">
                  <a:solidFill>
                    <a:srgbClr val="1F2D3D"/>
                  </a:solidFill>
                  <a:latin typeface="Arial" panose="020B0604020202020204" pitchFamily="34" charset="0"/>
                  <a:ea typeface="黑体-简" panose="02000000000000000000" charset="-122"/>
                </a:rPr>
                <a:t> APT</a:t>
              </a:r>
              <a:endParaRPr lang="en-US" sz="850" b="1" noProof="1">
                <a:solidFill>
                  <a:srgbClr val="1F2D3D"/>
                </a:solidFill>
                <a:latin typeface="Arial" panose="020B0604020202020204" pitchFamily="34" charset="0"/>
                <a:ea typeface="黑体-简" panose="02000000000000000000" charset="-122"/>
              </a:endParaRPr>
            </a:p>
          </p:txBody>
        </p:sp>
      </p:grpSp>
      <p:grpSp>
        <p:nvGrpSpPr>
          <p:cNvPr id="58" name="组合 57"/>
          <p:cNvGrpSpPr/>
          <p:nvPr/>
        </p:nvGrpSpPr>
        <p:grpSpPr>
          <a:xfrm>
            <a:off x="1451610" y="3708400"/>
            <a:ext cx="685800" cy="254000"/>
            <a:chOff x="2192" y="5356"/>
            <a:chExt cx="1080" cy="400"/>
          </a:xfrm>
        </p:grpSpPr>
        <p:sp>
          <p:nvSpPr>
            <p:cNvPr id="102" name="ndr-c5"/>
            <p:cNvSpPr/>
            <p:nvPr/>
          </p:nvSpPr>
          <p:spPr>
            <a:xfrm>
              <a:off x="2192" y="5356"/>
              <a:ext cx="1080" cy="400"/>
            </a:xfrm>
            <a:prstGeom prst="roundRect">
              <a:avLst>
                <a:gd name="adj" fmla="val 12000"/>
              </a:avLst>
            </a:prstGeom>
            <a:solidFill>
              <a:srgbClr val="FFFFFF"/>
            </a:solidFill>
            <a:ln w="12700">
              <a:solidFill>
                <a:srgbClr val="EDF0F5"/>
              </a:solidFill>
            </a:ln>
          </p:spPr>
        </p:sp>
        <p:sp>
          <p:nvSpPr>
            <p:cNvPr id="103" name="ndr-c5-t"/>
            <p:cNvSpPr txBox="1"/>
            <p:nvPr/>
          </p:nvSpPr>
          <p:spPr>
            <a:xfrm>
              <a:off x="2192" y="5356"/>
              <a:ext cx="1080" cy="400"/>
            </a:xfrm>
            <a:prstGeom prst="rect">
              <a:avLst/>
            </a:prstGeom>
            <a:noFill/>
            <a:ln>
              <a:noFill/>
            </a:ln>
          </p:spPr>
          <p:txBody>
            <a:bodyPr wrap="none" lIns="0" tIns="0" rIns="0" bIns="0" rtlCol="0" anchor="ctr"/>
            <a:lstStyle/>
            <a:p>
              <a:pPr algn="ctr">
                <a:lnSpc>
                  <a:spcPct val="120000"/>
                </a:lnSpc>
              </a:pPr>
              <a:r>
                <a:rPr lang="en-US" sz="850" b="1" noProof="1">
                  <a:solidFill>
                    <a:srgbClr val="F26D5F"/>
                  </a:solidFill>
                  <a:latin typeface="Arial" panose="020B0604020202020204" pitchFamily="34" charset="0"/>
                  <a:ea typeface="黑体-简" panose="02000000000000000000" charset="-122"/>
                </a:rPr>
                <a:t>●</a:t>
              </a:r>
              <a:r>
                <a:rPr lang="en-US" sz="850" b="1" noProof="1">
                  <a:solidFill>
                    <a:srgbClr val="1F2D3D"/>
                  </a:solidFill>
                  <a:latin typeface="Arial" panose="020B0604020202020204" pitchFamily="34" charset="0"/>
                  <a:ea typeface="黑体-简" panose="02000000000000000000" charset="-122"/>
                </a:rPr>
                <a:t> </a:t>
              </a:r>
              <a:r>
                <a:rPr lang="zh-CN" altLang="en-US" sz="850" b="1" noProof="1">
                  <a:solidFill>
                    <a:srgbClr val="1F2D3D"/>
                  </a:solidFill>
                  <a:latin typeface="Arial" panose="020B0604020202020204" pitchFamily="34" charset="0"/>
                  <a:ea typeface="黑体-简" panose="02000000000000000000" charset="-122"/>
                </a:rPr>
                <a:t>天擎</a:t>
              </a:r>
              <a:endParaRPr lang="zh-CN" altLang="en-US" sz="850" b="1" noProof="1">
                <a:solidFill>
                  <a:srgbClr val="1F2D3D"/>
                </a:solidFill>
                <a:latin typeface="Arial" panose="020B0604020202020204" pitchFamily="34" charset="0"/>
                <a:ea typeface="黑体-简" panose="02000000000000000000"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logo"/>
          <p:cNvPicPr/>
          <p:nvPr/>
        </p:nvPicPr>
        <p:blipFill>
          <a:blip r:embed="rId3"/>
          <a:stretch>
            <a:fillRect/>
          </a:stretch>
        </p:blipFill>
        <p:spPr>
          <a:xfrm>
            <a:off x="10490200" y="215900"/>
            <a:ext cx="1524000" cy="304800"/>
          </a:xfrm>
          <a:prstGeom prst="rect">
            <a:avLst/>
          </a:prstGeom>
          <a:ln>
            <a:noFill/>
          </a:ln>
        </p:spPr>
      </p:pic>
      <p:sp>
        <p:nvSpPr>
          <p:cNvPr id="6" name="c1-bg"/>
          <p:cNvSpPr/>
          <p:nvPr/>
        </p:nvSpPr>
        <p:spPr>
          <a:xfrm>
            <a:off x="406400" y="1193800"/>
            <a:ext cx="3759200" cy="1371600"/>
          </a:xfrm>
          <a:prstGeom prst="roundRect">
            <a:avLst>
              <a:gd name="adj" fmla="val 6000"/>
            </a:avLst>
          </a:prstGeom>
          <a:solidFill>
            <a:srgbClr val="FFFFFF"/>
          </a:solidFill>
          <a:ln w="12700">
            <a:solidFill>
              <a:srgbClr val="EDF0F5"/>
            </a:solidFill>
          </a:ln>
        </p:spPr>
      </p:sp>
      <p:sp>
        <p:nvSpPr>
          <p:cNvPr id="7" name="c1-icbg"/>
          <p:cNvSpPr/>
          <p:nvPr/>
        </p:nvSpPr>
        <p:spPr>
          <a:xfrm>
            <a:off x="609600" y="1422400"/>
            <a:ext cx="482600" cy="482600"/>
          </a:xfrm>
          <a:prstGeom prst="ellipse">
            <a:avLst/>
          </a:prstGeom>
          <a:solidFill>
            <a:srgbClr val="E3EDFF"/>
          </a:solidFill>
          <a:ln>
            <a:noFill/>
          </a:ln>
        </p:spPr>
      </p:sp>
      <p:sp>
        <p:nvSpPr>
          <p:cNvPr id="8" name="c1-icon"/>
          <p:cNvSpPr/>
          <p:nvPr/>
        </p:nvSpPr>
        <p:spPr>
          <a:xfrm>
            <a:off x="736600" y="1549400"/>
            <a:ext cx="228600" cy="228600"/>
          </a:xfrm>
          <a:custGeom>
            <a:avLst/>
            <a:gdLst/>
            <a:ahLst/>
            <a:cxnLst/>
            <a:rect l="l" t="t" r="r" b="b"/>
            <a:pathLst>
              <a:path w="576" h="512">
                <a:moveTo>
                  <a:pt x="96" y="0"/>
                </a:moveTo>
                <a:cubicBezTo>
                  <a:pt x="61" y="0"/>
                  <a:pt x="32" y="29"/>
                  <a:pt x="32" y="64"/>
                </a:cubicBezTo>
                <a:lnTo>
                  <a:pt x="32" y="448"/>
                </a:lnTo>
                <a:cubicBezTo>
                  <a:pt x="32" y="483"/>
                  <a:pt x="61" y="512"/>
                  <a:pt x="96" y="512"/>
                </a:cubicBezTo>
                <a:lnTo>
                  <a:pt x="276" y="512"/>
                </a:lnTo>
                <a:cubicBezTo>
                  <a:pt x="253" y="481"/>
                  <a:pt x="240" y="442"/>
                  <a:pt x="240" y="400"/>
                </a:cubicBezTo>
                <a:cubicBezTo>
                  <a:pt x="240" y="299"/>
                  <a:pt x="317" y="217"/>
                  <a:pt x="416" y="209"/>
                </a:cubicBezTo>
                <a:lnTo>
                  <a:pt x="416" y="171"/>
                </a:lnTo>
                <a:cubicBezTo>
                  <a:pt x="416" y="154"/>
                  <a:pt x="409" y="137"/>
                  <a:pt x="397" y="125"/>
                </a:cubicBezTo>
                <a:lnTo>
                  <a:pt x="291" y="19"/>
                </a:lnTo>
                <a:cubicBezTo>
                  <a:pt x="279" y="7"/>
                  <a:pt x="263" y="0"/>
                  <a:pt x="246" y="0"/>
                </a:cubicBezTo>
                <a:lnTo>
                  <a:pt x="96" y="0"/>
                </a:lnTo>
                <a:close/>
                <a:moveTo>
                  <a:pt x="358" y="176"/>
                </a:moveTo>
                <a:lnTo>
                  <a:pt x="264" y="176"/>
                </a:lnTo>
                <a:cubicBezTo>
                  <a:pt x="251" y="176"/>
                  <a:pt x="240" y="165"/>
                  <a:pt x="240" y="152"/>
                </a:cubicBezTo>
                <a:lnTo>
                  <a:pt x="240" y="59"/>
                </a:lnTo>
                <a:lnTo>
                  <a:pt x="358" y="176"/>
                </a:lnTo>
                <a:close/>
              </a:path>
              <a:path w="576" h="512">
                <a:moveTo>
                  <a:pt x="576" y="400"/>
                </a:moveTo>
                <a:cubicBezTo>
                  <a:pt x="576" y="320"/>
                  <a:pt x="512" y="256"/>
                  <a:pt x="432" y="256"/>
                </a:cubicBezTo>
                <a:cubicBezTo>
                  <a:pt x="352" y="256"/>
                  <a:pt x="288" y="320"/>
                  <a:pt x="288" y="400"/>
                </a:cubicBezTo>
                <a:cubicBezTo>
                  <a:pt x="288" y="480"/>
                  <a:pt x="352" y="544"/>
                  <a:pt x="432" y="544"/>
                </a:cubicBezTo>
                <a:cubicBezTo>
                  <a:pt x="512" y="544"/>
                  <a:pt x="576" y="480"/>
                  <a:pt x="576" y="400"/>
                </a:cubicBezTo>
                <a:close/>
                <a:moveTo>
                  <a:pt x="489" y="339"/>
                </a:moveTo>
                <a:cubicBezTo>
                  <a:pt x="497" y="344"/>
                  <a:pt x="498" y="354"/>
                  <a:pt x="493" y="361"/>
                </a:cubicBezTo>
                <a:lnTo>
                  <a:pt x="429" y="449"/>
                </a:lnTo>
                <a:cubicBezTo>
                  <a:pt x="426" y="453"/>
                  <a:pt x="422" y="456"/>
                  <a:pt x="417" y="456"/>
                </a:cubicBezTo>
                <a:cubicBezTo>
                  <a:pt x="413" y="456"/>
                  <a:pt x="408" y="455"/>
                  <a:pt x="405" y="451"/>
                </a:cubicBezTo>
                <a:lnTo>
                  <a:pt x="365" y="411"/>
                </a:lnTo>
                <a:cubicBezTo>
                  <a:pt x="358" y="405"/>
                  <a:pt x="358" y="395"/>
                  <a:pt x="365" y="389"/>
                </a:cubicBezTo>
                <a:cubicBezTo>
                  <a:pt x="371" y="382"/>
                  <a:pt x="381" y="383"/>
                  <a:pt x="387" y="389"/>
                </a:cubicBezTo>
                <a:lnTo>
                  <a:pt x="414" y="416"/>
                </a:lnTo>
                <a:lnTo>
                  <a:pt x="467" y="343"/>
                </a:lnTo>
                <a:cubicBezTo>
                  <a:pt x="472" y="336"/>
                  <a:pt x="482" y="334"/>
                  <a:pt x="489" y="339"/>
                </a:cubicBezTo>
                <a:close/>
              </a:path>
            </a:pathLst>
          </a:custGeom>
          <a:solidFill>
            <a:srgbClr val="2E6BE6"/>
          </a:solidFill>
          <a:ln>
            <a:noFill/>
          </a:ln>
        </p:spPr>
      </p:sp>
      <p:sp>
        <p:nvSpPr>
          <p:cNvPr id="9" name="c1-label"/>
          <p:cNvSpPr txBox="1"/>
          <p:nvPr/>
        </p:nvSpPr>
        <p:spPr>
          <a:xfrm>
            <a:off x="1219200" y="1422400"/>
            <a:ext cx="1143000" cy="177800"/>
          </a:xfrm>
          <a:prstGeom prst="rect">
            <a:avLst/>
          </a:prstGeom>
          <a:noFill/>
          <a:ln>
            <a:noFill/>
          </a:ln>
        </p:spPr>
        <p:txBody>
          <a:bodyPr wrap="none" lIns="0" tIns="0" rIns="0" bIns="0" rtlCol="0" anchor="ctr"/>
          <a:lstStyle/>
          <a:p>
            <a:pPr algn="l">
              <a:lnSpc>
                <a:spcPct val="120000"/>
              </a:lnSpc>
            </a:pPr>
            <a:r>
              <a:rPr lang="en-US" sz="950" noProof="1">
                <a:solidFill>
                  <a:srgbClr val="8A94A6"/>
                </a:solidFill>
                <a:latin typeface="Arial" panose="020B0604020202020204" pitchFamily="34" charset="0"/>
                <a:ea typeface="黑体-简" panose="02000000000000000000" charset="-122"/>
              </a:rPr>
              <a:t>启用预案</a:t>
            </a:r>
            <a:endParaRPr lang="en-US" sz="950" noProof="1">
              <a:solidFill>
                <a:srgbClr val="8A94A6"/>
              </a:solidFill>
              <a:latin typeface="Arial" panose="020B0604020202020204" pitchFamily="34" charset="0"/>
              <a:ea typeface="黑体-简" panose="02000000000000000000" charset="-122"/>
            </a:endParaRPr>
          </a:p>
        </p:txBody>
      </p:sp>
      <p:sp>
        <p:nvSpPr>
          <p:cNvPr id="10" name="c1-num"/>
          <p:cNvSpPr txBox="1"/>
          <p:nvPr/>
        </p:nvSpPr>
        <p:spPr>
          <a:xfrm>
            <a:off x="1219200" y="1625600"/>
            <a:ext cx="1143000" cy="355600"/>
          </a:xfrm>
          <a:prstGeom prst="rect">
            <a:avLst/>
          </a:prstGeom>
          <a:noFill/>
          <a:ln>
            <a:noFill/>
          </a:ln>
        </p:spPr>
        <p:txBody>
          <a:bodyPr wrap="none" lIns="0" tIns="0" rIns="0" bIns="0" rtlCol="0" anchor="ctr">
            <a:noAutofit/>
          </a:bodyPr>
          <a:lstStyle/>
          <a:p>
            <a:pPr lvl="0" algn="l">
              <a:lnSpc>
                <a:spcPct val="120000"/>
              </a:lnSpc>
              <a:buClrTx/>
              <a:buSzTx/>
              <a:buFontTx/>
            </a:pPr>
            <a:r>
              <a:rPr lang="en-US" sz="2100" b="1">
                <a:solidFill>
                  <a:srgbClr val="1F2D3D"/>
                </a:solidFill>
                <a:latin typeface="Arial Black" panose="020B0A04020102020204" pitchFamily="34" charset="0"/>
                <a:ea typeface="微软雅黑" panose="020B0503020204020204" charset="-122"/>
                <a:sym typeface="+mn-ea"/>
              </a:rPr>
              <a:t>「37-1」</a:t>
            </a:r>
            <a:endParaRPr lang="en-US" sz="2100" b="1">
              <a:solidFill>
                <a:srgbClr val="1F2D3D"/>
              </a:solidFill>
              <a:latin typeface="Arial Black" panose="020B0A04020102020204" pitchFamily="34" charset="0"/>
              <a:ea typeface="微软雅黑" panose="020B0503020204020204" charset="-122"/>
              <a:sym typeface="+mn-ea"/>
            </a:endParaRPr>
          </a:p>
        </p:txBody>
      </p:sp>
      <p:sp>
        <p:nvSpPr>
          <p:cNvPr id="11" name="c1-r1"/>
          <p:cNvSpPr txBox="1"/>
          <p:nvPr/>
        </p:nvSpPr>
        <p:spPr>
          <a:xfrm>
            <a:off x="2489200" y="1346200"/>
            <a:ext cx="1574800" cy="1651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Arial Black" panose="020B0A04020102020204" pitchFamily="34" charset="0"/>
                <a:ea typeface="微软雅黑" panose="020B0503020204020204" charset="-122"/>
              </a:rPr>
              <a:t>自动执行</a:t>
            </a:r>
            <a:endParaRPr lang="en-US" sz="800" noProof="1">
              <a:solidFill>
                <a:srgbClr val="8A94A6"/>
              </a:solidFill>
              <a:latin typeface="Arial Black" panose="020B0A04020102020204" pitchFamily="34" charset="0"/>
              <a:ea typeface="微软雅黑" panose="020B0503020204020204" charset="-122"/>
            </a:endParaRPr>
          </a:p>
        </p:txBody>
      </p:sp>
      <p:sp>
        <p:nvSpPr>
          <p:cNvPr id="12" name="c1-r1n"/>
          <p:cNvSpPr txBox="1"/>
          <p:nvPr/>
        </p:nvSpPr>
        <p:spPr>
          <a:xfrm>
            <a:off x="3149600" y="1320800"/>
            <a:ext cx="914400" cy="190500"/>
          </a:xfrm>
          <a:prstGeom prst="rect">
            <a:avLst/>
          </a:prstGeom>
          <a:noFill/>
          <a:ln>
            <a:noFill/>
          </a:ln>
        </p:spPr>
        <p:txBody>
          <a:bodyPr wrap="none" lIns="0" tIns="0" rIns="0" bIns="0" rtlCol="0" anchor="ctr"/>
          <a:lstStyle/>
          <a:p>
            <a:pPr algn="r">
              <a:lnSpc>
                <a:spcPct val="120000"/>
              </a:lnSpc>
            </a:pPr>
            <a:r>
              <a:rPr lang="zh-CN" altLang="en-US" sz="1050" b="1" noProof="1">
                <a:solidFill>
                  <a:srgbClr val="1F2D3D"/>
                </a:solidFill>
                <a:latin typeface="Arial Black" panose="020B0A04020102020204" pitchFamily="34" charset="0"/>
                <a:ea typeface="微软雅黑" panose="020B0503020204020204" charset="-122"/>
              </a:rPr>
              <a:t>「</a:t>
            </a:r>
            <a:r>
              <a:rPr lang="en-US" altLang="zh-CN" sz="1050" b="1" noProof="1">
                <a:solidFill>
                  <a:srgbClr val="1F2D3D"/>
                </a:solidFill>
                <a:latin typeface="Arial Black" panose="020B0A04020102020204" pitchFamily="34" charset="0"/>
                <a:ea typeface="微软雅黑" panose="020B0503020204020204" charset="-122"/>
              </a:rPr>
              <a:t>37-1-1</a:t>
            </a:r>
            <a:r>
              <a:rPr lang="zh-CN" altLang="en-US" sz="1050" b="1" noProof="1">
                <a:solidFill>
                  <a:srgbClr val="1F2D3D"/>
                </a:solidFill>
                <a:latin typeface="Arial Black" panose="020B0A04020102020204" pitchFamily="34" charset="0"/>
                <a:ea typeface="微软雅黑" panose="020B0503020204020204" charset="-122"/>
              </a:rPr>
              <a:t>」</a:t>
            </a:r>
            <a:endParaRPr lang="zh-CN" altLang="en-US" sz="1050" b="1" noProof="1">
              <a:solidFill>
                <a:srgbClr val="1F2D3D"/>
              </a:solidFill>
              <a:latin typeface="Arial Black" panose="020B0A04020102020204" pitchFamily="34" charset="0"/>
              <a:ea typeface="微软雅黑" panose="020B0503020204020204" charset="-122"/>
            </a:endParaRPr>
          </a:p>
        </p:txBody>
      </p:sp>
      <p:sp>
        <p:nvSpPr>
          <p:cNvPr id="13" name="c1-r2"/>
          <p:cNvSpPr txBox="1"/>
          <p:nvPr/>
        </p:nvSpPr>
        <p:spPr>
          <a:xfrm>
            <a:off x="2489200" y="1625600"/>
            <a:ext cx="1574800" cy="165100"/>
          </a:xfrm>
          <a:prstGeom prst="rect">
            <a:avLst/>
          </a:prstGeom>
          <a:noFill/>
          <a:ln>
            <a:noFill/>
          </a:ln>
        </p:spPr>
        <p:txBody>
          <a:bodyPr wrap="none" lIns="0" tIns="0" rIns="0" bIns="0" rtlCol="0" anchor="ctr"/>
          <a:lstStyle/>
          <a:p>
            <a:pPr algn="l">
              <a:lnSpc>
                <a:spcPct val="120000"/>
              </a:lnSpc>
            </a:pPr>
            <a:r>
              <a:rPr lang="en-US" sz="800" noProof="1">
                <a:solidFill>
                  <a:srgbClr val="F5A623"/>
                </a:solidFill>
                <a:latin typeface="Arial" panose="020B0604020202020204" pitchFamily="34" charset="0"/>
                <a:ea typeface="黑体-简" panose="02000000000000000000" charset="-122"/>
              </a:rPr>
              <a:t>|</a:t>
            </a:r>
            <a:r>
              <a:rPr lang="en-US" sz="800" noProof="1">
                <a:solidFill>
                  <a:srgbClr val="8A94A6"/>
                </a:solidFill>
                <a:latin typeface="Arial" panose="020B0604020202020204" pitchFamily="34" charset="0"/>
                <a:ea typeface="黑体-简" panose="02000000000000000000" charset="-122"/>
              </a:rPr>
              <a:t> 长期未触发</a:t>
            </a:r>
            <a:endParaRPr lang="en-US" sz="800" noProof="1">
              <a:latin typeface="Arial" panose="020B0604020202020204" pitchFamily="34" charset="0"/>
              <a:ea typeface="黑体-简" panose="02000000000000000000" charset="-122"/>
            </a:endParaRPr>
          </a:p>
        </p:txBody>
      </p:sp>
      <p:sp>
        <p:nvSpPr>
          <p:cNvPr id="14" name="c1-r2n"/>
          <p:cNvSpPr txBox="1"/>
          <p:nvPr/>
        </p:nvSpPr>
        <p:spPr>
          <a:xfrm>
            <a:off x="3149600" y="1600200"/>
            <a:ext cx="914400" cy="190500"/>
          </a:xfrm>
          <a:prstGeom prst="rect">
            <a:avLst/>
          </a:prstGeom>
          <a:noFill/>
          <a:ln>
            <a:noFill/>
          </a:ln>
        </p:spPr>
        <p:txBody>
          <a:bodyPr wrap="none" lIns="0" tIns="0" rIns="0" bIns="0" rtlCol="0" anchor="ctr"/>
          <a:lstStyle/>
          <a:p>
            <a:pPr algn="r">
              <a:lnSpc>
                <a:spcPct val="120000"/>
              </a:lnSpc>
            </a:pPr>
            <a:r>
              <a:rPr lang="zh-CN" altLang="en-US" sz="900" noProof="1">
                <a:solidFill>
                  <a:srgbClr val="1F2D3D"/>
                </a:solidFill>
                <a:latin typeface="Arial" panose="020B0604020202020204" pitchFamily="34" charset="0"/>
                <a:ea typeface="黑体-简" panose="02000000000000000000" charset="-122"/>
              </a:rPr>
              <a:t>「</a:t>
            </a:r>
            <a:r>
              <a:rPr lang="en-US" altLang="zh-CN" sz="900" noProof="1">
                <a:solidFill>
                  <a:srgbClr val="1F2D3D"/>
                </a:solidFill>
                <a:latin typeface="Arial" panose="020B0604020202020204" pitchFamily="34" charset="0"/>
                <a:ea typeface="黑体-简" panose="02000000000000000000" charset="-122"/>
              </a:rPr>
              <a:t>37-1-2</a:t>
            </a:r>
            <a:r>
              <a:rPr lang="zh-CN" altLang="en-US" sz="900" noProof="1">
                <a:solidFill>
                  <a:srgbClr val="1F2D3D"/>
                </a:solidFill>
                <a:latin typeface="Arial" panose="020B0604020202020204" pitchFamily="34" charset="0"/>
                <a:ea typeface="黑体-简" panose="02000000000000000000" charset="-122"/>
              </a:rPr>
              <a:t>」</a:t>
            </a:r>
            <a:endParaRPr lang="zh-CN" altLang="en-US" sz="900" noProof="1">
              <a:solidFill>
                <a:srgbClr val="1F2D3D"/>
              </a:solidFill>
              <a:latin typeface="Arial" panose="020B0604020202020204" pitchFamily="34" charset="0"/>
              <a:ea typeface="黑体-简" panose="02000000000000000000" charset="-122"/>
            </a:endParaRPr>
          </a:p>
        </p:txBody>
      </p:sp>
      <p:sp>
        <p:nvSpPr>
          <p:cNvPr id="15" name="c1-r3"/>
          <p:cNvSpPr txBox="1"/>
          <p:nvPr/>
        </p:nvSpPr>
        <p:spPr>
          <a:xfrm>
            <a:off x="2489200" y="1905000"/>
            <a:ext cx="1574800" cy="1651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Arial" panose="020B0604020202020204" pitchFamily="34" charset="0"/>
                <a:ea typeface="黑体-简" panose="02000000000000000000" charset="-122"/>
              </a:rPr>
              <a:t>手动执行</a:t>
            </a:r>
            <a:endParaRPr lang="en-US" sz="800" noProof="1">
              <a:solidFill>
                <a:srgbClr val="8A94A6"/>
              </a:solidFill>
              <a:latin typeface="Arial" panose="020B0604020202020204" pitchFamily="34" charset="0"/>
              <a:ea typeface="黑体-简" panose="02000000000000000000" charset="-122"/>
            </a:endParaRPr>
          </a:p>
        </p:txBody>
      </p:sp>
      <p:sp>
        <p:nvSpPr>
          <p:cNvPr id="16" name="c1-r3n"/>
          <p:cNvSpPr txBox="1"/>
          <p:nvPr/>
        </p:nvSpPr>
        <p:spPr>
          <a:xfrm>
            <a:off x="3149600" y="1879600"/>
            <a:ext cx="914400" cy="190500"/>
          </a:xfrm>
          <a:prstGeom prst="rect">
            <a:avLst/>
          </a:prstGeom>
          <a:noFill/>
          <a:ln>
            <a:noFill/>
          </a:ln>
        </p:spPr>
        <p:txBody>
          <a:bodyPr wrap="none" lIns="0" tIns="0" rIns="0" bIns="0" rtlCol="0" anchor="ctr"/>
          <a:lstStyle/>
          <a:p>
            <a:pPr algn="r">
              <a:lnSpc>
                <a:spcPct val="120000"/>
              </a:lnSpc>
            </a:pPr>
            <a:r>
              <a:rPr lang="zh-CN" altLang="en-US" sz="1050" noProof="1">
                <a:latin typeface="Arial" panose="020B0604020202020204" pitchFamily="34" charset="0"/>
                <a:ea typeface="黑体-简" panose="02000000000000000000" charset="-122"/>
              </a:rPr>
              <a:t>「</a:t>
            </a:r>
            <a:r>
              <a:rPr lang="en-US" altLang="zh-CN" sz="1050" noProof="1">
                <a:latin typeface="Arial" panose="020B0604020202020204" pitchFamily="34" charset="0"/>
                <a:ea typeface="黑体-简" panose="02000000000000000000" charset="-122"/>
              </a:rPr>
              <a:t>37-1-3</a:t>
            </a:r>
            <a:r>
              <a:rPr lang="zh-CN" altLang="en-US" sz="1050" noProof="1">
                <a:latin typeface="Arial" panose="020B0604020202020204" pitchFamily="34" charset="0"/>
                <a:ea typeface="黑体-简" panose="02000000000000000000" charset="-122"/>
              </a:rPr>
              <a:t>」</a:t>
            </a:r>
            <a:endParaRPr lang="zh-CN" altLang="en-US" sz="1050" noProof="1">
              <a:latin typeface="Arial" panose="020B0604020202020204" pitchFamily="34" charset="0"/>
              <a:ea typeface="黑体-简" panose="02000000000000000000" charset="-122"/>
            </a:endParaRPr>
          </a:p>
        </p:txBody>
      </p:sp>
      <p:sp>
        <p:nvSpPr>
          <p:cNvPr id="17" name="c1-r4"/>
          <p:cNvSpPr txBox="1"/>
          <p:nvPr/>
        </p:nvSpPr>
        <p:spPr>
          <a:xfrm>
            <a:off x="2489200" y="2184400"/>
            <a:ext cx="1574800" cy="165100"/>
          </a:xfrm>
          <a:prstGeom prst="rect">
            <a:avLst/>
          </a:prstGeom>
          <a:noFill/>
          <a:ln>
            <a:noFill/>
          </a:ln>
        </p:spPr>
        <p:txBody>
          <a:bodyPr wrap="none" lIns="0" tIns="0" rIns="0" bIns="0" rtlCol="0" anchor="ctr"/>
          <a:lstStyle/>
          <a:p>
            <a:pPr algn="l">
              <a:lnSpc>
                <a:spcPct val="120000"/>
              </a:lnSpc>
            </a:pPr>
            <a:r>
              <a:rPr lang="en-US" sz="800" noProof="1">
                <a:solidFill>
                  <a:srgbClr val="F5A623"/>
                </a:solidFill>
                <a:latin typeface="Arial" panose="020B0604020202020204" pitchFamily="34" charset="0"/>
                <a:ea typeface="黑体-简" panose="02000000000000000000" charset="-122"/>
              </a:rPr>
              <a:t>|</a:t>
            </a:r>
            <a:r>
              <a:rPr lang="en-US" sz="800" noProof="1">
                <a:solidFill>
                  <a:srgbClr val="8A94A6"/>
                </a:solidFill>
                <a:latin typeface="Arial" panose="020B0604020202020204" pitchFamily="34" charset="0"/>
                <a:ea typeface="黑体-简" panose="02000000000000000000" charset="-122"/>
              </a:rPr>
              <a:t> 长期未触发</a:t>
            </a:r>
            <a:endParaRPr lang="en-US" sz="800" noProof="1">
              <a:latin typeface="Arial" panose="020B0604020202020204" pitchFamily="34" charset="0"/>
              <a:ea typeface="黑体-简" panose="02000000000000000000" charset="-122"/>
            </a:endParaRPr>
          </a:p>
        </p:txBody>
      </p:sp>
      <p:sp>
        <p:nvSpPr>
          <p:cNvPr id="18" name="c1-r4n"/>
          <p:cNvSpPr txBox="1"/>
          <p:nvPr/>
        </p:nvSpPr>
        <p:spPr>
          <a:xfrm>
            <a:off x="3149600" y="2159000"/>
            <a:ext cx="914400" cy="190500"/>
          </a:xfrm>
          <a:prstGeom prst="rect">
            <a:avLst/>
          </a:prstGeom>
          <a:noFill/>
          <a:ln>
            <a:noFill/>
          </a:ln>
        </p:spPr>
        <p:txBody>
          <a:bodyPr wrap="none" lIns="0" tIns="0" rIns="0" bIns="0" rtlCol="0" anchor="ctr"/>
          <a:lstStyle/>
          <a:p>
            <a:pPr algn="r">
              <a:lnSpc>
                <a:spcPct val="120000"/>
              </a:lnSpc>
            </a:pPr>
            <a:r>
              <a:rPr lang="zh-CN" altLang="en-US" sz="900" noProof="1">
                <a:solidFill>
                  <a:srgbClr val="1F2D3D"/>
                </a:solidFill>
                <a:latin typeface="Arial" panose="020B0604020202020204" pitchFamily="34" charset="0"/>
                <a:ea typeface="黑体-简" panose="02000000000000000000" charset="-122"/>
              </a:rPr>
              <a:t>「</a:t>
            </a:r>
            <a:r>
              <a:rPr lang="en-US" altLang="zh-CN" sz="900" noProof="1">
                <a:solidFill>
                  <a:srgbClr val="1F2D3D"/>
                </a:solidFill>
                <a:latin typeface="Arial" panose="020B0604020202020204" pitchFamily="34" charset="0"/>
                <a:ea typeface="黑体-简" panose="02000000000000000000" charset="-122"/>
              </a:rPr>
              <a:t>37-1-4</a:t>
            </a:r>
            <a:r>
              <a:rPr lang="zh-CN" altLang="en-US" sz="900" noProof="1">
                <a:solidFill>
                  <a:srgbClr val="1F2D3D"/>
                </a:solidFill>
                <a:latin typeface="Arial" panose="020B0604020202020204" pitchFamily="34" charset="0"/>
                <a:ea typeface="黑体-简" panose="02000000000000000000" charset="-122"/>
              </a:rPr>
              <a:t>」</a:t>
            </a:r>
            <a:endParaRPr lang="zh-CN" altLang="en-US" sz="900" noProof="1">
              <a:solidFill>
                <a:srgbClr val="1F2D3D"/>
              </a:solidFill>
              <a:latin typeface="Arial" panose="020B0604020202020204" pitchFamily="34" charset="0"/>
              <a:ea typeface="黑体-简" panose="02000000000000000000" charset="-122"/>
            </a:endParaRPr>
          </a:p>
        </p:txBody>
      </p:sp>
      <p:sp>
        <p:nvSpPr>
          <p:cNvPr id="19" name="c2-bg"/>
          <p:cNvSpPr/>
          <p:nvPr/>
        </p:nvSpPr>
        <p:spPr>
          <a:xfrm>
            <a:off x="4267200" y="1193800"/>
            <a:ext cx="3759200" cy="1371600"/>
          </a:xfrm>
          <a:prstGeom prst="roundRect">
            <a:avLst>
              <a:gd name="adj" fmla="val 6000"/>
            </a:avLst>
          </a:prstGeom>
          <a:solidFill>
            <a:srgbClr val="FFFFFF"/>
          </a:solidFill>
          <a:ln w="12700">
            <a:solidFill>
              <a:srgbClr val="EDF0F5"/>
            </a:solidFill>
          </a:ln>
        </p:spPr>
      </p:sp>
      <p:sp>
        <p:nvSpPr>
          <p:cNvPr id="20" name="c2-icbg"/>
          <p:cNvSpPr/>
          <p:nvPr/>
        </p:nvSpPr>
        <p:spPr>
          <a:xfrm>
            <a:off x="4470400" y="1422400"/>
            <a:ext cx="482600" cy="482600"/>
          </a:xfrm>
          <a:prstGeom prst="ellipse">
            <a:avLst/>
          </a:prstGeom>
          <a:solidFill>
            <a:srgbClr val="E3EDFF"/>
          </a:solidFill>
          <a:ln>
            <a:noFill/>
          </a:ln>
        </p:spPr>
      </p:sp>
      <p:sp>
        <p:nvSpPr>
          <p:cNvPr id="21" name="c2-icon"/>
          <p:cNvSpPr/>
          <p:nvPr/>
        </p:nvSpPr>
        <p:spPr>
          <a:xfrm>
            <a:off x="4597400" y="1549400"/>
            <a:ext cx="228600" cy="228600"/>
          </a:xfrm>
          <a:custGeom>
            <a:avLst/>
            <a:gdLst/>
            <a:ahLst/>
            <a:cxnLst/>
            <a:rect l="l" t="t" r="r" b="b"/>
            <a:pathLst>
              <a:path w="512" h="512">
                <a:moveTo>
                  <a:pt x="256" y="0"/>
                </a:moveTo>
                <a:cubicBezTo>
                  <a:pt x="261" y="0"/>
                  <a:pt x="265" y="1"/>
                  <a:pt x="269" y="3"/>
                </a:cubicBezTo>
                <a:lnTo>
                  <a:pt x="458" y="83"/>
                </a:lnTo>
                <a:cubicBezTo>
                  <a:pt x="480" y="92"/>
                  <a:pt x="496" y="114"/>
                  <a:pt x="496" y="140"/>
                </a:cubicBezTo>
                <a:cubicBezTo>
                  <a:pt x="496" y="239"/>
                  <a:pt x="455" y="421"/>
                  <a:pt x="283" y="503"/>
                </a:cubicBezTo>
                <a:cubicBezTo>
                  <a:pt x="266" y="511"/>
                  <a:pt x="246" y="511"/>
                  <a:pt x="230" y="503"/>
                </a:cubicBezTo>
                <a:cubicBezTo>
                  <a:pt x="57" y="421"/>
                  <a:pt x="17" y="239"/>
                  <a:pt x="16" y="140"/>
                </a:cubicBezTo>
                <a:cubicBezTo>
                  <a:pt x="16" y="114"/>
                  <a:pt x="32" y="92"/>
                  <a:pt x="54" y="83"/>
                </a:cubicBezTo>
                <a:lnTo>
                  <a:pt x="243" y="3"/>
                </a:lnTo>
                <a:cubicBezTo>
                  <a:pt x="247" y="1"/>
                  <a:pt x="251" y="0"/>
                  <a:pt x="256" y="0"/>
                </a:cubicBezTo>
                <a:close/>
              </a:path>
            </a:pathLst>
          </a:custGeom>
          <a:solidFill>
            <a:srgbClr val="2E6BE6"/>
          </a:solidFill>
          <a:ln>
            <a:noFill/>
          </a:ln>
        </p:spPr>
      </p:sp>
      <p:sp>
        <p:nvSpPr>
          <p:cNvPr id="22" name="c2-label"/>
          <p:cNvSpPr txBox="1"/>
          <p:nvPr/>
        </p:nvSpPr>
        <p:spPr>
          <a:xfrm>
            <a:off x="5080000" y="1422400"/>
            <a:ext cx="1270000" cy="177800"/>
          </a:xfrm>
          <a:prstGeom prst="rect">
            <a:avLst/>
          </a:prstGeom>
          <a:noFill/>
          <a:ln>
            <a:noFill/>
          </a:ln>
        </p:spPr>
        <p:txBody>
          <a:bodyPr wrap="none" lIns="0" tIns="0" rIns="0" bIns="0" rtlCol="0" anchor="ctr"/>
          <a:lstStyle/>
          <a:p>
            <a:pPr algn="l">
              <a:lnSpc>
                <a:spcPct val="120000"/>
              </a:lnSpc>
            </a:pPr>
            <a:r>
              <a:rPr lang="en-US" sz="950" noProof="1">
                <a:solidFill>
                  <a:srgbClr val="8A94A6"/>
                </a:solidFill>
                <a:latin typeface="Arial" panose="020B0604020202020204" pitchFamily="34" charset="0"/>
                <a:ea typeface="黑体-简" panose="02000000000000000000" charset="-122"/>
              </a:rPr>
              <a:t>外部威胁实体</a:t>
            </a:r>
            <a:endParaRPr lang="en-US" sz="950" noProof="1">
              <a:solidFill>
                <a:srgbClr val="8A94A6"/>
              </a:solidFill>
              <a:latin typeface="Arial" panose="020B0604020202020204" pitchFamily="34" charset="0"/>
              <a:ea typeface="黑体-简" panose="02000000000000000000" charset="-122"/>
            </a:endParaRPr>
          </a:p>
        </p:txBody>
      </p:sp>
      <p:sp>
        <p:nvSpPr>
          <p:cNvPr id="23" name="c2-num"/>
          <p:cNvSpPr txBox="1"/>
          <p:nvPr/>
        </p:nvSpPr>
        <p:spPr>
          <a:xfrm>
            <a:off x="5080000" y="1625600"/>
            <a:ext cx="1143000" cy="355600"/>
          </a:xfrm>
          <a:prstGeom prst="rect">
            <a:avLst/>
          </a:prstGeom>
          <a:noFill/>
          <a:ln>
            <a:noFill/>
          </a:ln>
        </p:spPr>
        <p:txBody>
          <a:bodyPr wrap="none" lIns="0" tIns="0" rIns="0" bIns="0" rtlCol="0" anchor="ctr"/>
          <a:lstStyle/>
          <a:p>
            <a:pPr algn="l">
              <a:lnSpc>
                <a:spcPct val="120000"/>
              </a:lnSpc>
            </a:pPr>
            <a:r>
              <a:rPr lang="zh-CN" altLang="en-US" sz="2100" b="1" noProof="1">
                <a:solidFill>
                  <a:srgbClr val="1F2D3D"/>
                </a:solidFill>
                <a:latin typeface="Arial" panose="020B0604020202020204" pitchFamily="34" charset="0"/>
                <a:ea typeface="黑体-简" panose="02000000000000000000" charset="-122"/>
              </a:rPr>
              <a:t>「</a:t>
            </a:r>
            <a:r>
              <a:rPr lang="en-US" altLang="zh-CN" sz="2100" b="1" noProof="1">
                <a:solidFill>
                  <a:srgbClr val="1F2D3D"/>
                </a:solidFill>
                <a:latin typeface="Arial" panose="020B0604020202020204" pitchFamily="34" charset="0"/>
                <a:ea typeface="黑体-简" panose="02000000000000000000" charset="-122"/>
              </a:rPr>
              <a:t>37-2</a:t>
            </a:r>
            <a:r>
              <a:rPr lang="zh-CN" altLang="en-US" sz="2100" b="1" noProof="1">
                <a:solidFill>
                  <a:srgbClr val="1F2D3D"/>
                </a:solidFill>
                <a:latin typeface="Arial" panose="020B0604020202020204" pitchFamily="34" charset="0"/>
                <a:ea typeface="黑体-简" panose="02000000000000000000" charset="-122"/>
              </a:rPr>
              <a:t>」</a:t>
            </a:r>
            <a:endParaRPr lang="zh-CN" altLang="en-US" sz="2100" b="1" noProof="1">
              <a:solidFill>
                <a:srgbClr val="1F2D3D"/>
              </a:solidFill>
              <a:latin typeface="Arial" panose="020B0604020202020204" pitchFamily="34" charset="0"/>
              <a:ea typeface="黑体-简" panose="02000000000000000000" charset="-122"/>
            </a:endParaRPr>
          </a:p>
        </p:txBody>
      </p:sp>
      <p:sp>
        <p:nvSpPr>
          <p:cNvPr id="24" name="c2-r1"/>
          <p:cNvSpPr txBox="1"/>
          <p:nvPr/>
        </p:nvSpPr>
        <p:spPr>
          <a:xfrm>
            <a:off x="6350000" y="1422400"/>
            <a:ext cx="1574800" cy="1651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Arial" panose="020B0604020202020204" pitchFamily="34" charset="0"/>
                <a:ea typeface="黑体-简" panose="02000000000000000000" charset="-122"/>
              </a:rPr>
              <a:t>建议封禁</a:t>
            </a:r>
            <a:endParaRPr lang="en-US" sz="800" noProof="1">
              <a:solidFill>
                <a:srgbClr val="8A94A6"/>
              </a:solidFill>
              <a:latin typeface="Arial" panose="020B0604020202020204" pitchFamily="34" charset="0"/>
              <a:ea typeface="黑体-简" panose="02000000000000000000" charset="-122"/>
            </a:endParaRPr>
          </a:p>
        </p:txBody>
      </p:sp>
      <p:sp>
        <p:nvSpPr>
          <p:cNvPr id="25" name="c2-r1n"/>
          <p:cNvSpPr txBox="1"/>
          <p:nvPr/>
        </p:nvSpPr>
        <p:spPr>
          <a:xfrm>
            <a:off x="7010400" y="1397000"/>
            <a:ext cx="914400" cy="190500"/>
          </a:xfrm>
          <a:prstGeom prst="rect">
            <a:avLst/>
          </a:prstGeom>
          <a:noFill/>
          <a:ln>
            <a:noFill/>
          </a:ln>
        </p:spPr>
        <p:txBody>
          <a:bodyPr wrap="none" lIns="0" tIns="0" rIns="0" bIns="0" rtlCol="0" anchor="ctr"/>
          <a:lstStyle/>
          <a:p>
            <a:pPr algn="r">
              <a:lnSpc>
                <a:spcPct val="120000"/>
              </a:lnSpc>
            </a:pPr>
            <a:r>
              <a:rPr lang="zh-CN" altLang="en-US" sz="1050" b="1" noProof="1">
                <a:solidFill>
                  <a:srgbClr val="1F2D3D"/>
                </a:solidFill>
                <a:latin typeface="Arial" panose="020B0604020202020204" pitchFamily="34" charset="0"/>
                <a:ea typeface="黑体-简" panose="02000000000000000000" charset="-122"/>
              </a:rPr>
              <a:t>「</a:t>
            </a:r>
            <a:r>
              <a:rPr lang="en-US" altLang="zh-CN" sz="1050" b="1" noProof="1">
                <a:solidFill>
                  <a:srgbClr val="1F2D3D"/>
                </a:solidFill>
                <a:latin typeface="Arial" panose="020B0604020202020204" pitchFamily="34" charset="0"/>
                <a:ea typeface="黑体-简" panose="02000000000000000000" charset="-122"/>
              </a:rPr>
              <a:t>37-2-1</a:t>
            </a:r>
            <a:r>
              <a:rPr lang="zh-CN" altLang="en-US" sz="1050" b="1" noProof="1">
                <a:solidFill>
                  <a:srgbClr val="1F2D3D"/>
                </a:solidFill>
                <a:latin typeface="Arial" panose="020B0604020202020204" pitchFamily="34" charset="0"/>
                <a:ea typeface="黑体-简" panose="02000000000000000000" charset="-122"/>
              </a:rPr>
              <a:t>」</a:t>
            </a:r>
            <a:endParaRPr lang="zh-CN" altLang="en-US" sz="1050" b="1" noProof="1">
              <a:solidFill>
                <a:srgbClr val="1F2D3D"/>
              </a:solidFill>
              <a:latin typeface="Arial" panose="020B0604020202020204" pitchFamily="34" charset="0"/>
              <a:ea typeface="黑体-简" panose="02000000000000000000" charset="-122"/>
            </a:endParaRPr>
          </a:p>
        </p:txBody>
      </p:sp>
      <p:sp>
        <p:nvSpPr>
          <p:cNvPr id="26" name="c2-r2"/>
          <p:cNvSpPr txBox="1"/>
          <p:nvPr/>
        </p:nvSpPr>
        <p:spPr>
          <a:xfrm>
            <a:off x="6350000" y="1752600"/>
            <a:ext cx="1574800" cy="1651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Arial Black" panose="020B0A04020102020204" pitchFamily="34" charset="0"/>
                <a:ea typeface="微软雅黑" panose="020B0503020204020204" charset="-122"/>
              </a:rPr>
              <a:t>建议放行</a:t>
            </a:r>
            <a:endParaRPr lang="en-US" sz="800" noProof="1">
              <a:solidFill>
                <a:srgbClr val="8A94A6"/>
              </a:solidFill>
              <a:latin typeface="Arial Black" panose="020B0A04020102020204" pitchFamily="34" charset="0"/>
              <a:ea typeface="微软雅黑" panose="020B0503020204020204" charset="-122"/>
            </a:endParaRPr>
          </a:p>
        </p:txBody>
      </p:sp>
      <p:sp>
        <p:nvSpPr>
          <p:cNvPr id="27" name="c2-r2n"/>
          <p:cNvSpPr txBox="1"/>
          <p:nvPr/>
        </p:nvSpPr>
        <p:spPr>
          <a:xfrm>
            <a:off x="7010400" y="1727200"/>
            <a:ext cx="914400" cy="190500"/>
          </a:xfrm>
          <a:prstGeom prst="rect">
            <a:avLst/>
          </a:prstGeom>
          <a:noFill/>
          <a:ln>
            <a:noFill/>
          </a:ln>
        </p:spPr>
        <p:txBody>
          <a:bodyPr wrap="none" lIns="0" tIns="0" rIns="0" bIns="0" rtlCol="0" anchor="ctr"/>
          <a:lstStyle/>
          <a:p>
            <a:pPr algn="r">
              <a:lnSpc>
                <a:spcPct val="120000"/>
              </a:lnSpc>
            </a:pPr>
            <a:r>
              <a:rPr lang="zh-CN" altLang="en-US" sz="1050" b="1" noProof="1">
                <a:solidFill>
                  <a:srgbClr val="1F2D3D"/>
                </a:solidFill>
                <a:latin typeface="Arial" panose="020B0604020202020204" pitchFamily="34" charset="0"/>
                <a:ea typeface="黑体-简" panose="02000000000000000000" charset="-122"/>
              </a:rPr>
              <a:t>「</a:t>
            </a:r>
            <a:r>
              <a:rPr lang="en-US" sz="1050" b="1" noProof="1">
                <a:solidFill>
                  <a:srgbClr val="1F2D3D"/>
                </a:solidFill>
                <a:latin typeface="Arial" panose="020B0604020202020204" pitchFamily="34" charset="0"/>
                <a:ea typeface="黑体-简" panose="02000000000000000000" charset="-122"/>
              </a:rPr>
              <a:t>37-2-2</a:t>
            </a:r>
            <a:r>
              <a:rPr lang="zh-CN" altLang="en-US" sz="1050" b="1" noProof="1">
                <a:solidFill>
                  <a:srgbClr val="1F2D3D"/>
                </a:solidFill>
                <a:latin typeface="Arial" panose="020B0604020202020204" pitchFamily="34" charset="0"/>
                <a:ea typeface="黑体-简" panose="02000000000000000000" charset="-122"/>
              </a:rPr>
              <a:t>」</a:t>
            </a:r>
            <a:endParaRPr lang="zh-CN" altLang="en-US" sz="1050" b="1" noProof="1">
              <a:solidFill>
                <a:srgbClr val="1F2D3D"/>
              </a:solidFill>
              <a:latin typeface="Arial" panose="020B0604020202020204" pitchFamily="34" charset="0"/>
              <a:ea typeface="黑体-简" panose="02000000000000000000" charset="-122"/>
            </a:endParaRPr>
          </a:p>
        </p:txBody>
      </p:sp>
      <p:sp>
        <p:nvSpPr>
          <p:cNvPr id="28" name="c2-r3"/>
          <p:cNvSpPr txBox="1"/>
          <p:nvPr/>
        </p:nvSpPr>
        <p:spPr>
          <a:xfrm>
            <a:off x="6350000" y="2082800"/>
            <a:ext cx="1574800" cy="1651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Arial" panose="020B0604020202020204" pitchFamily="34" charset="0"/>
                <a:ea typeface="黑体-简" panose="02000000000000000000" charset="-122"/>
              </a:rPr>
              <a:t>观察中/人工介入</a:t>
            </a:r>
            <a:endParaRPr lang="en-US" sz="800" noProof="1">
              <a:solidFill>
                <a:srgbClr val="8A94A6"/>
              </a:solidFill>
              <a:latin typeface="Arial" panose="020B0604020202020204" pitchFamily="34" charset="0"/>
              <a:ea typeface="黑体-简" panose="02000000000000000000" charset="-122"/>
            </a:endParaRPr>
          </a:p>
        </p:txBody>
      </p:sp>
      <p:sp>
        <p:nvSpPr>
          <p:cNvPr id="29" name="c2-r3n"/>
          <p:cNvSpPr txBox="1"/>
          <p:nvPr/>
        </p:nvSpPr>
        <p:spPr>
          <a:xfrm>
            <a:off x="7010400" y="2057400"/>
            <a:ext cx="914400" cy="190500"/>
          </a:xfrm>
          <a:prstGeom prst="rect">
            <a:avLst/>
          </a:prstGeom>
          <a:noFill/>
          <a:ln>
            <a:noFill/>
          </a:ln>
        </p:spPr>
        <p:txBody>
          <a:bodyPr wrap="none" lIns="0" tIns="0" rIns="0" bIns="0" rtlCol="0" anchor="ctr"/>
          <a:lstStyle/>
          <a:p>
            <a:pPr algn="r">
              <a:lnSpc>
                <a:spcPct val="120000"/>
              </a:lnSpc>
            </a:pPr>
            <a:r>
              <a:rPr lang="zh-CN" altLang="en-US" sz="1050" b="1" noProof="1">
                <a:solidFill>
                  <a:srgbClr val="1F2D3D"/>
                </a:solidFill>
                <a:latin typeface="Arial" panose="020B0604020202020204" pitchFamily="34" charset="0"/>
                <a:ea typeface="黑体-简" panose="02000000000000000000" charset="-122"/>
              </a:rPr>
              <a:t>「</a:t>
            </a:r>
            <a:r>
              <a:rPr lang="en-US" altLang="zh-CN" sz="1050" b="1" noProof="1">
                <a:solidFill>
                  <a:srgbClr val="1F2D3D"/>
                </a:solidFill>
                <a:latin typeface="Arial" panose="020B0604020202020204" pitchFamily="34" charset="0"/>
                <a:ea typeface="黑体-简" panose="02000000000000000000" charset="-122"/>
              </a:rPr>
              <a:t>37-2-3</a:t>
            </a:r>
            <a:r>
              <a:rPr lang="zh-CN" altLang="en-US" sz="1050" b="1" noProof="1">
                <a:solidFill>
                  <a:srgbClr val="1F2D3D"/>
                </a:solidFill>
                <a:latin typeface="Arial" panose="020B0604020202020204" pitchFamily="34" charset="0"/>
                <a:ea typeface="黑体-简" panose="02000000000000000000" charset="-122"/>
              </a:rPr>
              <a:t>」</a:t>
            </a:r>
            <a:endParaRPr lang="zh-CN" altLang="en-US" sz="1050" b="1" noProof="1">
              <a:solidFill>
                <a:srgbClr val="1F2D3D"/>
              </a:solidFill>
              <a:latin typeface="Arial" panose="020B0604020202020204" pitchFamily="34" charset="0"/>
              <a:ea typeface="黑体-简" panose="02000000000000000000" charset="-122"/>
            </a:endParaRPr>
          </a:p>
        </p:txBody>
      </p:sp>
      <p:sp>
        <p:nvSpPr>
          <p:cNvPr id="30" name="c3-bg"/>
          <p:cNvSpPr/>
          <p:nvPr/>
        </p:nvSpPr>
        <p:spPr>
          <a:xfrm>
            <a:off x="8128000" y="1193800"/>
            <a:ext cx="3759200" cy="1371600"/>
          </a:xfrm>
          <a:prstGeom prst="roundRect">
            <a:avLst>
              <a:gd name="adj" fmla="val 6000"/>
            </a:avLst>
          </a:prstGeom>
          <a:solidFill>
            <a:srgbClr val="FFFFFF"/>
          </a:solidFill>
          <a:ln w="12700">
            <a:solidFill>
              <a:srgbClr val="EDF0F5"/>
            </a:solidFill>
          </a:ln>
        </p:spPr>
      </p:sp>
      <p:sp>
        <p:nvSpPr>
          <p:cNvPr id="31" name="c3-icbg"/>
          <p:cNvSpPr/>
          <p:nvPr/>
        </p:nvSpPr>
        <p:spPr>
          <a:xfrm>
            <a:off x="8331200" y="1422400"/>
            <a:ext cx="482600" cy="482600"/>
          </a:xfrm>
          <a:prstGeom prst="ellipse">
            <a:avLst/>
          </a:prstGeom>
          <a:solidFill>
            <a:srgbClr val="E3EDFF"/>
          </a:solidFill>
          <a:ln>
            <a:noFill/>
          </a:ln>
        </p:spPr>
      </p:sp>
      <p:sp>
        <p:nvSpPr>
          <p:cNvPr id="32" name="c3-icon"/>
          <p:cNvSpPr/>
          <p:nvPr/>
        </p:nvSpPr>
        <p:spPr>
          <a:xfrm>
            <a:off x="8458200" y="1549400"/>
            <a:ext cx="228600" cy="228600"/>
          </a:xfrm>
          <a:custGeom>
            <a:avLst/>
            <a:gdLst/>
            <a:ahLst/>
            <a:cxnLst/>
            <a:rect l="l" t="t" r="r" b="b"/>
            <a:pathLst>
              <a:path w="576" h="512">
                <a:moveTo>
                  <a:pt x="224" y="248"/>
                </a:moveTo>
                <a:cubicBezTo>
                  <a:pt x="290" y="248"/>
                  <a:pt x="344" y="194"/>
                  <a:pt x="344" y="128"/>
                </a:cubicBezTo>
                <a:cubicBezTo>
                  <a:pt x="344" y="62"/>
                  <a:pt x="290" y="8"/>
                  <a:pt x="224" y="8"/>
                </a:cubicBezTo>
                <a:cubicBezTo>
                  <a:pt x="158" y="8"/>
                  <a:pt x="104" y="62"/>
                  <a:pt x="104" y="128"/>
                </a:cubicBezTo>
                <a:cubicBezTo>
                  <a:pt x="104" y="194"/>
                  <a:pt x="158" y="248"/>
                  <a:pt x="224" y="248"/>
                </a:cubicBezTo>
                <a:close/>
              </a:path>
              <a:path w="576" h="512">
                <a:moveTo>
                  <a:pt x="194" y="304"/>
                </a:moveTo>
                <a:cubicBezTo>
                  <a:pt x="96" y="304"/>
                  <a:pt x="16" y="384"/>
                  <a:pt x="16" y="482"/>
                </a:cubicBezTo>
                <a:cubicBezTo>
                  <a:pt x="16" y="499"/>
                  <a:pt x="29" y="512"/>
                  <a:pt x="46" y="512"/>
                </a:cubicBezTo>
                <a:lnTo>
                  <a:pt x="297" y="512"/>
                </a:lnTo>
                <a:cubicBezTo>
                  <a:pt x="261" y="469"/>
                  <a:pt x="240" y="415"/>
                  <a:pt x="240" y="356"/>
                </a:cubicBezTo>
                <a:lnTo>
                  <a:pt x="240" y="325"/>
                </a:lnTo>
                <a:cubicBezTo>
                  <a:pt x="240" y="318"/>
                  <a:pt x="241" y="311"/>
                  <a:pt x="243" y="304"/>
                </a:cubicBezTo>
                <a:lnTo>
                  <a:pt x="194" y="304"/>
                </a:lnTo>
                <a:close/>
              </a:path>
              <a:path w="576" h="512">
                <a:moveTo>
                  <a:pt x="422" y="260"/>
                </a:moveTo>
                <a:lnTo>
                  <a:pt x="310" y="297"/>
                </a:lnTo>
                <a:cubicBezTo>
                  <a:pt x="297" y="301"/>
                  <a:pt x="288" y="313"/>
                  <a:pt x="288" y="327"/>
                </a:cubicBezTo>
                <a:lnTo>
                  <a:pt x="288" y="358"/>
                </a:lnTo>
                <a:cubicBezTo>
                  <a:pt x="288" y="433"/>
                  <a:pt x="331" y="500"/>
                  <a:pt x="398" y="532"/>
                </a:cubicBezTo>
                <a:lnTo>
                  <a:pt x="417" y="541"/>
                </a:lnTo>
                <a:cubicBezTo>
                  <a:pt x="422" y="543"/>
                  <a:pt x="427" y="544"/>
                  <a:pt x="432" y="544"/>
                </a:cubicBezTo>
                <a:cubicBezTo>
                  <a:pt x="437" y="544"/>
                  <a:pt x="442" y="543"/>
                  <a:pt x="447" y="541"/>
                </a:cubicBezTo>
                <a:lnTo>
                  <a:pt x="466" y="532"/>
                </a:lnTo>
                <a:cubicBezTo>
                  <a:pt x="533" y="500"/>
                  <a:pt x="576" y="433"/>
                  <a:pt x="576" y="358"/>
                </a:cubicBezTo>
                <a:lnTo>
                  <a:pt x="576" y="327"/>
                </a:lnTo>
                <a:cubicBezTo>
                  <a:pt x="576" y="313"/>
                  <a:pt x="567" y="301"/>
                  <a:pt x="554" y="297"/>
                </a:cubicBezTo>
                <a:lnTo>
                  <a:pt x="442" y="259"/>
                </a:lnTo>
                <a:cubicBezTo>
                  <a:pt x="436" y="257"/>
                  <a:pt x="428" y="257"/>
                  <a:pt x="422" y="259"/>
                </a:cubicBezTo>
                <a:close/>
                <a:moveTo>
                  <a:pt x="445" y="489"/>
                </a:moveTo>
                <a:lnTo>
                  <a:pt x="432" y="495"/>
                </a:lnTo>
                <a:lnTo>
                  <a:pt x="432" y="307"/>
                </a:lnTo>
                <a:lnTo>
                  <a:pt x="528" y="339"/>
                </a:lnTo>
                <a:lnTo>
                  <a:pt x="528" y="358"/>
                </a:lnTo>
                <a:cubicBezTo>
                  <a:pt x="528" y="414"/>
                  <a:pt x="496" y="465"/>
                  <a:pt x="445" y="489"/>
                </a:cubicBezTo>
                <a:close/>
              </a:path>
            </a:pathLst>
          </a:custGeom>
          <a:solidFill>
            <a:srgbClr val="2E6BE6"/>
          </a:solidFill>
          <a:ln>
            <a:noFill/>
          </a:ln>
        </p:spPr>
      </p:sp>
      <p:sp>
        <p:nvSpPr>
          <p:cNvPr id="33" name="c3-label"/>
          <p:cNvSpPr txBox="1"/>
          <p:nvPr/>
        </p:nvSpPr>
        <p:spPr>
          <a:xfrm>
            <a:off x="8940800" y="1422400"/>
            <a:ext cx="1270000" cy="177800"/>
          </a:xfrm>
          <a:prstGeom prst="rect">
            <a:avLst/>
          </a:prstGeom>
          <a:noFill/>
          <a:ln>
            <a:noFill/>
          </a:ln>
        </p:spPr>
        <p:txBody>
          <a:bodyPr wrap="none" lIns="0" tIns="0" rIns="0" bIns="0" rtlCol="0" anchor="ctr"/>
          <a:lstStyle/>
          <a:p>
            <a:pPr algn="l">
              <a:lnSpc>
                <a:spcPct val="120000"/>
              </a:lnSpc>
            </a:pPr>
            <a:r>
              <a:rPr lang="en-US" sz="950" noProof="1">
                <a:solidFill>
                  <a:srgbClr val="8A94A6"/>
                </a:solidFill>
                <a:latin typeface="Arial" panose="020B0604020202020204" pitchFamily="34" charset="0"/>
                <a:ea typeface="黑体-简" panose="02000000000000000000" charset="-122"/>
              </a:rPr>
              <a:t>自动封禁次数</a:t>
            </a:r>
            <a:endParaRPr lang="en-US" sz="950" noProof="1">
              <a:solidFill>
                <a:srgbClr val="8A94A6"/>
              </a:solidFill>
              <a:latin typeface="Arial" panose="020B0604020202020204" pitchFamily="34" charset="0"/>
              <a:ea typeface="黑体-简" panose="02000000000000000000" charset="-122"/>
            </a:endParaRPr>
          </a:p>
        </p:txBody>
      </p:sp>
      <p:sp>
        <p:nvSpPr>
          <p:cNvPr id="34" name="c3-num"/>
          <p:cNvSpPr txBox="1"/>
          <p:nvPr/>
        </p:nvSpPr>
        <p:spPr>
          <a:xfrm>
            <a:off x="8940800" y="1625600"/>
            <a:ext cx="1143000" cy="355600"/>
          </a:xfrm>
          <a:prstGeom prst="rect">
            <a:avLst/>
          </a:prstGeom>
          <a:noFill/>
          <a:ln>
            <a:noFill/>
          </a:ln>
        </p:spPr>
        <p:txBody>
          <a:bodyPr wrap="none" lIns="0" tIns="0" rIns="0" bIns="0" rtlCol="0" anchor="ctr"/>
          <a:lstStyle/>
          <a:p>
            <a:pPr algn="l">
              <a:lnSpc>
                <a:spcPct val="120000"/>
              </a:lnSpc>
            </a:pPr>
            <a:r>
              <a:rPr lang="zh-CN" altLang="en-US" sz="2100" b="1" noProof="1">
                <a:solidFill>
                  <a:srgbClr val="1F2D3D"/>
                </a:solidFill>
                <a:latin typeface="Arial" panose="020B0604020202020204" pitchFamily="34" charset="0"/>
                <a:ea typeface="黑体-简" panose="02000000000000000000" charset="-122"/>
              </a:rPr>
              <a:t>「</a:t>
            </a:r>
            <a:r>
              <a:rPr lang="en-US" altLang="zh-CN" sz="2100" b="1" noProof="1">
                <a:solidFill>
                  <a:srgbClr val="1F2D3D"/>
                </a:solidFill>
                <a:latin typeface="Arial" panose="020B0604020202020204" pitchFamily="34" charset="0"/>
                <a:ea typeface="黑体-简" panose="02000000000000000000" charset="-122"/>
              </a:rPr>
              <a:t>37-3</a:t>
            </a:r>
            <a:r>
              <a:rPr lang="zh-CN" altLang="en-US" sz="2100" b="1" noProof="1">
                <a:solidFill>
                  <a:srgbClr val="1F2D3D"/>
                </a:solidFill>
                <a:latin typeface="Arial" panose="020B0604020202020204" pitchFamily="34" charset="0"/>
                <a:ea typeface="黑体-简" panose="02000000000000000000" charset="-122"/>
              </a:rPr>
              <a:t>」</a:t>
            </a:r>
            <a:endParaRPr lang="zh-CN" altLang="en-US" sz="2100" b="1" noProof="1">
              <a:solidFill>
                <a:srgbClr val="1F2D3D"/>
              </a:solidFill>
              <a:latin typeface="Arial" panose="020B0604020202020204" pitchFamily="34" charset="0"/>
              <a:ea typeface="黑体-简" panose="02000000000000000000" charset="-122"/>
            </a:endParaRPr>
          </a:p>
        </p:txBody>
      </p:sp>
      <p:sp>
        <p:nvSpPr>
          <p:cNvPr id="35" name="c3-r1"/>
          <p:cNvSpPr txBox="1"/>
          <p:nvPr/>
        </p:nvSpPr>
        <p:spPr>
          <a:xfrm>
            <a:off x="10210800" y="1346200"/>
            <a:ext cx="1574800" cy="1651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Arial" panose="020B0604020202020204" pitchFamily="34" charset="0"/>
                <a:ea typeface="黑体-简" panose="02000000000000000000" charset="-122"/>
              </a:rPr>
              <a:t>封禁实体明细</a:t>
            </a:r>
            <a:endParaRPr lang="en-US" sz="800" noProof="1">
              <a:solidFill>
                <a:srgbClr val="8A94A6"/>
              </a:solidFill>
              <a:latin typeface="Arial" panose="020B0604020202020204" pitchFamily="34" charset="0"/>
              <a:ea typeface="黑体-简" panose="02000000000000000000" charset="-122"/>
            </a:endParaRPr>
          </a:p>
        </p:txBody>
      </p:sp>
      <p:sp>
        <p:nvSpPr>
          <p:cNvPr id="36" name="c3-r1n"/>
          <p:cNvSpPr txBox="1"/>
          <p:nvPr/>
        </p:nvSpPr>
        <p:spPr>
          <a:xfrm>
            <a:off x="10871200" y="1320800"/>
            <a:ext cx="914400" cy="190500"/>
          </a:xfrm>
          <a:prstGeom prst="rect">
            <a:avLst/>
          </a:prstGeom>
          <a:noFill/>
          <a:ln>
            <a:noFill/>
          </a:ln>
        </p:spPr>
        <p:txBody>
          <a:bodyPr wrap="none" lIns="0" tIns="0" rIns="0" bIns="0" rtlCol="0" anchor="ctr"/>
          <a:lstStyle/>
          <a:p>
            <a:pPr algn="r">
              <a:lnSpc>
                <a:spcPct val="120000"/>
              </a:lnSpc>
            </a:pPr>
            <a:r>
              <a:rPr lang="zh-CN" altLang="en-US" sz="1050" b="1" noProof="1">
                <a:solidFill>
                  <a:srgbClr val="1F2D3D"/>
                </a:solidFill>
                <a:latin typeface="MiSans"/>
                <a:ea typeface="宋体" panose="02010600030101010101" pitchFamily="2" charset="-122"/>
              </a:rPr>
              <a:t>「</a:t>
            </a:r>
            <a:r>
              <a:rPr lang="en-US" altLang="zh-CN" sz="1050" b="1" noProof="1">
                <a:solidFill>
                  <a:srgbClr val="1F2D3D"/>
                </a:solidFill>
                <a:latin typeface="MiSans"/>
                <a:ea typeface="宋体" panose="02010600030101010101" pitchFamily="2" charset="-122"/>
              </a:rPr>
              <a:t>37-3-1</a:t>
            </a:r>
            <a:r>
              <a:rPr lang="zh-CN" altLang="en-US" sz="1050" b="1" noProof="1">
                <a:solidFill>
                  <a:srgbClr val="1F2D3D"/>
                </a:solidFill>
                <a:latin typeface="MiSans"/>
                <a:ea typeface="宋体" panose="02010600030101010101" pitchFamily="2" charset="-122"/>
              </a:rPr>
              <a:t>」</a:t>
            </a:r>
            <a:endParaRPr lang="zh-CN" altLang="en-US" sz="1050" b="1" noProof="1">
              <a:solidFill>
                <a:srgbClr val="1F2D3D"/>
              </a:solidFill>
              <a:latin typeface="MiSans"/>
              <a:ea typeface="宋体" panose="02010600030101010101" pitchFamily="2" charset="-122"/>
            </a:endParaRPr>
          </a:p>
        </p:txBody>
      </p:sp>
      <p:sp>
        <p:nvSpPr>
          <p:cNvPr id="37" name="c3-r2"/>
          <p:cNvSpPr txBox="1"/>
          <p:nvPr/>
        </p:nvSpPr>
        <p:spPr>
          <a:xfrm>
            <a:off x="10210800" y="1676400"/>
            <a:ext cx="1574800" cy="1651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Arial Black" panose="020B0A04020102020204" pitchFamily="34" charset="0"/>
                <a:ea typeface="微软雅黑" panose="020B0503020204020204" charset="-122"/>
              </a:rPr>
              <a:t>封禁IP</a:t>
            </a:r>
            <a:endParaRPr lang="en-US" sz="800" noProof="1">
              <a:solidFill>
                <a:srgbClr val="8A94A6"/>
              </a:solidFill>
              <a:latin typeface="Arial Black" panose="020B0A04020102020204" pitchFamily="34" charset="0"/>
              <a:ea typeface="微软雅黑" panose="020B0503020204020204" charset="-122"/>
            </a:endParaRPr>
          </a:p>
        </p:txBody>
      </p:sp>
      <p:sp>
        <p:nvSpPr>
          <p:cNvPr id="38" name="c3-r2n"/>
          <p:cNvSpPr txBox="1"/>
          <p:nvPr/>
        </p:nvSpPr>
        <p:spPr>
          <a:xfrm>
            <a:off x="10871200" y="1651000"/>
            <a:ext cx="914400" cy="190500"/>
          </a:xfrm>
          <a:prstGeom prst="rect">
            <a:avLst/>
          </a:prstGeom>
          <a:noFill/>
          <a:ln>
            <a:noFill/>
          </a:ln>
        </p:spPr>
        <p:txBody>
          <a:bodyPr wrap="none" lIns="0" tIns="0" rIns="0" bIns="0" rtlCol="0" anchor="ctr"/>
          <a:lstStyle/>
          <a:p>
            <a:pPr algn="r">
              <a:lnSpc>
                <a:spcPct val="120000"/>
              </a:lnSpc>
            </a:pPr>
            <a:r>
              <a:rPr lang="zh-CN" altLang="en-US" sz="1050" b="1" noProof="1">
                <a:solidFill>
                  <a:srgbClr val="1F2D3D"/>
                </a:solidFill>
                <a:latin typeface="MiSans"/>
                <a:ea typeface="宋体" panose="02010600030101010101" pitchFamily="2" charset="-122"/>
              </a:rPr>
              <a:t>「</a:t>
            </a:r>
            <a:r>
              <a:rPr lang="en-US" altLang="zh-CN" sz="1050" b="1" noProof="1">
                <a:solidFill>
                  <a:srgbClr val="1F2D3D"/>
                </a:solidFill>
                <a:latin typeface="MiSans"/>
                <a:ea typeface="宋体" panose="02010600030101010101" pitchFamily="2" charset="-122"/>
              </a:rPr>
              <a:t>37-3-2</a:t>
            </a:r>
            <a:r>
              <a:rPr lang="zh-CN" altLang="en-US" sz="1050" b="1" noProof="1">
                <a:solidFill>
                  <a:srgbClr val="1F2D3D"/>
                </a:solidFill>
                <a:latin typeface="MiSans"/>
                <a:ea typeface="宋体" panose="02010600030101010101" pitchFamily="2" charset="-122"/>
              </a:rPr>
              <a:t>」</a:t>
            </a:r>
            <a:endParaRPr lang="zh-CN" altLang="en-US" sz="1050" b="1" noProof="1">
              <a:solidFill>
                <a:srgbClr val="1F2D3D"/>
              </a:solidFill>
              <a:latin typeface="MiSans"/>
              <a:ea typeface="宋体" panose="02010600030101010101" pitchFamily="2" charset="-122"/>
            </a:endParaRPr>
          </a:p>
        </p:txBody>
      </p:sp>
      <p:sp>
        <p:nvSpPr>
          <p:cNvPr id="39" name="c3-r3"/>
          <p:cNvSpPr txBox="1"/>
          <p:nvPr/>
        </p:nvSpPr>
        <p:spPr>
          <a:xfrm>
            <a:off x="10210800" y="2006600"/>
            <a:ext cx="1574800" cy="165100"/>
          </a:xfrm>
          <a:prstGeom prst="rect">
            <a:avLst/>
          </a:prstGeom>
          <a:noFill/>
          <a:ln>
            <a:noFill/>
          </a:ln>
        </p:spPr>
        <p:txBody>
          <a:bodyPr wrap="none" lIns="0" tIns="0" rIns="0" bIns="0" rtlCol="0" anchor="ctr"/>
          <a:lstStyle/>
          <a:p>
            <a:pPr algn="l">
              <a:lnSpc>
                <a:spcPct val="120000"/>
              </a:lnSpc>
            </a:pPr>
            <a:r>
              <a:rPr lang="en-US" sz="800" noProof="1">
                <a:solidFill>
                  <a:srgbClr val="8A94A6"/>
                </a:solidFill>
                <a:latin typeface="Arial" panose="020B0604020202020204" pitchFamily="34" charset="0"/>
                <a:ea typeface="黑体-简" panose="02000000000000000000" charset="-122"/>
              </a:rPr>
              <a:t>封禁域名</a:t>
            </a:r>
            <a:endParaRPr lang="en-US" sz="800" noProof="1">
              <a:solidFill>
                <a:srgbClr val="8A94A6"/>
              </a:solidFill>
              <a:latin typeface="Arial" panose="020B0604020202020204" pitchFamily="34" charset="0"/>
              <a:ea typeface="黑体-简" panose="02000000000000000000" charset="-122"/>
            </a:endParaRPr>
          </a:p>
        </p:txBody>
      </p:sp>
      <p:sp>
        <p:nvSpPr>
          <p:cNvPr id="40" name="c3-r3n"/>
          <p:cNvSpPr txBox="1"/>
          <p:nvPr/>
        </p:nvSpPr>
        <p:spPr>
          <a:xfrm>
            <a:off x="10871200" y="1981200"/>
            <a:ext cx="914400" cy="190500"/>
          </a:xfrm>
          <a:prstGeom prst="rect">
            <a:avLst/>
          </a:prstGeom>
          <a:noFill/>
          <a:ln>
            <a:noFill/>
          </a:ln>
        </p:spPr>
        <p:txBody>
          <a:bodyPr wrap="none" lIns="0" tIns="0" rIns="0" bIns="0" rtlCol="0" anchor="ctr"/>
          <a:lstStyle/>
          <a:p>
            <a:pPr algn="r">
              <a:lnSpc>
                <a:spcPct val="120000"/>
              </a:lnSpc>
            </a:pPr>
            <a:r>
              <a:rPr lang="zh-CN" altLang="en-US" sz="1050" b="1" noProof="1">
                <a:solidFill>
                  <a:srgbClr val="1F2D3D"/>
                </a:solidFill>
                <a:latin typeface="MiSans"/>
                <a:ea typeface="宋体" panose="02010600030101010101" pitchFamily="2" charset="-122"/>
              </a:rPr>
              <a:t>「</a:t>
            </a:r>
            <a:r>
              <a:rPr lang="en-US" altLang="zh-CN" sz="1050" b="1" noProof="1">
                <a:solidFill>
                  <a:srgbClr val="1F2D3D"/>
                </a:solidFill>
                <a:latin typeface="MiSans"/>
                <a:ea typeface="宋体" panose="02010600030101010101" pitchFamily="2" charset="-122"/>
              </a:rPr>
              <a:t>37-3-3</a:t>
            </a:r>
            <a:r>
              <a:rPr lang="zh-CN" altLang="en-US" sz="1050" b="1" noProof="1">
                <a:solidFill>
                  <a:srgbClr val="1F2D3D"/>
                </a:solidFill>
                <a:latin typeface="MiSans"/>
                <a:ea typeface="宋体" panose="02010600030101010101" pitchFamily="2" charset="-122"/>
              </a:rPr>
              <a:t>」</a:t>
            </a:r>
            <a:endParaRPr lang="zh-CN" altLang="en-US" sz="1050" b="1" noProof="1">
              <a:solidFill>
                <a:srgbClr val="1F2D3D"/>
              </a:solidFill>
              <a:latin typeface="MiSans"/>
              <a:ea typeface="宋体" panose="02010600030101010101" pitchFamily="2" charset="-122"/>
            </a:endParaRPr>
          </a:p>
        </p:txBody>
      </p:sp>
      <p:sp>
        <p:nvSpPr>
          <p:cNvPr id="41" name="ll-bg"/>
          <p:cNvSpPr/>
          <p:nvPr/>
        </p:nvSpPr>
        <p:spPr>
          <a:xfrm>
            <a:off x="406400" y="2860675"/>
            <a:ext cx="5689600" cy="3616325"/>
          </a:xfrm>
          <a:prstGeom prst="roundRect">
            <a:avLst>
              <a:gd name="adj" fmla="val 4000"/>
            </a:avLst>
          </a:prstGeom>
          <a:solidFill>
            <a:srgbClr val="FFFFFF"/>
          </a:solidFill>
          <a:ln w="12700">
            <a:solidFill>
              <a:srgbClr val="EDF0F5"/>
            </a:solidFill>
          </a:ln>
        </p:spPr>
      </p:sp>
      <p:sp>
        <p:nvSpPr>
          <p:cNvPr id="42" name="ll-title"/>
          <p:cNvSpPr txBox="1"/>
          <p:nvPr/>
        </p:nvSpPr>
        <p:spPr>
          <a:xfrm>
            <a:off x="558800" y="2987675"/>
            <a:ext cx="3302000" cy="203200"/>
          </a:xfrm>
          <a:prstGeom prst="rect">
            <a:avLst/>
          </a:prstGeom>
          <a:noFill/>
          <a:ln>
            <a:noFill/>
          </a:ln>
        </p:spPr>
        <p:txBody>
          <a:bodyPr wrap="none" lIns="0" tIns="0" rIns="0" bIns="0" rtlCol="0" anchor="ctr"/>
          <a:lstStyle/>
          <a:p>
            <a:pPr algn="l">
              <a:lnSpc>
                <a:spcPct val="120000"/>
              </a:lnSpc>
            </a:pPr>
            <a:r>
              <a:rPr lang="en-US" sz="1100" b="1" noProof="1">
                <a:solidFill>
                  <a:srgbClr val="1F2D3D"/>
                </a:solidFill>
                <a:latin typeface="Arial" panose="020B0604020202020204" pitchFamily="34" charset="0"/>
                <a:ea typeface="黑体-简" panose="02000000000000000000" charset="-122"/>
              </a:rPr>
              <a:t>预案自动执行封禁趋势</a:t>
            </a:r>
            <a:endParaRPr lang="en-US" sz="1100" b="1" noProof="1">
              <a:solidFill>
                <a:srgbClr val="1F2D3D"/>
              </a:solidFill>
              <a:latin typeface="Arial" panose="020B0604020202020204" pitchFamily="34" charset="0"/>
              <a:ea typeface="黑体-简" panose="02000000000000000000" charset="-122"/>
            </a:endParaRPr>
          </a:p>
        </p:txBody>
      </p:sp>
      <p:graphicFrame>
        <p:nvGraphicFramePr>
          <p:cNvPr id="43" name="ll-chart"/>
          <p:cNvGraphicFramePr/>
          <p:nvPr/>
        </p:nvGraphicFramePr>
        <p:xfrm>
          <a:off x="457200" y="3316605"/>
          <a:ext cx="5502275" cy="3084195"/>
        </p:xfrm>
        <a:graphic>
          <a:graphicData uri="http://schemas.openxmlformats.org/drawingml/2006/chart">
            <c:chart xmlns:c="http://schemas.openxmlformats.org/drawingml/2006/chart" xmlns:r="http://schemas.openxmlformats.org/officeDocument/2006/relationships" r:id="rId1"/>
          </a:graphicData>
        </a:graphic>
      </p:graphicFrame>
      <p:sp>
        <p:nvSpPr>
          <p:cNvPr id="44" name="rl-bg"/>
          <p:cNvSpPr/>
          <p:nvPr/>
        </p:nvSpPr>
        <p:spPr>
          <a:xfrm>
            <a:off x="6159500" y="2860040"/>
            <a:ext cx="5727065" cy="3616960"/>
          </a:xfrm>
          <a:prstGeom prst="roundRect">
            <a:avLst>
              <a:gd name="adj" fmla="val 4000"/>
            </a:avLst>
          </a:prstGeom>
          <a:solidFill>
            <a:srgbClr val="FFFFFF"/>
          </a:solidFill>
          <a:ln w="12700">
            <a:solidFill>
              <a:srgbClr val="EDF0F5"/>
            </a:solidFill>
          </a:ln>
        </p:spPr>
      </p:sp>
      <p:sp>
        <p:nvSpPr>
          <p:cNvPr id="45" name="rl-title"/>
          <p:cNvSpPr txBox="1"/>
          <p:nvPr/>
        </p:nvSpPr>
        <p:spPr>
          <a:xfrm>
            <a:off x="6311900" y="2987675"/>
            <a:ext cx="3302000" cy="203200"/>
          </a:xfrm>
          <a:prstGeom prst="rect">
            <a:avLst/>
          </a:prstGeom>
          <a:noFill/>
          <a:ln>
            <a:noFill/>
          </a:ln>
        </p:spPr>
        <p:txBody>
          <a:bodyPr wrap="none" lIns="0" tIns="0" rIns="0" bIns="0" rtlCol="0" anchor="ctr"/>
          <a:lstStyle/>
          <a:p>
            <a:pPr algn="l">
              <a:lnSpc>
                <a:spcPct val="120000"/>
              </a:lnSpc>
            </a:pPr>
            <a:r>
              <a:rPr lang="en-US" sz="1100" b="1" noProof="1">
                <a:solidFill>
                  <a:srgbClr val="1F2D3D"/>
                </a:solidFill>
                <a:latin typeface="Arial" panose="020B0604020202020204" pitchFamily="34" charset="0"/>
                <a:ea typeface="黑体-简" panose="02000000000000000000" charset="-122"/>
              </a:rPr>
              <a:t>智能</a:t>
            </a:r>
            <a:r>
              <a:rPr lang="zh-CN" altLang="en-US" sz="1100" b="1" noProof="1">
                <a:solidFill>
                  <a:srgbClr val="1F2D3D"/>
                </a:solidFill>
                <a:latin typeface="Arial" panose="020B0604020202020204" pitchFamily="34" charset="0"/>
                <a:ea typeface="黑体-简" panose="02000000000000000000" charset="-122"/>
              </a:rPr>
              <a:t>响应</a:t>
            </a:r>
            <a:r>
              <a:rPr lang="en-US" sz="1100" b="1" noProof="1">
                <a:solidFill>
                  <a:srgbClr val="1F2D3D"/>
                </a:solidFill>
                <a:latin typeface="Arial" panose="020B0604020202020204" pitchFamily="34" charset="0"/>
                <a:ea typeface="黑体-简" panose="02000000000000000000" charset="-122"/>
              </a:rPr>
              <a:t>执行封禁趋势</a:t>
            </a:r>
            <a:endParaRPr lang="en-US" sz="1100" noProof="1">
              <a:latin typeface="Arial" panose="020B0604020202020204" pitchFamily="34" charset="0"/>
              <a:ea typeface="黑体-简" panose="02000000000000000000" charset="-122"/>
            </a:endParaRPr>
          </a:p>
        </p:txBody>
      </p:sp>
      <p:graphicFrame>
        <p:nvGraphicFramePr>
          <p:cNvPr id="46" name="rl-chart"/>
          <p:cNvGraphicFramePr/>
          <p:nvPr/>
        </p:nvGraphicFramePr>
        <p:xfrm>
          <a:off x="6210300" y="3316605"/>
          <a:ext cx="5574665" cy="3084195"/>
        </p:xfrm>
        <a:graphic>
          <a:graphicData uri="http://schemas.openxmlformats.org/drawingml/2006/chart">
            <c:chart xmlns:c="http://schemas.openxmlformats.org/drawingml/2006/chart" xmlns:r="http://schemas.openxmlformats.org/officeDocument/2006/relationships" r:id="rId2"/>
          </a:graphicData>
        </a:graphic>
      </p:graphicFrame>
      <p:sp>
        <p:nvSpPr>
          <p:cNvPr id="47" name="bottom-bar"/>
          <p:cNvSpPr/>
          <p:nvPr/>
        </p:nvSpPr>
        <p:spPr>
          <a:xfrm>
            <a:off x="0" y="6807200"/>
            <a:ext cx="12192000" cy="50800"/>
          </a:xfrm>
          <a:prstGeom prst="rect">
            <a:avLst/>
          </a:prstGeom>
          <a:gradFill rotWithShape="1">
            <a:gsLst>
              <a:gs pos="0">
                <a:srgbClr val="2E6BE6"/>
              </a:gs>
              <a:gs pos="100000">
                <a:srgbClr val="7ED321"/>
              </a:gs>
            </a:gsLst>
            <a:lin ang="0" scaled="1"/>
          </a:gradFill>
          <a:ln>
            <a:noFill/>
          </a:ln>
        </p:spPr>
      </p:sp>
      <p:grpSp>
        <p:nvGrpSpPr>
          <p:cNvPr id="48" name="组合 47"/>
          <p:cNvGrpSpPr/>
          <p:nvPr/>
        </p:nvGrpSpPr>
        <p:grpSpPr>
          <a:xfrm>
            <a:off x="224790" y="289878"/>
            <a:ext cx="5478145" cy="327025"/>
            <a:chOff x="533" y="646"/>
            <a:chExt cx="8627" cy="515"/>
          </a:xfrm>
        </p:grpSpPr>
        <p:grpSp>
          <p:nvGrpSpPr>
            <p:cNvPr id="49" name="组合 48"/>
            <p:cNvGrpSpPr/>
            <p:nvPr/>
          </p:nvGrpSpPr>
          <p:grpSpPr>
            <a:xfrm rot="0">
              <a:off x="533" y="672"/>
              <a:ext cx="582" cy="420"/>
              <a:chOff x="533" y="672"/>
              <a:chExt cx="582" cy="420"/>
            </a:xfrm>
          </p:grpSpPr>
          <p:sp>
            <p:nvSpPr>
              <p:cNvPr id="50" name="燕尾形 86"/>
              <p:cNvSpPr/>
              <p:nvPr>
                <p:custDataLst>
                  <p:tags r:id="rId4"/>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sp>
            <p:nvSpPr>
              <p:cNvPr id="51" name="燕尾形 103"/>
              <p:cNvSpPr/>
              <p:nvPr>
                <p:custDataLst>
                  <p:tags r:id="rId5"/>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sz="1800">
                  <a:solidFill>
                    <a:srgbClr val="0B4CBB"/>
                  </a:solidFill>
                </a:endParaRPr>
              </a:p>
            </p:txBody>
          </p:sp>
        </p:grpSp>
        <p:sp>
          <p:nvSpPr>
            <p:cNvPr id="52" name="textbox 158"/>
            <p:cNvSpPr/>
            <p:nvPr/>
          </p:nvSpPr>
          <p:spPr>
            <a:xfrm>
              <a:off x="1345" y="646"/>
              <a:ext cx="781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altLang="zh-CN" sz="1900" kern="0" noProof="0" dirty="0">
                  <a:solidFill>
                    <a:srgbClr val="4C61E7"/>
                  </a:solidFill>
                  <a:uLnTx/>
                  <a:latin typeface="Arial Black" panose="020B0A04020102020204" pitchFamily="34" charset="0"/>
                  <a:ea typeface="微软雅黑" panose="020B0503020204020204" charset="-122"/>
                  <a:sym typeface="+mn-ea"/>
                </a:rPr>
                <a:t>7*24H</a:t>
              </a:r>
              <a:r>
                <a:rPr lang="zh-CN" altLang="en-US" sz="1900" kern="0" noProof="0" dirty="0">
                  <a:solidFill>
                    <a:srgbClr val="4C61E7"/>
                  </a:solidFill>
                  <a:uLnTx/>
                  <a:latin typeface="Arial Black" panose="020B0A04020102020204" pitchFamily="34" charset="0"/>
                  <a:ea typeface="微软雅黑" panose="020B0503020204020204" charset="-122"/>
                  <a:sym typeface="+mn-ea"/>
                </a:rPr>
                <a:t>威胁对抗详情</a:t>
              </a:r>
              <a:r>
                <a:rPr lang="zh-CN" altLang="en-US" sz="1900" kern="0" noProof="0" dirty="0">
                  <a:solidFill>
                    <a:srgbClr val="4C61E7"/>
                  </a:solidFill>
                  <a:uLnTx/>
                  <a:latin typeface="Arial Black" panose="020B0A04020102020204" pitchFamily="34" charset="0"/>
                  <a:ea typeface="微软雅黑" panose="020B0503020204020204" charset="-122"/>
                  <a:sym typeface="Calibri" panose="020F0502020204030204" charset="0"/>
                </a:rPr>
                <a:t>-联动响应</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48"/>
          <p:cNvSpPr/>
          <p:nvPr/>
        </p:nvSpPr>
        <p:spPr>
          <a:xfrm>
            <a:off x="647700"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pitchFamily="34" charset="0"/>
              <a:ea typeface="黑体-简" panose="02000000000000000000" charset="-122"/>
              <a:cs typeface="Arial" panose="020B0604020202020204"/>
            </a:endParaRPr>
          </a:p>
          <a:p>
            <a:pPr algn="l" rtl="0" eaLnBrk="0">
              <a:lnSpc>
                <a:spcPct val="101000"/>
              </a:lnSpc>
            </a:pPr>
            <a:r>
              <a:rPr lang="zh-CN" altLang="en-US" sz="1900" dirty="0">
                <a:solidFill>
                  <a:srgbClr val="4C61E7"/>
                </a:solidFill>
                <a:latin typeface="Arial" panose="020B0604020202020204" pitchFamily="34" charset="0"/>
                <a:ea typeface="黑体-简" panose="02000000000000000000" charset="-122"/>
                <a:cs typeface="黑体" panose="02010609060101010101" charset="-122"/>
              </a:rPr>
              <a:t>风险预防工作详情</a:t>
            </a:r>
            <a:endParaRPr lang="zh-CN" altLang="en-US" sz="1900" dirty="0">
              <a:solidFill>
                <a:srgbClr val="4C61E7"/>
              </a:solidFill>
              <a:latin typeface="Arial" panose="020B0604020202020204" pitchFamily="34" charset="0"/>
              <a:ea typeface="黑体-简" panose="02000000000000000000" charset="-122"/>
              <a:cs typeface="黑体" panose="02010609060101010101" charset="-122"/>
            </a:endParaRPr>
          </a:p>
          <a:p>
            <a:pPr algn="l" rtl="0" eaLnBrk="0">
              <a:lnSpc>
                <a:spcPct val="101000"/>
              </a:lnSpc>
            </a:pPr>
            <a:endParaRPr sz="800" dirty="0">
              <a:latin typeface="Arial" panose="020B0604020202020204" pitchFamily="34" charset="0"/>
              <a:ea typeface="黑体-简" panose="02000000000000000000" charset="-122"/>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Arial" panose="020B0604020202020204" pitchFamily="34" charset="0"/>
                <a:ea typeface="黑体-简" panose="02000000000000000000" charset="-122"/>
                <a:cs typeface="黑体" panose="02010609060101010101" charset="-122"/>
                <a:sym typeface="+mn-ea"/>
              </a:rPr>
              <a:t>持续治理业务脆弱性，防范风险于未然</a:t>
            </a:r>
            <a:endParaRPr lang="zh-CN" altLang="en-US" sz="1000" dirty="0">
              <a:solidFill>
                <a:sysClr val="windowText" lastClr="000000"/>
              </a:solidFill>
              <a:latin typeface="Arial" panose="020B0604020202020204" pitchFamily="34" charset="0"/>
              <a:ea typeface="黑体-简" panose="02000000000000000000" charset="-122"/>
              <a:cs typeface="黑体" panose="02010609060101010101" charset="-122"/>
              <a:sym typeface="+mn-ea"/>
            </a:endParaRPr>
          </a:p>
        </p:txBody>
      </p:sp>
      <p:sp>
        <p:nvSpPr>
          <p:cNvPr id="67" name="文本框 66"/>
          <p:cNvSpPr txBox="1"/>
          <p:nvPr/>
        </p:nvSpPr>
        <p:spPr>
          <a:xfrm>
            <a:off x="75819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漏洞优先级梳理</a:t>
            </a:r>
            <a:endPar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grpSp>
        <p:nvGrpSpPr>
          <p:cNvPr id="68" name="组合 67"/>
          <p:cNvGrpSpPr/>
          <p:nvPr>
            <p:custDataLst>
              <p:tags r:id="rId3"/>
            </p:custDataLst>
          </p:nvPr>
        </p:nvGrpSpPr>
        <p:grpSpPr>
          <a:xfrm>
            <a:off x="759127" y="1745375"/>
            <a:ext cx="2744509" cy="399474"/>
            <a:chOff x="3275" y="5404"/>
            <a:chExt cx="8787" cy="1279"/>
          </a:xfrm>
        </p:grpSpPr>
        <p:sp>
          <p:nvSpPr>
            <p:cNvPr id="69" name="圆角矩形 14"/>
            <p:cNvSpPr/>
            <p:nvPr>
              <p:custDataLst>
                <p:tags r:id="rId4"/>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238125" algn="l" rtl="0" eaLnBrk="0">
                <a:lnSpc>
                  <a:spcPct val="100000"/>
                </a:lnSpc>
                <a:spcBef>
                  <a:spcPts val="215"/>
                </a:spcBef>
              </a:pPr>
              <a:r>
                <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rPr>
                <a:t>每季度扫描，优先级排序，提高管理效率</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0" name="圆角矩形 69"/>
            <p:cNvSpPr/>
            <p:nvPr>
              <p:custDataLst>
                <p:tags r:id="rId5"/>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1" name="组合 70"/>
          <p:cNvGrpSpPr/>
          <p:nvPr>
            <p:custDataLst>
              <p:tags r:id="rId6"/>
            </p:custDataLst>
          </p:nvPr>
        </p:nvGrpSpPr>
        <p:grpSpPr>
          <a:xfrm>
            <a:off x="758190" y="2262469"/>
            <a:ext cx="2744509" cy="403984"/>
            <a:chOff x="3275" y="7389"/>
            <a:chExt cx="8787" cy="1293"/>
          </a:xfrm>
        </p:grpSpPr>
        <p:sp>
          <p:nvSpPr>
            <p:cNvPr id="72" name="圆角矩形 14"/>
            <p:cNvSpPr/>
            <p:nvPr>
              <p:custDataLst>
                <p:tags r:id="rId7"/>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0505" algn="l" rtl="0" eaLnBrk="0">
                <a:lnSpc>
                  <a:spcPct val="100000"/>
                </a:lnSpc>
                <a:spcBef>
                  <a:spcPts val="215"/>
                </a:spcBef>
              </a:pPr>
              <a:r>
                <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互联网资产漏洞优先防护，高效降低被利用风险</a:t>
              </a:r>
              <a:endPar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73" name="圆角矩形 72"/>
            <p:cNvSpPr/>
            <p:nvPr>
              <p:custDataLst>
                <p:tags r:id="rId8"/>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4" name="组合 73"/>
          <p:cNvGrpSpPr/>
          <p:nvPr>
            <p:custDataLst>
              <p:tags r:id="rId9"/>
            </p:custDataLst>
          </p:nvPr>
        </p:nvGrpSpPr>
        <p:grpSpPr>
          <a:xfrm>
            <a:off x="759127" y="2784227"/>
            <a:ext cx="2744509" cy="398520"/>
            <a:chOff x="3275" y="9388"/>
            <a:chExt cx="8787" cy="1276"/>
          </a:xfrm>
        </p:grpSpPr>
        <p:sp>
          <p:nvSpPr>
            <p:cNvPr id="78" name="圆角矩形 14"/>
            <p:cNvSpPr/>
            <p:nvPr>
              <p:custDataLst>
                <p:tags r:id="rId10"/>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8125" algn="l" rtl="0" eaLnBrk="0">
                <a:lnSpc>
                  <a:spcPct val="100000"/>
                </a:lnSpc>
                <a:spcBef>
                  <a:spcPts val="215"/>
                </a:spcBef>
              </a:pPr>
              <a:r>
                <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无法防护的可利用漏洞优先修复，精准定位修复对象</a:t>
              </a:r>
              <a:endPar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80" name="圆角矩形 79"/>
            <p:cNvSpPr/>
            <p:nvPr>
              <p:custDataLst>
                <p:tags r:id="rId11"/>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82" name="组合 81"/>
          <p:cNvGrpSpPr/>
          <p:nvPr>
            <p:custDataLst>
              <p:tags r:id="rId12"/>
            </p:custDataLst>
          </p:nvPr>
        </p:nvGrpSpPr>
        <p:grpSpPr>
          <a:xfrm>
            <a:off x="758190" y="3300387"/>
            <a:ext cx="2744509" cy="374916"/>
            <a:chOff x="3275" y="11370"/>
            <a:chExt cx="8787" cy="1200"/>
          </a:xfrm>
        </p:grpSpPr>
        <p:sp>
          <p:nvSpPr>
            <p:cNvPr id="84" name="圆角矩形 14"/>
            <p:cNvSpPr/>
            <p:nvPr>
              <p:custDataLst>
                <p:tags r:id="rId13"/>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1775" algn="l" rtl="0" eaLnBrk="0">
                <a:lnSpc>
                  <a:spcPct val="100000"/>
                </a:lnSpc>
                <a:spcBef>
                  <a:spcPts val="220"/>
                </a:spcBef>
              </a:pPr>
              <a:r>
                <a:rPr lang="zh-CN"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关联威胁监测，无法修复的漏洞一旦发生被利用可快速发现和遏制</a:t>
              </a:r>
              <a:endParaRPr lang="zh-CN"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88" name="圆角矩形 87"/>
            <p:cNvSpPr/>
            <p:nvPr>
              <p:custDataLst>
                <p:tags r:id="rId14"/>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sp>
        <p:nvSpPr>
          <p:cNvPr id="115" name="文本框 114"/>
          <p:cNvSpPr txBox="1"/>
          <p:nvPr/>
        </p:nvSpPr>
        <p:spPr>
          <a:xfrm>
            <a:off x="648335" y="6067425"/>
            <a:ext cx="10999470" cy="617855"/>
          </a:xfrm>
          <a:prstGeom prst="rect">
            <a:avLst/>
          </a:prstGeom>
          <a:solidFill>
            <a:sysClr val="window" lastClr="FFFFFF">
              <a:lumMod val="95000"/>
            </a:sysClr>
          </a:solidFill>
        </p:spPr>
        <p:txBody>
          <a:bodyPr wrap="square" rtlCol="0">
            <a:noAutofit/>
          </a:bodyPr>
          <a:p>
            <a:endParaRPr lang="zh-CN" altLang="en-US" sz="2400"/>
          </a:p>
        </p:txBody>
      </p:sp>
      <p:sp>
        <p:nvSpPr>
          <p:cNvPr id="122" name="文本框 121"/>
          <p:cNvSpPr txBox="1"/>
          <p:nvPr/>
        </p:nvSpPr>
        <p:spPr>
          <a:xfrm>
            <a:off x="871855" y="6087745"/>
            <a:ext cx="10774680" cy="600075"/>
          </a:xfrm>
          <a:prstGeom prst="rect">
            <a:avLst/>
          </a:prstGeom>
          <a:noFill/>
        </p:spPr>
        <p:txBody>
          <a:bodyPr wrap="square" rtlCol="0" anchor="t">
            <a:noAutofit/>
          </a:bodyPr>
          <a:p>
            <a:pPr marL="133350" algn="l" rtl="0" eaLnBrk="0">
              <a:lnSpc>
                <a:spcPct val="150000"/>
              </a:lnSpc>
              <a:spcBef>
                <a:spcPts val="5"/>
              </a:spcBef>
            </a:pPr>
            <a:r>
              <a:rPr lang="zh-CN" sz="1000"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风险预防总结</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开展</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{{vulnerability_scan_count}</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漏洞扫描，提前发现并修复高风险漏洞，通过端、边分层防护，阻断潜在攻击路径，对未发生漏洞利用成功事件起到了先决的支撑</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作用；</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通过</a:t>
            </a:r>
            <a:r>
              <a:rPr lang="zh-CN"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持续的漏洞闭环管理</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支撑合规自查，降低监管通报风</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险，避免</a:t>
            </a:r>
            <a:r>
              <a:rPr 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了企业</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声誉受损</a:t>
            </a:r>
            <a:r>
              <a:rPr 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8" name="文本框 57"/>
          <p:cNvSpPr txBox="1"/>
          <p:nvPr/>
        </p:nvSpPr>
        <p:spPr>
          <a:xfrm>
            <a:off x="647700" y="389509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rPr>
              <a:t>漏洞类型分布</a:t>
            </a:r>
            <a:endParaRPr kumimoji="0" lang="zh-CN" altLang="en-US" sz="1400" b="1" i="0" u="none" strike="noStrike" cap="none" spc="-60" normalizeH="0" baseline="0" dirty="0">
              <a:ln>
                <a:noFill/>
              </a:ln>
              <a:solidFill>
                <a:srgbClr val="204090">
                  <a:alpha val="100000"/>
                </a:srgbClr>
              </a:solidFill>
              <a:effectLst/>
              <a:uFillTx/>
              <a:latin typeface="Arial" panose="020B0604020202020204" pitchFamily="34" charset="0"/>
              <a:ea typeface="黑体-简" panose="02000000000000000000" charset="-122"/>
              <a:cs typeface="黑体" panose="02010609060101010101" charset="-122"/>
              <a:sym typeface="+mn-ea"/>
            </a:endParaRPr>
          </a:p>
        </p:txBody>
      </p:sp>
      <p:graphicFrame>
        <p:nvGraphicFramePr>
          <p:cNvPr id="5" name="图表 4" descr="7b0a202020202263686172745265734964223a20223230323931393734220a7d0a"/>
          <p:cNvGraphicFramePr/>
          <p:nvPr/>
        </p:nvGraphicFramePr>
        <p:xfrm>
          <a:off x="647700" y="4129723"/>
          <a:ext cx="3010535" cy="1836420"/>
        </p:xfrm>
        <a:graphic>
          <a:graphicData uri="http://schemas.openxmlformats.org/drawingml/2006/chart">
            <c:chart xmlns:c="http://schemas.openxmlformats.org/drawingml/2006/chart" xmlns:r="http://schemas.openxmlformats.org/officeDocument/2006/relationships" r:id="rId1"/>
          </a:graphicData>
        </a:graphic>
      </p:graphicFrame>
      <p:pic>
        <p:nvPicPr>
          <p:cNvPr id="2" name="图片 1" descr="深信服 + 智安全"/>
          <p:cNvPicPr>
            <a:picLocks noChangeAspect="1"/>
          </p:cNvPicPr>
          <p:nvPr/>
        </p:nvPicPr>
        <p:blipFill>
          <a:blip r:embed="rId15"/>
          <a:srcRect l="5232" t="26576" r="4938" b="29565"/>
          <a:stretch>
            <a:fillRect/>
          </a:stretch>
        </p:blipFill>
        <p:spPr>
          <a:xfrm>
            <a:off x="10017125" y="238760"/>
            <a:ext cx="1629867" cy="360000"/>
          </a:xfrm>
          <a:prstGeom prst="rect">
            <a:avLst/>
          </a:prstGeom>
        </p:spPr>
      </p:pic>
      <p:sp>
        <p:nvSpPr>
          <p:cNvPr id="10" name="文本框 9"/>
          <p:cNvSpPr txBox="1"/>
          <p:nvPr/>
        </p:nvSpPr>
        <p:spPr>
          <a:xfrm>
            <a:off x="3850640" y="2713355"/>
            <a:ext cx="7796530" cy="1087755"/>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Text 2"/>
          <p:cNvSpPr/>
          <p:nvPr/>
        </p:nvSpPr>
        <p:spPr>
          <a:xfrm>
            <a:off x="3948430" y="2794000"/>
            <a:ext cx="7519035" cy="949325"/>
          </a:xfrm>
          <a:prstGeom prst="rect">
            <a:avLst/>
          </a:prstGeom>
          <a:noFill/>
        </p:spPr>
        <p:txBody>
          <a:bodyPr wrap="square" lIns="0" tIns="0" rIns="0" bIns="0" rtlCol="0" anchor="t"/>
          <a:p>
            <a:pPr marL="101600" indent="-101600" algn="l">
              <a:lnSpc>
                <a:spcPct val="150000"/>
              </a:lnSpc>
              <a:buSzPct val="100000"/>
              <a:buChar char="•"/>
            </a:pPr>
            <a:r>
              <a:rPr lang="zh-CN" altLang="en-US" sz="1000" b="1" dirty="0">
                <a:solidFill>
                  <a:srgbClr val="14161A"/>
                </a:solidFill>
                <a:latin typeface="Arial" panose="020B0604020202020204" pitchFamily="34" charset="0"/>
                <a:ea typeface="黑体-简" panose="02000000000000000000" charset="-122"/>
                <a:cs typeface="微软雅黑" panose="020B0503020204020204" pitchFamily="34" charset="-120"/>
              </a:rPr>
              <a:t>暴露面风险：</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对</a:t>
            </a:r>
            <a:r>
              <a:rPr lang="zh-CN" altLang="en-US" sz="1000" dirty="0">
                <a:solidFill>
                  <a:schemeClr val="tx1"/>
                </a:solidFill>
                <a:latin typeface="Arial" panose="020B0604020202020204" pitchFamily="34" charset="0"/>
                <a:ea typeface="黑体-简" panose="02000000000000000000" charset="-122"/>
                <a:cs typeface="微软雅黑" panose="020B0503020204020204" pitchFamily="34" charset="-120"/>
                <a:sym typeface="+mn-ea"/>
              </a:rPr>
              <a:t>互联网</a:t>
            </a:r>
            <a:r>
              <a:rPr lang="zh-CN" altLang="en-US" sz="1000" dirty="0">
                <a:solidFill>
                  <a:schemeClr val="tx1"/>
                </a:solidFill>
                <a:latin typeface="Arial" panose="020B0604020202020204" pitchFamily="34" charset="0"/>
                <a:ea typeface="黑体-简" panose="02000000000000000000" charset="-122"/>
                <a:cs typeface="微软雅黑" panose="020B0503020204020204" pitchFamily="34" charset="-120"/>
              </a:rPr>
              <a:t>暴</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露面进行扫描，总共发现开放的互联网</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rPr>
              <a:t>IP</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{{internet_ip_count}}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个，可访问端口</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rPr>
              <a:t>{</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{internet_port_count}}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个；其中高危端口开放</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{{exposed_risk_port_count}}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个，高危可利用漏洞</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{{external_network_asset_vulnerability_count}}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marL="101600" indent="-101600" algn="l">
              <a:lnSpc>
                <a:spcPct val="150000"/>
              </a:lnSpc>
              <a:buSzPct val="100000"/>
              <a:buChar char="•"/>
            </a:pPr>
            <a:r>
              <a:rPr lang="zh-CN" altLang="en-US" sz="1000" b="1"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内网漏洞风险梳理</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：未对互联网映射的服务器网段识别到</a:t>
            </a:r>
            <a:r>
              <a:rPr lang="en-US" sz="1000" dirty="0">
                <a:solidFill>
                  <a:srgbClr val="365FD9"/>
                </a:solidFill>
                <a:latin typeface="Arial" panose="020B0604020202020204" pitchFamily="34" charset="0"/>
                <a:ea typeface="黑体-简" panose="02000000000000000000" charset="-122"/>
                <a:cs typeface="微软雅黑" panose="020B0503020204020204" pitchFamily="34" charset="-120"/>
                <a:sym typeface="+mn-ea"/>
              </a:rPr>
              <a:t> </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{{server_asset_count}}</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存活资产</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对托管服务范围内的</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{{mss_service_asset_count}}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个服务器识别到</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{{total_vulnerability_count}}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个安全漏洞，累计已防护</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{{protected_vulnerability_count}}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个安全漏洞，已修复</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{{fixed_vulnerability_count}}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SzPct val="100000"/>
              <a:buChar char="•"/>
            </a:pP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p:txBody>
      </p:sp>
      <p:sp>
        <p:nvSpPr>
          <p:cNvPr id="4" name="文本框 3"/>
          <p:cNvSpPr txBox="1"/>
          <p:nvPr/>
        </p:nvSpPr>
        <p:spPr>
          <a:xfrm>
            <a:off x="4023360" y="3896995"/>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rPr>
              <a:t>漏洞风险趋势</a:t>
            </a:r>
            <a:endPar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endParaRPr>
          </a:p>
        </p:txBody>
      </p:sp>
      <p:graphicFrame>
        <p:nvGraphicFramePr>
          <p:cNvPr id="9" name="图表 8"/>
          <p:cNvGraphicFramePr/>
          <p:nvPr/>
        </p:nvGraphicFramePr>
        <p:xfrm>
          <a:off x="3848735" y="4180205"/>
          <a:ext cx="7797165" cy="1779905"/>
        </p:xfrm>
        <a:graphic>
          <a:graphicData uri="http://schemas.openxmlformats.org/drawingml/2006/chart">
            <c:chart xmlns:c="http://schemas.openxmlformats.org/drawingml/2006/chart" xmlns:r="http://schemas.openxmlformats.org/officeDocument/2006/relationships" r:id="rId2"/>
          </a:graphicData>
        </a:graphic>
      </p:graphicFrame>
      <p:sp>
        <p:nvSpPr>
          <p:cNvPr id="15" name="文本框 14"/>
          <p:cNvSpPr txBox="1"/>
          <p:nvPr/>
        </p:nvSpPr>
        <p:spPr>
          <a:xfrm>
            <a:off x="701040" y="4262755"/>
            <a:ext cx="6096000" cy="368300"/>
          </a:xfrm>
          <a:prstGeom prst="rect">
            <a:avLst/>
          </a:prstGeom>
          <a:noFill/>
        </p:spPr>
        <p:txBody>
          <a:bodyPr wrap="square" rtlCol="0" anchor="t">
            <a:spAutoFit/>
          </a:bodyPr>
          <a:p>
            <a:r>
              <a:rPr lang="zh-CN" altLang="en-US">
                <a:sym typeface="+mn-ea"/>
              </a:rPr>
              <a:t>{{</a:t>
            </a:r>
            <a:r>
              <a:rPr lang="en-US" altLang="zh-CN">
                <a:sym typeface="+mn-ea"/>
              </a:rPr>
              <a:t>P29_pie</a:t>
            </a:r>
            <a:r>
              <a:rPr lang="zh-CN" altLang="en-US">
                <a:sym typeface="+mn-ea"/>
              </a:rPr>
              <a:t>}}</a:t>
            </a:r>
            <a:endParaRPr lang="zh-CN" altLang="en-US">
              <a:sym typeface="+mn-ea"/>
            </a:endParaRPr>
          </a:p>
        </p:txBody>
      </p:sp>
      <p:grpSp>
        <p:nvGrpSpPr>
          <p:cNvPr id="36" name="组合 35"/>
          <p:cNvGrpSpPr/>
          <p:nvPr/>
        </p:nvGrpSpPr>
        <p:grpSpPr>
          <a:xfrm>
            <a:off x="3930650" y="1732915"/>
            <a:ext cx="1896745" cy="688340"/>
            <a:chOff x="12788" y="6575"/>
            <a:chExt cx="5974" cy="2168"/>
          </a:xfrm>
        </p:grpSpPr>
        <p:sp>
          <p:nvSpPr>
            <p:cNvPr id="37" name="文本框 36"/>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分析</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8" name="文本框 37"/>
            <p:cNvSpPr txBox="1"/>
            <p:nvPr/>
          </p:nvSpPr>
          <p:spPr>
            <a:xfrm>
              <a:off x="12788" y="7483"/>
              <a:ext cx="597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39" name="文本框 38"/>
            <p:cNvSpPr txBox="1"/>
            <p:nvPr/>
          </p:nvSpPr>
          <p:spPr>
            <a:xfrm>
              <a:off x="13504" y="8175"/>
              <a:ext cx="4500" cy="568"/>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100%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验证可利用性</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0" name="组合 39"/>
          <p:cNvGrpSpPr/>
          <p:nvPr/>
        </p:nvGrpSpPr>
        <p:grpSpPr>
          <a:xfrm>
            <a:off x="5751830" y="1732915"/>
            <a:ext cx="2358390" cy="688340"/>
            <a:chOff x="17210" y="6575"/>
            <a:chExt cx="7428" cy="2168"/>
          </a:xfrm>
        </p:grpSpPr>
        <p:sp>
          <p:nvSpPr>
            <p:cNvPr id="41" name="文本框 40"/>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外部风险收敛</a:t>
              </a:r>
              <a:endPar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2" name="文本框 41"/>
            <p:cNvSpPr txBox="1"/>
            <p:nvPr/>
          </p:nvSpPr>
          <p:spPr>
            <a:xfrm>
              <a:off x="17210" y="7483"/>
              <a:ext cx="742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{closed_loop_external_asset_vulnerability_count}}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43" name="文本框 42"/>
            <p:cNvSpPr txBox="1"/>
            <p:nvPr/>
          </p:nvSpPr>
          <p:spPr>
            <a:xfrm>
              <a:off x="18632" y="8175"/>
              <a:ext cx="4536" cy="568"/>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及时发现和收敛外部风险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4" name="组合 43"/>
          <p:cNvGrpSpPr/>
          <p:nvPr/>
        </p:nvGrpSpPr>
        <p:grpSpPr>
          <a:xfrm>
            <a:off x="7980680" y="1727518"/>
            <a:ext cx="1979296" cy="688023"/>
            <a:chOff x="22583" y="6585"/>
            <a:chExt cx="6234" cy="2167"/>
          </a:xfrm>
        </p:grpSpPr>
        <p:sp>
          <p:nvSpPr>
            <p:cNvPr id="45" name="文本框 44"/>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管理员弱密码</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6" name="文本框 45"/>
            <p:cNvSpPr txBox="1"/>
            <p:nvPr/>
          </p:nvSpPr>
          <p:spPr>
            <a:xfrm>
              <a:off x="22583" y="7493"/>
              <a:ext cx="623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{{admin_weak_password_count}}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47" name="文本框 46"/>
            <p:cNvSpPr txBox="1"/>
            <p:nvPr/>
          </p:nvSpPr>
          <p:spPr>
            <a:xfrm>
              <a:off x="23299" y="8185"/>
              <a:ext cx="4499" cy="567"/>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降低业务风险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8" name="组合 47"/>
          <p:cNvGrpSpPr/>
          <p:nvPr/>
        </p:nvGrpSpPr>
        <p:grpSpPr>
          <a:xfrm>
            <a:off x="9989820" y="1727835"/>
            <a:ext cx="1884680" cy="693420"/>
            <a:chOff x="29848" y="6559"/>
            <a:chExt cx="5957" cy="2183"/>
          </a:xfrm>
        </p:grpSpPr>
        <p:sp>
          <p:nvSpPr>
            <p:cNvPr id="49" name="文本框 48"/>
            <p:cNvSpPr txBox="1"/>
            <p:nvPr/>
          </p:nvSpPr>
          <p:spPr>
            <a:xfrm>
              <a:off x="30013" y="6559"/>
              <a:ext cx="5191" cy="584"/>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0" name="文本框 49"/>
            <p:cNvSpPr txBox="1"/>
            <p:nvPr/>
          </p:nvSpPr>
          <p:spPr>
            <a:xfrm>
              <a:off x="29848" y="7473"/>
              <a:ext cx="5957"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{{high_risk_exploitable_vulnerability_closure_rate}}</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52" name="文本框 51"/>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漏洞利用成功事故</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53" name="图片 52" descr="APP漏扫"/>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91698" y="1270318"/>
            <a:ext cx="360000" cy="360000"/>
          </a:xfrm>
          <a:prstGeom prst="rect">
            <a:avLst/>
          </a:prstGeom>
        </p:spPr>
      </p:pic>
      <p:pic>
        <p:nvPicPr>
          <p:cNvPr id="54" name="图片 53" descr="项目风险"/>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706870" y="1270318"/>
            <a:ext cx="360000" cy="360000"/>
          </a:xfrm>
          <a:prstGeom prst="rect">
            <a:avLst/>
          </a:prstGeom>
        </p:spPr>
      </p:pic>
      <p:pic>
        <p:nvPicPr>
          <p:cNvPr id="55" name="图片 54" descr="项目风险"/>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721725" y="1270318"/>
            <a:ext cx="360000" cy="360000"/>
          </a:xfrm>
          <a:prstGeom prst="rect">
            <a:avLst/>
          </a:prstGeom>
        </p:spPr>
      </p:pic>
      <p:pic>
        <p:nvPicPr>
          <p:cNvPr id="56" name="图片 55" descr="已办事项"/>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737533" y="1270318"/>
            <a:ext cx="360000" cy="360000"/>
          </a:xfrm>
          <a:prstGeom prst="rect">
            <a:avLst/>
          </a:prstGeom>
        </p:spPr>
      </p:pic>
      <p:sp>
        <p:nvSpPr>
          <p:cNvPr id="57" name="文本框 56"/>
          <p:cNvSpPr txBox="1"/>
          <p:nvPr/>
        </p:nvSpPr>
        <p:spPr>
          <a:xfrm>
            <a:off x="7980680" y="4601210"/>
            <a:ext cx="6096000" cy="368300"/>
          </a:xfrm>
          <a:prstGeom prst="rect">
            <a:avLst/>
          </a:prstGeom>
          <a:noFill/>
        </p:spPr>
        <p:txBody>
          <a:bodyPr wrap="square" rtlCol="0" anchor="t">
            <a:spAutoFit/>
          </a:bodyPr>
          <a:p>
            <a:r>
              <a:rPr lang="zh-CN" altLang="en-US">
                <a:sym typeface="+mn-ea"/>
              </a:rPr>
              <a:t>{{</a:t>
            </a:r>
            <a:r>
              <a:rPr lang="en-US" altLang="zh-CN">
                <a:sym typeface="+mn-ea"/>
              </a:rPr>
              <a:t>P29_line</a:t>
            </a:r>
            <a:r>
              <a:rPr lang="zh-CN" altLang="en-US">
                <a:sym typeface="+mn-ea"/>
              </a:rPr>
              <a:t>}}</a:t>
            </a:r>
            <a:endParaRPr lang="zh-CN" altLang="en-US">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40"/>
          <p:cNvSpPr/>
          <p:nvPr/>
        </p:nvSpPr>
        <p:spPr>
          <a:xfrm>
            <a:off x="647700" y="3670618"/>
            <a:ext cx="3005773" cy="1883093"/>
          </a:xfrm>
          <a:prstGeom prst="rect">
            <a:avLst/>
          </a:prstGeom>
          <a:solidFill>
            <a:schemeClr val="bg1">
              <a:lumMod val="95000"/>
            </a:schemeClr>
          </a:solid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734060" y="3723323"/>
            <a:ext cx="2880000" cy="600075"/>
          </a:xfrm>
          <a:prstGeom prst="rect">
            <a:avLst/>
          </a:prstGeom>
          <a:noFill/>
        </p:spPr>
        <p:txBody>
          <a:bodyPr wrap="square" rtlCol="0" anchor="t">
            <a:noAutofit/>
          </a:bodyPr>
          <a:p>
            <a:pPr algn="l" rtl="0" eaLnBrk="0">
              <a:lnSpc>
                <a:spcPct val="155000"/>
              </a:lnSpc>
            </a:pPr>
            <a:r>
              <a:rPr lang="zh-CN" altLang="en-US" sz="1000" b="1" spc="-5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完备的保障机制</a:t>
            </a:r>
            <a:endParaRPr sz="1000" dirty="0">
              <a:latin typeface="Arial" panose="020B0604020202020204" pitchFamily="34" charset="0"/>
              <a:ea typeface="黑体-简" panose="02000000000000000000" charset="-122"/>
              <a:cs typeface="黑体" panose="02010609060101010101" charset="-122"/>
            </a:endParaRPr>
          </a:p>
          <a:p>
            <a:pPr marL="11430" algn="l" rtl="0" eaLnBrk="0">
              <a:lnSpc>
                <a:spcPct val="97000"/>
              </a:lnSpc>
              <a:spcBef>
                <a:spcPts val="185"/>
              </a:spcBef>
            </a:pPr>
            <a:r>
              <a:rPr lang="zh-CN" altLang="en-US" sz="800" spc="12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结合业务运维，制定各类安全风险的分级分类响应标准和闭环流程；重要时期前进行潜在风险排查。</a:t>
            </a:r>
            <a:endParaRPr lang="zh-CN" altLang="en-US" sz="800" spc="12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95" name="文本框 94"/>
          <p:cNvSpPr txBox="1"/>
          <p:nvPr/>
        </p:nvSpPr>
        <p:spPr>
          <a:xfrm>
            <a:off x="734060" y="4338320"/>
            <a:ext cx="2880000" cy="566420"/>
          </a:xfrm>
          <a:prstGeom prst="rect">
            <a:avLst/>
          </a:prstGeom>
          <a:noFill/>
        </p:spPr>
        <p:txBody>
          <a:bodyPr wrap="square" rtlCol="0" anchor="t">
            <a:spAutoFit/>
          </a:bodyPr>
          <a:p>
            <a:pPr algn="l" rtl="0" eaLnBrk="0">
              <a:lnSpc>
                <a:spcPct val="119000"/>
              </a:lnSpc>
            </a:pPr>
            <a:r>
              <a:rPr lang="zh-CN" sz="1000" b="1"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事件分级响应</a:t>
            </a:r>
            <a:r>
              <a:rPr lang="en-US" altLang="zh-CN" sz="1000" b="1"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endParaRPr lang="zh-CN" sz="1000" b="1"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a:p>
            <a:pPr algn="l" rtl="0" eaLnBrk="0">
              <a:lnSpc>
                <a:spcPct val="119000"/>
              </a:lnSpc>
            </a:pPr>
            <a:r>
              <a:rPr lang="zh-CN" altLang="en-US" sz="800" spc="1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预先定义安全威胁和安全事件分级分类响应标准与执行规范</a:t>
            </a:r>
            <a:r>
              <a:rPr lang="zh-CN" sz="800" spc="1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a:t>
            </a:r>
            <a:endParaRPr lang="zh-CN" sz="800" spc="1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96" name="文本框 95"/>
          <p:cNvSpPr txBox="1"/>
          <p:nvPr/>
        </p:nvSpPr>
        <p:spPr>
          <a:xfrm>
            <a:off x="734060" y="4946650"/>
            <a:ext cx="2880000" cy="554990"/>
          </a:xfrm>
          <a:prstGeom prst="rect">
            <a:avLst/>
          </a:prstGeom>
          <a:noFill/>
        </p:spPr>
        <p:txBody>
          <a:bodyPr wrap="square" rtlCol="0" anchor="t">
            <a:noAutofit/>
          </a:bodyPr>
          <a:p>
            <a:pPr algn="l" rtl="0" eaLnBrk="0">
              <a:lnSpc>
                <a:spcPct val="108000"/>
              </a:lnSpc>
            </a:pPr>
            <a:r>
              <a:rPr lang="zh-CN" sz="1000" b="1" kern="0" spc="-40" dirty="0">
                <a:solidFill>
                  <a:srgbClr val="000000">
                    <a:alpha val="100000"/>
                  </a:srgbClr>
                </a:solidFill>
                <a:latin typeface="Arial" panose="020B0604020202020204" pitchFamily="34" charset="0"/>
                <a:ea typeface="黑体-简" panose="02000000000000000000" charset="-122"/>
                <a:cs typeface="黑体" panose="02010609060101010101" charset="-122"/>
              </a:rPr>
              <a:t>工单在线可视，微信群</a:t>
            </a:r>
            <a:r>
              <a:rPr lang="en-US" altLang="zh-CN" sz="1000" b="1" kern="0" spc="-40" dirty="0">
                <a:solidFill>
                  <a:srgbClr val="000000">
                    <a:alpha val="100000"/>
                  </a:srgbClr>
                </a:solidFill>
                <a:latin typeface="Arial" panose="020B0604020202020204" pitchFamily="34" charset="0"/>
                <a:ea typeface="黑体-简" panose="02000000000000000000" charset="-122"/>
                <a:cs typeface="黑体" panose="02010609060101010101" charset="-122"/>
              </a:rPr>
              <a:t>/</a:t>
            </a:r>
            <a:r>
              <a:rPr lang="zh-CN" altLang="en-US" sz="1000" b="1" kern="0" spc="-40" dirty="0">
                <a:solidFill>
                  <a:srgbClr val="000000">
                    <a:alpha val="100000"/>
                  </a:srgbClr>
                </a:solidFill>
                <a:latin typeface="Arial" panose="020B0604020202020204" pitchFamily="34" charset="0"/>
                <a:ea typeface="黑体-简" panose="02000000000000000000" charset="-122"/>
                <a:cs typeface="黑体" panose="02010609060101010101" charset="-122"/>
              </a:rPr>
              <a:t>小程序多通道协同</a:t>
            </a:r>
            <a:endParaRPr sz="1000" b="1" kern="0" spc="-40" dirty="0">
              <a:solidFill>
                <a:srgbClr val="000000">
                  <a:alpha val="100000"/>
                </a:srgbClr>
              </a:solidFill>
              <a:latin typeface="Arial" panose="020B0604020202020204" pitchFamily="34" charset="0"/>
              <a:ea typeface="黑体-简" panose="02000000000000000000" charset="-122"/>
              <a:cs typeface="黑体" panose="02010609060101010101" charset="-122"/>
            </a:endParaRPr>
          </a:p>
          <a:p>
            <a:pPr algn="l" rtl="0" eaLnBrk="0">
              <a:lnSpc>
                <a:spcPct val="108000"/>
              </a:lnSpc>
            </a:pPr>
            <a:r>
              <a:rPr lang="zh-CN" sz="800" spc="1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告警和事件通过在线工单和微信群实现协同响应，高效便捷，有效降低运维压力。</a:t>
            </a:r>
            <a:endParaRPr lang="zh-CN" sz="800" spc="1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kern="0" dirty="0">
                <a:solidFill>
                  <a:srgbClr val="4C61E7"/>
                </a:solidFill>
                <a:latin typeface="Arial Black" panose="020B0A04020102020204" pitchFamily="34" charset="0"/>
                <a:ea typeface="微软雅黑" panose="020B0503020204020204" charset="-122"/>
                <a:cs typeface="黑体" panose="02010609060101010101" charset="-122"/>
              </a:rPr>
              <a:t>重要时期保障工作详情</a:t>
            </a:r>
            <a:endParaRPr sz="800" dirty="0">
              <a:latin typeface="Arial Black" panose="020B0A04020102020204" pitchFamily="34" charset="0"/>
              <a:ea typeface="微软雅黑" panose="020B0503020204020204" charset="-122"/>
              <a:cs typeface="Arial" panose="020B0604020202020204"/>
            </a:endParaRPr>
          </a:p>
          <a:p>
            <a:pPr marL="12700" algn="l" rtl="0" eaLnBrk="0">
              <a:lnSpc>
                <a:spcPct val="92000"/>
              </a:lnSpc>
              <a:spcBef>
                <a:spcPts val="5"/>
              </a:spcBef>
            </a:pPr>
            <a:endParaRPr lang="zh-CN" altLang="en-US" sz="1000" kern="0" spc="40" dirty="0">
              <a:solidFill>
                <a:srgbClr val="000000">
                  <a:alpha val="100000"/>
                </a:srgbClr>
              </a:solidFill>
              <a:latin typeface="Arial Black" panose="020B0A04020102020204" pitchFamily="34" charset="0"/>
              <a:ea typeface="微软雅黑" panose="020B0503020204020204" charset="-122"/>
              <a:cs typeface="黑体" panose="02010609060101010101" charset="-122"/>
            </a:endParaRPr>
          </a:p>
          <a:p>
            <a:pPr marL="12700" algn="l" rtl="0" eaLnBrk="0">
              <a:lnSpc>
                <a:spcPct val="92000"/>
              </a:lnSpc>
              <a:spcBef>
                <a:spcPts val="5"/>
              </a:spcBef>
            </a:pPr>
            <a:r>
              <a:rPr lang="zh-CN" altLang="en-US" sz="1000" kern="0" spc="40" dirty="0">
                <a:solidFill>
                  <a:srgbClr val="000000">
                    <a:alpha val="100000"/>
                  </a:srgbClr>
                </a:solidFill>
                <a:latin typeface="Arial Black" panose="020B0A04020102020204" pitchFamily="34" charset="0"/>
                <a:ea typeface="微软雅黑" panose="020B0503020204020204" charset="-122"/>
                <a:cs typeface="黑体" panose="02010609060101010101" charset="-122"/>
              </a:rPr>
              <a:t>全天候应急响应机制与重要时期精细化保障，确保业务持续性与安全稳定</a:t>
            </a:r>
            <a:endParaRPr lang="zh-CN" altLang="en-US" sz="1000" kern="0" spc="40" dirty="0">
              <a:solidFill>
                <a:srgbClr val="000000">
                  <a:alpha val="100000"/>
                </a:srgbClr>
              </a:solidFill>
              <a:latin typeface="Arial Black" panose="020B0A04020102020204" pitchFamily="34" charset="0"/>
              <a:ea typeface="微软雅黑" panose="020B0503020204020204" charset="-122"/>
              <a:cs typeface="黑体" panose="02010609060101010101" charset="-122"/>
            </a:endParaRPr>
          </a:p>
        </p:txBody>
      </p:sp>
      <p:sp>
        <p:nvSpPr>
          <p:cNvPr id="77" name="textbox 48"/>
          <p:cNvSpPr/>
          <p:nvPr/>
        </p:nvSpPr>
        <p:spPr>
          <a:xfrm>
            <a:off x="647700" y="1196023"/>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grpSp>
        <p:nvGrpSpPr>
          <p:cNvPr id="37" name="组合 36"/>
          <p:cNvGrpSpPr/>
          <p:nvPr/>
        </p:nvGrpSpPr>
        <p:grpSpPr>
          <a:xfrm>
            <a:off x="1275398" y="1650365"/>
            <a:ext cx="2159635" cy="475615"/>
            <a:chOff x="4017" y="5198"/>
            <a:chExt cx="8006" cy="1498"/>
          </a:xfrm>
        </p:grpSpPr>
        <p:sp>
          <p:nvSpPr>
            <p:cNvPr id="21" name="文本框 20"/>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重要时期值守次数</a:t>
              </a:r>
              <a:endParaRPr lang="zh-CN" sz="1000" spc="-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22" name="文本框 21"/>
            <p:cNvSpPr txBox="1"/>
            <p:nvPr/>
          </p:nvSpPr>
          <p:spPr>
            <a:xfrm>
              <a:off x="4561" y="6002"/>
              <a:ext cx="6643"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{{duty_critical}}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Arial" panose="020B0604020202020204" pitchFamily="34" charset="0"/>
                <a:ea typeface="黑体-简" panose="02000000000000000000" charset="-122"/>
                <a:cs typeface="微软雅黑" panose="020B0503020204020204" charset="-122"/>
                <a:sym typeface="+mn-ea"/>
              </a:endParaRPr>
            </a:p>
          </p:txBody>
        </p:sp>
      </p:grpSp>
      <p:grpSp>
        <p:nvGrpSpPr>
          <p:cNvPr id="49" name="组合 48"/>
          <p:cNvGrpSpPr/>
          <p:nvPr/>
        </p:nvGrpSpPr>
        <p:grpSpPr>
          <a:xfrm>
            <a:off x="1275398" y="2854325"/>
            <a:ext cx="2159953" cy="487046"/>
            <a:chOff x="4017" y="8989"/>
            <a:chExt cx="8006" cy="1534"/>
          </a:xfrm>
        </p:grpSpPr>
        <p:sp>
          <p:nvSpPr>
            <p:cNvPr id="28" name="文本框 27"/>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业务可用性保障</a:t>
              </a:r>
              <a:endParaRPr lang="zh-CN" sz="1000" spc="-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29" name="文本框 28"/>
            <p:cNvSpPr txBox="1"/>
            <p:nvPr/>
          </p:nvSpPr>
          <p:spPr>
            <a:xfrm>
              <a:off x="4464" y="9829"/>
              <a:ext cx="7247"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{{availability_assure}}</a:t>
              </a:r>
              <a:endParaRPr lang="en-US" sz="1400" b="1" spc="-30" dirty="0">
                <a:solidFill>
                  <a:srgbClr val="2040C0">
                    <a:alpha val="100000"/>
                  </a:srgbClr>
                </a:solidFill>
                <a:latin typeface="Arial" panose="020B0604020202020204" pitchFamily="34" charset="0"/>
                <a:ea typeface="黑体-简" panose="02000000000000000000" charset="-122"/>
                <a:cs typeface="微软雅黑" panose="020B0503020204020204" charset="-122"/>
                <a:sym typeface="+mn-ea"/>
              </a:endParaRPr>
            </a:p>
          </p:txBody>
        </p:sp>
      </p:grpSp>
      <p:grpSp>
        <p:nvGrpSpPr>
          <p:cNvPr id="38" name="组合 37"/>
          <p:cNvGrpSpPr/>
          <p:nvPr/>
        </p:nvGrpSpPr>
        <p:grpSpPr>
          <a:xfrm>
            <a:off x="1275398" y="2252345"/>
            <a:ext cx="2075760" cy="656591"/>
            <a:chOff x="4017" y="7030"/>
            <a:chExt cx="6786" cy="2068"/>
          </a:xfrm>
        </p:grpSpPr>
        <p:sp>
          <p:nvSpPr>
            <p:cNvPr id="3" name="文本框 2"/>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重要时期安全事件</a:t>
              </a:r>
              <a:endParaRPr lang="zh-CN" sz="1000" spc="-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27" name="文本框 26"/>
            <p:cNvSpPr txBox="1"/>
            <p:nvPr/>
          </p:nvSpPr>
          <p:spPr>
            <a:xfrm>
              <a:off x="4465" y="7868"/>
              <a:ext cx="6338" cy="1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{{incident_critical}}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Arial" panose="020B0604020202020204" pitchFamily="34" charset="0"/>
                <a:ea typeface="黑体-简" panose="02000000000000000000" charset="-122"/>
                <a:cs typeface="Times New Roman" panose="02020603050405020304"/>
                <a:sym typeface="+mn-ea"/>
              </a:endParaRPr>
            </a:p>
          </p:txBody>
        </p:sp>
      </p:grpSp>
      <p:sp>
        <p:nvSpPr>
          <p:cNvPr id="35" name="椭圆 34"/>
          <p:cNvSpPr/>
          <p:nvPr>
            <p:custDataLst>
              <p:tags r:id="rId2"/>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grpSp>
        <p:nvGrpSpPr>
          <p:cNvPr id="43" name="组合 42"/>
          <p:cNvGrpSpPr/>
          <p:nvPr/>
        </p:nvGrpSpPr>
        <p:grpSpPr>
          <a:xfrm>
            <a:off x="728028" y="2298700"/>
            <a:ext cx="431800" cy="431800"/>
            <a:chOff x="2293" y="7118"/>
            <a:chExt cx="1360" cy="1360"/>
          </a:xfrm>
        </p:grpSpPr>
        <p:sp>
          <p:nvSpPr>
            <p:cNvPr id="40" name="椭圆 39"/>
            <p:cNvSpPr/>
            <p:nvPr>
              <p:custDataLst>
                <p:tags r:id="rId3"/>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2" name="图片 41" descr="道路危险标志"/>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8" y="7373"/>
              <a:ext cx="850" cy="850"/>
            </a:xfrm>
            <a:prstGeom prst="rect">
              <a:avLst/>
            </a:prstGeom>
          </p:spPr>
        </p:pic>
      </p:grpSp>
      <p:sp>
        <p:nvSpPr>
          <p:cNvPr id="45" name="椭圆 44"/>
          <p:cNvSpPr/>
          <p:nvPr>
            <p:custDataLst>
              <p:tags r:id="rId6"/>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59" name="文本框 58"/>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rPr>
              <a:t>重要时期值守保障</a:t>
            </a:r>
            <a:endPar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5" name="图片 4" descr="重点"/>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4802" y="1777779"/>
            <a:ext cx="270000" cy="270000"/>
          </a:xfrm>
          <a:prstGeom prst="rect">
            <a:avLst/>
          </a:prstGeom>
        </p:spPr>
      </p:pic>
      <p:pic>
        <p:nvPicPr>
          <p:cNvPr id="6" name="图片 5" descr="无尽"/>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5119" y="2987454"/>
            <a:ext cx="270000" cy="270000"/>
          </a:xfrm>
          <a:prstGeom prst="rect">
            <a:avLst/>
          </a:prstGeom>
        </p:spPr>
      </p:pic>
      <p:sp>
        <p:nvSpPr>
          <p:cNvPr id="7" name="文本框 6"/>
          <p:cNvSpPr txBox="1"/>
          <p:nvPr/>
        </p:nvSpPr>
        <p:spPr>
          <a:xfrm>
            <a:off x="3945890" y="1196023"/>
            <a:ext cx="201041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重要时期安全态势对比</a:t>
            </a:r>
            <a:endParaRPr lang="zh-CN" sz="1000" b="1" spc="8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104" name="textbox 104"/>
          <p:cNvSpPr/>
          <p:nvPr/>
        </p:nvSpPr>
        <p:spPr>
          <a:xfrm>
            <a:off x="647700" y="5639435"/>
            <a:ext cx="10924540" cy="1133475"/>
          </a:xfrm>
          <a:prstGeom prst="rect">
            <a:avLst/>
          </a:prstGeom>
          <a:solidFill>
            <a:schemeClr val="accent6">
              <a:lumMod val="20000"/>
              <a:lumOff val="80000"/>
            </a:schemeClr>
          </a:solidFill>
          <a:ln w="0" cap="flat">
            <a:noFill/>
            <a:prstDash val="solid"/>
            <a:miter lim="0"/>
          </a:ln>
        </p:spPr>
        <p:txBody>
          <a:bodyPr vert="horz" wrap="square" lIns="0" tIns="0" rIns="0" bIns="0"/>
          <a:p>
            <a:pPr lvl="0" algn="ctr" eaLnBrk="0"/>
            <a:r>
              <a:rPr lang="en-US" altLang="zh-CN" sz="1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{{security_value2}}</a:t>
            </a:r>
            <a:endParaRPr sz="900" dirty="0">
              <a:latin typeface="黑体" panose="02010609060101010101" charset="-122"/>
              <a:ea typeface="黑体" panose="02010609060101010101" charset="-122"/>
              <a:cs typeface="黑体" panose="02010609060101010101" charset="-122"/>
            </a:endParaRPr>
          </a:p>
        </p:txBody>
      </p:sp>
      <p:pic>
        <p:nvPicPr>
          <p:cNvPr id="60" name="图片 59" descr="折线图"/>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39153" y="5713730"/>
            <a:ext cx="215900" cy="215900"/>
          </a:xfrm>
          <a:prstGeom prst="rect">
            <a:avLst/>
          </a:prstGeom>
        </p:spPr>
      </p:pic>
      <p:sp>
        <p:nvSpPr>
          <p:cNvPr id="30" name="文本框 29"/>
          <p:cNvSpPr txBox="1"/>
          <p:nvPr/>
        </p:nvSpPr>
        <p:spPr>
          <a:xfrm>
            <a:off x="1218883" y="5668010"/>
            <a:ext cx="271970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重要时期网络安全保障工作价值</a:t>
            </a:r>
            <a:endParaRPr lang="zh-CN" sz="900" b="1" kern="0" spc="2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2" name="图片 1" descr="深信服 + 智安全"/>
          <p:cNvPicPr>
            <a:picLocks noChangeAspect="1"/>
          </p:cNvPicPr>
          <p:nvPr/>
        </p:nvPicPr>
        <p:blipFill>
          <a:blip r:embed="rId13"/>
          <a:srcRect l="5232" t="26576" r="4938" b="29565"/>
          <a:stretch>
            <a:fillRect/>
          </a:stretch>
        </p:blipFill>
        <p:spPr>
          <a:xfrm>
            <a:off x="10017125" y="238760"/>
            <a:ext cx="1629867" cy="360000"/>
          </a:xfrm>
          <a:prstGeom prst="rect">
            <a:avLst/>
          </a:prstGeom>
        </p:spPr>
      </p:pic>
      <p:sp>
        <p:nvSpPr>
          <p:cNvPr id="4" name="文本框 3"/>
          <p:cNvSpPr txBox="1"/>
          <p:nvPr/>
        </p:nvSpPr>
        <p:spPr>
          <a:xfrm>
            <a:off x="5551170" y="1282065"/>
            <a:ext cx="2007870" cy="368300"/>
          </a:xfrm>
          <a:prstGeom prst="rect">
            <a:avLst/>
          </a:prstGeom>
          <a:noFill/>
        </p:spPr>
        <p:txBody>
          <a:bodyPr wrap="square" rtlCol="0" anchor="t">
            <a:spAutoFit/>
          </a:bodyPr>
          <a:p>
            <a:r>
              <a:rPr lang="zh-CN" altLang="en-US">
                <a:sym typeface="+mn-ea"/>
              </a:rPr>
              <a:t>{{P</a:t>
            </a:r>
            <a:r>
              <a:rPr lang="en-US" altLang="zh-CN">
                <a:sym typeface="+mn-ea"/>
              </a:rPr>
              <a:t>30</a:t>
            </a:r>
            <a:r>
              <a:rPr lang="zh-CN" altLang="en-US">
                <a:sym typeface="+mn-ea"/>
              </a:rPr>
              <a:t>_combo}}</a:t>
            </a:r>
            <a:endParaRPr lang="zh-CN" altLang="en-US">
              <a:sym typeface="+mn-ea"/>
            </a:endParaRPr>
          </a:p>
        </p:txBody>
      </p:sp>
      <p:sp>
        <p:nvSpPr>
          <p:cNvPr id="67" name="文本框 66"/>
          <p:cNvSpPr txBox="1"/>
          <p:nvPr/>
        </p:nvSpPr>
        <p:spPr>
          <a:xfrm>
            <a:off x="8211820" y="1196340"/>
            <a:ext cx="3359785" cy="369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13970" algn="l" rtl="0" eaLnBrk="0">
              <a:lnSpc>
                <a:spcPct val="95000"/>
              </a:lnSpc>
            </a:pPr>
            <a:r>
              <a:rPr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a:t>
            </a:r>
            <a:r>
              <a:rPr lang="zh-CN"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详情</a:t>
            </a:r>
            <a:endParaRPr kumimoji="0" lang="zh-CN" altLang="en-US" sz="800" b="0" i="0" u="none" strike="noStrike" cap="none" spc="5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90" name="文本框 89"/>
          <p:cNvSpPr txBox="1"/>
          <p:nvPr/>
        </p:nvSpPr>
        <p:spPr>
          <a:xfrm>
            <a:off x="8023225" y="1371600"/>
            <a:ext cx="3558540" cy="3928745"/>
          </a:xfrm>
          <a:prstGeom prst="rect">
            <a:avLst/>
          </a:prstGeom>
          <a:noFill/>
        </p:spPr>
        <p:txBody>
          <a:bodyPr wrap="square" rtlCol="0" anchor="t">
            <a:noAutofit/>
          </a:bodyPr>
          <a:p>
            <a:pPr marL="191770" indent="0" algn="l" rtl="0" eaLnBrk="0" fontAlgn="auto">
              <a:lnSpc>
                <a:spcPct val="15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中秋节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mid_autumn_festival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国庆</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national_day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元旦</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new_years_day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春节值守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spring_festival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清明节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qingming_festival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五一值守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labor_day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端午节值守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dragon_boat_festival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3" name="c2-num"/>
          <p:cNvSpPr txBox="1"/>
          <p:nvPr/>
        </p:nvSpPr>
        <p:spPr>
          <a:xfrm>
            <a:off x="814705" y="6124575"/>
            <a:ext cx="1143000" cy="355600"/>
          </a:xfrm>
          <a:prstGeom prst="rect">
            <a:avLst/>
          </a:prstGeom>
          <a:noFill/>
          <a:ln>
            <a:noFill/>
          </a:ln>
        </p:spPr>
        <p:txBody>
          <a:bodyPr wrap="none" lIns="0" tIns="0" rIns="0" bIns="0" rtlCol="0" anchor="ctr"/>
          <a:p>
            <a:pPr algn="l">
              <a:lnSpc>
                <a:spcPct val="120000"/>
              </a:lnSpc>
            </a:pPr>
            <a:endParaRPr lang="zh-CN" altLang="en-US" sz="2100" b="1" noProof="1">
              <a:solidFill>
                <a:srgbClr val="1F2D3D"/>
              </a:solidFill>
              <a:latin typeface="Arial" panose="020B0604020202020204" pitchFamily="34" charset="0"/>
              <a:ea typeface="黑体-简" panose="02000000000000000000" charset="-122"/>
            </a:endParaRPr>
          </a:p>
        </p:txBody>
      </p:sp>
      <p:sp>
        <p:nvSpPr>
          <p:cNvPr id="8" name="文本框 7"/>
          <p:cNvSpPr txBox="1"/>
          <p:nvPr/>
        </p:nvSpPr>
        <p:spPr>
          <a:xfrm>
            <a:off x="861060" y="6014720"/>
            <a:ext cx="10416540" cy="643890"/>
          </a:xfrm>
          <a:prstGeom prst="rect">
            <a:avLst/>
          </a:prstGeom>
          <a:noFill/>
        </p:spPr>
        <p:txBody>
          <a:bodyPr wrap="square" rtlCol="0" anchor="t">
            <a:noAutofit/>
          </a:bodyPr>
          <a:p>
            <a:pPr algn="l" rtl="0" eaLnBrk="0">
              <a:lnSpc>
                <a:spcPct val="108000"/>
              </a:lnSpc>
            </a:pPr>
            <a:r>
              <a:rPr lang="en-US" altLang="zh-CN" sz="8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a:t>
            </a:r>
            <a:endParaRPr lang="zh-CN" sz="800" spc="1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graphicFrame>
        <p:nvGraphicFramePr>
          <p:cNvPr id="65" name="图表 64"/>
          <p:cNvGraphicFramePr/>
          <p:nvPr/>
        </p:nvGraphicFramePr>
        <p:xfrm>
          <a:off x="3942715" y="1484630"/>
          <a:ext cx="3971925" cy="4017645"/>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9.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1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1.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22.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2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27.xml><?xml version="1.0" encoding="utf-8"?>
<p:tagLst xmlns:p="http://schemas.openxmlformats.org/presentationml/2006/main">
  <p:tag name="KSO_WM_UNIT_TYPE" val="a"/>
  <p:tag name="KSO_WM_UNIT_INDEX" val="1"/>
  <p:tag name="KSO_WM_BEAUTIFY_FLAG" val="#wm#"/>
  <p:tag name="KSO_WM_TAG_VERSION" val="3.0"/>
  <p:tag name="KSO_WM_UNIT_PRESET_TEXT" val="编辑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2"/>
</p:tagLst>
</file>

<file path=ppt/tags/tag28.xml><?xml version="1.0" encoding="utf-8"?>
<p:tagLst xmlns:p="http://schemas.openxmlformats.org/presentationml/2006/main">
  <p:tag name="KSO_WM_UNIT_TYPE" val="b"/>
  <p:tag name="KSO_WM_UNIT_INDEX" val="1"/>
  <p:tag name="KSO_WM_BEAUTIFY_FLAG" val="#wm#"/>
  <p:tag name="KSO_WM_TAG_VERSION" val="3.0"/>
  <p:tag name="KSO_WM_UNIT_PRESET_TEXT" val="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8"/>
</p:tagLst>
</file>

<file path=ppt/tags/tag29.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3"/>
</p:tagLst>
</file>

<file path=ppt/tags/tag3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0"/>
</p:tagLst>
</file>

<file path=ppt/tags/tag34.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40.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4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DIAGRAM_VIRTUALLY_FRAME" val="{&quot;height&quot;:275.27181102362204,&quot;left&quot;:558.35,&quot;top&quot;:123.32125984251968,&quot;width&quot;:255.1}"/>
</p:tagLst>
</file>

<file path=ppt/tags/tag55.xml><?xml version="1.0" encoding="utf-8"?>
<p:tagLst xmlns:p="http://schemas.openxmlformats.org/presentationml/2006/main">
  <p:tag name="KSO_WM_DIAGRAM_VIRTUALLY_FRAME" val="{&quot;height&quot;:275.27181102362204,&quot;left&quot;:558.35,&quot;top&quot;:123.32125984251968,&quot;width&quot;:255.1}"/>
</p:tagLst>
</file>

<file path=ppt/tags/tag56.xml><?xml version="1.0" encoding="utf-8"?>
<p:tagLst xmlns:p="http://schemas.openxmlformats.org/presentationml/2006/main">
  <p:tag name="KSO_WM_DIAGRAM_VIRTUALLY_FRAME" val="{&quot;height&quot;:275.27181102362204,&quot;left&quot;:558.35,&quot;top&quot;:123.32125984251968,&quot;width&quot;:255.1}"/>
</p:tagLst>
</file>

<file path=ppt/tags/tag57.xml><?xml version="1.0" encoding="utf-8"?>
<p:tagLst xmlns:p="http://schemas.openxmlformats.org/presentationml/2006/main">
  <p:tag name="KSO_WM_DIAGRAM_VIRTUALLY_FRAME" val="{&quot;height&quot;:275.27181102362204,&quot;left&quot;:558.35,&quot;top&quot;:123.32125984251968,&quot;width&quot;:255.1}"/>
</p:tagLst>
</file>

<file path=ppt/tags/tag58.xml><?xml version="1.0" encoding="utf-8"?>
<p:tagLst xmlns:p="http://schemas.openxmlformats.org/presentationml/2006/main">
  <p:tag name="KSO_WM_DIAGRAM_VIRTUALLY_FRAME" val="{&quot;height&quot;:275.27181102362204,&quot;left&quot;:558.35,&quot;top&quot;:123.32125984251968,&quot;width&quot;:255.1}"/>
</p:tagLst>
</file>

<file path=ppt/tags/tag59.xml><?xml version="1.0" encoding="utf-8"?>
<p:tagLst xmlns:p="http://schemas.openxmlformats.org/presentationml/2006/main">
  <p:tag name="KSO_WM_DIAGRAM_VIRTUALLY_FRAME" val="{&quot;height&quot;:275.27181102362204,&quot;left&quot;:558.35,&quot;top&quot;:123.32125984251968,&quot;width&quot;:255.1}"/>
</p:tagLst>
</file>

<file path=ppt/tags/tag60.xml><?xml version="1.0" encoding="utf-8"?>
<p:tagLst xmlns:p="http://schemas.openxmlformats.org/presentationml/2006/main">
  <p:tag name="KSO_WM_DIAGRAM_VIRTUALLY_FRAME" val="{&quot;height&quot;:275.27181102362204,&quot;left&quot;:558.35,&quot;top&quot;:123.32125984251968,&quot;width&quot;:255.1}"/>
</p:tagLst>
</file>

<file path=ppt/tags/tag61.xml><?xml version="1.0" encoding="utf-8"?>
<p:tagLst xmlns:p="http://schemas.openxmlformats.org/presentationml/2006/main">
  <p:tag name="KSO_WM_DIAGRAM_VIRTUALLY_FRAME" val="{&quot;height&quot;:275.27181102362204,&quot;left&quot;:558.35,&quot;top&quot;:123.32125984251968,&quot;width&quot;:255.1}"/>
</p:tagLst>
</file>

<file path=ppt/tags/tag62.xml><?xml version="1.0" encoding="utf-8"?>
<p:tagLst xmlns:p="http://schemas.openxmlformats.org/presentationml/2006/main">
  <p:tag name="KSO_WM_DIAGRAM_VIRTUALLY_FRAME" val="{&quot;height&quot;:275.27181102362204,&quot;left&quot;:558.35,&quot;top&quot;:123.32125984251968,&quot;width&quot;:255.1}"/>
</p:tagLst>
</file>

<file path=ppt/tags/tag63.xml><?xml version="1.0" encoding="utf-8"?>
<p:tagLst xmlns:p="http://schemas.openxmlformats.org/presentationml/2006/main">
  <p:tag name="KSO_WM_DIAGRAM_VIRTUALLY_FRAME" val="{&quot;height&quot;:275.27181102362204,&quot;left&quot;:558.35,&quot;top&quot;:123.32125984251968,&quot;width&quot;:255.1}"/>
</p:tagLst>
</file>

<file path=ppt/tags/tag64.xml><?xml version="1.0" encoding="utf-8"?>
<p:tagLst xmlns:p="http://schemas.openxmlformats.org/presentationml/2006/main">
  <p:tag name="KSO_WM_DIAGRAM_VIRTUALLY_FRAME" val="{&quot;height&quot;:275.27181102362204,&quot;left&quot;:558.35,&quot;top&quot;:123.32125984251968,&quot;width&quot;:255.1}"/>
</p:tagLst>
</file>

<file path=ppt/tags/tag65.xml><?xml version="1.0" encoding="utf-8"?>
<p:tagLst xmlns:p="http://schemas.openxmlformats.org/presentationml/2006/main">
  <p:tag name="KSO_WM_DIAGRAM_VIRTUALLY_FRAME" val="{&quot;height&quot;:275.27181102362204,&quot;left&quot;:558.35,&quot;top&quot;:123.32125984251968,&quot;width&quot;:255.1}"/>
</p:tagLst>
</file>

<file path=ppt/tags/tag6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7.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8.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9.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70.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71.xml><?xml version="1.0" encoding="utf-8"?>
<p:tagLst xmlns:p="http://schemas.openxmlformats.org/presentationml/2006/main">
  <p:tag name="KSO_WM_DIAGRAM_VIRTUALLY_FRAME" val="{&quot;height&quot;:389.6,&quot;left&quot;:211.45,&quot;top&quot;:116.65,&quot;width&quot;:477.55}"/>
</p:tagLst>
</file>

<file path=ppt/tags/tag72.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73.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74.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40494663_1*l_h_a*1_3_1"/>
  <p:tag name="KSO_WM_TEMPLATE_CATEGORY" val="diagram"/>
  <p:tag name="KSO_WM_TEMPLATE_INDEX" val="40494663"/>
  <p:tag name="KSO_WM_UNIT_LAYERLEVEL" val="1_1_1"/>
  <p:tag name="KSO_WM_TAG_VERSION" val="3.0"/>
  <p:tag name="KSO_WM_BEAUTIFY_FLAG" val="#wm#"/>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40494663_1*l_h_i*1_3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9.xml><?xml version="1.0" encoding="utf-8"?>
<p:tagLst xmlns:p="http://schemas.openxmlformats.org/presentationml/2006/main">
  <p:tag name="KSO_WM_UNIT_VALUE" val="84*84"/>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40494663_1*l_h_x*1_3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40494663_1*l_h_i*1_2_2"/>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40494663_1*l_h_a*1_2_1"/>
  <p:tag name="KSO_WM_TEMPLATE_CATEGORY" val="diagram"/>
  <p:tag name="KSO_WM_TEMPLATE_INDEX" val="40494663"/>
  <p:tag name="KSO_WM_UNIT_LAYERLEVEL" val="1_1_1"/>
  <p:tag name="KSO_WM_TAG_VERSION" val="3.0"/>
  <p:tag name="KSO_WM_BEAUTIFY_FLAG" val="#wm#"/>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4663_1*l_h_i*1_2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3.xml><?xml version="1.0" encoding="utf-8"?>
<p:tagLst xmlns:p="http://schemas.openxmlformats.org/presentationml/2006/main">
  <p:tag name="KSO_WM_UNIT_VALUE" val="96*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40494663_1*l_h_x*1_2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40494663_1*l_h_a*1_1_1"/>
  <p:tag name="KSO_WM_TEMPLATE_CATEGORY" val="diagram"/>
  <p:tag name="KSO_WM_TEMPLATE_INDEX" val="40494663"/>
  <p:tag name="KSO_WM_UNIT_LAYERLEVEL" val="1_1_1"/>
  <p:tag name="KSO_WM_TAG_VERSION" val="3.0"/>
  <p:tag name="KSO_WM_BEAUTIFY_FLAG" val="#wm#"/>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4663_1*l_h_i*1_1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6.xml><?xml version="1.0" encoding="utf-8"?>
<p:tagLst xmlns:p="http://schemas.openxmlformats.org/presentationml/2006/main">
  <p:tag name="KSO_WM_UNIT_VALUE" val="85*85"/>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40494663_1*l_h_x*1_1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40494663_1*l_h_i*1_3_2"/>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4663_1*l_h_i*1_1_2"/>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a*1_1_1"/>
  <p:tag name="KSO_WM_TEMPLATE_CATEGORY" val="diagram"/>
  <p:tag name="KSO_WM_TEMPLATE_INDEX" val="40493068"/>
  <p:tag name="KSO_WM_UNIT_LAYERLEVEL" val="1_1_1"/>
  <p:tag name="KSO_WM_TAG_VERSION" val="3.0"/>
  <p:tag name="KSO_WM_UNIT_ISCONTENTSTITLE" val="0"/>
  <p:tag name="KSO_WM_UNIT_ISNUMDGMTITLE" val="0"/>
  <p:tag name="KSO_WM_UNIT_NOCLEAR" val="0"/>
  <p:tag name="KSO_WM_DIAGRAM_GROUP_CODE" val="n1-1"/>
  <p:tag name="KSO_WM_UNIT_TYPE" val="n_h_a"/>
  <p:tag name="KSO_WM_UNIT_INDEX" val="1_1_1"/>
  <p:tag name="KSO_WM_UNIT_FILL_TYPE" val="3"/>
  <p:tag name="KSO_WM_UNIT_PRESET_TEXT" val="添加标题内容"/>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16.9499938964844,&quot;left&quot;:46.8,&quot;top&quot;:95.05000305175781,&quot;width&quot;:866.85}"/>
  <p:tag name="KSO_WM_DIAGRAM_COLOR_MATCH_VALUE" val="{&quot;shape&quot;:{&quot;fill&quot;:{&quot;gradient&quot;:[{&quot;brightness&quot;:0.4000000059604645,&quot;colorType&quot;:1,&quot;foreColorIndex&quot;:5,&quot;pos&quot;:0,&quot;transparency&quot;:0.20000000298023224},{&quot;brightness&quot;:0,&quot;colorType&quot;:1,&quot;foreColorIndex&quot;:5,&quot;pos&quot;:0.8899999856948853,&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40494663_1*l_h_f*1_1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具体内容，简明扼要地阐述观点。单击此处添加文本内容，简明阐述观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40494663_1*l_h_f*1_2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内容，简明扼要地阐述您的观点。单击此处添加文本内容，简明扼要地阐述观点。单击此处添加文本内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40494663_1*l_h_f*1_3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具体内容，简明扼要地阐述观点。单击此处添加文本内容，简明阐述观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3.xml><?xml version="1.0" encoding="utf-8"?>
<p:tagLst xmlns:p="http://schemas.openxmlformats.org/presentationml/2006/main">
  <p:tag name="KSO_WM_SLIDE_ITEM_CNT" val="3"/>
  <p:tag name="resource_record_key" val="{&quot;10&quot;:[3505430,50036384,50034089,4590447],&quot;29&quot;:[50053024,50052948],&quot;70&quot;:[3405561,3319090,3312439,3312479,3429185]}"/>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DIAGRAM_VIRTUALLY_FRAME" val="{&quot;height&quot;:384.75,&quot;left&quot;:24,&quot;top&quot;:86.8,&quot;width&quot;:911.2}"/>
</p:tagLst>
</file>

<file path=ppt/tags/tag99.xml><?xml version="1.0" encoding="utf-8"?>
<p:tagLst xmlns:p="http://schemas.openxmlformats.org/presentationml/2006/main">
  <p:tag name="KSO_WM_DIAGRAM_VIRTUALLY_FRAME" val="{&quot;height&quot;:384.75,&quot;left&quot;:24,&quot;top&quot;:86.8,&quot;width&quot;:911.2}"/>
</p:tagLst>
</file>

<file path=ppt/tags/tag100.xml><?xml version="1.0" encoding="utf-8"?>
<p:tagLst xmlns:p="http://schemas.openxmlformats.org/presentationml/2006/main">
  <p:tag name="KSO_WM_DIAGRAM_VIRTUALLY_FRAME" val="{&quot;height&quot;:384.75,&quot;left&quot;:24,&quot;top&quot;:86.8,&quot;width&quot;:911.2}"/>
</p:tagLst>
</file>

<file path=ppt/tags/tag101.xml><?xml version="1.0" encoding="utf-8"?>
<p:tagLst xmlns:p="http://schemas.openxmlformats.org/presentationml/2006/main">
  <p:tag name="KSO_WM_DIAGRAM_VIRTUALLY_FRAME" val="{&quot;height&quot;:384.75,&quot;left&quot;:24,&quot;top&quot;:86.8,&quot;width&quot;:911.2}"/>
</p:tagLst>
</file>

<file path=ppt/tags/tag102.xml><?xml version="1.0" encoding="utf-8"?>
<p:tagLst xmlns:p="http://schemas.openxmlformats.org/presentationml/2006/main">
  <p:tag name="KSO_WM_DIAGRAM_VIRTUALLY_FRAME" val="{&quot;height&quot;:384.75,&quot;left&quot;:24,&quot;top&quot;:86.8,&quot;width&quot;:911.2}"/>
</p:tagLst>
</file>

<file path=ppt/tags/tag103.xml><?xml version="1.0" encoding="utf-8"?>
<p:tagLst xmlns:p="http://schemas.openxmlformats.org/presentationml/2006/main">
  <p:tag name="KSO_WM_DIAGRAM_VIRTUALLY_FRAME" val="{&quot;height&quot;:384.75,&quot;left&quot;:24,&quot;top&quot;:86.8,&quot;width&quot;:911.2}"/>
</p:tagLst>
</file>

<file path=ppt/tags/tag104.xml><?xml version="1.0" encoding="utf-8"?>
<p:tagLst xmlns:p="http://schemas.openxmlformats.org/presentationml/2006/main">
  <p:tag name="KSO_WM_DIAGRAM_VIRTUALLY_FRAME" val="{&quot;height&quot;:384.75,&quot;left&quot;:24,&quot;top&quot;:86.8,&quot;width&quot;:911.2}"/>
</p:tagLst>
</file>

<file path=ppt/tags/tag105.xml><?xml version="1.0" encoding="utf-8"?>
<p:tagLst xmlns:p="http://schemas.openxmlformats.org/presentationml/2006/main">
  <p:tag name="KSO_WM_DIAGRAM_VIRTUALLY_FRAME" val="{&quot;height&quot;:384.75,&quot;left&quot;:24,&quot;top&quot;:86.8,&quot;width&quot;:911.2}"/>
</p:tagLst>
</file>

<file path=ppt/tags/tag106.xml><?xml version="1.0" encoding="utf-8"?>
<p:tagLst xmlns:p="http://schemas.openxmlformats.org/presentationml/2006/main">
  <p:tag name="KSO_WM_DIAGRAM_VIRTUALLY_FRAME" val="{&quot;height&quot;:384.75,&quot;left&quot;:24,&quot;top&quot;:86.8,&quot;width&quot;:911.2}"/>
</p:tagLst>
</file>

<file path=ppt/tags/tag107.xml><?xml version="1.0" encoding="utf-8"?>
<p:tagLst xmlns:p="http://schemas.openxmlformats.org/presentationml/2006/main">
  <p:tag name="KSO_WM_DIAGRAM_VIRTUALLY_FRAME" val="{&quot;height&quot;:384.75,&quot;left&quot;:24,&quot;top&quot;:86.8,&quot;width&quot;:911.2}"/>
</p:tagLst>
</file>

<file path=ppt/tags/tag108.xml><?xml version="1.0" encoding="utf-8"?>
<p:tagLst xmlns:p="http://schemas.openxmlformats.org/presentationml/2006/main">
  <p:tag name="KSO_WM_DIAGRAM_VIRTUALLY_FRAME" val="{&quot;height&quot;:384.75,&quot;left&quot;:24,&quot;top&quot;:86.8,&quot;width&quot;:911.2}"/>
</p:tagLst>
</file>

<file path=ppt/tags/tag109.xml><?xml version="1.0" encoding="utf-8"?>
<p:tagLst xmlns:p="http://schemas.openxmlformats.org/presentationml/2006/main">
  <p:tag name="KSO_WM_DIAGRAM_VIRTUALLY_FRAME" val="{&quot;height&quot;:384.75,&quot;left&quot;:24,&quot;top&quot;:86.8,&quot;width&quot;:911.2}"/>
</p:tagLst>
</file>

<file path=ppt/tags/tag110.xml><?xml version="1.0" encoding="utf-8"?>
<p:tagLst xmlns:p="http://schemas.openxmlformats.org/presentationml/2006/main">
  <p:tag name="KSO_WM_DIAGRAM_VIRTUALLY_FRAME" val="{&quot;height&quot;:384.75,&quot;left&quot;:24,&quot;top&quot;:86.8,&quot;width&quot;:911.2}"/>
</p:tagLst>
</file>

<file path=ppt/tags/tag111.xml><?xml version="1.0" encoding="utf-8"?>
<p:tagLst xmlns:p="http://schemas.openxmlformats.org/presentationml/2006/main">
  <p:tag name="KSO_WM_DIAGRAM_VIRTUALLY_FRAME" val="{&quot;height&quot;:384.75,&quot;left&quot;:24,&quot;top&quot;:86.8,&quot;width&quot;:911.2}"/>
</p:tagLst>
</file>

<file path=ppt/tags/tag112.xml><?xml version="1.0" encoding="utf-8"?>
<p:tagLst xmlns:p="http://schemas.openxmlformats.org/presentationml/2006/main">
  <p:tag name="KSO_WM_DIAGRAM_VIRTUALLY_FRAME" val="{&quot;height&quot;:384.75,&quot;left&quot;:24,&quot;top&quot;:86.8,&quot;width&quot;:911.2}"/>
</p:tagLst>
</file>

<file path=ppt/tags/tag113.xml><?xml version="1.0" encoding="utf-8"?>
<p:tagLst xmlns:p="http://schemas.openxmlformats.org/presentationml/2006/main">
  <p:tag name="KSO_WM_DIAGRAM_VIRTUALLY_FRAME" val="{&quot;height&quot;:384.75,&quot;left&quot;:24,&quot;top&quot;:86.8,&quot;width&quot;:911.2}"/>
</p:tagLst>
</file>

<file path=ppt/tags/tag114.xml><?xml version="1.0" encoding="utf-8"?>
<p:tagLst xmlns:p="http://schemas.openxmlformats.org/presentationml/2006/main">
  <p:tag name="KSO_WM_DIAGRAM_VIRTUALLY_FRAME" val="{&quot;height&quot;:389.6,&quot;left&quot;:211.45,&quot;top&quot;:116.65,&quot;width&quot;:477.55}"/>
</p:tagLst>
</file>

<file path=ppt/tags/tag115.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11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117.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092_1*n_h_h_f*1_2_1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91.22212598425193,&quot;left&quot;:48.8792202782819,&quot;top&quot;:130.46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10;形项正文内容"/>
  <p:tag name="KSO_WM_UNIT_TEXT_FILL_FORE_SCHEMECOLOR_INDEX" val="1"/>
  <p:tag name="KSO_WM_UNIT_TEXT_FILL_TYPE" val="1"/>
  <p:tag name="KSO_WM_DIAGRAM_USE_COLOR_VALUE" val="{&quot;color_scheme&quot;:1,&quot;color_type&quot;:1,&quot;theme_color_indexes&quot;:[9,10,9,10,9,10]}"/>
</p:tagLst>
</file>

<file path=ppt/tags/tag1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1092_1*n_h_h_a*1_2_1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91.22212598425193,&quot;left&quot;:48.8792202782819,&quot;top&quot;:130.46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9,10,9,10,9,10]}"/>
</p:tagLst>
</file>

<file path=ppt/tags/tag12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1092_1*n_h_h_a*1_2_2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91.22212598425193,&quot;left&quot;:48.8792202782819,&quot;top&quot;:130.46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DIAGRAM_USE_COLOR_VALUE" val="{&quot;color_scheme&quot;:1,&quot;color_type&quot;:1,&quot;theme_color_indexes&quot;:[9,10,9,10,9,10]}"/>
</p:tagLst>
</file>

<file path=ppt/tags/tag1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092_1*n_h_h_f*1_2_2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91.22212598425193,&quot;left&quot;:48.8792202782819,&quot;top&quot;:130.46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智能图&#10;形项正文"/>
  <p:tag name="KSO_WM_UNIT_TEXT_FILL_FORE_SCHEMECOLOR_INDEX" val="1"/>
  <p:tag name="KSO_WM_UNIT_TEXT_FILL_TYPE" val="1"/>
  <p:tag name="KSO_WM_DIAGRAM_USE_COLOR_VALUE" val="{&quot;color_scheme&quot;:1,&quot;color_type&quot;:1,&quot;theme_color_indexes&quot;:[9,10,9,10,9,10]}"/>
</p:tagLst>
</file>

<file path=ppt/tags/tag124.xml><?xml version="1.0" encoding="utf-8"?>
<p:tagLst xmlns:p="http://schemas.openxmlformats.org/presentationml/2006/main">
  <p:tag name="KSO_WM_SLIDE_ITEM_CNT" val="3"/>
  <p:tag name="resource_record_key" val="{&quot;10&quot;:[3505430,50036384,50034089,50021210,50042277,21579435,21573058,21572379,50047114],&quot;29&quot;:[50053024,50052948],&quot;70&quot;:[3405561,3319090,3312439]}"/>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DIAGRAM_VIRTUALLY_FRAME" val="{&quot;height&quot;:361.2433407616803,&quot;left&quot;:934.775,&quot;top&quot;:149.82500305175782,&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80_2*l_h_a*1_1_1"/>
  <p:tag name="KSO_WM_TEMPLATE_CATEGORY" val="diagram"/>
  <p:tag name="KSO_WM_TEMPLATE_INDEX" val="40492880"/>
  <p:tag name="KSO_WM_UNIT_LAYERLEVEL" val="1_1_1"/>
  <p:tag name="KSO_WM_TAG_VERSION" val="3.0"/>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8.xml><?xml version="1.0" encoding="utf-8"?>
<p:tagLst xmlns:p="http://schemas.openxmlformats.org/presentationml/2006/main">
  <p:tag name="KSO_WM_DIAGRAM_VIRTUALLY_FRAME" val="{&quot;height&quot;:361.2433407616803,&quot;left&quot;:934.775,&quot;top&quot;:149.82500305175782,&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2880_2*l_h_i*1_1_1"/>
  <p:tag name="KSO_WM_TEMPLATE_CATEGORY" val="diagram"/>
  <p:tag name="KSO_WM_TEMPLATE_INDEX" val="40492880"/>
  <p:tag name="KSO_WM_UNIT_LAYERLEVEL" val="1_1_1"/>
  <p:tag name="KSO_WM_TAG_VERSION" val="3.0"/>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9.xml><?xml version="1.0" encoding="utf-8"?>
<p:tagLst xmlns:p="http://schemas.openxmlformats.org/presentationml/2006/main">
  <p:tag name="KSO_WM_DIAGRAM_VIRTUALLY_FRAME" val="{&quot;height&quot;:361.2433407616803,&quot;left&quot;:934.775,&quot;top&quot;:149.82500305175782,&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80_2*l_h_a*1_1_1"/>
  <p:tag name="KSO_WM_TEMPLATE_CATEGORY" val="diagram"/>
  <p:tag name="KSO_WM_TEMPLATE_INDEX" val="40492880"/>
  <p:tag name="KSO_WM_UNIT_LAYERLEVEL" val="1_1_1"/>
  <p:tag name="KSO_WM_TAG_VERSION" val="3.0"/>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0.xml><?xml version="1.0" encoding="utf-8"?>
<p:tagLst xmlns:p="http://schemas.openxmlformats.org/presentationml/2006/main">
  <p:tag name="KSO_WM_DIAGRAM_VIRTUALLY_FRAME" val="{&quot;height&quot;:361.2433407616803,&quot;left&quot;:934.775,&quot;top&quot;:149.82500305175782,&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2880_2*l_h_i*1_1_1"/>
  <p:tag name="KSO_WM_TEMPLATE_CATEGORY" val="diagram"/>
  <p:tag name="KSO_WM_TEMPLATE_INDEX" val="40492880"/>
  <p:tag name="KSO_WM_UNIT_LAYERLEVEL" val="1_1_1"/>
  <p:tag name="KSO_WM_TAG_VERSION" val="3.0"/>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1.xml><?xml version="1.0" encoding="utf-8"?>
<p:tagLst xmlns:p="http://schemas.openxmlformats.org/presentationml/2006/main">
  <p:tag name="KSO_WM_DIAGRAM_VIRTUALLY_FRAME" val="{&quot;height&quot;:361.2433407616803,&quot;left&quot;:934.775,&quot;top&quot;:149.82500305175782,&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80_2*l_h_a*1_1_1"/>
  <p:tag name="KSO_WM_TEMPLATE_CATEGORY" val="diagram"/>
  <p:tag name="KSO_WM_TEMPLATE_INDEX" val="40492880"/>
  <p:tag name="KSO_WM_UNIT_LAYERLEVEL" val="1_1_1"/>
  <p:tag name="KSO_WM_TAG_VERSION" val="3.0"/>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2.xml><?xml version="1.0" encoding="utf-8"?>
<p:tagLst xmlns:p="http://schemas.openxmlformats.org/presentationml/2006/main">
  <p:tag name="KSO_WM_DIAGRAM_VIRTUALLY_FRAME" val="{&quot;height&quot;:361.2433407616803,&quot;left&quot;:934.775,&quot;top&quot;:149.82500305175782,&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2880_2*l_h_i*1_1_1"/>
  <p:tag name="KSO_WM_TEMPLATE_CATEGORY" val="diagram"/>
  <p:tag name="KSO_WM_TEMPLATE_INDEX" val="40492880"/>
  <p:tag name="KSO_WM_UNIT_LAYERLEVEL" val="1_1_1"/>
  <p:tag name="KSO_WM_TAG_VERSION" val="3.0"/>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3.xml><?xml version="1.0" encoding="utf-8"?>
<p:tagLst xmlns:p="http://schemas.openxmlformats.org/presentationml/2006/main">
  <p:tag name="KSO_DOCER_RESOURCE_TRACE_INFO" val="{&quot;id&quot;:&quot;4521210&quot;,&quot;origin&quot;:0,&quot;type&quot;:&quot;icons&quot;,&quot;user&quot;:&quot;451439288&quot;}"/>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TABLE_ENDDRAG_ORIGIN_RECT" val="435*430"/>
  <p:tag name="TABLE_ENDDRAG_RECT" val="492*90*435*430"/>
</p:tagLst>
</file>

<file path=ppt/tags/tag137.xml><?xml version="1.0" encoding="utf-8"?>
<p:tagLst xmlns:p="http://schemas.openxmlformats.org/presentationml/2006/main">
  <p:tag name="TABLE_ENDDRAG_ORIGIN_RECT" val="435*430"/>
  <p:tag name="TABLE_ENDDRAG_RECT" val="492*90*435*430"/>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TABLE_ENDDRAG_ORIGIN_RECT" val="435*430"/>
  <p:tag name="TABLE_ENDDRAG_RECT" val="492*90*435*430"/>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a*1_1_1"/>
  <p:tag name="KSO_WM_TEMPLATE_CATEGORY" val="diagram"/>
  <p:tag name="KSO_WM_TEMPLATE_INDEX" val="40493068"/>
  <p:tag name="KSO_WM_UNIT_LAYERLEVEL" val="1_1_1"/>
  <p:tag name="KSO_WM_TAG_VERSION" val="3.0"/>
  <p:tag name="KSO_WM_BEAUTIFY_FLAG" val="#wm#"/>
  <p:tag name="KSO_WM_UNIT_ISCONTENTSTITLE" val="0"/>
  <p:tag name="KSO_WM_UNIT_ISNUMDGMTITLE" val="0"/>
  <p:tag name="KSO_WM_UNIT_NOCLEAR" val="0"/>
  <p:tag name="KSO_WM_DIAGRAM_GROUP_CODE" val="n1-1"/>
  <p:tag name="KSO_WM_UNIT_TYPE" val="n_h_a"/>
  <p:tag name="KSO_WM_UNIT_INDEX" val="1_1_1"/>
  <p:tag name="KSO_WM_UNIT_FILL_TYPE" val="3"/>
  <p:tag name="KSO_WM_UNIT_PRESET_TEXT" val="添加标题内容"/>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443.1499938964844,&quot;left&quot;:48.15,&quot;top&quot;:111.4000030517578,&quot;width&quot;:871.6145690917971}"/>
  <p:tag name="KSO_WM_DIAGRAM_COLOR_MATCH_VALUE" val="{&quot;shape&quot;:{&quot;fill&quot;:{&quot;gradient&quot;:[{&quot;brightness&quot;:0.4000000059604645,&quot;colorType&quot;:1,&quot;foreColorIndex&quot;:5,&quot;pos&quot;:0,&quot;transparency&quot;:0.20000000298023224},{&quot;brightness&quot;:0,&quot;colorType&quot;:1,&quot;foreColorIndex&quot;:5,&quot;pos&quot;:0.8899999856948853,&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1_1"/>
  <p:tag name="KSO_WM_TEMPLATE_CATEGORY" val="diagram"/>
  <p:tag name="KSO_WM_TEMPLATE_INDEX" val="40493068"/>
  <p:tag name="KSO_WM_UNIT_LAYERLEVEL" val="1_1_1_1"/>
  <p:tag name="KSO_WM_TAG_VERSION" val="3.0"/>
  <p:tag name="KSO_WM_BEAUTIFY_FLAG" val="#wm#"/>
  <p:tag name="KSO_WM_UNIT_VALUE" val="110*110"/>
  <p:tag name="KSO_WM_DIAGRAM_GROUP_CODE" val="n1-1"/>
  <p:tag name="KSO_WM_UNIT_TYPE" val="n_h_h_x"/>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443.1499938964844,&quot;left&quot;:48.15,&quot;top&quot;:111.4000030517578,&quot;width&quot;:871.6145690917971}"/>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2_1"/>
  <p:tag name="KSO_WM_TEMPLATE_CATEGORY" val="diagram"/>
  <p:tag name="KSO_WM_TEMPLATE_INDEX" val="40493068"/>
  <p:tag name="KSO_WM_UNIT_LAYERLEVEL" val="1_1_1_1"/>
  <p:tag name="KSO_WM_TAG_VERSION" val="3.0"/>
  <p:tag name="KSO_WM_BEAUTIFY_FLAG" val="#wm#"/>
  <p:tag name="KSO_WM_UNIT_VALUE" val="100*100"/>
  <p:tag name="KSO_WM_DIAGRAM_GROUP_CODE" val="n1-1"/>
  <p:tag name="KSO_WM_UNIT_TYPE" val="n_h_h_x"/>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443.1499938964844,&quot;left&quot;:48.15,&quot;top&quot;:111.4000030517578,&quot;width&quot;:871.6145690917971}"/>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1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DIAGRAM_GROUP_CODE" val="n1-1"/>
  <p:tag name="KSO_WM_UNIT_TYPE" val="n_h_h_f"/>
  <p:tag name="KSO_WM_UNIT_INDEX" val="1_2_1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单击此处添加文本，简明扼要地阐述您的观点。根据需要可酌情增减文字"/>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443.1499938964844,&quot;left&quot;:48.15,&quot;top&quot;:111.4000030517578,&quot;width&quot;:871.6145690917971}"/>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2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UNIT_VALUE" val="65"/>
  <p:tag name="KSO_WM_DIAGRAM_GROUP_CODE" val="n1-1"/>
  <p:tag name="KSO_WM_UNIT_TYPE" val="n_h_h_f"/>
  <p:tag name="KSO_WM_UNIT_INDEX" val="1_2_2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简明扼要地阐述您的观点。根据需要可酌情增减文字，以便观者准确地理解您传达的思想"/>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443.1499938964844,&quot;left&quot;:48.15,&quot;top&quot;:111.4000030517578,&quot;width&quot;:871.6145690917971}"/>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3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DIAGRAM_GROUP_CODE" val="n1-1"/>
  <p:tag name="KSO_WM_UNIT_TYPE" val="n_h_h_f"/>
  <p:tag name="KSO_WM_UNIT_INDEX" val="1_2_3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单击此处添加文本，简明扼要地阐述您的观点。根据需要可酌情增减文字"/>
  <p:tag name="KSO_WM_UNIT_VALUE" val="65"/>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443.1499938964844,&quot;left&quot;:48.15,&quot;top&quot;:111.4000030517578,&quot;width&quot;:871.6145690917971}"/>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1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1_1"/>
  <p:tag name="KSO_WM_UNIT_TEXT_FILL_FORE_SCHEMECOLOR_INDEX" val="3"/>
  <p:tag name="KSO_WM_UNIT_TEXT_FILL_TYPE" val="3"/>
  <p:tag name="KSO_WM_UNIT_PRESET_TEXT" val="添加标题"/>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443.1499938964844,&quot;left&quot;:48.15,&quot;top&quot;:111.4000030517578,&quot;width&quot;:871.614569091797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2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2_1"/>
  <p:tag name="KSO_WM_UNIT_TEXT_FILL_FORE_SCHEMECOLOR_INDEX" val="3"/>
  <p:tag name="KSO_WM_UNIT_TEXT_FILL_TYPE" val="3"/>
  <p:tag name="KSO_WM_UNIT_PRESET_TEXT" val="添加标题"/>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443.1499938964844,&quot;left&quot;:48.15,&quot;top&quot;:111.4000030517578,&quot;width&quot;:871.614569091797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3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3_1"/>
  <p:tag name="KSO_WM_UNIT_TEXT_FILL_FORE_SCHEMECOLOR_INDEX" val="3"/>
  <p:tag name="KSO_WM_UNIT_TEXT_FILL_TYPE" val="3"/>
  <p:tag name="KSO_WM_UNIT_PRESET_TEXT" val="添加标题"/>
  <p:tag name="KSO_WM_UNIT_VALUE" val="13"/>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443.1499938964844,&quot;left&quot;:48.15,&quot;top&quot;:111.4000030517578,&quot;width&quot;:871.614569091797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3_1"/>
  <p:tag name="KSO_WM_TEMPLATE_CATEGORY" val="diagram"/>
  <p:tag name="KSO_WM_TEMPLATE_INDEX" val="40493068"/>
  <p:tag name="KSO_WM_UNIT_LAYERLEVEL" val="1_1_1_1"/>
  <p:tag name="KSO_WM_TAG_VERSION" val="3.0"/>
  <p:tag name="KSO_WM_BEAUTIFY_FLAG" val="#wm#"/>
  <p:tag name="KSO_WM_UNIT_VALUE" val="110*110"/>
  <p:tag name="KSO_WM_DIAGRAM_GROUP_CODE" val="n1-1"/>
  <p:tag name="KSO_WM_UNIT_TYPE" val="n_h_h_x"/>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443.1499938964844,&quot;left&quot;:48.15,&quot;top&quot;:111.4000030517578,&quot;width&quot;:871.6145690917971}"/>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57.xml><?xml version="1.0" encoding="utf-8"?>
<p:tagLst xmlns:p="http://schemas.openxmlformats.org/presentationml/2006/main">
  <p:tag name="KSO_WM_SLIDE_ITEM_CNT" val="3"/>
  <p:tag name="resource_record_key" val="{&quot;10&quot;:[3505430,50036384,3504219,4526305],&quot;29&quot;:[50053024,50052948],&quot;70&quot;:[3405561,3319090,3312439,3318441,3431215]}"/>
</p:tagLst>
</file>

<file path=ppt/tags/tag158.xml><?xml version="1.0" encoding="utf-8"?>
<p:tagLst xmlns:p="http://schemas.openxmlformats.org/presentationml/2006/main">
  <p:tag name="TABLE_ENDDRAG_ORIGIN_RECT" val="864*407"/>
  <p:tag name="TABLE_ENDDRAG_RECT" val="27*74*864*407"/>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DOCER_RESOURCE_TRACE_INFO" val="{&quot;id&quot;:&quot;&quot;,&quot;origin&quot;:0,&quot;type&quot;:&quot;textbox&quot;,&quot;user&quot;:&quot;451439288&quot;}"/>
</p:tagLst>
</file>

<file path=ppt/tags/tag16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o_h_f"/>
  <p:tag name="KSO_WM_UNIT_INDEX" val="1_1_1"/>
  <p:tag name="KSO_WM_UNIT_ID" val="diagram20234924_3*o_h_f*1_1_1"/>
  <p:tag name="KSO_WM_TEMPLATE_CATEGORY" val="diagram"/>
  <p:tag name="KSO_WM_TEMPLATE_INDEX" val="20234924"/>
  <p:tag name="KSO_WM_UNIT_LAYERLEVEL" val="1_1_1"/>
  <p:tag name="KSO_WM_TAG_VERSION" val="3.0"/>
  <p:tag name="KSO_WM_UNIT_FROM" val="WPS"/>
  <p:tag name="KSO_WM_DIAGRAM_VERSION" val="3"/>
  <p:tag name="KSO_WM_DIAGRAM_COLOR_TRICK" val="1"/>
  <p:tag name="KSO_WM_DIAGRAM_COLOR_TEXT_CAN_REMOVE" val="n"/>
  <p:tag name="KSO_WM_DIAGRAM_GROUP_CODE" val="o1-1"/>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9200000166893005},{&quot;brightness&quot;:0.800000011920929,&quot;colorType&quot;:1,&quot;foreColorIndex&quot;:5,&quot;pos&quot;:0.12999999523162842,&quot;transparency&quot;:0.75},{&quot;brightness&quot;:0.800000011920929,&quot;colorType&quot;:1,&quot;foreColorIndex&quot;:5,&quot;pos&quot;:1,&quot;transparency&quot;:0.3100000023841858}],&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1"/>
  <p:tag name="KSO_WM_UNIT_PRESET_TEXT" val="单击此处添加文本内容，简明扼要地阐述观点"/>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16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o_h_f"/>
  <p:tag name="KSO_WM_UNIT_INDEX" val="1_2_1"/>
  <p:tag name="KSO_WM_UNIT_ID" val="diagram20234924_3*o_h_f*1_2_1"/>
  <p:tag name="KSO_WM_TEMPLATE_CATEGORY" val="diagram"/>
  <p:tag name="KSO_WM_TEMPLATE_INDEX" val="20234924"/>
  <p:tag name="KSO_WM_UNIT_LAYERLEVEL" val="1_1_1"/>
  <p:tag name="KSO_WM_TAG_VERSION" val="3.0"/>
  <p:tag name="KSO_WM_UNIT_FROM" val="WPS"/>
  <p:tag name="KSO_WM_DIAGRAM_VERSION" val="3"/>
  <p:tag name="KSO_WM_DIAGRAM_COLOR_TRICK" val="1"/>
  <p:tag name="KSO_WM_DIAGRAM_COLOR_TEXT_CAN_REMOVE" val="n"/>
  <p:tag name="KSO_WM_DIAGRAM_GROUP_CODE" val="o1-1"/>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9200000166893005},{&quot;brightness&quot;:0.800000011920929,&quot;colorType&quot;:1,&quot;foreColorIndex&quot;:5,&quot;pos&quot;:0.12999999523162842,&quot;transparency&quot;:0.75},{&quot;brightness&quot;:0.800000011920929,&quot;colorType&quot;:1,&quot;foreColorIndex&quot;:5,&quot;pos&quot;:1,&quot;transparency&quot;:0.3100000023841858}],&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扼要地阐述观点"/>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16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o_h_f"/>
  <p:tag name="KSO_WM_UNIT_INDEX" val="1_3_1"/>
  <p:tag name="KSO_WM_UNIT_ID" val="diagram20234924_3*o_h_f*1_3_1"/>
  <p:tag name="KSO_WM_TEMPLATE_CATEGORY" val="diagram"/>
  <p:tag name="KSO_WM_TEMPLATE_INDEX" val="20234924"/>
  <p:tag name="KSO_WM_UNIT_LAYERLEVEL" val="1_1_1"/>
  <p:tag name="KSO_WM_TAG_VERSION" val="3.0"/>
  <p:tag name="KSO_WM_UNIT_FROM" val="WPS"/>
  <p:tag name="KSO_WM_DIAGRAM_VERSION" val="3"/>
  <p:tag name="KSO_WM_DIAGRAM_COLOR_TRICK" val="1"/>
  <p:tag name="KSO_WM_DIAGRAM_COLOR_TEXT_CAN_REMOVE" val="n"/>
  <p:tag name="KSO_WM_DIAGRAM_GROUP_CODE" val="o1-1"/>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9200000166893005},{&quot;brightness&quot;:0.800000011920929,&quot;colorType&quot;:1,&quot;foreColorIndex&quot;:5,&quot;pos&quot;:0.12999999523162842,&quot;transparency&quot;:0.75},{&quot;brightness&quot;:0.800000011920929,&quot;colorType&quot;:1,&quot;foreColorIndex&quot;:5,&quot;pos&quot;:1,&quot;transparency&quot;:0.3100000023841858}],&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扼要地阐述观点"/>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16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o_h_f"/>
  <p:tag name="KSO_WM_UNIT_INDEX" val="1_4_1"/>
  <p:tag name="KSO_WM_UNIT_ID" val="diagram20234924_3*o_h_f*1_4_1"/>
  <p:tag name="KSO_WM_TEMPLATE_CATEGORY" val="diagram"/>
  <p:tag name="KSO_WM_TEMPLATE_INDEX" val="20234924"/>
  <p:tag name="KSO_WM_UNIT_LAYERLEVEL" val="1_1_1"/>
  <p:tag name="KSO_WM_TAG_VERSION" val="3.0"/>
  <p:tag name="KSO_WM_UNIT_FROM" val="WPS"/>
  <p:tag name="KSO_WM_DIAGRAM_VERSION" val="3"/>
  <p:tag name="KSO_WM_DIAGRAM_COLOR_TRICK" val="1"/>
  <p:tag name="KSO_WM_DIAGRAM_COLOR_TEXT_CAN_REMOVE" val="n"/>
  <p:tag name="KSO_WM_DIAGRAM_GROUP_CODE" val="o1-1"/>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9200000166893005},{&quot;brightness&quot;:0.800000011920929,&quot;colorType&quot;:1,&quot;foreColorIndex&quot;:5,&quot;pos&quot;:0.12999999523162842,&quot;transparency&quot;:0.75},{&quot;brightness&quot;:0.800000011920929,&quot;colorType&quot;:1,&quot;foreColorIndex&quot;:5,&quot;pos&quot;:1,&quot;transparency&quot;:0.3100000023841858}],&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内容，简明扼要地阐述观点"/>
  <p:tag name="KSO_WM_UNIT_FILL_TYPE" val="3"/>
  <p:tag name="KSO_WM_UNIT_LINE_FORE_SCHEMECOLOR_INDEX" val="5"/>
  <p:tag name="KSO_WM_UNIT_TEXT_FILL_FORE_SCHEMECOLOR_INDEX" val="1"/>
  <p:tag name="KSO_WM_UNIT_TEXT_FILL_TYPE" val="1"/>
  <p:tag name="KSO_WM_UNIT_TEXT_TYPE" val="1"/>
  <p:tag name="KSO_WM_DIAGRAM_USE_COLOR_VALUE" val="{&quot;color_scheme&quot;:1,&quot;color_type&quot;:1,&quot;theme_color_indexes&quot;:[9,10,9,10,9,10]}"/>
</p:tagLst>
</file>

<file path=ppt/tags/tag16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4_2"/>
  <p:tag name="KSO_WM_UNIT_ID" val="diagram20234924_3*o_h_i*1_4_2"/>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quot;colorType&quot;:1,&quot;foreColorIndex&quot;:5,&quot;pos&quot;:0.6299999952316284,&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brightness&quot;:-0.5,&quot;colorType&quot;:1,&quot;foreColorIndex&quot;:5,&quot;transparency&quot;:0.75},&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4_1"/>
  <p:tag name="KSO_WM_UNIT_ID" val="diagram20234924_3*o_h_i*1_4_1"/>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25,&quot;colorType&quot;:1,&quot;foreColorIndex&quot;:5,&quot;pos&quot;:0.6200000047683716,&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3_2"/>
  <p:tag name="KSO_WM_UNIT_ID" val="diagram20234924_3*o_h_i*1_3_2"/>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quot;colorType&quot;:1,&quot;foreColorIndex&quot;:5,&quot;pos&quot;:0.6299999952316284,&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brightness&quot;:-0.5,&quot;colorType&quot;:1,&quot;foreColorIndex&quot;:5,&quot;transparency&quot;:0.75},&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7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3_1"/>
  <p:tag name="KSO_WM_UNIT_ID" val="diagram20234924_3*o_h_i*1_3_1"/>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25,&quot;colorType&quot;:1,&quot;foreColorIndex&quot;:5,&quot;pos&quot;:0.6200000047683716,&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7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2_2"/>
  <p:tag name="KSO_WM_UNIT_ID" val="diagram20234924_3*o_h_i*1_2_2"/>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quot;colorType&quot;:1,&quot;foreColorIndex&quot;:5,&quot;pos&quot;:0.6299999952316284,&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brightness&quot;:-0.5,&quot;colorType&quot;:1,&quot;foreColorIndex&quot;:5,&quot;transparency&quot;:0.75},&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7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2_1"/>
  <p:tag name="KSO_WM_UNIT_ID" val="diagram20234924_3*o_h_i*1_2_1"/>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25,&quot;colorType&quot;:1,&quot;foreColorIndex&quot;:5,&quot;pos&quot;:0.6200000047683716,&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7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2"/>
  <p:tag name="KSO_WM_UNIT_ID" val="diagram20234924_3*o_h_i*1_1_2"/>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quot;colorType&quot;:1,&quot;foreColorIndex&quot;:5,&quot;pos&quot;:0.6299999952316284,&quot;transparency&quot;:0}],&quot;type&quot;:3},&quot;glow&quot;:{&quot;colorType&quot;:0},&quot;line&quot;:{&quot;type&quot;:0},&quot;shadow&quot;:{&quot;brightness&quot;:-0.25,&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brightness&quot;:-0.5,&quot;colorType&quot;:1,&quot;foreColorIndex&quot;:5,&quot;transparency&quot;:0.75},&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7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1"/>
  <p:tag name="KSO_WM_UNIT_ID" val="diagram20234924_3*o_h_i*1_1_1"/>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6000000238418579,&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7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o1-1"/>
  <p:tag name="KSO_WM_UNIT_TYPE" val="o_h_i"/>
  <p:tag name="KSO_WM_UNIT_INDEX" val="1_1_3"/>
  <p:tag name="KSO_WM_UNIT_ID" val="diagram20234924_3*o_h_i*1_1_3"/>
  <p:tag name="KSO_WM_TEMPLATE_CATEGORY" val="diagram"/>
  <p:tag name="KSO_WM_TEMPLATE_INDEX" val="20234924"/>
  <p:tag name="KSO_WM_UNIT_LAYERLEVEL" val="1_1_1"/>
  <p:tag name="KSO_WM_TAG_VERSION" val="3.0"/>
  <p:tag name="KSO_WM_DIAGRAM_MAX_ITEMCNT" val="5"/>
  <p:tag name="KSO_WM_DIAGRAM_MIN_ITEMCNT" val="2"/>
  <p:tag name="KSO_WM_DIAGRAM_VIRTUALLY_FRAME" val="{&quot;height&quot;:245.3810307076132,&quot;left&quot;:77.44998779296874,&quot;top&quot;:227.84258989785553,&quot;width&quot;:367.9000244140625}"/>
  <p:tag name="KSO_WM_DIAGRAM_COLOR_MATCH_VALUE" val="{&quot;shape&quot;:{&quot;fill&quot;:{&quot;gradient&quot;:[{&quot;brightness&quot;:0.800000011920929,&quot;colorType&quot;:1,&quot;foreColorIndex&quot;:5,&quot;pos&quot;:0,&quot;transparency&quot;:0},{&quot;brightness&quot;:0.6000000238418579,&quot;colorType&quot;:1,&quot;foreColorIndex&quot;:5,&quot;pos&quot;:1,&quot;transparency&quot;:0}],&quot;type&quot;:3},&quot;glow&quot;:{&quot;colorType&quot;:0},&quot;line&quot;:{&quot;type&quot;:0},&quot;shadow&quot;:{&quot;brightness&quot;:-0.5,&quot;colorType&quot;:1,&quot;foreColorIndex&quot;:6,&quot;transparency&quot;:0.8199999928474426},&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9,10,9,10,9,10]}"/>
</p:tagLst>
</file>

<file path=ppt/tags/tag17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1_1"/>
  <p:tag name="KSO_WM_UNIT_ID" val="diagram20234922_3*o_h_a*1_1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7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1_1"/>
  <p:tag name="KSO_WM_UNIT_ID" val="diagram20234922_3*o_h_a*1_1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7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1_1"/>
  <p:tag name="KSO_WM_UNIT_ID" val="diagram20234922_3*o_h_a*1_1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8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1_1"/>
  <p:tag name="KSO_WM_UNIT_ID" val="diagram20234922_3*o_h_a*1_1_1"/>
  <p:tag name="KSO_WM_TEMPLATE_CATEGORY" val="diagram"/>
  <p:tag name="KSO_WM_TEMPLATE_INDEX" val="20234922"/>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239.6596062992126,&quot;left&quot;:75.09999999999994,&quot;top&quot;:225.5903937007874,&quot;width&quot;:426.7205511811024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4000000059604645},&quot;type&quot;:1},&quot;glow&quot;:{&quot;colorType&quot;:0},&quot;line&quot;:{&quot;type&quot;:0},&quot;shadow&quot;:{&quot;colorType&quot;:0},&quot;threeD&quot;:{&quot;curvedSurface&quot;:{&quot;brightness&quot;:0,&quot;colorType&quot;:2,&quot;rgb&quot;:&quot;#000000&quot;},&quot;depth&quot;:{&quot;colorType&quot;:0}}}}"/>
  <p:tag name="KSO_WM_UNIT_USESOURCEFORMAT_APPLY" val="1"/>
  <p:tag name="KSO_WM_UNIT_TEXT_FILL_FORE_SCHEMECOLOR_INDEX" val="1"/>
  <p:tag name="KSO_WM_UNIT_TEXT_FILL_TYPE" val="1"/>
  <p:tag name="KSO_WM_UNIT_PRESET_TEXT" val="添加标题"/>
  <p:tag name="KSO_WM_UNIT_TEXT_TYPE" val="1"/>
  <p:tag name="KSO_WM_DIAGRAM_USE_COLOR_VALUE" val="{&quot;color_scheme&quot;:1,&quot;color_type&quot;:1,&quot;theme_color_indexes&quot;:[9,10,9,10,9,10]}"/>
</p:tagLst>
</file>

<file path=ppt/tags/tag181.xml><?xml version="1.0" encoding="utf-8"?>
<p:tagLst xmlns:p="http://schemas.openxmlformats.org/presentationml/2006/main">
  <p:tag name="KSO_WM_SLIDE_ITEM_CNT" val="3"/>
  <p:tag name="resource_record_key" val="{&quot;70&quot;:[3429242]}"/>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85.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86.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87.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88.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89.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90.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91.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92.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93.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94.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95.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96.xml><?xml version="1.0" encoding="utf-8"?>
<p:tagLst xmlns:p="http://schemas.openxmlformats.org/presentationml/2006/main">
  <p:tag name="KSO_WM_DIAGRAM_VIRTUALLY_FRAME" val="{&quot;height&quot;:389.22692913385833,&quot;left&quot;:29.493937007874003,&quot;top&quot;:117.93755905511811,&quot;width&quot;:556.256062992126}"/>
</p:tagLst>
</file>

<file path=ppt/tags/tag197.xml><?xml version="1.0" encoding="utf-8"?>
<p:tagLst xmlns:p="http://schemas.openxmlformats.org/presentationml/2006/main">
  <p:tag name="KSO_DOCER_RESOURCE_TRACE_INFO" val="{&quot;id&quot;:&quot;&quot;,&quot;origin&quot;:0,&quot;type&quot;:&quot;textbox&quot;,&quot;user&quot;:&quot;451439288&quot;}"/>
</p:tagLst>
</file>

<file path=ppt/tags/tag198.xml><?xml version="1.0" encoding="utf-8"?>
<p:tagLst xmlns:p="http://schemas.openxmlformats.org/presentationml/2006/main">
  <p:tag name="KSO_WM_SLIDE_ITEM_CNT" val="3"/>
  <p:tag name="resource_record_key" val="{&quot;70&quot;:[3429242]}"/>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SLIDE_ITEM_CNT" val="3"/>
  <p:tag name="resource_record_key" val="{&quot;70&quot;:[3429242]}"/>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1"/>
  <p:tag name="KSO_WM_TEMPLATE_CATEGORY" val="diagram"/>
  <p:tag name="KSO_WM_TEMPLATE_INDEX" val="20231439"/>
  <p:tag name="KSO_WM_UNIT_LAYERLEVEL" val="1_1"/>
  <p:tag name="KSO_WM_TAG_VERSION" val="3.0"/>
  <p:tag name="KSO_WM_DIAGRAM_GROUP_CODE" val="l1-1"/>
  <p:tag name="KSO_WM_UNIT_TYPE" val="l_i"/>
  <p:tag name="KSO_WM_UNIT_INDEX" val="1_1"/>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quot;colorType&quot;:1,&quot;foreColorIndex&quot;:5,&quot;pos&quot;:0,&quot;transparency&quot;:1},{&quot;brightness&quot;:0,&quot;colorType&quot;:1,&quot;foreColorIndex&quot;:5,&quot;pos&quot;:1,&quot;transparency&quot;:0.670000016689300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2"/>
  <p:tag name="KSO_WM_TEMPLATE_CATEGORY" val="diagram"/>
  <p:tag name="KSO_WM_TEMPLATE_INDEX" val="20231439"/>
  <p:tag name="KSO_WM_UNIT_LAYERLEVEL" val="1_1"/>
  <p:tag name="KSO_WM_TAG_VERSION" val="3.0"/>
  <p:tag name="KSO_WM_DIAGRAM_GROUP_CODE" val="l1-1"/>
  <p:tag name="KSO_WM_UNIT_TYPE" val="l_i"/>
  <p:tag name="KSO_WM_UNIT_INDEX" val="1_2"/>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quot;colorType&quot;:1,&quot;foreColorIndex&quot;:5,&quot;pos&quot;:0.10000000149011612,&quot;transparency&quot;:1},{&quot;brightness&quot;:0,&quot;colorType&quot;:1,&quot;foreColorIndex&quot;:5,&quot;pos&quot;:1,&quot;transparency&quot;:0.8799999952316284}],&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3"/>
  <p:tag name="KSO_WM_TEMPLATE_CATEGORY" val="diagram"/>
  <p:tag name="KSO_WM_TEMPLATE_INDEX" val="20231439"/>
  <p:tag name="KSO_WM_UNIT_LAYERLEVEL" val="1_1"/>
  <p:tag name="KSO_WM_TAG_VERSION" val="3.0"/>
  <p:tag name="KSO_WM_DIAGRAM_GROUP_CODE" val="l1-1"/>
  <p:tag name="KSO_WM_UNIT_TYPE" val="l_i"/>
  <p:tag name="KSO_WM_UNIT_INDEX" val="1_3"/>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6000000238418579},{&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4"/>
  <p:tag name="KSO_WM_TEMPLATE_CATEGORY" val="diagram"/>
  <p:tag name="KSO_WM_TEMPLATE_INDEX" val="20231439"/>
  <p:tag name="KSO_WM_UNIT_LAYERLEVEL" val="1_1"/>
  <p:tag name="KSO_WM_TAG_VERSION" val="3.0"/>
  <p:tag name="KSO_WM_DIAGRAM_GROUP_CODE" val="l1-1"/>
  <p:tag name="KSO_WM_UNIT_TYPE" val="l_i"/>
  <p:tag name="KSO_WM_UNIT_INDEX" val="1_4"/>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7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5"/>
  <p:tag name="KSO_WM_TEMPLATE_CATEGORY" val="diagram"/>
  <p:tag name="KSO_WM_TEMPLATE_INDEX" val="20231439"/>
  <p:tag name="KSO_WM_UNIT_LAYERLEVEL" val="1_1"/>
  <p:tag name="KSO_WM_TAG_VERSION" val="3.0"/>
  <p:tag name="KSO_WM_DIAGRAM_GROUP_CODE" val="l1-1"/>
  <p:tag name="KSO_WM_UNIT_TYPE" val="l_i"/>
  <p:tag name="KSO_WM_UNIT_INDEX" val="1_5"/>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7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6"/>
  <p:tag name="KSO_WM_TEMPLATE_CATEGORY" val="diagram"/>
  <p:tag name="KSO_WM_TEMPLATE_INDEX" val="20231439"/>
  <p:tag name="KSO_WM_UNIT_LAYERLEVEL" val="1_1"/>
  <p:tag name="KSO_WM_TAG_VERSION" val="3.0"/>
  <p:tag name="KSO_WM_DIAGRAM_GROUP_CODE" val="l1-1"/>
  <p:tag name="KSO_WM_UNIT_TYPE" val="l_i"/>
  <p:tag name="KSO_WM_UNIT_INDEX" val="1_6"/>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7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7"/>
  <p:tag name="KSO_WM_TEMPLATE_CATEGORY" val="diagram"/>
  <p:tag name="KSO_WM_TEMPLATE_INDEX" val="20231439"/>
  <p:tag name="KSO_WM_UNIT_LAYERLEVEL" val="1_1"/>
  <p:tag name="KSO_WM_TAG_VERSION" val="3.0"/>
  <p:tag name="KSO_WM_DIAGRAM_GROUP_CODE" val="l1-1"/>
  <p:tag name="KSO_WM_UNIT_TYPE" val="l_i"/>
  <p:tag name="KSO_WM_UNIT_INDEX" val="1_7"/>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7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8"/>
  <p:tag name="KSO_WM_TEMPLATE_CATEGORY" val="diagram"/>
  <p:tag name="KSO_WM_TEMPLATE_INDEX" val="20231439"/>
  <p:tag name="KSO_WM_UNIT_LAYERLEVEL" val="1_1"/>
  <p:tag name="KSO_WM_TAG_VERSION" val="3.0"/>
  <p:tag name="KSO_WM_DIAGRAM_GROUP_CODE" val="l1-1"/>
  <p:tag name="KSO_WM_UNIT_TYPE" val="l_i"/>
  <p:tag name="KSO_WM_UNIT_INDEX" val="1_8"/>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85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9"/>
  <p:tag name="KSO_WM_TEMPLATE_CATEGORY" val="diagram"/>
  <p:tag name="KSO_WM_TEMPLATE_INDEX" val="20231439"/>
  <p:tag name="KSO_WM_UNIT_LAYERLEVEL" val="1_1"/>
  <p:tag name="KSO_WM_TAG_VERSION" val="3.0"/>
  <p:tag name="KSO_WM_DIAGRAM_GROUP_CODE" val="l1-1"/>
  <p:tag name="KSO_WM_UNIT_TYPE" val="l_i"/>
  <p:tag name="KSO_WM_UNIT_INDEX" val="1_9"/>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85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10"/>
  <p:tag name="KSO_WM_TEMPLATE_CATEGORY" val="diagram"/>
  <p:tag name="KSO_WM_TEMPLATE_INDEX" val="20231439"/>
  <p:tag name="KSO_WM_UNIT_LAYERLEVEL" val="1_1"/>
  <p:tag name="KSO_WM_TAG_VERSION" val="3.0"/>
  <p:tag name="KSO_WM_DIAGRAM_GROUP_CODE" val="l1-1"/>
  <p:tag name="KSO_WM_UNIT_TYPE" val="l_i"/>
  <p:tag name="KSO_WM_UNIT_INDEX" val="1_10"/>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89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13"/>
  <p:tag name="KSO_WM_TEMPLATE_CATEGORY" val="diagram"/>
  <p:tag name="KSO_WM_TEMPLATE_INDEX" val="20231439"/>
  <p:tag name="KSO_WM_UNIT_LAYERLEVEL" val="1_1"/>
  <p:tag name="KSO_WM_TAG_VERSION" val="3.0"/>
  <p:tag name="KSO_WM_DIAGRAM_GROUP_CODE" val="l1-1"/>
  <p:tag name="KSO_WM_UNIT_TYPE" val="l_i"/>
  <p:tag name="KSO_WM_UNIT_INDEX" val="1_13"/>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6000000238418579},{&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21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439_1*l_h_f*1_1_1"/>
  <p:tag name="KSO_WM_TEMPLATE_CATEGORY" val="diagram"/>
  <p:tag name="KSO_WM_TEMPLATE_INDEX" val="20231439"/>
  <p:tag name="KSO_WM_UNIT_LAYERLEVEL" val="1_1_1"/>
  <p:tag name="KSO_WM_TAG_VERSION" val="3.0"/>
  <p:tag name="KSO_WM_DIAGRAM_VERSION" val="3"/>
  <p:tag name="KSO_WM_DIAGRAM_COLOR_TRICK" val="1"/>
  <p:tag name="KSO_WM_DIAGRAM_COLOR_TEXT_CAN_REMOVE" val="n"/>
  <p:tag name="KSO_WM_UNIT_VALUE" val="42"/>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本具体内容文字是您思想的提炼，请尽量言简意赅的阐述您的内容观点。"/>
  <p:tag name="KSO_WM_UNIT_TEXT_FILL_FORE_SCHEMECOLOR_INDEX" val="1"/>
  <p:tag name="KSO_WM_UNIT_TEXT_FILL_TYPE" val="1"/>
  <p:tag name="KSO_WM_DIAGRAM_USE_COLOR_VALUE" val="{&quot;color_scheme&quot;:1,&quot;color_type&quot;:1,&quot;theme_color_indexes&quot;:[9,10,9,10,9,10]}"/>
</p:tagLst>
</file>

<file path=ppt/tags/tag21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439_1*l_h_f*1_2_1"/>
  <p:tag name="KSO_WM_TEMPLATE_CATEGORY" val="diagram"/>
  <p:tag name="KSO_WM_TEMPLATE_INDEX" val="20231439"/>
  <p:tag name="KSO_WM_UNIT_LAYERLEVEL" val="1_1_1"/>
  <p:tag name="KSO_WM_TAG_VERSION" val="3.0"/>
  <p:tag name="KSO_WM_DIAGRAM_VERSION" val="3"/>
  <p:tag name="KSO_WM_DIAGRAM_COLOR_TRICK" val="1"/>
  <p:tag name="KSO_WM_DIAGRAM_COLOR_TEXT_CAN_REMOVE" val="n"/>
  <p:tag name="KSO_WM_UNIT_VALUE" val="42"/>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具体内容，文字是您思想的提炼，请言简意赅的阐述您的观点。"/>
  <p:tag name="KSO_WM_UNIT_TEXT_FILL_FORE_SCHEMECOLOR_INDEX" val="1"/>
  <p:tag name="KSO_WM_UNIT_TEXT_FILL_TYPE" val="1"/>
  <p:tag name="KSO_WM_DIAGRAM_USE_COLOR_VALUE" val="{&quot;color_scheme&quot;:1,&quot;color_type&quot;:1,&quot;theme_color_indexes&quot;:[9,10,9,10,9,10]}"/>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439_1*l_h_i*1_1_1"/>
  <p:tag name="KSO_WM_TEMPLATE_CATEGORY" val="diagram"/>
  <p:tag name="KSO_WM_TEMPLATE_INDEX" val="20231439"/>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25,&quot;colorType&quot;:1,&quot;foreColorIndex&quot;:5,&quot;pos&quot;:0.9930099844932556,&quot;transparency&quot;:0},{&quot;brightness&quot;:0.4000000059604645,&quot;colorType&quot;:1,&quot;foreColorIndex&quot;:5,&quot;pos&quot;:0,&quot;transparency&quot;:0},{&quot;brightness&quot;:0,&quot;colorType&quot;:1,&quot;foreColorIndex&quot;:5,&quot;pos&quot;:0.680000007152557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439_1*l_h_i*1_2_1"/>
  <p:tag name="KSO_WM_TEMPLATE_CATEGORY" val="diagram"/>
  <p:tag name="KSO_WM_TEMPLATE_INDEX" val="20231439"/>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25,&quot;colorType&quot;:1,&quot;foreColorIndex&quot;:5,&quot;pos&quot;:0.9930099844932556,&quot;transparency&quot;:0},{&quot;brightness&quot;:0.4000000059604645,&quot;colorType&quot;:1,&quot;foreColorIndex&quot;:5,&quot;pos&quot;:0,&quot;transparency&quot;:0},{&quot;brightness&quot;:0,&quot;colorType&quot;:1,&quot;foreColorIndex&quot;:5,&quot;pos&quot;:0.680000007152557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21.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5023_1*n_h_a*1_1_1"/>
  <p:tag name="KSO_WM_TEMPLATE_CATEGORY" val="diagram"/>
  <p:tag name="KSO_WM_TEMPLATE_INDEX" val="20235023"/>
  <p:tag name="KSO_WM_UNIT_LAYERLEVEL" val="1_1_1"/>
  <p:tag name="KSO_WM_TAG_VERSION" val="3.0"/>
  <p:tag name="KSO_WM_DIAGRAM_MAX_ITEMCNT" val="5"/>
  <p:tag name="KSO_WM_DIAGRAM_MIN_ITEMCNT" val="3"/>
  <p:tag name="KSO_WM_DIAGRAM_VIRTUALLY_FRAME" val="{&quot;height&quot;:389.1749969482422,&quot;left&quot;:51.67501220703125,&quot;top&quot;:94,&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你的标题具体内容"/>
  <p:tag name="KSO_WM_UNIT_TEXT_FILL_FORE_SCHEMECOLOR_INDEX" val="1"/>
  <p:tag name="KSO_WM_UNIT_TEXT_FILL_TYPE" val="1"/>
  <p:tag name="KSO_WM_DIAGRAM_USE_COLOR_VALUE" val="{&quot;color_scheme&quot;:1,&quot;color_type&quot;:1,&quot;theme_color_indexes&quot;:[9,10,9,10,9,10]}"/>
</p:tagLst>
</file>

<file path=ppt/tags/tag222.xml><?xml version="1.0" encoding="utf-8"?>
<p:tagLst xmlns:p="http://schemas.openxmlformats.org/presentationml/2006/main">
  <p:tag name="TABLE_ENDDRAG_ORIGIN_RECT" val="249*143"/>
  <p:tag name="TABLE_ENDDRAG_RECT" val="50*226*249*143"/>
</p:tagLst>
</file>

<file path=ppt/tags/tag223.xml><?xml version="1.0" encoding="utf-8"?>
<p:tagLst xmlns:p="http://schemas.openxmlformats.org/presentationml/2006/main">
  <p:tag name="TABLE_ENDDRAG_ORIGIN_RECT" val="249*143"/>
  <p:tag name="TABLE_ENDDRAG_RECT" val="50*226*249*143"/>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2_1_3"/>
  <p:tag name="KSO_WM_UNIT_ID" val="diagram20235023_1*n_h_i*2_1_3"/>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gradient&quot;:[{&quot;brightness&quot;:0,&quot;colorType&quot;:1,&quot;foreColorIndex&quot;:5,&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25.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a"/>
  <p:tag name="KSO_WM_UNIT_INDEX" val="2_1_1"/>
  <p:tag name="KSO_WM_UNIT_ID" val="diagram20235023_1*n_h_a*2_1_1"/>
  <p:tag name="KSO_WM_TEMPLATE_CATEGORY" val="diagram"/>
  <p:tag name="KSO_WM_TEMPLATE_INDEX" val="20235023"/>
  <p:tag name="KSO_WM_UNIT_LAYERLEVEL" val="1_1_1"/>
  <p:tag name="KSO_WM_TAG_VERSION" val="3.0"/>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BEAUTIFY_FLAG" val="#wm#"/>
  <p:tag name="KSO_WM_UNIT_TEXT_TYPE" val="1"/>
  <p:tag name="KSO_WM_UNIT_PRESET_TEXT" val="单击此处添加你的标题具体内容"/>
  <p:tag name="KSO_WM_UNIT_TEXT_FILL_FORE_SCHEMECOLOR_INDEX" val="1"/>
  <p:tag name="KSO_WM_UNIT_TEXT_FILL_TYPE" val="1"/>
  <p:tag name="KSO_WM_DIAGRAM_USE_COLOR_VALUE" val="{&quot;color_scheme&quot;:1,&quot;color_type&quot;:1,&quot;theme_color_indexes&quot;:[9,10,9,10,9,10]}"/>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2_1_4"/>
  <p:tag name="KSO_WM_UNIT_ID" val="diagram20235023_1*n_h_i*2_1_4"/>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44999998807907104}],&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2_1_1"/>
  <p:tag name="KSO_WM_UNIT_ID" val="diagram20235023_1*n_h_i*2_1_1"/>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2_1_2"/>
  <p:tag name="KSO_WM_UNIT_ID" val="diagram20235023_1*n_h_i*2_1_2"/>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gradient&quot;:[{&quot;brightness&quot;:0.4000000059604645,&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
  <p:tag name="KSO_WM_UNIT_TEXT_FILL_TYPE" val="1"/>
  <p:tag name="KSO_WM_DIAGRAM_USE_COLOR_VALUE" val="{&quot;color_scheme&quot;:1,&quot;color_type&quot;:1,&quot;theme_color_indexes&quot;:[9,10,9,10,9,10]}"/>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2_1_5"/>
  <p:tag name="KSO_WM_UNIT_ID" val="diagram20235023_1*n_h_i*2_1_5"/>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type&quot;:0},&quot;glow&quot;:{&quot;colorType&quot;:0},&quot;line&quot;:{&quot;gradient&quot;:[{&quot;brightness&quot;:0,&quot;colorType&quot;:2,&quot;pos&quot;:0.6600000262260437,&quot;rgb&quot;:&quot;#376fff&quot;,&quot;transparency&quot;:1},{&quot;brightness&quot;:0,&quot;colorType&quot;:1,&quot;foreColorIndex&quot;:5,&quot;pos&quot;:0.14000000059604645,&quot;transparency&quot;:1},{&quot;brightness&quot;:0,&quot;colorType&quot;:2,&quot;pos&quot;:0,&quot;rgb&quot;:&quot;#376fff&quot;,&quot;transparency&quot;:0.8399999737739563},{&quot;brightness&quot;:0,&quot;colorType&quot;:1,&quot;foreColorIndex&quot;:5,&quot;pos&quot;:1,&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230.xml><?xml version="1.0" encoding="utf-8"?>
<p:tagLst xmlns:p="http://schemas.openxmlformats.org/presentationml/2006/main">
  <p:tag name="KSO_WM_SLIDE_ITEM_CNT" val="3"/>
  <p:tag name="resource_record_key" val="{&quot;10&quot;:[3505430,50036384,3504219,4526305],&quot;29&quot;:[50053024,50052948,50052445,50000144],&quot;70&quot;:[3405561,3319090,3312439,3318441,3431215,3332761,3318307]}"/>
</p:tagLst>
</file>

<file path=ppt/tags/tag231.xml><?xml version="1.0" encoding="utf-8"?>
<p:tagLst xmlns:p="http://schemas.openxmlformats.org/presentationml/2006/main">
  <p:tag name="KSO_WM_DIAGRAM_VIRTUALLY_FRAME" val="{&quot;height&quot;:389.6,&quot;left&quot;:211.45,&quot;top&quot;:116.65,&quot;width&quot;:477.55}"/>
</p:tagLst>
</file>

<file path=ppt/tags/tag232.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33.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34.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UNIT_TABLE_BEAUTIFY" val="smartTable{308056d4-60e8-4828-8c13-09e13014fcb7}"/>
  <p:tag name="TABLE_ENDDRAG_ORIGIN_RECT" val="882*397"/>
  <p:tag name="TABLE_ENDDRAG_RECT" val="41*85*882*397"/>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UNIT_TABLE_BEAUTIFY" val="smartTable{828b6f84-1146-45ed-a109-a4b2f2539ba7}"/>
  <p:tag name="TABLE_ENDDRAG_ORIGIN_RECT" val="882*397"/>
  <p:tag name="TABLE_ENDDRAG_RECT" val="41*85*882*397"/>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UNIT_TABLE_BEAUTIFY" val="smartTable{8401f0c4-1a68-4e22-8787-7a5f1c3614e5}"/>
  <p:tag name="TABLE_ENDDRAG_ORIGIN_RECT" val="882*397"/>
  <p:tag name="TABLE_ENDDRAG_RECT" val="41*85*882*397"/>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TABLE_ENDDRAG_ORIGIN_RECT" val="904*457"/>
  <p:tag name="TABLE_ENDDRAG_RECT" val="30*63*904*457"/>
</p:tagLst>
</file>

<file path=ppt/tags/tag247.xml><?xml version="1.0" encoding="utf-8"?>
<p:tagLst xmlns:p="http://schemas.openxmlformats.org/presentationml/2006/main">
  <p:tag name="KSO_WM_SLIDE_ITEM_CNT" val="3"/>
  <p:tag name="resource_record_key" val="{&quot;10&quot;:[3505430,50036384,3504219,4526305],&quot;29&quot;:[50053024,50052948,50000076],&quot;70&quot;:[3405561,3319090,3312439,3318441,3431215]}"/>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TABLE_ENDDRAG_ORIGIN_RECT" val="890*455"/>
  <p:tag name="TABLE_ENDDRAG_RECT" val="46*63*890*455"/>
</p:tagLst>
</file>

<file path=ppt/tags/tag251.xml><?xml version="1.0" encoding="utf-8"?>
<p:tagLst xmlns:p="http://schemas.openxmlformats.org/presentationml/2006/main">
  <p:tag name="KSO_WM_SLIDE_ITEM_CNT" val="3"/>
  <p:tag name="resource_record_key" val="{&quot;10&quot;:[3505430,50036384,3504219,4526305],&quot;29&quot;:[50053024,50052948,50000076],&quot;70&quot;:[3405561,3319090,3312439,3318441,3431215]}"/>
</p:tagLst>
</file>

<file path=ppt/tags/tag252.xml><?xml version="1.0" encoding="utf-8"?>
<p:tagLst xmlns:p="http://schemas.openxmlformats.org/presentationml/2006/main">
  <p:tag name="KSO_WM_DIAGRAM_VIRTUALLY_FRAME" val="{&quot;height&quot;:389.6,&quot;left&quot;:211.45,&quot;top&quot;:116.65,&quot;width&quot;:477.55}"/>
</p:tagLst>
</file>

<file path=ppt/tags/tag253.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54.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55.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2"/>
  <p:tag name="KSO_WM_UNIT_ID" val="diagram20231799_1*l_h_i*1_1_2"/>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158.51680856779802,&quot;left&quot;:57.0499267578125,&quot;top&quot;:81.29476623535156,&quot;width&quot;:857.9000732421875}"/>
  <p:tag name="KSO_WM_DIAGRAM_COLOR_MATCH_VALUE" val="{&quot;shape&quot;:{&quot;fill&quot;:{&quot;solid&quot;:{&quot;brightness&quot;:0,&quot;colorType&quot;:1,&quot;foreColorIndex&quot;:5,&quot;transparency&quot;:0},&quot;type&quot;:1},&quot;glow&quot;:{&quot;colorType&quot;:0},&quot;line&quot;:{&quot;type&quot;:0},&quot;shadow&quot;:{&quot;brightness&quot;:-0.25,&quot;colorType&quot;:1,&quot;foreColorIndex&quot;:14,&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1799_1*l_h_i*1_1_1"/>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158.51680856779802,&quot;left&quot;:57.0499267578125,&quot;top&quot;:81.29476623535156,&quot;width&quot;:857.9000732421875}"/>
  <p:tag name="KSO_WM_DIAGRAM_COLOR_MATCH_VALUE" val="{&quot;shape&quot;:{&quot;fill&quot;:{&quot;solid&quot;:{&quot;brightness&quot;:0,&quot;colorType&quot;:2,&quot;rgb&quot;:&quot;#ffffff&quot;,&quot;transparency&quot;:0},&quot;type&quot;:1},&quot;glow&quot;:{&quot;colorType&quot;:0},&quot;line&quot;:{&quot;type&quot;:0},&quot;shadow&quot;:{&quot;brightness&quot;:0.25,&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99_1*l_h_f*1_1_1"/>
  <p:tag name="KSO_WM_TEMPLATE_CATEGORY" val="diagram"/>
  <p:tag name="KSO_WM_TEMPLATE_INDEX" val="20231799"/>
  <p:tag name="KSO_WM_UNIT_LAYERLEVEL" val="1_1_1"/>
  <p:tag name="KSO_WM_TAG_VERSION" val="3.0"/>
  <p:tag name="KSO_WM_UNIT_TEXT_FILL_FORE_SCHEMECOLOR_INDEX_BRIGHTNESS" val="0.15"/>
  <p:tag name="KSO_WM_UNIT_TEXT_FILL_TYPE" val="1"/>
  <p:tag name="KSO_WM_DIAGRAM_VERSION" val="3"/>
  <p:tag name="KSO_WM_DIAGRAM_COLOR_TRICK" val="3"/>
  <p:tag name="KSO_WM_DIAGRAM_COLOR_TEXT_CAN_REMOVE" val="n"/>
  <p:tag name="KSO_WM_DIAGRAM_GROUP_CODE" val="l1-1"/>
  <p:tag name="KSO_WM_DIAGRAM_MAX_ITEMCNT" val="3"/>
  <p:tag name="KSO_WM_DIAGRAM_MIN_ITEMCNT" val="2"/>
  <p:tag name="KSO_WM_DIAGRAM_VIRTUALLY_FRAME" val="{&quot;height&quot;:158.51680856779802,&quot;left&quot;:57.0499267578125,&quot;top&quot;:81.29476623535156,&quot;width&quot;:857.9000732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单击此处添加文本具体内容。"/>
  <p:tag name="KSO_WM_DIAGRAM_USE_COLOR_VALUE" val="{&quot;color_scheme&quot;:1,&quot;color_type&quot;:1,&quot;theme_color_indexes&quot;:[9,10,9,10,9,10]}"/>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DIAGRAM_VIRTUALLY_FRAME" val="{&quot;height&quot;:384.75,&quot;left&quot;:24,&quot;top&quot;:86.8,&quot;width&quot;:911.2}"/>
</p:tagLst>
</file>

<file path=ppt/tags/tag268.xml><?xml version="1.0" encoding="utf-8"?>
<p:tagLst xmlns:p="http://schemas.openxmlformats.org/presentationml/2006/main">
  <p:tag name="KSO_WM_DIAGRAM_VIRTUALLY_FRAME" val="{&quot;height&quot;:384.75,&quot;left&quot;:24,&quot;top&quot;:86.8,&quot;width&quot;:911.2}"/>
</p:tagLst>
</file>

<file path=ppt/tags/tag269.xml><?xml version="1.0" encoding="utf-8"?>
<p:tagLst xmlns:p="http://schemas.openxmlformats.org/presentationml/2006/main">
  <p:tag name="KSO_WM_DIAGRAM_VIRTUALLY_FRAME" val="{&quot;height&quot;:384.75,&quot;left&quot;:24,&quot;top&quot;:86.8,&quot;width&quot;:911.2}"/>
</p:tagLst>
</file>

<file path=ppt/tags/tag270.xml><?xml version="1.0" encoding="utf-8"?>
<p:tagLst xmlns:p="http://schemas.openxmlformats.org/presentationml/2006/main">
  <p:tag name="KSO_WM_DIAGRAM_VIRTUALLY_FRAME" val="{&quot;height&quot;:384.75,&quot;left&quot;:24,&quot;top&quot;:86.8,&quot;width&quot;:911.2}"/>
</p:tagLst>
</file>

<file path=ppt/tags/tag271.xml><?xml version="1.0" encoding="utf-8"?>
<p:tagLst xmlns:p="http://schemas.openxmlformats.org/presentationml/2006/main">
  <p:tag name="KSO_WM_DIAGRAM_VIRTUALLY_FRAME" val="{&quot;height&quot;:384.75,&quot;left&quot;:24,&quot;top&quot;:86.8,&quot;width&quot;:911.2}"/>
</p:tagLst>
</file>

<file path=ppt/tags/tag272.xml><?xml version="1.0" encoding="utf-8"?>
<p:tagLst xmlns:p="http://schemas.openxmlformats.org/presentationml/2006/main">
  <p:tag name="KSO_WM_DIAGRAM_VIRTUALLY_FRAME" val="{&quot;height&quot;:384.75,&quot;left&quot;:24,&quot;top&quot;:86.8,&quot;width&quot;:911.2}"/>
</p:tagLst>
</file>

<file path=ppt/tags/tag273.xml><?xml version="1.0" encoding="utf-8"?>
<p:tagLst xmlns:p="http://schemas.openxmlformats.org/presentationml/2006/main">
  <p:tag name="KSO_WM_DIAGRAM_VIRTUALLY_FRAME" val="{&quot;height&quot;:384.75,&quot;left&quot;:24,&quot;top&quot;:86.8,&quot;width&quot;:911.2}"/>
</p:tagLst>
</file>

<file path=ppt/tags/tag274.xml><?xml version="1.0" encoding="utf-8"?>
<p:tagLst xmlns:p="http://schemas.openxmlformats.org/presentationml/2006/main">
  <p:tag name="KSO_WM_DIAGRAM_VIRTUALLY_FRAME" val="{&quot;height&quot;:384.75,&quot;left&quot;:24,&quot;top&quot;:86.8,&quot;width&quot;:911.2}"/>
</p:tagLst>
</file>

<file path=ppt/tags/tag275.xml><?xml version="1.0" encoding="utf-8"?>
<p:tagLst xmlns:p="http://schemas.openxmlformats.org/presentationml/2006/main">
  <p:tag name="KSO_WM_DIAGRAM_VIRTUALLY_FRAME" val="{&quot;height&quot;:384.75,&quot;left&quot;:24,&quot;top&quot;:86.8,&quot;width&quot;:911.2}"/>
</p:tagLst>
</file>

<file path=ppt/tags/tag276.xml><?xml version="1.0" encoding="utf-8"?>
<p:tagLst xmlns:p="http://schemas.openxmlformats.org/presentationml/2006/main">
  <p:tag name="KSO_WM_DIAGRAM_VIRTUALLY_FRAME" val="{&quot;height&quot;:384.75,&quot;left&quot;:24,&quot;top&quot;:86.8,&quot;width&quot;:911.2}"/>
</p:tagLst>
</file>

<file path=ppt/tags/tag277.xml><?xml version="1.0" encoding="utf-8"?>
<p:tagLst xmlns:p="http://schemas.openxmlformats.org/presentationml/2006/main">
  <p:tag name="KSO_WM_DIAGRAM_VIRTUALLY_FRAME" val="{&quot;height&quot;:384.75,&quot;left&quot;:24,&quot;top&quot;:86.8,&quot;width&quot;:911.2}"/>
</p:tagLst>
</file>

<file path=ppt/tags/tag278.xml><?xml version="1.0" encoding="utf-8"?>
<p:tagLst xmlns:p="http://schemas.openxmlformats.org/presentationml/2006/main">
  <p:tag name="KSO_WM_DIAGRAM_VIRTUALLY_FRAME" val="{&quot;height&quot;:384.75,&quot;left&quot;:24,&quot;top&quot;:86.8,&quot;width&quot;:911.2}"/>
</p:tagLst>
</file>

<file path=ppt/tags/tag279.xml><?xml version="1.0" encoding="utf-8"?>
<p:tagLst xmlns:p="http://schemas.openxmlformats.org/presentationml/2006/main">
  <p:tag name="KSO_WM_DIAGRAM_VIRTUALLY_FRAME" val="{&quot;height&quot;:384.75,&quot;left&quot;:24,&quot;top&quot;:86.8,&quot;width&quot;:911.2}"/>
</p:tagLst>
</file>

<file path=ppt/tags/tag280.xml><?xml version="1.0" encoding="utf-8"?>
<p:tagLst xmlns:p="http://schemas.openxmlformats.org/presentationml/2006/main">
  <p:tag name="KSO_WM_DIAGRAM_VIRTUALLY_FRAME" val="{&quot;height&quot;:384.75,&quot;left&quot;:24,&quot;top&quot;:86.8,&quot;width&quot;:911.2}"/>
</p:tagLst>
</file>

<file path=ppt/tags/tag281.xml><?xml version="1.0" encoding="utf-8"?>
<p:tagLst xmlns:p="http://schemas.openxmlformats.org/presentationml/2006/main">
  <p:tag name="KSO_WM_DIAGRAM_VIRTUALLY_FRAME" val="{&quot;height&quot;:384.75,&quot;left&quot;:24,&quot;top&quot;:86.8,&quot;width&quot;:911.2}"/>
</p:tagLst>
</file>

<file path=ppt/tags/tag282.xml><?xml version="1.0" encoding="utf-8"?>
<p:tagLst xmlns:p="http://schemas.openxmlformats.org/presentationml/2006/main">
  <p:tag name="KSO_WM_DIAGRAM_VIRTUALLY_FRAME" val="{&quot;height&quot;:384.75,&quot;left&quot;:24,&quot;top&quot;:86.8,&quot;width&quot;:911.2}"/>
</p:tagLst>
</file>

<file path=ppt/tags/tag283.xml><?xml version="1.0" encoding="utf-8"?>
<p:tagLst xmlns:p="http://schemas.openxmlformats.org/presentationml/2006/main">
  <p:tag name="TABLE_ENDDRAG_ORIGIN_RECT" val="448*343"/>
  <p:tag name="TABLE_ENDDRAG_RECT" val="60*98*448*343"/>
</p:tagLst>
</file>

<file path=ppt/tags/tag284.xml><?xml version="1.0" encoding="utf-8"?>
<p:tagLst xmlns:p="http://schemas.openxmlformats.org/presentationml/2006/main">
  <p:tag name="TABLE_ENDDRAG_ORIGIN_RECT" val="354*332"/>
  <p:tag name="TABLE_ENDDRAG_RECT" val="537*98*354*332"/>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TABLE_ENDDRAG_ORIGIN_RECT" val="583*262"/>
  <p:tag name="TABLE_ENDDRAG_RECT" val="99*138*583*262"/>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UNIT_TYPE" val="a"/>
  <p:tag name="KSO_WM_UNIT_INDEX" val="1"/>
  <p:tag name="KSO_WM_BEAUTIFY_FLAG" val="#wm#"/>
  <p:tag name="KSO_WM_TAG_VERSION" val="3.0"/>
  <p:tag name="KSO_WM_UNIT_ID" val="custom20238577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Lst>
</file>

<file path=ppt/tags/tag291.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9"/>
  <p:tag name="KSO_WM_SLIDE_ID" val="custom20238577_9"/>
  <p:tag name="KSO_WM_TEMPLATE_MASTER_TYPE" val="0"/>
  <p:tag name="KSO_WM_SLIDE_LAYOUT" val="a_b_f_x"/>
  <p:tag name="KSO_WM_SLIDE_LAYOUT_CNT" val="1_1_2_1"/>
</p:tagLst>
</file>

<file path=ppt/tags/tag292.xml><?xml version="1.0" encoding="utf-8"?>
<p:tagLst xmlns:p="http://schemas.openxmlformats.org/presentationml/2006/main">
  <p:tag name="KSO_WM_DIAGRAM_VIRTUALLY_FRAME" val="{&quot;height&quot;:389.6,&quot;left&quot;:211.45,&quot;top&quot;:116.65,&quot;width&quot;:477.55}"/>
</p:tagLst>
</file>

<file path=ppt/tags/tag293.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94.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95.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96.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97.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98.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99.xml><?xml version="1.0" encoding="utf-8"?>
<p:tagLst xmlns:p="http://schemas.openxmlformats.org/presentationml/2006/main">
  <p:tag name="KSO_WM_DIAGRAM_VIRTUALLY_FRAME" val="{&quot;height&quot;:156.26889153427965,&quot;left&quot;:75.475,&quot;top&quot;:135.73110236220472,&quot;width&quot;:201.72872924804696}"/>
</p:tagLst>
</file>

<file path=ppt/tags/tag300.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302.xml><?xml version="1.0" encoding="utf-8"?>
<p:tagLst xmlns:p="http://schemas.openxmlformats.org/presentationml/2006/main">
  <p:tag name="KSO_WM_DIAGRAM_VIRTUALLY_FRAME" val="{&quot;height&quot;:156.26889153427965,&quot;left&quot;:75.475,&quot;top&quot;:135.73110236220472,&quot;width&quot;:201.72872924804696}"/>
</p:tagLst>
</file>

<file path=ppt/tags/tag303.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305.xml><?xml version="1.0" encoding="utf-8"?>
<p:tagLst xmlns:p="http://schemas.openxmlformats.org/presentationml/2006/main">
  <p:tag name="KSO_WM_DIAGRAM_VIRTUALLY_FRAME" val="{&quot;height&quot;:156.26889153427965,&quot;left&quot;:75.475,&quot;top&quot;:135.73110236220472,&quot;width&quot;:201.72872924804696}"/>
</p:tagLst>
</file>

<file path=ppt/tags/tag306.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308.xml><?xml version="1.0" encoding="utf-8"?>
<p:tagLst xmlns:p="http://schemas.openxmlformats.org/presentationml/2006/main">
  <p:tag name="KSO_WM_DIAGRAM_VIRTUALLY_FRAME" val="{&quot;height&quot;:156.26889153427965,&quot;left&quot;:75.475,&quot;top&quot;:135.73110236220472,&quot;width&quot;:201.72872924804696}"/>
</p:tagLst>
</file>

<file path=ppt/tags/tag309.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311.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312.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313.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314.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DIAGRAM_VIRTUALLY_FRAME" val="{&quot;height&quot;:443.51889153427965,&quot;left&quot;:59.7,&quot;top&quot;:137.43110236220474,&quot;width&quot;:492.053729248047}"/>
</p:tagLst>
</file>

<file path=ppt/tags/tag320.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322.xml><?xml version="1.0" encoding="utf-8"?>
<p:tagLst xmlns:p="http://schemas.openxmlformats.org/presentationml/2006/main">
  <p:tag name="KSO_WM_DIAGRAM_VIRTUALLY_FRAME" val="{&quot;height&quot;:443.51889153427965,&quot;left&quot;:59.7,&quot;top&quot;:137.43110236220474,&quot;width&quot;:492.053729248047}"/>
</p:tagLst>
</file>

<file path=ppt/tags/tag323.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325.xml><?xml version="1.0" encoding="utf-8"?>
<p:tagLst xmlns:p="http://schemas.openxmlformats.org/presentationml/2006/main">
  <p:tag name="KSO_WM_DIAGRAM_VIRTUALLY_FRAME" val="{&quot;height&quot;:443.51889153427965,&quot;left&quot;:59.7,&quot;top&quot;:137.43110236220474,&quot;width&quot;:492.053729248047}"/>
</p:tagLst>
</file>

<file path=ppt/tags/tag326.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328.xml><?xml version="1.0" encoding="utf-8"?>
<p:tagLst xmlns:p="http://schemas.openxmlformats.org/presentationml/2006/main">
  <p:tag name="KSO_WM_DIAGRAM_VIRTUALLY_FRAME" val="{&quot;height&quot;:443.51889153427965,&quot;left&quot;:59.7,&quot;top&quot;:137.43110236220474,&quot;width&quot;:492.053729248047}"/>
</p:tagLst>
</file>

<file path=ppt/tags/tag329.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334.xml><?xml version="1.0" encoding="utf-8"?>
<p:tagLst xmlns:p="http://schemas.openxmlformats.org/presentationml/2006/main">
  <p:tag name="resource_record_key" val="{&quot;10&quot;:[21571666,21547652,20253287,3481656,50035314,21552069,21576169,4588957,21550782,4522474,50021858,3634889,21570670,50024265,50041117,21572500,21581987,50042277,50043352,17421794,3659203,21566645,3639535,4521268,19995253,3504219,4526305,50034089,4590447],&quot;13&quot;:[20025430],&quot;29&quot;:[50052445,50000144],&quot;65&quot;:[20238577],&quot;70&quot;:[3330157,3312290,3333581,3312385,3314426,3318441,3431215,3332761,3318307,3333613,3312479,3429185,3333487]}"/>
  <p:tag name="commondata" val="eyJoZGlkIjoiNzBiN2QxNGQ4NjIwZWE5Mjc3ZDY1N2NlMGYwOTU3MDUifQ=="/>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彩色5">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21768</Words>
  <Application>WPS 演示</Application>
  <PresentationFormat/>
  <Paragraphs>1839</Paragraphs>
  <Slides>40</Slides>
  <Notes>0</Notes>
  <HiddenSlides>0</HiddenSlides>
  <MMClips>0</MMClips>
  <ScaleCrop>false</ScaleCrop>
  <HeadingPairs>
    <vt:vector size="6" baseType="variant">
      <vt:variant>
        <vt:lpstr>已用的字体</vt:lpstr>
      </vt:variant>
      <vt:variant>
        <vt:i4>34</vt:i4>
      </vt:variant>
      <vt:variant>
        <vt:lpstr>主题</vt:lpstr>
      </vt:variant>
      <vt:variant>
        <vt:i4>4</vt:i4>
      </vt:variant>
      <vt:variant>
        <vt:lpstr>幻灯片标题</vt:lpstr>
      </vt:variant>
      <vt:variant>
        <vt:i4>40</vt:i4>
      </vt:variant>
    </vt:vector>
  </HeadingPairs>
  <TitlesOfParts>
    <vt:vector size="78" baseType="lpstr">
      <vt:lpstr>Arial</vt:lpstr>
      <vt:lpstr>宋体</vt:lpstr>
      <vt:lpstr>Wingdings</vt:lpstr>
      <vt:lpstr>Calibri</vt:lpstr>
      <vt:lpstr>微软雅黑</vt:lpstr>
      <vt:lpstr>Helvetica Neue</vt:lpstr>
      <vt:lpstr>黑体-简</vt:lpstr>
      <vt:lpstr>黑体</vt:lpstr>
      <vt:lpstr>Arial Black</vt:lpstr>
      <vt:lpstr>DINPro Bold</vt:lpstr>
      <vt:lpstr>Calibri</vt:lpstr>
      <vt:lpstr>Arial</vt:lpstr>
      <vt:lpstr>Calibri</vt:lpstr>
      <vt:lpstr>Wingdings</vt:lpstr>
      <vt:lpstr>Heiti SC Medium</vt:lpstr>
      <vt:lpstr>Heiti SC Light</vt:lpstr>
      <vt:lpstr>Songti SC</vt:lpstr>
      <vt:lpstr>Noto Sans SC</vt:lpstr>
      <vt:lpstr>微软雅黑</vt:lpstr>
      <vt:lpstr>Source Han Sans CN Medium</vt:lpstr>
      <vt:lpstr>Source Han Sans CN Bold</vt:lpstr>
      <vt:lpstr>Noto Sans SC</vt:lpstr>
      <vt:lpstr>Noto Sans</vt:lpstr>
      <vt:lpstr>Source Han Sans CN Normal</vt:lpstr>
      <vt:lpstr>MiSans</vt:lpstr>
      <vt:lpstr>Arial Unicode MS</vt:lpstr>
      <vt:lpstr>Inter Bold</vt:lpstr>
      <vt:lpstr>Liberation Mono</vt:lpstr>
      <vt:lpstr>Inter</vt:lpstr>
      <vt:lpstr>+中文正文</vt:lpstr>
      <vt:lpstr>等线</vt:lpstr>
      <vt:lpstr>Wingdings 2</vt:lpstr>
      <vt:lpstr>Times New Roman</vt:lpstr>
      <vt:lpstr>Miriam Mono CLM</vt:lpstr>
      <vt:lpstr>Office theme</vt:lpstr>
      <vt:lpstr>简约星环线条职场办公</vt:lpstr>
      <vt:lpstr>1_简约星环线条职场办公</vt:lpstr>
      <vt:lpstr>1_Office theme</vt:lpstr>
      <vt:lpstr>PowerPoint 演示文稿</vt:lpstr>
      <vt:lpstr>PowerPoint 演示文稿</vt:lpstr>
      <vt:lpstr>目标与协作机制回顾</vt:lpstr>
      <vt:lpstr>PowerPoint 演示文稿</vt:lpstr>
      <vt:lpstr>PowerPoint 演示文稿</vt:lpstr>
      <vt:lpstr>PowerPoint 演示文稿</vt:lpstr>
      <vt:lpstr>我们共同的工作成果总结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共同的挑战与应对思路</vt:lpstr>
      <vt:lpstr>PowerPoint 演示文稿</vt:lpstr>
      <vt:lpstr>PowerPoint 演示文稿</vt:lpstr>
      <vt:lpstr>PowerPoint 演示文稿</vt:lpstr>
      <vt:lpstr>PowerPoint 演示文稿</vt:lpstr>
      <vt:lpstr>PowerPoint 演示文稿</vt:lpstr>
      <vt:lpstr>下阶段目标与协作计划</vt:lpstr>
      <vt:lpstr>PowerPoint 演示文稿</vt:lpstr>
      <vt:lpstr>PowerPoint 演示文稿</vt:lpstr>
      <vt:lpstr>PowerPoint 演示文稿</vt:lpstr>
      <vt:lpstr>PowerPoint 演示文稿</vt:lpstr>
      <vt:lpstr>PowerPoint 演示文稿</vt:lpstr>
      <vt:lpstr>PowerPoint 演示文稿</vt:lpstr>
      <vt:lpstr>客户成功   才是深信服的成功</vt:lpstr>
      <vt:lpstr>工作成果详情</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User</cp:lastModifiedBy>
  <cp:revision>176</cp:revision>
  <dcterms:created xsi:type="dcterms:W3CDTF">2026-05-09T07:40:00Z</dcterms:created>
  <dcterms:modified xsi:type="dcterms:W3CDTF">2026-09-01T08:34:13Z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2025-08-07T01:35:42Z</vt:filetime>
  </property>
  <property fmtid="{D5CDD505-2E9C-101B-9397-08002B2CF9AE}" pid="4" name="UsrData">
    <vt:lpwstr>687eeadea43bea0020547dd2wl</vt:lpwstr>
  </property>
  <property fmtid="{D5CDD505-2E9C-101B-9397-08002B2CF9AE}" pid="5" name="ICV">
    <vt:lpwstr>35D22C8AD5D1D18E7ACDDC6933F0EB79_43</vt:lpwstr>
  </property>
  <property fmtid="{D5CDD505-2E9C-101B-9397-08002B2CF9AE}" pid="6" name="KSOProductBuildVer">
    <vt:lpwstr>2052-12.1.0.16729</vt:lpwstr>
  </property>
</Properties>
</file>